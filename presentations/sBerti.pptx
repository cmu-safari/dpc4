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7" r:id="rId2"/>
    <p:sldId id="258" r:id="rId3"/>
    <p:sldId id="279" r:id="rId4"/>
    <p:sldId id="290" r:id="rId5"/>
    <p:sldId id="283" r:id="rId6"/>
    <p:sldId id="280" r:id="rId7"/>
    <p:sldId id="291" r:id="rId8"/>
    <p:sldId id="288" r:id="rId9"/>
    <p:sldId id="281" r:id="rId10"/>
    <p:sldId id="276" r:id="rId11"/>
    <p:sldId id="284" r:id="rId12"/>
    <p:sldId id="277" r:id="rId13"/>
    <p:sldId id="278" r:id="rId14"/>
    <p:sldId id="282" r:id="rId15"/>
    <p:sldId id="275" r:id="rId16"/>
    <p:sldId id="292" r:id="rId17"/>
    <p:sldId id="293"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49EECB-932B-CA43-88C3-BC0944D63AFE}" v="97" dt="2026-02-01T00:10:52.7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1"/>
    <p:restoredTop sz="72025"/>
  </p:normalViewPr>
  <p:slideViewPr>
    <p:cSldViewPr snapToGrid="0">
      <p:cViewPr>
        <p:scale>
          <a:sx n="101" d="100"/>
          <a:sy n="101" d="100"/>
        </p:scale>
        <p:origin x="1240"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B4C2F7-1CE3-044C-B42B-A22702D7C1A3}" type="datetimeFigureOut">
              <a:rPr kumimoji="1" lang="zh-CN" altLang="en-US" smtClean="0"/>
              <a:t>2026/1/24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92B46E-55D6-EB42-A594-DBF99FEC013F}" type="slidenum">
              <a:rPr kumimoji="1" lang="zh-CN" altLang="en-US" smtClean="0"/>
              <a:t>‹#›</a:t>
            </a:fld>
            <a:endParaRPr kumimoji="1" lang="zh-CN" altLang="en-US"/>
          </a:p>
        </p:txBody>
      </p:sp>
    </p:spTree>
    <p:extLst>
      <p:ext uri="{BB962C8B-B14F-4D97-AF65-F5344CB8AC3E}">
        <p14:creationId xmlns:p14="http://schemas.microsoft.com/office/powerpoint/2010/main" val="2374145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I’m </a:t>
            </a:r>
            <a:r>
              <a:rPr lang="en-US" dirty="0" err="1"/>
              <a:t>Jiapeng</a:t>
            </a:r>
            <a:r>
              <a:rPr lang="en-US" dirty="0"/>
              <a:t> Zhou. I’m a PhD student in HKUST(GZ).</a:t>
            </a:r>
          </a:p>
        </p:txBody>
      </p:sp>
      <p:sp>
        <p:nvSpPr>
          <p:cNvPr id="4" name="Slide Number Placeholder 3"/>
          <p:cNvSpPr>
            <a:spLocks noGrp="1"/>
          </p:cNvSpPr>
          <p:nvPr>
            <p:ph type="sldNum" sz="quarter" idx="5"/>
          </p:nvPr>
        </p:nvSpPr>
        <p:spPr/>
        <p:txBody>
          <a:bodyPr/>
          <a:lstStyle/>
          <a:p>
            <a:fld id="{F7544F29-D6C1-FE4D-8DC2-D2448A6E299B}" type="slidenum">
              <a:rPr lang="en-US" smtClean="0"/>
              <a:t>1</a:t>
            </a:fld>
            <a:endParaRPr lang="en-US" dirty="0"/>
          </a:p>
        </p:txBody>
      </p:sp>
    </p:spTree>
    <p:extLst>
      <p:ext uri="{BB962C8B-B14F-4D97-AF65-F5344CB8AC3E}">
        <p14:creationId xmlns:p14="http://schemas.microsoft.com/office/powerpoint/2010/main" val="2582561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 altLang="zh-CN" dirty="0"/>
              <a:t>It has been 7 years since the last DPC event. In DPC4, three kinds of new traces </a:t>
            </a:r>
            <a:r>
              <a:rPr lang="en" altLang="zh-CN" b="1" dirty="0"/>
              <a:t>are</a:t>
            </a:r>
            <a:r>
              <a:rPr lang="en" altLang="zh-CN" dirty="0"/>
              <a:t> introduced. There is also a larger storage budget and a new configuration of </a:t>
            </a:r>
            <a:r>
              <a:rPr lang="en" altLang="zh-CN" b="1" dirty="0"/>
              <a:t>limited</a:t>
            </a:r>
            <a:r>
              <a:rPr lang="en" altLang="zh-CN" dirty="0"/>
              <a:t> bandwidth. </a:t>
            </a:r>
            <a:r>
              <a:rPr lang="en" altLang="zh-CN" b="1" dirty="0"/>
              <a:t>This</a:t>
            </a:r>
            <a:r>
              <a:rPr lang="en" altLang="zh-CN" dirty="0"/>
              <a:t> brings new challenges and opportunities.</a:t>
            </a:r>
          </a:p>
          <a:p>
            <a:r>
              <a:rPr lang="en" altLang="zh-CN" dirty="0"/>
              <a:t>Firstly, a prefetcher should strike a balance between different patterns of applications from different categories. Typically, a prefetcher modification can increase the IPC of some workloads while degrading </a:t>
            </a:r>
            <a:r>
              <a:rPr lang="en" altLang="zh-CN" b="1" dirty="0"/>
              <a:t>others</a:t>
            </a:r>
            <a:r>
              <a:rPr lang="en" altLang="zh-CN" dirty="0"/>
              <a:t>. As more traces </a:t>
            </a:r>
            <a:r>
              <a:rPr lang="en" altLang="zh-CN" b="1" dirty="0"/>
              <a:t>are</a:t>
            </a:r>
            <a:r>
              <a:rPr lang="en" altLang="zh-CN" dirty="0"/>
              <a:t> introduced, we should consider the </a:t>
            </a:r>
            <a:r>
              <a:rPr lang="en" altLang="zh-CN" b="1" dirty="0"/>
              <a:t>impact on</a:t>
            </a:r>
            <a:r>
              <a:rPr lang="en" altLang="zh-CN" dirty="0"/>
              <a:t> applications in more categories when making changes. </a:t>
            </a:r>
            <a:r>
              <a:rPr lang="en" altLang="zh-CN" b="1" dirty="0"/>
              <a:t>Additionally</a:t>
            </a:r>
            <a:r>
              <a:rPr lang="en" altLang="zh-CN" dirty="0"/>
              <a:t>, the newly introduced </a:t>
            </a:r>
            <a:r>
              <a:rPr lang="en" altLang="zh-CN" b="1" dirty="0"/>
              <a:t>limited</a:t>
            </a:r>
            <a:r>
              <a:rPr lang="en" altLang="zh-CN" dirty="0"/>
              <a:t> bandwidth configuration requires us to throttle prefetches based on real-time bandwidth and make the prefetches </a:t>
            </a:r>
            <a:r>
              <a:rPr lang="en" altLang="zh-CN"/>
              <a:t>accurate.</a:t>
            </a:r>
            <a:endParaRPr lang="en" altLang="zh-CN" dirty="0"/>
          </a:p>
          <a:p>
            <a:r>
              <a:rPr lang="en" altLang="zh-CN" dirty="0"/>
              <a:t>There is also an opportunity to profile and analyze memory access patterns for the new traces. Prefetchers which </a:t>
            </a:r>
            <a:r>
              <a:rPr lang="en" altLang="zh-CN" b="1" dirty="0"/>
              <a:t>performed</a:t>
            </a:r>
            <a:r>
              <a:rPr lang="en" altLang="zh-CN" dirty="0"/>
              <a:t> the best in previous contests may fall short on new traces. Our strategy is to find patterns not covered by the baseline prefetchers and </a:t>
            </a:r>
            <a:r>
              <a:rPr lang="en" altLang="zh-CN" b="1" dirty="0"/>
              <a:t>incorporate</a:t>
            </a:r>
            <a:r>
              <a:rPr lang="en" altLang="zh-CN" dirty="0"/>
              <a:t> a light-weight prefetcher targeting the missing </a:t>
            </a:r>
            <a:r>
              <a:rPr lang="en" altLang="zh-CN" b="1" dirty="0"/>
              <a:t>patterns</a:t>
            </a:r>
            <a:r>
              <a:rPr lang="en" altLang="zh-CN" dirty="0"/>
              <a:t>. We hope the profiling and analysis </a:t>
            </a:r>
            <a:r>
              <a:rPr lang="en" altLang="zh-CN" b="1" dirty="0"/>
              <a:t>will provide</a:t>
            </a:r>
            <a:r>
              <a:rPr lang="en" altLang="zh-CN" dirty="0"/>
              <a:t> some insights to the community.</a:t>
            </a:r>
          </a:p>
        </p:txBody>
      </p:sp>
      <p:sp>
        <p:nvSpPr>
          <p:cNvPr id="4" name="Slide Number Placeholder 3"/>
          <p:cNvSpPr>
            <a:spLocks noGrp="1"/>
          </p:cNvSpPr>
          <p:nvPr>
            <p:ph type="sldNum" sz="quarter" idx="5"/>
          </p:nvPr>
        </p:nvSpPr>
        <p:spPr/>
        <p:txBody>
          <a:bodyPr/>
          <a:lstStyle/>
          <a:p>
            <a:fld id="{F7544F29-D6C1-FE4D-8DC2-D2448A6E299B}" type="slidenum">
              <a:rPr lang="en-US" smtClean="0"/>
              <a:t>2</a:t>
            </a:fld>
            <a:endParaRPr lang="en-US" dirty="0"/>
          </a:p>
        </p:txBody>
      </p:sp>
    </p:spTree>
    <p:extLst>
      <p:ext uri="{BB962C8B-B14F-4D97-AF65-F5344CB8AC3E}">
        <p14:creationId xmlns:p14="http://schemas.microsoft.com/office/powerpoint/2010/main" val="1630189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Firstly, we analyze the L1D load miss rate of the baseline. The figure below lists the results clustered by categories. We noticed that there is a high L1D cache miss rate for AI-ML and Graph workloads. The SPEC17 is well studied in previous championships. The google traces version 2 has a high L1 instruction miss rate and low data miss rate. We will mainly</a:t>
            </a:r>
            <a:r>
              <a:rPr kumimoji="1" lang="zh-CN" altLang="en-US" dirty="0"/>
              <a:t> </a:t>
            </a:r>
            <a:r>
              <a:rPr kumimoji="1" lang="en-US" altLang="zh-CN" dirty="0"/>
              <a:t>focus on analyzing the AI-ML and Graph workloads.</a:t>
            </a:r>
            <a:endParaRPr kumimoji="1" lang="zh-CN" altLang="en-US" dirty="0"/>
          </a:p>
        </p:txBody>
      </p:sp>
      <p:sp>
        <p:nvSpPr>
          <p:cNvPr id="4" name="灯片编号占位符 3"/>
          <p:cNvSpPr>
            <a:spLocks noGrp="1"/>
          </p:cNvSpPr>
          <p:nvPr>
            <p:ph type="sldNum" sz="quarter" idx="5"/>
          </p:nvPr>
        </p:nvSpPr>
        <p:spPr/>
        <p:txBody>
          <a:bodyPr/>
          <a:lstStyle/>
          <a:p>
            <a:fld id="{5992B46E-55D6-EB42-A594-DBF99FEC013F}" type="slidenum">
              <a:rPr kumimoji="1" lang="zh-CN" altLang="en-US" smtClean="0"/>
              <a:t>3</a:t>
            </a:fld>
            <a:endParaRPr kumimoji="1" lang="zh-CN" altLang="en-US"/>
          </a:p>
        </p:txBody>
      </p:sp>
    </p:spTree>
    <p:extLst>
      <p:ext uri="{BB962C8B-B14F-4D97-AF65-F5344CB8AC3E}">
        <p14:creationId xmlns:p14="http://schemas.microsoft.com/office/powerpoint/2010/main" val="25223563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effectLst/>
                <a:latin typeface="Optima" panose="02000503060000020004" pitchFamily="2" charset="0"/>
                <a:ea typeface="Microsoft YaHei UI" panose="020B0503020204020204" pitchFamily="34" charset="-122"/>
              </a:rPr>
              <a:t>We analyze the traces of Graph and AI-ML workloads. We found that Graph workloads show an indirect memory access pattern, which is like an A[B[</a:t>
            </a:r>
            <a:r>
              <a:rPr lang="en-US" altLang="ja-JP" sz="1200" dirty="0" err="1">
                <a:effectLst/>
                <a:latin typeface="Optima" panose="02000503060000020004" pitchFamily="2" charset="0"/>
                <a:ea typeface="Microsoft YaHei UI" panose="020B0503020204020204" pitchFamily="34" charset="-122"/>
              </a:rPr>
              <a:t>i</a:t>
            </a:r>
            <a:r>
              <a:rPr lang="en-US" altLang="ja-JP" sz="1200" dirty="0">
                <a:effectLst/>
                <a:latin typeface="Optima" panose="02000503060000020004" pitchFamily="2" charset="0"/>
                <a:ea typeface="Microsoft YaHei UI" panose="020B0503020204020204" pitchFamily="34" charset="-122"/>
              </a:rPr>
              <a:t>]]</a:t>
            </a:r>
            <a:r>
              <a:rPr lang="zh-CN" altLang="en-US" sz="1200" dirty="0">
                <a:effectLst/>
                <a:latin typeface="Optima" panose="02000503060000020004" pitchFamily="2" charset="0"/>
                <a:ea typeface="Microsoft YaHei UI" panose="020B0503020204020204" pitchFamily="34" charset="-122"/>
              </a:rPr>
              <a:t> </a:t>
            </a:r>
            <a:r>
              <a:rPr lang="en-US" altLang="zh-CN" sz="1200" dirty="0">
                <a:effectLst/>
                <a:latin typeface="Optima" panose="02000503060000020004" pitchFamily="2" charset="0"/>
                <a:ea typeface="Microsoft YaHei UI" panose="020B0503020204020204" pitchFamily="34" charset="-122"/>
              </a:rPr>
              <a:t>array</a:t>
            </a:r>
            <a:r>
              <a:rPr lang="en-US" altLang="ja-JP" sz="1200" dirty="0">
                <a:effectLst/>
                <a:latin typeface="Optima" panose="02000503060000020004" pitchFamily="2" charset="0"/>
                <a:ea typeface="Microsoft YaHei UI" panose="020B0503020204020204" pitchFamily="34" charset="-122"/>
              </a:rPr>
              <a:t> access and is well explored by previous researches. However, in the DPC4 traces, there is only load address and no load values of memory accesses. That is, we do not have the value of B[</a:t>
            </a:r>
            <a:r>
              <a:rPr lang="en-US" altLang="ja-JP" sz="1200" dirty="0" err="1">
                <a:effectLst/>
                <a:latin typeface="Optima" panose="02000503060000020004" pitchFamily="2" charset="0"/>
                <a:ea typeface="Microsoft YaHei UI" panose="020B0503020204020204" pitchFamily="34" charset="-122"/>
              </a:rPr>
              <a:t>i</a:t>
            </a:r>
            <a:r>
              <a:rPr lang="en-US" altLang="ja-JP" sz="1200" dirty="0">
                <a:effectLst/>
                <a:latin typeface="Optima" panose="02000503060000020004" pitchFamily="2" charset="0"/>
                <a:ea typeface="Microsoft YaHei UI" panose="020B0503020204020204" pitchFamily="34" charset="-122"/>
              </a:rPr>
              <a:t>], which makes it difficult</a:t>
            </a:r>
            <a:r>
              <a:rPr lang="zh-CN" altLang="en-US" sz="1200" dirty="0">
                <a:effectLst/>
                <a:latin typeface="Optima" panose="02000503060000020004" pitchFamily="2" charset="0"/>
                <a:ea typeface="Microsoft YaHei UI" panose="020B0503020204020204" pitchFamily="34" charset="-122"/>
              </a:rPr>
              <a:t> </a:t>
            </a:r>
            <a:r>
              <a:rPr lang="en-US" altLang="zh-CN" sz="1200" dirty="0">
                <a:effectLst/>
                <a:latin typeface="Optima" panose="02000503060000020004" pitchFamily="2" charset="0"/>
                <a:ea typeface="Microsoft YaHei UI" panose="020B0503020204020204" pitchFamily="34" charset="-122"/>
              </a:rPr>
              <a:t>to predict </a:t>
            </a:r>
            <a:r>
              <a:rPr lang="en-US" altLang="ja-JP" sz="1200" dirty="0">
                <a:effectLst/>
                <a:latin typeface="Optima" panose="02000503060000020004" pitchFamily="2" charset="0"/>
                <a:ea typeface="Microsoft YaHei UI" panose="020B0503020204020204" pitchFamily="34" charset="-122"/>
              </a:rPr>
              <a:t>the address of array A accesses. I think the prefetcher is also not allowed to get the values in the Cache. For AI-ML workloads</a:t>
            </a:r>
            <a:r>
              <a:rPr kumimoji="1" lang="en-US" altLang="ja-JP" sz="1200" dirty="0">
                <a:effectLst/>
                <a:latin typeface="Optima" panose="02000503060000020004" pitchFamily="2" charset="0"/>
                <a:ea typeface="Microsoft YaHei UI" panose="020B0503020204020204" pitchFamily="34" charset="-122"/>
              </a:rPr>
              <a:t>,</a:t>
            </a:r>
            <a:r>
              <a:rPr kumimoji="1" lang="zh-CN" altLang="en-US" sz="1200" dirty="0">
                <a:effectLst/>
                <a:latin typeface="Optima" panose="02000503060000020004" pitchFamily="2" charset="0"/>
                <a:ea typeface="Microsoft YaHei UI" panose="020B0503020204020204" pitchFamily="34" charset="-122"/>
              </a:rPr>
              <a:t> </a:t>
            </a:r>
            <a:r>
              <a:rPr kumimoji="1" lang="en-US" altLang="zh-CN" sz="1200" dirty="0">
                <a:effectLst/>
                <a:latin typeface="Optima" panose="02000503060000020004" pitchFamily="2" charset="0"/>
                <a:ea typeface="Microsoft YaHei UI" panose="020B0503020204020204" pitchFamily="34" charset="-122"/>
              </a:rPr>
              <a:t>especially</a:t>
            </a:r>
            <a:r>
              <a:rPr kumimoji="1" lang="zh-CN" altLang="en-US" sz="1200" dirty="0">
                <a:effectLst/>
                <a:latin typeface="Optima" panose="02000503060000020004" pitchFamily="2" charset="0"/>
                <a:ea typeface="Microsoft YaHei UI" panose="020B0503020204020204" pitchFamily="34" charset="-122"/>
              </a:rPr>
              <a:t> </a:t>
            </a:r>
            <a:r>
              <a:rPr kumimoji="1" lang="en-US" altLang="zh-CN" sz="1200" dirty="0">
                <a:effectLst/>
                <a:latin typeface="Optima" panose="02000503060000020004" pitchFamily="2" charset="0"/>
                <a:ea typeface="Microsoft YaHei UI" panose="020B0503020204020204" pitchFamily="34" charset="-122"/>
              </a:rPr>
              <a:t>for llama2.c, there is a dominate</a:t>
            </a:r>
            <a:r>
              <a:rPr kumimoji="1" lang="zh-CN" altLang="en-US" sz="1200" dirty="0">
                <a:effectLst/>
                <a:latin typeface="Optima" panose="02000503060000020004" pitchFamily="2" charset="0"/>
                <a:ea typeface="Microsoft YaHei UI" panose="020B0503020204020204" pitchFamily="34" charset="-122"/>
              </a:rPr>
              <a:t> </a:t>
            </a:r>
            <a:r>
              <a:rPr kumimoji="1" lang="en-US" altLang="zh-CN" sz="1200" dirty="0">
                <a:effectLst/>
                <a:latin typeface="Optima" panose="02000503060000020004" pitchFamily="2" charset="0"/>
                <a:ea typeface="Microsoft YaHei UI" panose="020B0503020204020204" pitchFamily="34" charset="-122"/>
              </a:rPr>
              <a:t>stream</a:t>
            </a:r>
            <a:r>
              <a:rPr kumimoji="1" lang="zh-CN" altLang="en-US" sz="1200" dirty="0">
                <a:effectLst/>
                <a:latin typeface="Optima" panose="02000503060000020004" pitchFamily="2" charset="0"/>
                <a:ea typeface="Microsoft YaHei UI" panose="020B0503020204020204" pitchFamily="34" charset="-122"/>
              </a:rPr>
              <a:t> </a:t>
            </a:r>
            <a:r>
              <a:rPr kumimoji="1" lang="en-US" altLang="zh-CN" sz="1200" dirty="0">
                <a:effectLst/>
                <a:latin typeface="Optima" panose="02000503060000020004" pitchFamily="2" charset="0"/>
                <a:ea typeface="Microsoft YaHei UI" panose="020B0503020204020204" pitchFamily="34" charset="-122"/>
              </a:rPr>
              <a:t>access pattern, which cause a high L1 data miss rate.</a:t>
            </a:r>
            <a:endParaRPr lang="en-US" altLang="ja-JP" sz="1200" dirty="0">
              <a:effectLst/>
              <a:latin typeface="Optima" panose="02000503060000020004" pitchFamily="2" charset="0"/>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fld id="{5992B46E-55D6-EB42-A594-DBF99FEC013F}" type="slidenum">
              <a:rPr kumimoji="1" lang="zh-CN" altLang="en-US" smtClean="0"/>
              <a:t>4</a:t>
            </a:fld>
            <a:endParaRPr kumimoji="1" lang="zh-CN" altLang="en-US"/>
          </a:p>
        </p:txBody>
      </p:sp>
    </p:spTree>
    <p:extLst>
      <p:ext uri="{BB962C8B-B14F-4D97-AF65-F5344CB8AC3E}">
        <p14:creationId xmlns:p14="http://schemas.microsoft.com/office/powerpoint/2010/main" val="929593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Then we dive more into the prefetch and memory access of DPC3 Berti on llama2.c workload. The figure in the right displays a memory access snippet of </a:t>
            </a:r>
            <a:r>
              <a:rPr lang="en-US" altLang="ja-JP" sz="1200" dirty="0">
                <a:latin typeface="Optima" panose="02000503060000020004" pitchFamily="2" charset="0"/>
                <a:ea typeface="Microsoft YaHei UI" panose="020B0503020204020204" pitchFamily="34" charset="-122"/>
              </a:rPr>
              <a:t>llama2.c</a:t>
            </a:r>
            <a:r>
              <a:rPr kumimoji="1" lang="en-US" altLang="zh-CN" dirty="0"/>
              <a:t>. The x-axis is the </a:t>
            </a:r>
            <a:r>
              <a:rPr kumimoji="1" lang="en-US" altLang="zh-CN" dirty="0" err="1"/>
              <a:t>Champsim</a:t>
            </a:r>
            <a:r>
              <a:rPr kumimoji="1" lang="en-US" altLang="zh-CN" dirty="0"/>
              <a:t> cycle and y-axis is the memory access address. The blue dots represent prefetches and the orange ones represent L1D hit and useful prefetch. Since there is no data reuse, all L1D hits are useful prefetches. The red dots represent L1D misses. From the figure, we can notice that although the Berti can cover most of the stream accesses, a large amount of misses appear</a:t>
            </a:r>
            <a:r>
              <a:rPr kumimoji="1" lang="zh-CN" altLang="en-US" dirty="0"/>
              <a:t> </a:t>
            </a:r>
            <a:r>
              <a:rPr kumimoji="1" lang="en-US" altLang="zh-CN" dirty="0"/>
              <a:t>every 4KB, which means the Berti can not cover the cross-page patterns well. So we are looking for suitable</a:t>
            </a:r>
            <a:r>
              <a:rPr kumimoji="1" lang="zh-CN" altLang="en-US" dirty="0"/>
              <a:t> </a:t>
            </a:r>
            <a:r>
              <a:rPr kumimoji="1" lang="en-US" altLang="zh-CN" dirty="0"/>
              <a:t>prefetchers such as stride prefetcher to cover this simple stream pattern and combine it with Berti.</a:t>
            </a:r>
            <a:endParaRPr kumimoji="1" lang="zh-CN" altLang="en-US" dirty="0"/>
          </a:p>
        </p:txBody>
      </p:sp>
      <p:sp>
        <p:nvSpPr>
          <p:cNvPr id="4" name="灯片编号占位符 3"/>
          <p:cNvSpPr>
            <a:spLocks noGrp="1"/>
          </p:cNvSpPr>
          <p:nvPr>
            <p:ph type="sldNum" sz="quarter" idx="5"/>
          </p:nvPr>
        </p:nvSpPr>
        <p:spPr/>
        <p:txBody>
          <a:bodyPr/>
          <a:lstStyle/>
          <a:p>
            <a:fld id="{5992B46E-55D6-EB42-A594-DBF99FEC013F}" type="slidenum">
              <a:rPr kumimoji="1" lang="zh-CN" altLang="en-US" smtClean="0"/>
              <a:t>5</a:t>
            </a:fld>
            <a:endParaRPr kumimoji="1" lang="zh-CN" altLang="en-US"/>
          </a:p>
        </p:txBody>
      </p:sp>
    </p:spTree>
    <p:extLst>
      <p:ext uri="{BB962C8B-B14F-4D97-AF65-F5344CB8AC3E}">
        <p14:creationId xmlns:p14="http://schemas.microsoft.com/office/powerpoint/2010/main" val="1254092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We have tried combining the Berti with other prefetchers such as temporal prefetchers. But we only get better overall results when incorporating</a:t>
            </a:r>
            <a:r>
              <a:rPr kumimoji="1" lang="zh-CN" altLang="en-US" dirty="0"/>
              <a:t> </a:t>
            </a:r>
            <a:r>
              <a:rPr kumimoji="1" lang="en-US" altLang="zh-CN" dirty="0"/>
              <a:t>a stride</a:t>
            </a:r>
            <a:r>
              <a:rPr kumimoji="1" lang="zh-CN" altLang="en-US" dirty="0"/>
              <a:t> </a:t>
            </a:r>
            <a:r>
              <a:rPr kumimoji="1" lang="en-US" altLang="zh-CN" dirty="0"/>
              <a:t>prefetcher. </a:t>
            </a:r>
            <a:r>
              <a:rPr lang="en" altLang="zh-CN" dirty="0"/>
              <a:t>This is attributed to </a:t>
            </a:r>
            <a:r>
              <a:rPr kumimoji="1" lang="en-US" altLang="zh-CN" dirty="0"/>
              <a:t>the stream access patterns in AI-ML workloads. We use a smart stride prefetcher derived from the </a:t>
            </a:r>
            <a:r>
              <a:rPr kumimoji="1" lang="en-US" altLang="zh-CN" dirty="0" err="1"/>
              <a:t>xs_stride</a:t>
            </a:r>
            <a:r>
              <a:rPr kumimoji="1" lang="en-US" altLang="zh-CN" dirty="0"/>
              <a:t> prefetcher in </a:t>
            </a:r>
            <a:r>
              <a:rPr kumimoji="1" lang="en-US" altLang="zh-CN" dirty="0" err="1"/>
              <a:t>XiangShan</a:t>
            </a:r>
            <a:r>
              <a:rPr kumimoji="1" lang="en-US" altLang="zh-CN" dirty="0"/>
              <a:t>, an open-source high-performance RISC-V core.</a:t>
            </a:r>
          </a:p>
          <a:p>
            <a:endParaRPr kumimoji="1" lang="en-US" altLang="zh-CN" dirty="0"/>
          </a:p>
          <a:p>
            <a:r>
              <a:rPr lang="en" altLang="zh-CN" dirty="0"/>
              <a:t>The Smart Stride prefetcher utilizes a confidence counter, adjusted by comparing prefetch addresses against demand accesses. Prefetches are issued only when confidence exceeds a specific threshold. To ensure timeliness, the system monitors late prefetches and dynamically adjusts the prefetch depth. Furthermore, strides are detected at multiples of the delta value to adapt to out-of-order access patterns.</a:t>
            </a:r>
            <a:endParaRPr kumimoji="1" lang="zh-CN" altLang="en-US" dirty="0"/>
          </a:p>
        </p:txBody>
      </p:sp>
      <p:sp>
        <p:nvSpPr>
          <p:cNvPr id="4" name="灯片编号占位符 3"/>
          <p:cNvSpPr>
            <a:spLocks noGrp="1"/>
          </p:cNvSpPr>
          <p:nvPr>
            <p:ph type="sldNum" sz="quarter" idx="5"/>
          </p:nvPr>
        </p:nvSpPr>
        <p:spPr/>
        <p:txBody>
          <a:bodyPr/>
          <a:lstStyle/>
          <a:p>
            <a:fld id="{5992B46E-55D6-EB42-A594-DBF99FEC013F}" type="slidenum">
              <a:rPr kumimoji="1" lang="zh-CN" altLang="en-US" smtClean="0"/>
              <a:t>6</a:t>
            </a:fld>
            <a:endParaRPr kumimoji="1" lang="zh-CN" altLang="en-US"/>
          </a:p>
        </p:txBody>
      </p:sp>
    </p:spTree>
    <p:extLst>
      <p:ext uri="{BB962C8B-B14F-4D97-AF65-F5344CB8AC3E}">
        <p14:creationId xmlns:p14="http://schemas.microsoft.com/office/powerpoint/2010/main" val="1746937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The </a:t>
            </a:r>
            <a:r>
              <a:rPr kumimoji="1" lang="en-US" altLang="zh-CN" dirty="0" err="1"/>
              <a:t>sBerti</a:t>
            </a:r>
            <a:r>
              <a:rPr kumimoji="1" lang="en-US" altLang="zh-CN" dirty="0"/>
              <a:t> prefetcher simply combines the Berti and the smart stride prefetcher, with two components</a:t>
            </a:r>
            <a:r>
              <a:rPr kumimoji="1" lang="zh-CN" altLang="en-US" dirty="0"/>
              <a:t> </a:t>
            </a:r>
            <a:r>
              <a:rPr kumimoji="1" lang="en-US" altLang="zh-CN" dirty="0"/>
              <a:t>issue</a:t>
            </a:r>
            <a:r>
              <a:rPr kumimoji="1" lang="zh-CN" altLang="en-US" dirty="0"/>
              <a:t> </a:t>
            </a:r>
            <a:r>
              <a:rPr kumimoji="1" lang="en-US" altLang="zh-CN" dirty="0"/>
              <a:t>prefetches</a:t>
            </a:r>
            <a:r>
              <a:rPr kumimoji="1" lang="zh-CN" altLang="en-US" dirty="0"/>
              <a:t> </a:t>
            </a:r>
            <a:r>
              <a:rPr kumimoji="1" lang="en-US" altLang="zh-CN" dirty="0"/>
              <a:t>independently. The metadata tables are</a:t>
            </a:r>
            <a:r>
              <a:rPr kumimoji="1" lang="zh-CN" altLang="en-US" dirty="0"/>
              <a:t> </a:t>
            </a:r>
            <a:r>
              <a:rPr kumimoji="1" lang="en-US" altLang="zh-CN" dirty="0"/>
              <a:t>separate</a:t>
            </a:r>
            <a:r>
              <a:rPr kumimoji="1" lang="zh-CN" altLang="en-US" dirty="0"/>
              <a:t> </a:t>
            </a:r>
            <a:r>
              <a:rPr kumimoji="1" lang="en-US" altLang="zh-CN" dirty="0"/>
              <a:t>too. The figure below compares the memory access snippets</a:t>
            </a:r>
            <a:r>
              <a:rPr kumimoji="1" lang="zh-CN" altLang="en-US" dirty="0"/>
              <a:t> </a:t>
            </a:r>
            <a:r>
              <a:rPr kumimoji="1" lang="en-US" altLang="zh-CN" dirty="0"/>
              <a:t>of the DPC3 Berti and </a:t>
            </a:r>
            <a:r>
              <a:rPr kumimoji="1" lang="en-US" altLang="zh-CN" dirty="0" err="1"/>
              <a:t>sBerti</a:t>
            </a:r>
            <a:r>
              <a:rPr kumimoji="1" lang="en-US" altLang="zh-CN" dirty="0"/>
              <a:t>. From the</a:t>
            </a:r>
            <a:r>
              <a:rPr kumimoji="1" lang="zh-CN" altLang="en-US" dirty="0"/>
              <a:t> </a:t>
            </a:r>
            <a:r>
              <a:rPr kumimoji="1" lang="en-US" altLang="zh-CN" dirty="0"/>
              <a:t>figure, we can observe that the red dots in the left turned into orange ones in the right, which means the </a:t>
            </a:r>
            <a:r>
              <a:rPr kumimoji="1" lang="en-US" altLang="zh-CN" dirty="0" err="1"/>
              <a:t>sBerti</a:t>
            </a:r>
            <a:r>
              <a:rPr kumimoji="1" lang="en-US" altLang="zh-CN" dirty="0"/>
              <a:t> covers the cross-page patterns and turns L1D misses into useful prefetches. The number of useful prefetches in this snippet has increased from 846 to 995. </a:t>
            </a:r>
            <a:r>
              <a:rPr kumimoji="1" lang="en-US" altLang="zh-CN" dirty="0" err="1"/>
              <a:t>sBerti</a:t>
            </a:r>
            <a:r>
              <a:rPr kumimoji="1" lang="en-US" altLang="zh-CN" dirty="0"/>
              <a:t> behaves like a patch on the DPC3 Berti, but not accurate</a:t>
            </a:r>
            <a:r>
              <a:rPr kumimoji="1" lang="zh-CN" altLang="en-US" dirty="0"/>
              <a:t> </a:t>
            </a:r>
            <a:r>
              <a:rPr kumimoji="1" lang="en-US" altLang="zh-CN" dirty="0"/>
              <a:t>enough, as some of the reviewers have pointed out.</a:t>
            </a:r>
            <a:endParaRPr kumimoji="1" lang="zh-CN" altLang="en-US" dirty="0"/>
          </a:p>
        </p:txBody>
      </p:sp>
      <p:sp>
        <p:nvSpPr>
          <p:cNvPr id="4" name="灯片编号占位符 3"/>
          <p:cNvSpPr>
            <a:spLocks noGrp="1"/>
          </p:cNvSpPr>
          <p:nvPr>
            <p:ph type="sldNum" sz="quarter" idx="5"/>
          </p:nvPr>
        </p:nvSpPr>
        <p:spPr/>
        <p:txBody>
          <a:bodyPr/>
          <a:lstStyle/>
          <a:p>
            <a:fld id="{5992B46E-55D6-EB42-A594-DBF99FEC013F}" type="slidenum">
              <a:rPr kumimoji="1" lang="zh-CN" altLang="en-US" smtClean="0"/>
              <a:t>7</a:t>
            </a:fld>
            <a:endParaRPr kumimoji="1" lang="zh-CN" altLang="en-US"/>
          </a:p>
        </p:txBody>
      </p:sp>
    </p:spTree>
    <p:extLst>
      <p:ext uri="{BB962C8B-B14F-4D97-AF65-F5344CB8AC3E}">
        <p14:creationId xmlns:p14="http://schemas.microsoft.com/office/powerpoint/2010/main" val="2144550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As some of the reviewers have asked, since the </a:t>
            </a:r>
            <a:r>
              <a:rPr kumimoji="1" lang="en-US" altLang="zh-CN" dirty="0" err="1"/>
              <a:t>vBerti</a:t>
            </a:r>
            <a:r>
              <a:rPr kumimoji="1" lang="en-US" altLang="zh-CN" dirty="0"/>
              <a:t> published</a:t>
            </a:r>
            <a:r>
              <a:rPr kumimoji="1" lang="zh-CN" altLang="en-US" dirty="0"/>
              <a:t> </a:t>
            </a:r>
            <a:r>
              <a:rPr kumimoji="1" lang="en-US" altLang="zh-CN" dirty="0"/>
              <a:t>in MICRO prefetches using </a:t>
            </a:r>
            <a:r>
              <a:rPr kumimoji="1" lang="en-US" altLang="zh-CN" dirty="0" err="1"/>
              <a:t>vitual</a:t>
            </a:r>
            <a:r>
              <a:rPr kumimoji="1" lang="en-US" altLang="zh-CN" dirty="0"/>
              <a:t> addresses, can </a:t>
            </a:r>
            <a:r>
              <a:rPr kumimoji="1" lang="en-US" altLang="zh-CN" dirty="0" err="1"/>
              <a:t>vBerti</a:t>
            </a:r>
            <a:r>
              <a:rPr kumimoji="1" lang="en-US" altLang="zh-CN" dirty="0"/>
              <a:t> cover the cross-page pattern? </a:t>
            </a:r>
            <a:r>
              <a:rPr lang="en" altLang="zh-CN" dirty="0"/>
              <a:t>Theoretically, the virtual address </a:t>
            </a:r>
            <a:r>
              <a:rPr lang="en-US" altLang="zh-CN" dirty="0"/>
              <a:t>used</a:t>
            </a:r>
            <a:r>
              <a:rPr lang="zh-CN" altLang="en-US" dirty="0"/>
              <a:t> </a:t>
            </a:r>
            <a:r>
              <a:rPr lang="en" altLang="zh-CN" dirty="0"/>
              <a:t>in </a:t>
            </a:r>
            <a:r>
              <a:rPr lang="en" altLang="zh-CN" dirty="0" err="1"/>
              <a:t>vBerti</a:t>
            </a:r>
            <a:r>
              <a:rPr lang="en" altLang="zh-CN" dirty="0"/>
              <a:t> can handle this cross-page pattern. However, the </a:t>
            </a:r>
            <a:r>
              <a:rPr lang="en" altLang="zh-CN" dirty="0" err="1"/>
              <a:t>vBerti</a:t>
            </a:r>
            <a:r>
              <a:rPr lang="en" altLang="zh-CN" dirty="0"/>
              <a:t> does not work well in our experimental</a:t>
            </a:r>
            <a:r>
              <a:rPr lang="zh-CN" altLang="en-US" dirty="0"/>
              <a:t> </a:t>
            </a:r>
            <a:r>
              <a:rPr lang="en-US" altLang="zh-CN" dirty="0"/>
              <a:t>setup</a:t>
            </a:r>
            <a:r>
              <a:rPr lang="en" altLang="zh-CN" dirty="0"/>
              <a:t>. It is unclear whether this is an implementation error or a theoretical flaw.</a:t>
            </a:r>
            <a:r>
              <a:rPr lang="en-US" altLang="zh-CN" sz="1200" dirty="0">
                <a:latin typeface="Optima" panose="02000503060000020004" pitchFamily="2" charset="0"/>
                <a:ea typeface="Microsoft YaHei UI" panose="020B0503020204020204" pitchFamily="34" charset="-122"/>
              </a:rPr>
              <a:t> </a:t>
            </a:r>
          </a:p>
          <a:p>
            <a:endParaRPr kumimoji="1" lang="en-US" altLang="zh-CN" sz="1200" dirty="0">
              <a:latin typeface="Optima" panose="02000503060000020004" pitchFamily="2" charset="0"/>
              <a:ea typeface="Microsoft YaHei UI" panose="020B0503020204020204" pitchFamily="34" charset="-122"/>
            </a:endParaRPr>
          </a:p>
          <a:p>
            <a:r>
              <a:rPr kumimoji="1" lang="en-US" altLang="zh-CN" dirty="0"/>
              <a:t>Here I will show some observations. As the memory access snippet for </a:t>
            </a:r>
            <a:r>
              <a:rPr kumimoji="1" lang="en-US" altLang="zh-CN" dirty="0" err="1"/>
              <a:t>vBerti</a:t>
            </a:r>
            <a:r>
              <a:rPr kumimoji="1" lang="en-US" altLang="zh-CN" dirty="0"/>
              <a:t> on llama2.c workload on the right, the prefetch depth of </a:t>
            </a:r>
            <a:r>
              <a:rPr kumimoji="1" lang="en-US" altLang="zh-CN" dirty="0" err="1"/>
              <a:t>vBerti</a:t>
            </a:r>
            <a:r>
              <a:rPr kumimoji="1" lang="en-US" altLang="zh-CN" dirty="0"/>
              <a:t> is always</a:t>
            </a:r>
            <a:r>
              <a:rPr kumimoji="1" lang="zh-CN" altLang="en-US" dirty="0"/>
              <a:t> </a:t>
            </a:r>
            <a:r>
              <a:rPr kumimoji="1" lang="en-US" altLang="zh-CN" dirty="0"/>
              <a:t>1 and the prefetch is not timely. By</a:t>
            </a:r>
            <a:r>
              <a:rPr kumimoji="1" lang="zh-CN" altLang="en-US" dirty="0"/>
              <a:t> </a:t>
            </a:r>
            <a:r>
              <a:rPr kumimoji="1" lang="en-US" altLang="zh-CN" dirty="0"/>
              <a:t>profiling, we observed that the prefetch queue of </a:t>
            </a:r>
            <a:r>
              <a:rPr kumimoji="1" lang="en-US" altLang="zh-CN" dirty="0" err="1"/>
              <a:t>vBerti</a:t>
            </a:r>
            <a:r>
              <a:rPr kumimoji="1" lang="en-US" altLang="zh-CN" dirty="0"/>
              <a:t> is full most of the time, which makes prefetches with larger stride less likely to be issued. We also observed that stride 1 always has the highest confidence</a:t>
            </a:r>
            <a:r>
              <a:rPr kumimoji="1" lang="zh-CN" altLang="en-US" dirty="0"/>
              <a:t> </a:t>
            </a:r>
            <a:r>
              <a:rPr lang="en" altLang="zh-CN" dirty="0"/>
              <a:t>and is close to the maximum threshold</a:t>
            </a:r>
            <a:r>
              <a:rPr kumimoji="1" lang="en-US" altLang="zh-CN" dirty="0"/>
              <a:t>. The prefetch requests in the prefetch queue are usually stall, which means late prefetches.</a:t>
            </a:r>
          </a:p>
          <a:p>
            <a:endParaRPr kumimoji="1" lang="en-US" altLang="zh-CN" dirty="0"/>
          </a:p>
          <a:p>
            <a:r>
              <a:rPr lang="en" altLang="zh-CN" dirty="0"/>
              <a:t>Although we are still debugging </a:t>
            </a:r>
            <a:r>
              <a:rPr lang="en" altLang="zh-CN" dirty="0" err="1"/>
              <a:t>vBerti</a:t>
            </a:r>
            <a:r>
              <a:rPr lang="en" altLang="zh-CN" dirty="0"/>
              <a:t>, theoretically, it should be capable of covering cross-page patterns.</a:t>
            </a:r>
            <a:endParaRPr kumimoji="1" lang="en-US" altLang="zh-CN" dirty="0"/>
          </a:p>
        </p:txBody>
      </p:sp>
      <p:sp>
        <p:nvSpPr>
          <p:cNvPr id="4" name="灯片编号占位符 3"/>
          <p:cNvSpPr>
            <a:spLocks noGrp="1"/>
          </p:cNvSpPr>
          <p:nvPr>
            <p:ph type="sldNum" sz="quarter" idx="5"/>
          </p:nvPr>
        </p:nvSpPr>
        <p:spPr/>
        <p:txBody>
          <a:bodyPr/>
          <a:lstStyle/>
          <a:p>
            <a:fld id="{5992B46E-55D6-EB42-A594-DBF99FEC013F}" type="slidenum">
              <a:rPr kumimoji="1" lang="zh-CN" altLang="en-US" smtClean="0"/>
              <a:t>8</a:t>
            </a:fld>
            <a:endParaRPr kumimoji="1" lang="zh-CN" altLang="en-US"/>
          </a:p>
        </p:txBody>
      </p:sp>
    </p:spTree>
    <p:extLst>
      <p:ext uri="{BB962C8B-B14F-4D97-AF65-F5344CB8AC3E}">
        <p14:creationId xmlns:p14="http://schemas.microsoft.com/office/powerpoint/2010/main" val="4107675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The storage</a:t>
            </a:r>
            <a:r>
              <a:rPr kumimoji="1" lang="zh-CN" altLang="en-US" dirty="0"/>
              <a:t> </a:t>
            </a:r>
            <a:r>
              <a:rPr kumimoji="1" lang="en-US" altLang="zh-CN" dirty="0"/>
              <a:t>budget</a:t>
            </a:r>
            <a:r>
              <a:rPr kumimoji="1" lang="zh-CN" altLang="en-US" dirty="0"/>
              <a:t> </a:t>
            </a:r>
            <a:r>
              <a:rPr kumimoji="1" lang="en-US" altLang="zh-CN" dirty="0"/>
              <a:t>for smart stride prefetcher is around 4KB, including the stride detection</a:t>
            </a:r>
            <a:r>
              <a:rPr kumimoji="1" lang="zh-CN" altLang="en-US" dirty="0"/>
              <a:t> </a:t>
            </a:r>
            <a:r>
              <a:rPr kumimoji="1" lang="en-US" altLang="zh-CN" dirty="0"/>
              <a:t>table and a deduplication buffer. For the Berti in </a:t>
            </a:r>
            <a:r>
              <a:rPr kumimoji="1" lang="en-US" altLang="zh-CN" dirty="0" err="1"/>
              <a:t>sBerti</a:t>
            </a:r>
            <a:r>
              <a:rPr kumimoji="1" lang="en-US" altLang="zh-CN" dirty="0"/>
              <a:t> prefetcher, we reduce the number of Recorded Pages to satisfy</a:t>
            </a:r>
            <a:r>
              <a:rPr kumimoji="1" lang="zh-CN" altLang="en-US" dirty="0"/>
              <a:t> </a:t>
            </a:r>
            <a:r>
              <a:rPr kumimoji="1" lang="en-US" altLang="zh-CN" dirty="0"/>
              <a:t>the 32KB L1D prefetcher storage budget.</a:t>
            </a:r>
            <a:endParaRPr kumimoji="1" lang="zh-CN" altLang="en-US" dirty="0"/>
          </a:p>
        </p:txBody>
      </p:sp>
      <p:sp>
        <p:nvSpPr>
          <p:cNvPr id="4" name="灯片编号占位符 3"/>
          <p:cNvSpPr>
            <a:spLocks noGrp="1"/>
          </p:cNvSpPr>
          <p:nvPr>
            <p:ph type="sldNum" sz="quarter" idx="5"/>
          </p:nvPr>
        </p:nvSpPr>
        <p:spPr/>
        <p:txBody>
          <a:bodyPr/>
          <a:lstStyle/>
          <a:p>
            <a:fld id="{5992B46E-55D6-EB42-A594-DBF99FEC013F}" type="slidenum">
              <a:rPr kumimoji="1" lang="zh-CN" altLang="en-US" smtClean="0"/>
              <a:t>9</a:t>
            </a:fld>
            <a:endParaRPr kumimoji="1" lang="zh-CN" altLang="en-US"/>
          </a:p>
        </p:txBody>
      </p:sp>
    </p:spTree>
    <p:extLst>
      <p:ext uri="{BB962C8B-B14F-4D97-AF65-F5344CB8AC3E}">
        <p14:creationId xmlns:p14="http://schemas.microsoft.com/office/powerpoint/2010/main" val="41616120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We show the coverage comparison</a:t>
            </a:r>
            <a:r>
              <a:rPr kumimoji="1" lang="zh-CN" altLang="en-US" dirty="0"/>
              <a:t> </a:t>
            </a:r>
            <a:r>
              <a:rPr kumimoji="1" lang="en-US" altLang="zh-CN" dirty="0"/>
              <a:t>of </a:t>
            </a:r>
            <a:r>
              <a:rPr kumimoji="1" lang="en-US" altLang="zh-CN" dirty="0" err="1"/>
              <a:t>sBerti</a:t>
            </a:r>
            <a:r>
              <a:rPr kumimoji="1" lang="en-US" altLang="zh-CN" dirty="0"/>
              <a:t> and baseline for workloads in different</a:t>
            </a:r>
            <a:r>
              <a:rPr kumimoji="1" lang="zh-CN" altLang="en-US" dirty="0"/>
              <a:t> </a:t>
            </a:r>
            <a:r>
              <a:rPr kumimoji="1" lang="en-US" altLang="zh-CN" dirty="0"/>
              <a:t>categories</a:t>
            </a:r>
            <a:r>
              <a:rPr kumimoji="1" lang="zh-CN" altLang="en-US" dirty="0"/>
              <a:t> </a:t>
            </a:r>
            <a:r>
              <a:rPr kumimoji="1" lang="en-US" altLang="zh-CN" dirty="0"/>
              <a:t>in the figure below. The </a:t>
            </a:r>
            <a:r>
              <a:rPr kumimoji="1" lang="en-US" altLang="zh-CN" dirty="0" err="1"/>
              <a:t>sBerti</a:t>
            </a:r>
            <a:r>
              <a:rPr kumimoji="1" lang="en-US" altLang="zh-CN" dirty="0"/>
              <a:t> increases the coverage of AI-ML and SPEC17 workloads. The coverage of Graph and Google Traces v2 remains nearly identical. It is as expected since there is mainly indirect memory access in Graph workloads.</a:t>
            </a:r>
            <a:endParaRPr kumimoji="1" lang="zh-CN" altLang="en-US" dirty="0"/>
          </a:p>
        </p:txBody>
      </p:sp>
      <p:sp>
        <p:nvSpPr>
          <p:cNvPr id="4" name="灯片编号占位符 3"/>
          <p:cNvSpPr>
            <a:spLocks noGrp="1"/>
          </p:cNvSpPr>
          <p:nvPr>
            <p:ph type="sldNum" sz="quarter" idx="5"/>
          </p:nvPr>
        </p:nvSpPr>
        <p:spPr/>
        <p:txBody>
          <a:bodyPr/>
          <a:lstStyle/>
          <a:p>
            <a:fld id="{5992B46E-55D6-EB42-A594-DBF99FEC013F}" type="slidenum">
              <a:rPr kumimoji="1" lang="zh-CN" altLang="en-US" smtClean="0"/>
              <a:t>10</a:t>
            </a:fld>
            <a:endParaRPr kumimoji="1" lang="zh-CN" altLang="en-US"/>
          </a:p>
        </p:txBody>
      </p:sp>
    </p:spTree>
    <p:extLst>
      <p:ext uri="{BB962C8B-B14F-4D97-AF65-F5344CB8AC3E}">
        <p14:creationId xmlns:p14="http://schemas.microsoft.com/office/powerpoint/2010/main" val="8177146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However, there is an accuracy drop for all categories. We leave it for future work to profile and solve this problem.</a:t>
            </a:r>
            <a:r>
              <a:rPr kumimoji="1" lang="zh-CN" altLang="en-US" dirty="0"/>
              <a:t> </a:t>
            </a:r>
            <a:r>
              <a:rPr lang="en" altLang="zh-CN" dirty="0"/>
              <a:t>We </a:t>
            </a:r>
            <a:r>
              <a:rPr lang="en" altLang="zh-CN" b="1" dirty="0"/>
              <a:t>suspect</a:t>
            </a:r>
            <a:r>
              <a:rPr lang="en" altLang="zh-CN" dirty="0"/>
              <a:t> it is related to </a:t>
            </a:r>
            <a:r>
              <a:rPr lang="en" altLang="zh-CN" b="1" dirty="0"/>
              <a:t>prefetch deduplication</a:t>
            </a:r>
            <a:r>
              <a:rPr lang="en" altLang="zh-CN" dirty="0"/>
              <a:t>.</a:t>
            </a:r>
            <a:endParaRPr kumimoji="1" lang="zh-CN" altLang="en-US" dirty="0"/>
          </a:p>
        </p:txBody>
      </p:sp>
      <p:sp>
        <p:nvSpPr>
          <p:cNvPr id="4" name="灯片编号占位符 3"/>
          <p:cNvSpPr>
            <a:spLocks noGrp="1"/>
          </p:cNvSpPr>
          <p:nvPr>
            <p:ph type="sldNum" sz="quarter" idx="5"/>
          </p:nvPr>
        </p:nvSpPr>
        <p:spPr/>
        <p:txBody>
          <a:bodyPr/>
          <a:lstStyle/>
          <a:p>
            <a:fld id="{5992B46E-55D6-EB42-A594-DBF99FEC013F}" type="slidenum">
              <a:rPr kumimoji="1" lang="zh-CN" altLang="en-US" smtClean="0"/>
              <a:t>11</a:t>
            </a:fld>
            <a:endParaRPr kumimoji="1" lang="zh-CN" altLang="en-US"/>
          </a:p>
        </p:txBody>
      </p:sp>
    </p:spTree>
    <p:extLst>
      <p:ext uri="{BB962C8B-B14F-4D97-AF65-F5344CB8AC3E}">
        <p14:creationId xmlns:p14="http://schemas.microsoft.com/office/powerpoint/2010/main" val="3513932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b="0" i="0" dirty="0">
                <a:solidFill>
                  <a:srgbClr val="E3E3E3"/>
                </a:solidFill>
                <a:effectLst/>
                <a:latin typeface="Google Sans Flex"/>
              </a:rPr>
              <a:t>We selected multiple applications demonstrating over 50% stream patterns and present their speedups in the figure below. Significant speedups are observed for workloads in the AI-ML and SPEC17 categories.</a:t>
            </a:r>
            <a:endParaRPr kumimoji="1" lang="zh-CN" altLang="en-US" dirty="0"/>
          </a:p>
        </p:txBody>
      </p:sp>
      <p:sp>
        <p:nvSpPr>
          <p:cNvPr id="4" name="灯片编号占位符 3"/>
          <p:cNvSpPr>
            <a:spLocks noGrp="1"/>
          </p:cNvSpPr>
          <p:nvPr>
            <p:ph type="sldNum" sz="quarter" idx="5"/>
          </p:nvPr>
        </p:nvSpPr>
        <p:spPr/>
        <p:txBody>
          <a:bodyPr/>
          <a:lstStyle/>
          <a:p>
            <a:fld id="{5992B46E-55D6-EB42-A594-DBF99FEC013F}" type="slidenum">
              <a:rPr kumimoji="1" lang="zh-CN" altLang="en-US" smtClean="0"/>
              <a:t>12</a:t>
            </a:fld>
            <a:endParaRPr kumimoji="1" lang="zh-CN" altLang="en-US"/>
          </a:p>
        </p:txBody>
      </p:sp>
    </p:spTree>
    <p:extLst>
      <p:ext uri="{BB962C8B-B14F-4D97-AF65-F5344CB8AC3E}">
        <p14:creationId xmlns:p14="http://schemas.microsoft.com/office/powerpoint/2010/main" val="4010597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We use </a:t>
            </a:r>
            <a:r>
              <a:rPr kumimoji="1" lang="en-US" altLang="zh-CN" dirty="0" err="1"/>
              <a:t>sBerti</a:t>
            </a:r>
            <a:r>
              <a:rPr kumimoji="1" lang="en-US" altLang="zh-CN" dirty="0"/>
              <a:t> as L1 prefetcher and Pythia as L2 prefetcher for our solution in this contest. We did not use an LLC prefetcher as we failed to find a prefetcher to get performance gains in both the full bandwidth and limit bandwidth</a:t>
            </a:r>
            <a:r>
              <a:rPr kumimoji="1" lang="zh-CN" altLang="en-US" dirty="0"/>
              <a:t> </a:t>
            </a:r>
            <a:r>
              <a:rPr kumimoji="1" lang="en-US" altLang="zh-CN" dirty="0"/>
              <a:t>configurations. Our solution achieves </a:t>
            </a:r>
            <a:r>
              <a:rPr kumimoji="1" lang="en-US" altLang="zh-CN" sz="1200" dirty="0">
                <a:latin typeface="Optima" panose="02000503060000020004" pitchFamily="2" charset="0"/>
                <a:ea typeface="Microsoft YaHei UI" panose="020B0503020204020204" pitchFamily="34" charset="-122"/>
              </a:rPr>
              <a:t>s</a:t>
            </a:r>
            <a:r>
              <a:rPr lang="en-US" altLang="zh-CN" sz="1200" dirty="0">
                <a:latin typeface="Optima" panose="02000503060000020004" pitchFamily="2" charset="0"/>
                <a:ea typeface="Microsoft YaHei UI" panose="020B0503020204020204" pitchFamily="34" charset="-122"/>
              </a:rPr>
              <a:t>light</a:t>
            </a:r>
            <a:r>
              <a:rPr lang="zh-CN" altLang="en-US" sz="1200" dirty="0">
                <a:latin typeface="Optima" panose="02000503060000020004" pitchFamily="2" charset="0"/>
                <a:ea typeface="Microsoft YaHei UI" panose="020B0503020204020204" pitchFamily="34" charset="-122"/>
              </a:rPr>
              <a:t> </a:t>
            </a:r>
            <a:r>
              <a:rPr lang="en-US" altLang="zh-CN" sz="1200" dirty="0">
                <a:latin typeface="Optima" panose="02000503060000020004" pitchFamily="2" charset="0"/>
                <a:ea typeface="Microsoft YaHei UI" panose="020B0503020204020204" pitchFamily="34" charset="-122"/>
              </a:rPr>
              <a:t>performance</a:t>
            </a:r>
            <a:r>
              <a:rPr lang="zh-CN" altLang="en-US" sz="1200" dirty="0">
                <a:latin typeface="Optima" panose="02000503060000020004" pitchFamily="2" charset="0"/>
                <a:ea typeface="Microsoft YaHei UI" panose="020B0503020204020204" pitchFamily="34" charset="-122"/>
              </a:rPr>
              <a:t> </a:t>
            </a:r>
            <a:r>
              <a:rPr lang="en-US" altLang="zh-CN" sz="1200" dirty="0">
                <a:latin typeface="Optima" panose="02000503060000020004" pitchFamily="2" charset="0"/>
                <a:ea typeface="Microsoft YaHei UI" panose="020B0503020204020204" pitchFamily="34" charset="-122"/>
              </a:rPr>
              <a:t>gains,</a:t>
            </a:r>
            <a:r>
              <a:rPr lang="zh-CN" altLang="en-US" sz="1200" dirty="0">
                <a:latin typeface="Optima" panose="02000503060000020004" pitchFamily="2" charset="0"/>
                <a:ea typeface="Microsoft YaHei UI" panose="020B0503020204020204" pitchFamily="34" charset="-122"/>
              </a:rPr>
              <a:t> </a:t>
            </a:r>
            <a:r>
              <a:rPr lang="en-US" altLang="zh-CN" sz="1200" dirty="0">
                <a:latin typeface="Optima" panose="02000503060000020004" pitchFamily="2" charset="0"/>
                <a:ea typeface="Microsoft YaHei UI" panose="020B0503020204020204" pitchFamily="34" charset="-122"/>
              </a:rPr>
              <a:t>around 7% on AI-ML and 2% on SPEC17 workloads under </a:t>
            </a:r>
            <a:r>
              <a:rPr lang="en-US" altLang="zh-CN" sz="1200" dirty="0" err="1">
                <a:latin typeface="Optima" panose="02000503060000020004" pitchFamily="2" charset="0"/>
                <a:ea typeface="Microsoft YaHei UI" panose="020B0503020204020204" pitchFamily="34" charset="-122"/>
              </a:rPr>
              <a:t>FullBW</a:t>
            </a:r>
            <a:r>
              <a:rPr lang="en-US" altLang="zh-CN" sz="1200" dirty="0">
                <a:latin typeface="Optima" panose="02000503060000020004" pitchFamily="2" charset="0"/>
                <a:ea typeface="Microsoft YaHei UI" panose="020B0503020204020204" pitchFamily="34" charset="-122"/>
              </a:rPr>
              <a:t> configuration</a:t>
            </a:r>
            <a:r>
              <a:rPr kumimoji="1" lang="en-US" altLang="zh-CN" sz="1200" dirty="0">
                <a:latin typeface="Optima" panose="02000503060000020004" pitchFamily="2" charset="0"/>
                <a:ea typeface="Microsoft YaHei UI" panose="020B0503020204020204" pitchFamily="34" charset="-122"/>
              </a:rPr>
              <a:t>. </a:t>
            </a:r>
            <a:r>
              <a:rPr kumimoji="1" lang="en-US" altLang="zh-CN" sz="1200" dirty="0" err="1">
                <a:latin typeface="Optima" panose="02000503060000020004" pitchFamily="2" charset="0"/>
                <a:ea typeface="Microsoft YaHei UI" panose="020B0503020204020204" pitchFamily="34" charset="-122"/>
              </a:rPr>
              <a:t>sBerti</a:t>
            </a:r>
            <a:r>
              <a:rPr kumimoji="1" lang="en-US" altLang="zh-CN" sz="1200" dirty="0">
                <a:latin typeface="Optima" panose="02000503060000020004" pitchFamily="2" charset="0"/>
                <a:ea typeface="Microsoft YaHei UI" panose="020B0503020204020204" pitchFamily="34" charset="-122"/>
              </a:rPr>
              <a:t> remain nearly identical</a:t>
            </a:r>
            <a:r>
              <a:rPr kumimoji="1" lang="zh-CN" altLang="en-US" sz="1200" dirty="0">
                <a:latin typeface="Optima" panose="02000503060000020004" pitchFamily="2" charset="0"/>
                <a:ea typeface="Microsoft YaHei UI" panose="020B0503020204020204" pitchFamily="34" charset="-122"/>
              </a:rPr>
              <a:t> </a:t>
            </a:r>
            <a:r>
              <a:rPr kumimoji="1" lang="en-US" altLang="zh-CN" sz="1200" dirty="0">
                <a:latin typeface="Optima" panose="02000503060000020004" pitchFamily="2" charset="0"/>
                <a:ea typeface="Microsoft YaHei UI" panose="020B0503020204020204" pitchFamily="34" charset="-122"/>
              </a:rPr>
              <a:t>performance on average</a:t>
            </a:r>
            <a:r>
              <a:rPr kumimoji="1" lang="zh-CN" altLang="en-US" sz="1200" dirty="0">
                <a:latin typeface="Optima" panose="02000503060000020004" pitchFamily="2" charset="0"/>
                <a:ea typeface="Microsoft YaHei UI" panose="020B0503020204020204" pitchFamily="34" charset="-122"/>
              </a:rPr>
              <a:t> </a:t>
            </a:r>
            <a:r>
              <a:rPr kumimoji="1" lang="en-US" altLang="zh-CN" sz="1200" dirty="0">
                <a:latin typeface="Optima" panose="02000503060000020004" pitchFamily="2" charset="0"/>
                <a:ea typeface="Microsoft YaHei UI" panose="020B0503020204020204" pitchFamily="34" charset="-122"/>
              </a:rPr>
              <a:t>under limit bandwidth configuration.</a:t>
            </a:r>
            <a:endParaRPr lang="en-US" altLang="zh-CN" sz="1200" dirty="0">
              <a:latin typeface="Optima" panose="02000503060000020004" pitchFamily="2" charset="0"/>
              <a:ea typeface="Microsoft YaHei UI" panose="020B0503020204020204" pitchFamily="34" charset="-122"/>
            </a:endParaRPr>
          </a:p>
        </p:txBody>
      </p:sp>
      <p:sp>
        <p:nvSpPr>
          <p:cNvPr id="4" name="灯片编号占位符 3"/>
          <p:cNvSpPr>
            <a:spLocks noGrp="1"/>
          </p:cNvSpPr>
          <p:nvPr>
            <p:ph type="sldNum" sz="quarter" idx="5"/>
          </p:nvPr>
        </p:nvSpPr>
        <p:spPr/>
        <p:txBody>
          <a:bodyPr/>
          <a:lstStyle/>
          <a:p>
            <a:fld id="{5992B46E-55D6-EB42-A594-DBF99FEC013F}" type="slidenum">
              <a:rPr kumimoji="1" lang="zh-CN" altLang="en-US" smtClean="0"/>
              <a:t>13</a:t>
            </a:fld>
            <a:endParaRPr kumimoji="1" lang="zh-CN" altLang="en-US"/>
          </a:p>
        </p:txBody>
      </p:sp>
    </p:spTree>
    <p:extLst>
      <p:ext uri="{BB962C8B-B14F-4D97-AF65-F5344CB8AC3E}">
        <p14:creationId xmlns:p14="http://schemas.microsoft.com/office/powerpoint/2010/main" val="4290112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 altLang="zh-CN" dirty="0"/>
              <a:t>To summarize, we introduced </a:t>
            </a:r>
            <a:r>
              <a:rPr lang="en" altLang="zh-CN" b="1" dirty="0" err="1"/>
              <a:t>sBerti</a:t>
            </a:r>
            <a:r>
              <a:rPr lang="en" altLang="zh-CN" dirty="0"/>
              <a:t>, a hybrid prefetcher that combines the strengths of Berti and the Smart Stride Prefetcher.</a:t>
            </a:r>
          </a:p>
          <a:p>
            <a:r>
              <a:rPr lang="en" altLang="zh-CN" dirty="0"/>
              <a:t>Our main goal was to address the </a:t>
            </a:r>
            <a:r>
              <a:rPr lang="en" altLang="zh-CN" b="1" dirty="0"/>
              <a:t>cross-page limitations</a:t>
            </a:r>
            <a:r>
              <a:rPr lang="en" altLang="zh-CN" dirty="0"/>
              <a:t> of the DPC3 Berti. In the experiment, </a:t>
            </a:r>
            <a:r>
              <a:rPr lang="en" altLang="zh-CN" dirty="0" err="1"/>
              <a:t>sBerti</a:t>
            </a:r>
            <a:r>
              <a:rPr lang="en" altLang="zh-CN" dirty="0"/>
              <a:t> achieves a</a:t>
            </a:r>
            <a:r>
              <a:rPr lang="en-US" altLang="zh-CN" dirty="0"/>
              <a:t>n</a:t>
            </a:r>
            <a:r>
              <a:rPr lang="en" altLang="zh-CN" dirty="0"/>
              <a:t> </a:t>
            </a:r>
            <a:r>
              <a:rPr lang="en-US" altLang="zh-CN" dirty="0"/>
              <a:t>around 7%</a:t>
            </a:r>
            <a:r>
              <a:rPr lang="en" altLang="zh-CN" dirty="0"/>
              <a:t> speedup in </a:t>
            </a:r>
            <a:r>
              <a:rPr lang="en" altLang="zh-CN" b="1" dirty="0"/>
              <a:t>AI and ML workloads</a:t>
            </a:r>
            <a:r>
              <a:rPr lang="en" altLang="zh-CN" dirty="0"/>
              <a:t>.</a:t>
            </a:r>
          </a:p>
          <a:p>
            <a:r>
              <a:rPr lang="en" altLang="zh-CN" dirty="0"/>
              <a:t>However, there is still room for improvement. We plan to address the remaining accuracy challenges in future studies. Additionally, we are looking into </a:t>
            </a:r>
            <a:r>
              <a:rPr lang="en" altLang="zh-CN" b="1" dirty="0" err="1"/>
              <a:t>vBerti</a:t>
            </a:r>
            <a:r>
              <a:rPr lang="en" altLang="zh-CN" dirty="0"/>
              <a:t> as another promising direction to solve cross-page boundary problems.</a:t>
            </a:r>
          </a:p>
          <a:p>
            <a:r>
              <a:rPr lang="en" altLang="zh-CN" dirty="0"/>
              <a:t>Finally, we would like to extend our </a:t>
            </a:r>
            <a:r>
              <a:rPr lang="en" altLang="zh-CN" b="1" dirty="0"/>
              <a:t>special thanks to the reviewers</a:t>
            </a:r>
            <a:r>
              <a:rPr lang="en" altLang="zh-CN" dirty="0"/>
              <a:t> for their constructive comments, which greatly improved this work, and to the </a:t>
            </a:r>
            <a:r>
              <a:rPr lang="en" altLang="zh-CN" b="1" dirty="0"/>
              <a:t>DPC-4 organizers</a:t>
            </a:r>
            <a:r>
              <a:rPr lang="en" altLang="zh-CN" dirty="0"/>
              <a:t> for hosting this excellent competition. Thank you!</a:t>
            </a:r>
          </a:p>
          <a:p>
            <a:endParaRPr kumimoji="1" lang="zh-CN" altLang="en-US" dirty="0"/>
          </a:p>
        </p:txBody>
      </p:sp>
      <p:sp>
        <p:nvSpPr>
          <p:cNvPr id="4" name="灯片编号占位符 3"/>
          <p:cNvSpPr>
            <a:spLocks noGrp="1"/>
          </p:cNvSpPr>
          <p:nvPr>
            <p:ph type="sldNum" sz="quarter" idx="5"/>
          </p:nvPr>
        </p:nvSpPr>
        <p:spPr/>
        <p:txBody>
          <a:bodyPr/>
          <a:lstStyle/>
          <a:p>
            <a:fld id="{5992B46E-55D6-EB42-A594-DBF99FEC013F}" type="slidenum">
              <a:rPr kumimoji="1" lang="zh-CN" altLang="en-US" smtClean="0"/>
              <a:t>14</a:t>
            </a:fld>
            <a:endParaRPr kumimoji="1" lang="zh-CN" altLang="en-US"/>
          </a:p>
        </p:txBody>
      </p:sp>
    </p:spTree>
    <p:extLst>
      <p:ext uri="{BB962C8B-B14F-4D97-AF65-F5344CB8AC3E}">
        <p14:creationId xmlns:p14="http://schemas.microsoft.com/office/powerpoint/2010/main" val="4145526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167BB-FCEC-FB46-DBAC-B4FB9CA346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B0503-ED19-9DB5-DB42-5DD62963F4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8526B5-BB19-CB91-B444-DD0B40148CBC}"/>
              </a:ext>
            </a:extLst>
          </p:cNvPr>
          <p:cNvSpPr>
            <a:spLocks noGrp="1"/>
          </p:cNvSpPr>
          <p:nvPr>
            <p:ph type="body" idx="1"/>
          </p:nvPr>
        </p:nvSpPr>
        <p:spPr/>
        <p:txBody>
          <a:bodyPr/>
          <a:lstStyle/>
          <a:p>
            <a:r>
              <a:rPr lang="en-US" dirty="0"/>
              <a:t>That’s all for my presentation, any questions?</a:t>
            </a:r>
          </a:p>
        </p:txBody>
      </p:sp>
      <p:sp>
        <p:nvSpPr>
          <p:cNvPr id="4" name="Slide Number Placeholder 3">
            <a:extLst>
              <a:ext uri="{FF2B5EF4-FFF2-40B4-BE49-F238E27FC236}">
                <a16:creationId xmlns:a16="http://schemas.microsoft.com/office/drawing/2014/main" id="{7BB21C01-F29E-E4F7-3964-8CB840857F38}"/>
              </a:ext>
            </a:extLst>
          </p:cNvPr>
          <p:cNvSpPr>
            <a:spLocks noGrp="1"/>
          </p:cNvSpPr>
          <p:nvPr>
            <p:ph type="sldNum" sz="quarter" idx="5"/>
          </p:nvPr>
        </p:nvSpPr>
        <p:spPr/>
        <p:txBody>
          <a:bodyPr/>
          <a:lstStyle/>
          <a:p>
            <a:fld id="{F7544F29-D6C1-FE4D-8DC2-D2448A6E299B}" type="slidenum">
              <a:rPr lang="en-US" smtClean="0"/>
              <a:t>15</a:t>
            </a:fld>
            <a:endParaRPr lang="en-US" dirty="0"/>
          </a:p>
        </p:txBody>
      </p:sp>
    </p:spTree>
    <p:extLst>
      <p:ext uri="{BB962C8B-B14F-4D97-AF65-F5344CB8AC3E}">
        <p14:creationId xmlns:p14="http://schemas.microsoft.com/office/powerpoint/2010/main" val="517500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0017A4-B1D6-99E3-6E21-345010863871}"/>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B3B14E8F-8B39-6475-F427-5BA34E7C8C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EBEEC862-BF03-72E2-0B98-77257FAA74AF}"/>
              </a:ext>
            </a:extLst>
          </p:cNvPr>
          <p:cNvSpPr>
            <a:spLocks noGrp="1"/>
          </p:cNvSpPr>
          <p:nvPr>
            <p:ph type="dt" sz="half" idx="10"/>
          </p:nvPr>
        </p:nvSpPr>
        <p:spPr/>
        <p:txBody>
          <a:bodyPr/>
          <a:lstStyle/>
          <a:p>
            <a:r>
              <a:rPr kumimoji="1" lang="en-US" altLang="zh-CN"/>
              <a:t>February 1, 2026</a:t>
            </a:r>
            <a:endParaRPr kumimoji="1" lang="zh-CN" altLang="en-US" dirty="0"/>
          </a:p>
        </p:txBody>
      </p:sp>
      <p:sp>
        <p:nvSpPr>
          <p:cNvPr id="5" name="页脚占位符 4">
            <a:extLst>
              <a:ext uri="{FF2B5EF4-FFF2-40B4-BE49-F238E27FC236}">
                <a16:creationId xmlns:a16="http://schemas.microsoft.com/office/drawing/2014/main" id="{BCED22B8-C1B1-D9DD-DFC5-F69EE216E50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1541835-1EBE-B90D-88C4-66D594843B94}"/>
              </a:ext>
            </a:extLst>
          </p:cNvPr>
          <p:cNvSpPr>
            <a:spLocks noGrp="1"/>
          </p:cNvSpPr>
          <p:nvPr>
            <p:ph type="sldNum" sz="quarter" idx="12"/>
          </p:nvPr>
        </p:nvSpPr>
        <p:spPr/>
        <p:txBody>
          <a:bodyPr/>
          <a:lstStyle/>
          <a:p>
            <a:fld id="{316D01FC-19EB-7E40-9630-B05DD31B9AAA}" type="slidenum">
              <a:rPr kumimoji="1" lang="zh-CN" altLang="en-US" smtClean="0"/>
              <a:t>‹#›</a:t>
            </a:fld>
            <a:endParaRPr kumimoji="1" lang="zh-CN" altLang="en-US"/>
          </a:p>
        </p:txBody>
      </p:sp>
    </p:spTree>
    <p:extLst>
      <p:ext uri="{BB962C8B-B14F-4D97-AF65-F5344CB8AC3E}">
        <p14:creationId xmlns:p14="http://schemas.microsoft.com/office/powerpoint/2010/main" val="1541908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18A6FD-F9DF-2DE9-255C-957E7576E085}"/>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12D5F07-1083-0510-AD15-9E661B9C4B2B}"/>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3921C80-D021-037A-1CB1-CEC05B23FCAF}"/>
              </a:ext>
            </a:extLst>
          </p:cNvPr>
          <p:cNvSpPr>
            <a:spLocks noGrp="1"/>
          </p:cNvSpPr>
          <p:nvPr>
            <p:ph type="dt" sz="half" idx="10"/>
          </p:nvPr>
        </p:nvSpPr>
        <p:spPr/>
        <p:txBody>
          <a:bodyPr/>
          <a:lstStyle/>
          <a:p>
            <a:r>
              <a:rPr kumimoji="1" lang="en-US" altLang="zh-CN"/>
              <a:t>February 1, 2026</a:t>
            </a:r>
            <a:endParaRPr kumimoji="1" lang="zh-CN" altLang="en-US"/>
          </a:p>
        </p:txBody>
      </p:sp>
      <p:sp>
        <p:nvSpPr>
          <p:cNvPr id="5" name="页脚占位符 4">
            <a:extLst>
              <a:ext uri="{FF2B5EF4-FFF2-40B4-BE49-F238E27FC236}">
                <a16:creationId xmlns:a16="http://schemas.microsoft.com/office/drawing/2014/main" id="{52A4E69D-A7B3-23C9-B3EF-3CA5D6DCBF9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F82F77A-01F7-C3C3-D280-2980C913C28E}"/>
              </a:ext>
            </a:extLst>
          </p:cNvPr>
          <p:cNvSpPr>
            <a:spLocks noGrp="1"/>
          </p:cNvSpPr>
          <p:nvPr>
            <p:ph type="sldNum" sz="quarter" idx="12"/>
          </p:nvPr>
        </p:nvSpPr>
        <p:spPr/>
        <p:txBody>
          <a:bodyPr/>
          <a:lstStyle/>
          <a:p>
            <a:fld id="{316D01FC-19EB-7E40-9630-B05DD31B9AAA}" type="slidenum">
              <a:rPr kumimoji="1" lang="zh-CN" altLang="en-US" smtClean="0"/>
              <a:t>‹#›</a:t>
            </a:fld>
            <a:endParaRPr kumimoji="1" lang="zh-CN" altLang="en-US"/>
          </a:p>
        </p:txBody>
      </p:sp>
    </p:spTree>
    <p:extLst>
      <p:ext uri="{BB962C8B-B14F-4D97-AF65-F5344CB8AC3E}">
        <p14:creationId xmlns:p14="http://schemas.microsoft.com/office/powerpoint/2010/main" val="3001702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2BAC20-F736-728E-2091-493C8090ABC3}"/>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A1059AD-4583-B0CC-F6FC-54D65828AA3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20C77440-A77F-4309-F437-066B1CD865F6}"/>
              </a:ext>
            </a:extLst>
          </p:cNvPr>
          <p:cNvSpPr>
            <a:spLocks noGrp="1"/>
          </p:cNvSpPr>
          <p:nvPr>
            <p:ph type="dt" sz="half" idx="10"/>
          </p:nvPr>
        </p:nvSpPr>
        <p:spPr/>
        <p:txBody>
          <a:bodyPr/>
          <a:lstStyle/>
          <a:p>
            <a:r>
              <a:rPr kumimoji="1" lang="en-US" altLang="zh-CN"/>
              <a:t>February 1, 2026</a:t>
            </a:r>
            <a:endParaRPr kumimoji="1" lang="zh-CN" altLang="en-US"/>
          </a:p>
        </p:txBody>
      </p:sp>
      <p:sp>
        <p:nvSpPr>
          <p:cNvPr id="5" name="页脚占位符 4">
            <a:extLst>
              <a:ext uri="{FF2B5EF4-FFF2-40B4-BE49-F238E27FC236}">
                <a16:creationId xmlns:a16="http://schemas.microsoft.com/office/drawing/2014/main" id="{85D57D64-3AC6-0EBC-35BE-9B06ACBE1F7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45139AE-007D-05CD-0B50-43AD920BC58E}"/>
              </a:ext>
            </a:extLst>
          </p:cNvPr>
          <p:cNvSpPr>
            <a:spLocks noGrp="1"/>
          </p:cNvSpPr>
          <p:nvPr>
            <p:ph type="sldNum" sz="quarter" idx="12"/>
          </p:nvPr>
        </p:nvSpPr>
        <p:spPr/>
        <p:txBody>
          <a:bodyPr/>
          <a:lstStyle/>
          <a:p>
            <a:fld id="{316D01FC-19EB-7E40-9630-B05DD31B9AAA}" type="slidenum">
              <a:rPr kumimoji="1" lang="zh-CN" altLang="en-US" smtClean="0"/>
              <a:t>‹#›</a:t>
            </a:fld>
            <a:endParaRPr kumimoji="1" lang="zh-CN" altLang="en-US"/>
          </a:p>
        </p:txBody>
      </p:sp>
    </p:spTree>
    <p:extLst>
      <p:ext uri="{BB962C8B-B14F-4D97-AF65-F5344CB8AC3E}">
        <p14:creationId xmlns:p14="http://schemas.microsoft.com/office/powerpoint/2010/main" val="1439957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AEBE5E-2033-9D96-2D73-83FD4C228E0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FA963A65-A76F-FCF0-B91D-FB5DACEB84A4}"/>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24DD2FAD-1416-CBDF-68DA-1519FBDF57C9}"/>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3853231D-D19D-FDB4-E9F6-3F5AEFD91BB8}"/>
              </a:ext>
            </a:extLst>
          </p:cNvPr>
          <p:cNvSpPr>
            <a:spLocks noGrp="1"/>
          </p:cNvSpPr>
          <p:nvPr>
            <p:ph type="dt" sz="half" idx="10"/>
          </p:nvPr>
        </p:nvSpPr>
        <p:spPr/>
        <p:txBody>
          <a:bodyPr/>
          <a:lstStyle/>
          <a:p>
            <a:r>
              <a:rPr kumimoji="1" lang="en-US" altLang="zh-CN"/>
              <a:t>February 1, 2026</a:t>
            </a:r>
            <a:endParaRPr kumimoji="1" lang="zh-CN" altLang="en-US"/>
          </a:p>
        </p:txBody>
      </p:sp>
      <p:sp>
        <p:nvSpPr>
          <p:cNvPr id="6" name="页脚占位符 5">
            <a:extLst>
              <a:ext uri="{FF2B5EF4-FFF2-40B4-BE49-F238E27FC236}">
                <a16:creationId xmlns:a16="http://schemas.microsoft.com/office/drawing/2014/main" id="{A603A0B6-685A-1538-DF77-13DA98B663AB}"/>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A61BA5F-658B-1C8C-6973-5175099BBD4B}"/>
              </a:ext>
            </a:extLst>
          </p:cNvPr>
          <p:cNvSpPr>
            <a:spLocks noGrp="1"/>
          </p:cNvSpPr>
          <p:nvPr>
            <p:ph type="sldNum" sz="quarter" idx="12"/>
          </p:nvPr>
        </p:nvSpPr>
        <p:spPr/>
        <p:txBody>
          <a:bodyPr/>
          <a:lstStyle/>
          <a:p>
            <a:fld id="{316D01FC-19EB-7E40-9630-B05DD31B9AAA}" type="slidenum">
              <a:rPr kumimoji="1" lang="zh-CN" altLang="en-US" smtClean="0"/>
              <a:t>‹#›</a:t>
            </a:fld>
            <a:endParaRPr kumimoji="1" lang="zh-CN" altLang="en-US"/>
          </a:p>
        </p:txBody>
      </p:sp>
    </p:spTree>
    <p:extLst>
      <p:ext uri="{BB962C8B-B14F-4D97-AF65-F5344CB8AC3E}">
        <p14:creationId xmlns:p14="http://schemas.microsoft.com/office/powerpoint/2010/main" val="3649206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198298-1397-140D-4B11-006C3B2370C3}"/>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D465F76-66C9-A3C2-A1E7-67E6B9505B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1F7B1DA2-5C14-AB7A-346D-393095A05F1D}"/>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97D9D3EA-6D01-0AD7-DDE9-F4E6F4AD34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01B4D998-1255-7C35-414F-2DA319B13076}"/>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CA4D85E8-0A28-3B25-D910-A92B31D007E5}"/>
              </a:ext>
            </a:extLst>
          </p:cNvPr>
          <p:cNvSpPr>
            <a:spLocks noGrp="1"/>
          </p:cNvSpPr>
          <p:nvPr>
            <p:ph type="dt" sz="half" idx="10"/>
          </p:nvPr>
        </p:nvSpPr>
        <p:spPr/>
        <p:txBody>
          <a:bodyPr/>
          <a:lstStyle/>
          <a:p>
            <a:r>
              <a:rPr kumimoji="1" lang="en-US" altLang="zh-CN"/>
              <a:t>February 1, 2026</a:t>
            </a:r>
            <a:endParaRPr kumimoji="1" lang="zh-CN" altLang="en-US"/>
          </a:p>
        </p:txBody>
      </p:sp>
      <p:sp>
        <p:nvSpPr>
          <p:cNvPr id="8" name="页脚占位符 7">
            <a:extLst>
              <a:ext uri="{FF2B5EF4-FFF2-40B4-BE49-F238E27FC236}">
                <a16:creationId xmlns:a16="http://schemas.microsoft.com/office/drawing/2014/main" id="{F72B82A5-67D0-AE7A-5446-562AD7A43D6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4709D84D-4808-1C6C-D48B-C96DDF4CAB52}"/>
              </a:ext>
            </a:extLst>
          </p:cNvPr>
          <p:cNvSpPr>
            <a:spLocks noGrp="1"/>
          </p:cNvSpPr>
          <p:nvPr>
            <p:ph type="sldNum" sz="quarter" idx="12"/>
          </p:nvPr>
        </p:nvSpPr>
        <p:spPr/>
        <p:txBody>
          <a:bodyPr/>
          <a:lstStyle/>
          <a:p>
            <a:fld id="{316D01FC-19EB-7E40-9630-B05DD31B9AAA}" type="slidenum">
              <a:rPr kumimoji="1" lang="zh-CN" altLang="en-US" smtClean="0"/>
              <a:t>‹#›</a:t>
            </a:fld>
            <a:endParaRPr kumimoji="1" lang="zh-CN" altLang="en-US"/>
          </a:p>
        </p:txBody>
      </p:sp>
    </p:spTree>
    <p:extLst>
      <p:ext uri="{BB962C8B-B14F-4D97-AF65-F5344CB8AC3E}">
        <p14:creationId xmlns:p14="http://schemas.microsoft.com/office/powerpoint/2010/main" val="2793284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4D157C-850D-659A-4BAF-D2D4DA6B23FD}"/>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92F41566-3AA4-4621-AF8E-72AE1AEEA0E2}"/>
              </a:ext>
            </a:extLst>
          </p:cNvPr>
          <p:cNvSpPr>
            <a:spLocks noGrp="1"/>
          </p:cNvSpPr>
          <p:nvPr>
            <p:ph type="dt" sz="half" idx="10"/>
          </p:nvPr>
        </p:nvSpPr>
        <p:spPr/>
        <p:txBody>
          <a:bodyPr/>
          <a:lstStyle/>
          <a:p>
            <a:r>
              <a:rPr kumimoji="1" lang="en-US" altLang="zh-CN"/>
              <a:t>February 1, 2026</a:t>
            </a:r>
            <a:endParaRPr kumimoji="1" lang="zh-CN" altLang="en-US"/>
          </a:p>
        </p:txBody>
      </p:sp>
      <p:sp>
        <p:nvSpPr>
          <p:cNvPr id="4" name="页脚占位符 3">
            <a:extLst>
              <a:ext uri="{FF2B5EF4-FFF2-40B4-BE49-F238E27FC236}">
                <a16:creationId xmlns:a16="http://schemas.microsoft.com/office/drawing/2014/main" id="{5755D979-D2DF-09AE-DC04-D53DD180DAE4}"/>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E6606DEC-157D-017E-A1C7-CF806D40A6A5}"/>
              </a:ext>
            </a:extLst>
          </p:cNvPr>
          <p:cNvSpPr>
            <a:spLocks noGrp="1"/>
          </p:cNvSpPr>
          <p:nvPr>
            <p:ph type="sldNum" sz="quarter" idx="12"/>
          </p:nvPr>
        </p:nvSpPr>
        <p:spPr/>
        <p:txBody>
          <a:bodyPr/>
          <a:lstStyle/>
          <a:p>
            <a:fld id="{316D01FC-19EB-7E40-9630-B05DD31B9AAA}" type="slidenum">
              <a:rPr kumimoji="1" lang="zh-CN" altLang="en-US" smtClean="0"/>
              <a:t>‹#›</a:t>
            </a:fld>
            <a:endParaRPr kumimoji="1" lang="zh-CN" altLang="en-US"/>
          </a:p>
        </p:txBody>
      </p:sp>
    </p:spTree>
    <p:extLst>
      <p:ext uri="{BB962C8B-B14F-4D97-AF65-F5344CB8AC3E}">
        <p14:creationId xmlns:p14="http://schemas.microsoft.com/office/powerpoint/2010/main" val="358359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0613F30-448E-324B-B8D2-56E3CB531B10}"/>
              </a:ext>
            </a:extLst>
          </p:cNvPr>
          <p:cNvSpPr>
            <a:spLocks noGrp="1"/>
          </p:cNvSpPr>
          <p:nvPr>
            <p:ph type="dt" sz="half" idx="10"/>
          </p:nvPr>
        </p:nvSpPr>
        <p:spPr/>
        <p:txBody>
          <a:bodyPr/>
          <a:lstStyle/>
          <a:p>
            <a:r>
              <a:rPr kumimoji="1" lang="en-US" altLang="zh-CN"/>
              <a:t>February 1, 2026</a:t>
            </a:r>
            <a:endParaRPr kumimoji="1" lang="zh-CN" altLang="en-US"/>
          </a:p>
        </p:txBody>
      </p:sp>
      <p:sp>
        <p:nvSpPr>
          <p:cNvPr id="3" name="页脚占位符 2">
            <a:extLst>
              <a:ext uri="{FF2B5EF4-FFF2-40B4-BE49-F238E27FC236}">
                <a16:creationId xmlns:a16="http://schemas.microsoft.com/office/drawing/2014/main" id="{780A4258-ED56-44FB-8A71-D82E82FD5EE9}"/>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C60308C6-2FC9-7886-E27F-F31098850DAD}"/>
              </a:ext>
            </a:extLst>
          </p:cNvPr>
          <p:cNvSpPr>
            <a:spLocks noGrp="1"/>
          </p:cNvSpPr>
          <p:nvPr>
            <p:ph type="sldNum" sz="quarter" idx="12"/>
          </p:nvPr>
        </p:nvSpPr>
        <p:spPr/>
        <p:txBody>
          <a:bodyPr/>
          <a:lstStyle/>
          <a:p>
            <a:fld id="{316D01FC-19EB-7E40-9630-B05DD31B9AAA}" type="slidenum">
              <a:rPr kumimoji="1" lang="zh-CN" altLang="en-US" smtClean="0"/>
              <a:t>‹#›</a:t>
            </a:fld>
            <a:endParaRPr kumimoji="1" lang="zh-CN" altLang="en-US"/>
          </a:p>
        </p:txBody>
      </p:sp>
    </p:spTree>
    <p:extLst>
      <p:ext uri="{BB962C8B-B14F-4D97-AF65-F5344CB8AC3E}">
        <p14:creationId xmlns:p14="http://schemas.microsoft.com/office/powerpoint/2010/main" val="1952406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10434-1C8C-3F56-503E-20CC0F15068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C95572AA-E9AA-1E6B-34E7-C587FDF8DB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DD921E51-36F5-4DAB-2168-BEEA08B079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F9A6B58-922C-4F9A-44F9-9DF1FD77F7EC}"/>
              </a:ext>
            </a:extLst>
          </p:cNvPr>
          <p:cNvSpPr>
            <a:spLocks noGrp="1"/>
          </p:cNvSpPr>
          <p:nvPr>
            <p:ph type="dt" sz="half" idx="10"/>
          </p:nvPr>
        </p:nvSpPr>
        <p:spPr/>
        <p:txBody>
          <a:bodyPr/>
          <a:lstStyle/>
          <a:p>
            <a:r>
              <a:rPr kumimoji="1" lang="en-US" altLang="zh-CN"/>
              <a:t>February 1, 2026</a:t>
            </a:r>
            <a:endParaRPr kumimoji="1" lang="zh-CN" altLang="en-US"/>
          </a:p>
        </p:txBody>
      </p:sp>
      <p:sp>
        <p:nvSpPr>
          <p:cNvPr id="6" name="页脚占位符 5">
            <a:extLst>
              <a:ext uri="{FF2B5EF4-FFF2-40B4-BE49-F238E27FC236}">
                <a16:creationId xmlns:a16="http://schemas.microsoft.com/office/drawing/2014/main" id="{34C4017C-E22C-A864-3EC4-6536A1B8971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DB2CF2A5-D183-2AD9-E56D-84DB2BE138E9}"/>
              </a:ext>
            </a:extLst>
          </p:cNvPr>
          <p:cNvSpPr>
            <a:spLocks noGrp="1"/>
          </p:cNvSpPr>
          <p:nvPr>
            <p:ph type="sldNum" sz="quarter" idx="12"/>
          </p:nvPr>
        </p:nvSpPr>
        <p:spPr/>
        <p:txBody>
          <a:bodyPr/>
          <a:lstStyle/>
          <a:p>
            <a:fld id="{316D01FC-19EB-7E40-9630-B05DD31B9AAA}" type="slidenum">
              <a:rPr kumimoji="1" lang="zh-CN" altLang="en-US" smtClean="0"/>
              <a:t>‹#›</a:t>
            </a:fld>
            <a:endParaRPr kumimoji="1" lang="zh-CN" altLang="en-US"/>
          </a:p>
        </p:txBody>
      </p:sp>
    </p:spTree>
    <p:extLst>
      <p:ext uri="{BB962C8B-B14F-4D97-AF65-F5344CB8AC3E}">
        <p14:creationId xmlns:p14="http://schemas.microsoft.com/office/powerpoint/2010/main" val="3420389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0871F5-EA80-454B-ACC3-859C9BEF6C8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24B1A11D-352E-8A1B-14EC-F5F993ADE7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3BB7BB01-B542-A76D-A5BC-1353323B96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668B2D0-B059-5C2E-B42A-D20400FA1E18}"/>
              </a:ext>
            </a:extLst>
          </p:cNvPr>
          <p:cNvSpPr>
            <a:spLocks noGrp="1"/>
          </p:cNvSpPr>
          <p:nvPr>
            <p:ph type="dt" sz="half" idx="10"/>
          </p:nvPr>
        </p:nvSpPr>
        <p:spPr/>
        <p:txBody>
          <a:bodyPr/>
          <a:lstStyle/>
          <a:p>
            <a:r>
              <a:rPr kumimoji="1" lang="en-US" altLang="zh-CN"/>
              <a:t>February 1, 2026</a:t>
            </a:r>
            <a:endParaRPr kumimoji="1" lang="zh-CN" altLang="en-US"/>
          </a:p>
        </p:txBody>
      </p:sp>
      <p:sp>
        <p:nvSpPr>
          <p:cNvPr id="6" name="页脚占位符 5">
            <a:extLst>
              <a:ext uri="{FF2B5EF4-FFF2-40B4-BE49-F238E27FC236}">
                <a16:creationId xmlns:a16="http://schemas.microsoft.com/office/drawing/2014/main" id="{0C7CE74A-83CF-D120-7310-4564BE472D6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3BD6F6A-7A00-1693-C799-6554C6ABE694}"/>
              </a:ext>
            </a:extLst>
          </p:cNvPr>
          <p:cNvSpPr>
            <a:spLocks noGrp="1"/>
          </p:cNvSpPr>
          <p:nvPr>
            <p:ph type="sldNum" sz="quarter" idx="12"/>
          </p:nvPr>
        </p:nvSpPr>
        <p:spPr/>
        <p:txBody>
          <a:bodyPr/>
          <a:lstStyle/>
          <a:p>
            <a:fld id="{316D01FC-19EB-7E40-9630-B05DD31B9AAA}" type="slidenum">
              <a:rPr kumimoji="1" lang="zh-CN" altLang="en-US" smtClean="0"/>
              <a:t>‹#›</a:t>
            </a:fld>
            <a:endParaRPr kumimoji="1" lang="zh-CN" altLang="en-US"/>
          </a:p>
        </p:txBody>
      </p:sp>
    </p:spTree>
    <p:extLst>
      <p:ext uri="{BB962C8B-B14F-4D97-AF65-F5344CB8AC3E}">
        <p14:creationId xmlns:p14="http://schemas.microsoft.com/office/powerpoint/2010/main" val="2967457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2C1057-4D00-11BE-CB06-6FAB333C3409}"/>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68588BB6-5027-26F9-75AB-99306ACA6C72}"/>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99E0FC1-6BD4-A14E-4A8A-B9F20CBAE46C}"/>
              </a:ext>
            </a:extLst>
          </p:cNvPr>
          <p:cNvSpPr>
            <a:spLocks noGrp="1"/>
          </p:cNvSpPr>
          <p:nvPr>
            <p:ph type="dt" sz="half" idx="10"/>
          </p:nvPr>
        </p:nvSpPr>
        <p:spPr/>
        <p:txBody>
          <a:bodyPr/>
          <a:lstStyle/>
          <a:p>
            <a:r>
              <a:rPr kumimoji="1" lang="en-US" altLang="zh-CN"/>
              <a:t>February 1, 2026</a:t>
            </a:r>
            <a:endParaRPr kumimoji="1" lang="zh-CN" altLang="en-US"/>
          </a:p>
        </p:txBody>
      </p:sp>
      <p:sp>
        <p:nvSpPr>
          <p:cNvPr id="5" name="页脚占位符 4">
            <a:extLst>
              <a:ext uri="{FF2B5EF4-FFF2-40B4-BE49-F238E27FC236}">
                <a16:creationId xmlns:a16="http://schemas.microsoft.com/office/drawing/2014/main" id="{5E4B63AD-D593-5007-5167-9BA39E999D6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0B221EE-48C4-40E6-A6C4-9FC037B58BFD}"/>
              </a:ext>
            </a:extLst>
          </p:cNvPr>
          <p:cNvSpPr>
            <a:spLocks noGrp="1"/>
          </p:cNvSpPr>
          <p:nvPr>
            <p:ph type="sldNum" sz="quarter" idx="12"/>
          </p:nvPr>
        </p:nvSpPr>
        <p:spPr/>
        <p:txBody>
          <a:bodyPr/>
          <a:lstStyle/>
          <a:p>
            <a:fld id="{316D01FC-19EB-7E40-9630-B05DD31B9AAA}" type="slidenum">
              <a:rPr kumimoji="1" lang="zh-CN" altLang="en-US" smtClean="0"/>
              <a:t>‹#›</a:t>
            </a:fld>
            <a:endParaRPr kumimoji="1" lang="zh-CN" altLang="en-US"/>
          </a:p>
        </p:txBody>
      </p:sp>
    </p:spTree>
    <p:extLst>
      <p:ext uri="{BB962C8B-B14F-4D97-AF65-F5344CB8AC3E}">
        <p14:creationId xmlns:p14="http://schemas.microsoft.com/office/powerpoint/2010/main" val="2074672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EBEB184-CBAF-AC7D-561B-9E3E28F37B9F}"/>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6598BCBD-EA8C-E6DD-04F6-7FA6710458CF}"/>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0B3382B-D0F9-C5B3-9B31-4400958257AB}"/>
              </a:ext>
            </a:extLst>
          </p:cNvPr>
          <p:cNvSpPr>
            <a:spLocks noGrp="1"/>
          </p:cNvSpPr>
          <p:nvPr>
            <p:ph type="dt" sz="half" idx="10"/>
          </p:nvPr>
        </p:nvSpPr>
        <p:spPr/>
        <p:txBody>
          <a:bodyPr/>
          <a:lstStyle/>
          <a:p>
            <a:r>
              <a:rPr kumimoji="1" lang="en-US" altLang="zh-CN"/>
              <a:t>February 1, 2026</a:t>
            </a:r>
            <a:endParaRPr kumimoji="1" lang="zh-CN" altLang="en-US"/>
          </a:p>
        </p:txBody>
      </p:sp>
      <p:sp>
        <p:nvSpPr>
          <p:cNvPr id="5" name="页脚占位符 4">
            <a:extLst>
              <a:ext uri="{FF2B5EF4-FFF2-40B4-BE49-F238E27FC236}">
                <a16:creationId xmlns:a16="http://schemas.microsoft.com/office/drawing/2014/main" id="{D4D5B0D3-D553-1F2E-3B06-7ACF31D3AC4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966D396-19E3-308B-E6EE-FC456BE8F1CB}"/>
              </a:ext>
            </a:extLst>
          </p:cNvPr>
          <p:cNvSpPr>
            <a:spLocks noGrp="1"/>
          </p:cNvSpPr>
          <p:nvPr>
            <p:ph type="sldNum" sz="quarter" idx="12"/>
          </p:nvPr>
        </p:nvSpPr>
        <p:spPr/>
        <p:txBody>
          <a:bodyPr/>
          <a:lstStyle/>
          <a:p>
            <a:fld id="{316D01FC-19EB-7E40-9630-B05DD31B9AAA}" type="slidenum">
              <a:rPr kumimoji="1" lang="zh-CN" altLang="en-US" smtClean="0"/>
              <a:t>‹#›</a:t>
            </a:fld>
            <a:endParaRPr kumimoji="1" lang="zh-CN" altLang="en-US"/>
          </a:p>
        </p:txBody>
      </p:sp>
    </p:spTree>
    <p:extLst>
      <p:ext uri="{BB962C8B-B14F-4D97-AF65-F5344CB8AC3E}">
        <p14:creationId xmlns:p14="http://schemas.microsoft.com/office/powerpoint/2010/main" val="101097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BAD332E-0A00-20D4-032B-810CB798E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ED7E2C97-0A9E-4D3C-3E5C-D90A0C0C60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A82C171-7298-0181-F092-0BB0C2FC72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kumimoji="1" lang="en-US" altLang="zh-CN"/>
              <a:t>February 1, 2026</a:t>
            </a:r>
            <a:endParaRPr kumimoji="1" lang="zh-CN" altLang="en-US" dirty="0"/>
          </a:p>
        </p:txBody>
      </p:sp>
      <p:sp>
        <p:nvSpPr>
          <p:cNvPr id="5" name="页脚占位符 4">
            <a:extLst>
              <a:ext uri="{FF2B5EF4-FFF2-40B4-BE49-F238E27FC236}">
                <a16:creationId xmlns:a16="http://schemas.microsoft.com/office/drawing/2014/main" id="{492116EF-6B0F-7E35-8319-0C82878DC5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6C0F7BD7-1102-F84D-3A24-16C263ADB5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6D01FC-19EB-7E40-9630-B05DD31B9AAA}" type="slidenum">
              <a:rPr kumimoji="1" lang="zh-CN" altLang="en-US" smtClean="0"/>
              <a:t>‹#›</a:t>
            </a:fld>
            <a:endParaRPr kumimoji="1" lang="zh-CN" altLang="en-US" dirty="0"/>
          </a:p>
        </p:txBody>
      </p:sp>
    </p:spTree>
    <p:extLst>
      <p:ext uri="{BB962C8B-B14F-4D97-AF65-F5344CB8AC3E}">
        <p14:creationId xmlns:p14="http://schemas.microsoft.com/office/powerpoint/2010/main" val="39623927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F5D43-C9C8-B876-BEF9-ADAE3AE276E2}"/>
              </a:ext>
            </a:extLst>
          </p:cNvPr>
          <p:cNvSpPr>
            <a:spLocks noGrp="1"/>
          </p:cNvSpPr>
          <p:nvPr>
            <p:ph type="ctrTitle"/>
          </p:nvPr>
        </p:nvSpPr>
        <p:spPr>
          <a:xfrm>
            <a:off x="410213" y="1533785"/>
            <a:ext cx="11371574" cy="1395214"/>
          </a:xfrm>
        </p:spPr>
        <p:txBody>
          <a:bodyPr>
            <a:noAutofit/>
          </a:bodyPr>
          <a:lstStyle/>
          <a:p>
            <a:pPr>
              <a:lnSpc>
                <a:spcPct val="100000"/>
              </a:lnSpc>
            </a:pPr>
            <a:r>
              <a:rPr lang="en-US" sz="4300" b="1" dirty="0" err="1">
                <a:latin typeface="Optima" panose="02000503060000020004" pitchFamily="2" charset="0"/>
                <a:ea typeface="Microsoft YaHei UI" panose="020B0503020204020204" pitchFamily="34" charset="-122"/>
                <a:cs typeface="Linux Libertine O" panose="02000503000000000000" pitchFamily="2" charset="0"/>
              </a:rPr>
              <a:t>sBerti</a:t>
            </a:r>
            <a:r>
              <a:rPr lang="en-US" sz="4300" b="1" dirty="0">
                <a:latin typeface="Optima" panose="02000503060000020004" pitchFamily="2" charset="0"/>
                <a:ea typeface="Microsoft YaHei UI" panose="020B0503020204020204" pitchFamily="34" charset="-122"/>
                <a:cs typeface="Linux Libertine O" panose="02000503000000000000" pitchFamily="2" charset="0"/>
              </a:rPr>
              <a:t>: Enhancing Berti with a Smart Stride Prefetcher for Better Coverage</a:t>
            </a:r>
          </a:p>
        </p:txBody>
      </p:sp>
      <p:sp>
        <p:nvSpPr>
          <p:cNvPr id="3" name="Subtitle 2">
            <a:extLst>
              <a:ext uri="{FF2B5EF4-FFF2-40B4-BE49-F238E27FC236}">
                <a16:creationId xmlns:a16="http://schemas.microsoft.com/office/drawing/2014/main" id="{E7AC057F-82B3-C472-E7F2-5990E1369361}"/>
              </a:ext>
            </a:extLst>
          </p:cNvPr>
          <p:cNvSpPr>
            <a:spLocks noGrp="1"/>
          </p:cNvSpPr>
          <p:nvPr>
            <p:ph type="subTitle" idx="1"/>
          </p:nvPr>
        </p:nvSpPr>
        <p:spPr>
          <a:xfrm>
            <a:off x="1385158" y="3190203"/>
            <a:ext cx="9421682" cy="477593"/>
          </a:xfrm>
        </p:spPr>
        <p:txBody>
          <a:bodyPr>
            <a:normAutofit/>
          </a:bodyPr>
          <a:lstStyle/>
          <a:p>
            <a:r>
              <a:rPr lang="en-US" u="sng" dirty="0" err="1">
                <a:latin typeface="Optima" panose="02000503060000020004" pitchFamily="2" charset="0"/>
                <a:ea typeface="Songti TC" panose="02010600040101010101" pitchFamily="2" charset="-120"/>
                <a:cs typeface="Linux Libertine Display O" panose="02000503000000000000" pitchFamily="2" charset="0"/>
              </a:rPr>
              <a:t>Jiapeng</a:t>
            </a:r>
            <a:r>
              <a:rPr lang="en-US" u="sng" dirty="0">
                <a:latin typeface="Optima" panose="02000503060000020004" pitchFamily="2" charset="0"/>
                <a:ea typeface="Songti TC" panose="02010600040101010101" pitchFamily="2" charset="-120"/>
                <a:cs typeface="Linux Libertine Display O" panose="02000503000000000000" pitchFamily="2" charset="0"/>
              </a:rPr>
              <a:t> Zhou</a:t>
            </a:r>
            <a:r>
              <a:rPr lang="en-US" dirty="0">
                <a:latin typeface="Optima" panose="02000503060000020004" pitchFamily="2" charset="0"/>
                <a:ea typeface="Songti TC" panose="02010600040101010101" pitchFamily="2" charset="-120"/>
                <a:cs typeface="Linux Libertine Display O" panose="02000503000000000000" pitchFamily="2" charset="0"/>
              </a:rPr>
              <a:t>, Ben Chen, </a:t>
            </a:r>
            <a:r>
              <a:rPr lang="en-US" dirty="0" err="1">
                <a:latin typeface="Optima" panose="02000503060000020004" pitchFamily="2" charset="0"/>
                <a:ea typeface="Songti TC" panose="02010600040101010101" pitchFamily="2" charset="-120"/>
                <a:cs typeface="Linux Libertine Display O" panose="02000503000000000000" pitchFamily="2" charset="0"/>
              </a:rPr>
              <a:t>Kunlin</a:t>
            </a:r>
            <a:r>
              <a:rPr lang="en-US" dirty="0">
                <a:latin typeface="Optima" panose="02000503060000020004" pitchFamily="2" charset="0"/>
                <a:ea typeface="Songti TC" panose="02010600040101010101" pitchFamily="2" charset="-120"/>
                <a:cs typeface="Linux Libertine Display O" panose="02000503000000000000" pitchFamily="2" charset="0"/>
              </a:rPr>
              <a:t> Li, Yun Chen</a:t>
            </a:r>
            <a:r>
              <a:rPr lang="en-US" baseline="30000" dirty="0">
                <a:latin typeface="Optima" panose="02000503060000020004" pitchFamily="2" charset="0"/>
                <a:ea typeface="Songti TC" panose="02010600040101010101" pitchFamily="2" charset="-120"/>
                <a:cs typeface="Linux Libertine Display O" panose="02000503000000000000" pitchFamily="2" charset="0"/>
              </a:rPr>
              <a:t>*</a:t>
            </a:r>
            <a:endParaRPr lang="en-US" dirty="0">
              <a:latin typeface="Optima" panose="02000503060000020004" pitchFamily="2" charset="0"/>
              <a:ea typeface="Songti TC" panose="02010600040101010101" pitchFamily="2" charset="-120"/>
              <a:cs typeface="Linux Libertine Display O" panose="02000503000000000000" pitchFamily="2" charset="0"/>
            </a:endParaRPr>
          </a:p>
        </p:txBody>
      </p:sp>
      <p:pic>
        <p:nvPicPr>
          <p:cNvPr id="5" name="Picture 4" descr="Blue text on a black background&#10;&#10;AI-generated content may be incorrect.">
            <a:extLst>
              <a:ext uri="{FF2B5EF4-FFF2-40B4-BE49-F238E27FC236}">
                <a16:creationId xmlns:a16="http://schemas.microsoft.com/office/drawing/2014/main" id="{08C1D700-10CE-60F9-5259-CA075E5770B9}"/>
              </a:ext>
            </a:extLst>
          </p:cNvPr>
          <p:cNvPicPr>
            <a:picLocks noChangeAspect="1"/>
          </p:cNvPicPr>
          <p:nvPr/>
        </p:nvPicPr>
        <p:blipFill>
          <a:blip r:embed="rId3"/>
          <a:stretch>
            <a:fillRect/>
          </a:stretch>
        </p:blipFill>
        <p:spPr>
          <a:xfrm>
            <a:off x="3765852" y="4496774"/>
            <a:ext cx="4660295" cy="1302238"/>
          </a:xfrm>
          <a:prstGeom prst="rect">
            <a:avLst/>
          </a:prstGeom>
        </p:spPr>
      </p:pic>
      <p:sp>
        <p:nvSpPr>
          <p:cNvPr id="4" name="Date Placeholder 3">
            <a:extLst>
              <a:ext uri="{FF2B5EF4-FFF2-40B4-BE49-F238E27FC236}">
                <a16:creationId xmlns:a16="http://schemas.microsoft.com/office/drawing/2014/main" id="{CE97F134-6184-4B64-B9C0-CF1C59D80AAA}"/>
              </a:ext>
            </a:extLst>
          </p:cNvPr>
          <p:cNvSpPr>
            <a:spLocks noGrp="1"/>
          </p:cNvSpPr>
          <p:nvPr>
            <p:ph type="dt" sz="half" idx="10"/>
          </p:nvPr>
        </p:nvSpPr>
        <p:spPr/>
        <p:txBody>
          <a:bodyPr/>
          <a:lstStyle/>
          <a:p>
            <a:r>
              <a:rPr lang="en-US" altLang="zh-CN">
                <a:latin typeface="Optima" panose="02000503060000020004" pitchFamily="2" charset="0"/>
              </a:rPr>
              <a:t>February 1, 2026</a:t>
            </a:r>
            <a:endParaRPr lang="en-US" dirty="0">
              <a:latin typeface="Optima" panose="02000503060000020004" pitchFamily="2" charset="0"/>
            </a:endParaRPr>
          </a:p>
        </p:txBody>
      </p:sp>
      <p:sp>
        <p:nvSpPr>
          <p:cNvPr id="14" name="TextBox 13">
            <a:extLst>
              <a:ext uri="{FF2B5EF4-FFF2-40B4-BE49-F238E27FC236}">
                <a16:creationId xmlns:a16="http://schemas.microsoft.com/office/drawing/2014/main" id="{AEC4C92A-1804-2523-09EC-369B9A25AAC6}"/>
              </a:ext>
            </a:extLst>
          </p:cNvPr>
          <p:cNvSpPr txBox="1"/>
          <p:nvPr/>
        </p:nvSpPr>
        <p:spPr>
          <a:xfrm>
            <a:off x="3964172" y="6356350"/>
            <a:ext cx="5349240" cy="369332"/>
          </a:xfrm>
          <a:prstGeom prst="rect">
            <a:avLst/>
          </a:prstGeom>
          <a:noFill/>
        </p:spPr>
        <p:txBody>
          <a:bodyPr wrap="square" rtlCol="0">
            <a:spAutoFit/>
          </a:bodyPr>
          <a:lstStyle/>
          <a:p>
            <a:r>
              <a:rPr lang="en-US" dirty="0">
                <a:solidFill>
                  <a:srgbClr val="635E5E"/>
                </a:solidFill>
                <a:effectLst/>
                <a:latin typeface="Optima" panose="02000503060000020004" pitchFamily="2" charset="0"/>
              </a:rPr>
              <a:t>4th Data Prefetching Championship 2026</a:t>
            </a:r>
          </a:p>
        </p:txBody>
      </p:sp>
      <p:sp>
        <p:nvSpPr>
          <p:cNvPr id="15" name="TextBox 14">
            <a:extLst>
              <a:ext uri="{FF2B5EF4-FFF2-40B4-BE49-F238E27FC236}">
                <a16:creationId xmlns:a16="http://schemas.microsoft.com/office/drawing/2014/main" id="{A2BCD995-51EC-4DF1-6BAD-4CD473B9ABAE}"/>
              </a:ext>
            </a:extLst>
          </p:cNvPr>
          <p:cNvSpPr txBox="1"/>
          <p:nvPr/>
        </p:nvSpPr>
        <p:spPr>
          <a:xfrm>
            <a:off x="2501264" y="3667796"/>
            <a:ext cx="7189470" cy="369332"/>
          </a:xfrm>
          <a:prstGeom prst="rect">
            <a:avLst/>
          </a:prstGeom>
          <a:noFill/>
        </p:spPr>
        <p:txBody>
          <a:bodyPr wrap="square" rtlCol="0">
            <a:spAutoFit/>
          </a:bodyPr>
          <a:lstStyle/>
          <a:p>
            <a:r>
              <a:rPr lang="en-US" dirty="0">
                <a:latin typeface="Optima" panose="02000503060000020004" pitchFamily="2" charset="0"/>
              </a:rPr>
              <a:t>The Hong Kong University of Science and Technology (Guangzhou)</a:t>
            </a:r>
          </a:p>
        </p:txBody>
      </p:sp>
      <p:sp>
        <p:nvSpPr>
          <p:cNvPr id="6" name="灯片编号占位符 5">
            <a:extLst>
              <a:ext uri="{FF2B5EF4-FFF2-40B4-BE49-F238E27FC236}">
                <a16:creationId xmlns:a16="http://schemas.microsoft.com/office/drawing/2014/main" id="{7AB77B0F-935E-0B74-EEDD-7568AB784721}"/>
              </a:ext>
            </a:extLst>
          </p:cNvPr>
          <p:cNvSpPr>
            <a:spLocks noGrp="1"/>
          </p:cNvSpPr>
          <p:nvPr>
            <p:ph type="sldNum" sz="quarter" idx="12"/>
          </p:nvPr>
        </p:nvSpPr>
        <p:spPr/>
        <p:txBody>
          <a:bodyPr/>
          <a:lstStyle/>
          <a:p>
            <a:fld id="{316D01FC-19EB-7E40-9630-B05DD31B9AAA}" type="slidenum">
              <a:rPr kumimoji="1" lang="zh-CN" altLang="en-US" smtClean="0"/>
              <a:t>1</a:t>
            </a:fld>
            <a:endParaRPr kumimoji="1" lang="zh-CN" altLang="en-US"/>
          </a:p>
        </p:txBody>
      </p:sp>
    </p:spTree>
    <p:extLst>
      <p:ext uri="{BB962C8B-B14F-4D97-AF65-F5344CB8AC3E}">
        <p14:creationId xmlns:p14="http://schemas.microsoft.com/office/powerpoint/2010/main" val="213116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5CBA6-3A0E-D080-012F-91C484717C51}"/>
              </a:ext>
            </a:extLst>
          </p:cNvPr>
          <p:cNvSpPr>
            <a:spLocks noGrp="1"/>
          </p:cNvSpPr>
          <p:nvPr>
            <p:ph type="title"/>
          </p:nvPr>
        </p:nvSpPr>
        <p:spPr/>
        <p:txBody>
          <a:bodyPr/>
          <a:lstStyle/>
          <a:p>
            <a:r>
              <a:rPr lang="en-US" dirty="0">
                <a:solidFill>
                  <a:srgbClr val="C00000"/>
                </a:solidFill>
                <a:latin typeface="Optima" panose="02000503060000020004" pitchFamily="2" charset="0"/>
              </a:rPr>
              <a:t>Challenges</a:t>
            </a:r>
            <a:r>
              <a:rPr lang="en-US" dirty="0">
                <a:latin typeface="Optima" panose="02000503060000020004" pitchFamily="2" charset="0"/>
              </a:rPr>
              <a:t> &amp; </a:t>
            </a:r>
            <a:r>
              <a:rPr lang="en-US" dirty="0">
                <a:solidFill>
                  <a:schemeClr val="accent1"/>
                </a:solidFill>
                <a:latin typeface="Optima" panose="02000503060000020004" pitchFamily="2" charset="0"/>
              </a:rPr>
              <a:t>Opportunities</a:t>
            </a:r>
          </a:p>
        </p:txBody>
      </p:sp>
      <p:sp>
        <p:nvSpPr>
          <p:cNvPr id="10" name="Content Placeholder 2">
            <a:extLst>
              <a:ext uri="{FF2B5EF4-FFF2-40B4-BE49-F238E27FC236}">
                <a16:creationId xmlns:a16="http://schemas.microsoft.com/office/drawing/2014/main" id="{754B4AB3-6E89-294E-635F-87A081B68BAD}"/>
              </a:ext>
            </a:extLst>
          </p:cNvPr>
          <p:cNvSpPr txBox="1">
            <a:spLocks/>
          </p:cNvSpPr>
          <p:nvPr/>
        </p:nvSpPr>
        <p:spPr>
          <a:xfrm>
            <a:off x="838200" y="1508490"/>
            <a:ext cx="10515600" cy="35441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effectLst/>
                <a:latin typeface="Optima" panose="02000503060000020004" pitchFamily="2" charset="0"/>
                <a:ea typeface="Microsoft YaHei UI" panose="020B0503020204020204" pitchFamily="34" charset="-122"/>
              </a:rPr>
              <a:t>New Traces from Graph, Google Traces v2 and AI-ML workloads</a:t>
            </a:r>
          </a:p>
          <a:p>
            <a:pPr lvl="1">
              <a:lnSpc>
                <a:spcPct val="100000"/>
              </a:lnSpc>
            </a:pPr>
            <a:r>
              <a:rPr lang="en-US" sz="2000" dirty="0">
                <a:solidFill>
                  <a:srgbClr val="C00000"/>
                </a:solidFill>
                <a:latin typeface="Optima" panose="02000503060000020004" pitchFamily="2" charset="0"/>
                <a:ea typeface="Microsoft YaHei UI" panose="020B0503020204020204" pitchFamily="34" charset="-122"/>
              </a:rPr>
              <a:t>A prefetcher may excel on certain workloads (e.g., SPEC17) while degrading performance on others (e.g., AI-ML).</a:t>
            </a:r>
            <a:endParaRPr lang="en-US" altLang="zh-CN" sz="2000" dirty="0">
              <a:solidFill>
                <a:srgbClr val="C00000"/>
              </a:solidFill>
              <a:effectLst/>
              <a:latin typeface="Optima" panose="02000503060000020004" pitchFamily="2" charset="0"/>
              <a:ea typeface="Microsoft YaHei UI" panose="020B0503020204020204" pitchFamily="34" charset="-122"/>
            </a:endParaRPr>
          </a:p>
          <a:p>
            <a:pPr lvl="1">
              <a:lnSpc>
                <a:spcPct val="100000"/>
              </a:lnSpc>
            </a:pPr>
            <a:r>
              <a:rPr lang="en-US" altLang="zh-CN" sz="2000" dirty="0">
                <a:solidFill>
                  <a:schemeClr val="accent1"/>
                </a:solidFill>
                <a:latin typeface="Optima" panose="02000503060000020004" pitchFamily="2" charset="0"/>
                <a:ea typeface="Microsoft YaHei UI" panose="020B0503020204020204" pitchFamily="34" charset="-122"/>
              </a:rPr>
              <a:t>Finding new patterns not covered by existing prefetchers</a:t>
            </a:r>
            <a:endParaRPr lang="en-US" sz="2000" dirty="0">
              <a:solidFill>
                <a:schemeClr val="accent1"/>
              </a:solidFill>
              <a:latin typeface="Optima" panose="02000503060000020004" pitchFamily="2" charset="0"/>
              <a:ea typeface="Microsoft YaHei UI" panose="020B0503020204020204" pitchFamily="34" charset="-122"/>
            </a:endParaRPr>
          </a:p>
          <a:p>
            <a:pPr>
              <a:lnSpc>
                <a:spcPct val="100000"/>
              </a:lnSpc>
            </a:pPr>
            <a:r>
              <a:rPr lang="en-US" altLang="ja-JP" dirty="0">
                <a:effectLst/>
                <a:latin typeface="Optima" panose="02000503060000020004" pitchFamily="2" charset="0"/>
                <a:ea typeface="Microsoft YaHei UI" panose="020B0503020204020204" pitchFamily="34" charset="-122"/>
              </a:rPr>
              <a:t>New configuration: Limited bandwidth</a:t>
            </a:r>
          </a:p>
          <a:p>
            <a:pPr lvl="1">
              <a:lnSpc>
                <a:spcPct val="100000"/>
              </a:lnSpc>
            </a:pPr>
            <a:r>
              <a:rPr lang="en-US" altLang="ja-JP" sz="2000" dirty="0">
                <a:solidFill>
                  <a:srgbClr val="C00000"/>
                </a:solidFill>
                <a:latin typeface="Optima" panose="02000503060000020004" pitchFamily="2" charset="0"/>
                <a:ea typeface="Microsoft YaHei UI" panose="020B0503020204020204" pitchFamily="34" charset="-122"/>
              </a:rPr>
              <a:t>Mechanisms for the prefetcher to automatically self-regulate based on real-time bandwidth</a:t>
            </a:r>
          </a:p>
        </p:txBody>
      </p:sp>
      <p:sp>
        <p:nvSpPr>
          <p:cNvPr id="3" name="Date Placeholder 3">
            <a:extLst>
              <a:ext uri="{FF2B5EF4-FFF2-40B4-BE49-F238E27FC236}">
                <a16:creationId xmlns:a16="http://schemas.microsoft.com/office/drawing/2014/main" id="{7CB0EDB6-0F7F-3AC5-A41D-88D7F66FB44E}"/>
              </a:ext>
            </a:extLst>
          </p:cNvPr>
          <p:cNvSpPr>
            <a:spLocks noGrp="1"/>
          </p:cNvSpPr>
          <p:nvPr>
            <p:ph type="dt" sz="half" idx="10"/>
          </p:nvPr>
        </p:nvSpPr>
        <p:spPr>
          <a:xfrm>
            <a:off x="838200" y="6356350"/>
            <a:ext cx="2743200" cy="365125"/>
          </a:xfrm>
        </p:spPr>
        <p:txBody>
          <a:bodyPr/>
          <a:lstStyle/>
          <a:p>
            <a:r>
              <a:rPr lang="en-US" altLang="zh-CN">
                <a:latin typeface="Optima" panose="02000503060000020004" pitchFamily="2" charset="0"/>
              </a:rPr>
              <a:t>February 1, 2026</a:t>
            </a:r>
            <a:endParaRPr lang="en-US" dirty="0">
              <a:latin typeface="Optima" panose="02000503060000020004" pitchFamily="2" charset="0"/>
            </a:endParaRPr>
          </a:p>
        </p:txBody>
      </p:sp>
      <p:sp>
        <p:nvSpPr>
          <p:cNvPr id="8" name="灯片编号占位符 7">
            <a:extLst>
              <a:ext uri="{FF2B5EF4-FFF2-40B4-BE49-F238E27FC236}">
                <a16:creationId xmlns:a16="http://schemas.microsoft.com/office/drawing/2014/main" id="{199B1CCD-F096-D1EB-637B-677E1820C1D3}"/>
              </a:ext>
            </a:extLst>
          </p:cNvPr>
          <p:cNvSpPr>
            <a:spLocks noGrp="1"/>
          </p:cNvSpPr>
          <p:nvPr>
            <p:ph type="sldNum" sz="quarter" idx="12"/>
          </p:nvPr>
        </p:nvSpPr>
        <p:spPr/>
        <p:txBody>
          <a:bodyPr/>
          <a:lstStyle/>
          <a:p>
            <a:fld id="{316D01FC-19EB-7E40-9630-B05DD31B9AAA}" type="slidenum">
              <a:rPr kumimoji="1" lang="zh-CN" altLang="en-US" smtClean="0"/>
              <a:t>2</a:t>
            </a:fld>
            <a:endParaRPr kumimoji="1" lang="zh-CN" altLang="en-US"/>
          </a:p>
        </p:txBody>
      </p:sp>
    </p:spTree>
    <p:extLst>
      <p:ext uri="{BB962C8B-B14F-4D97-AF65-F5344CB8AC3E}">
        <p14:creationId xmlns:p14="http://schemas.microsoft.com/office/powerpoint/2010/main" val="1366343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9FF200B-687C-4B0E-69A1-2117531755DF}"/>
              </a:ext>
            </a:extLst>
          </p:cNvPr>
          <p:cNvSpPr>
            <a:spLocks noGrp="1"/>
          </p:cNvSpPr>
          <p:nvPr>
            <p:ph type="title"/>
          </p:nvPr>
        </p:nvSpPr>
        <p:spPr>
          <a:xfrm>
            <a:off x="838200" y="365125"/>
            <a:ext cx="10515600" cy="1325563"/>
          </a:xfrm>
        </p:spPr>
        <p:txBody>
          <a:bodyPr/>
          <a:lstStyle/>
          <a:p>
            <a:r>
              <a:rPr lang="en-US" altLang="zh-CN" dirty="0">
                <a:latin typeface="Optima" panose="02000503060000020004" pitchFamily="2" charset="0"/>
              </a:rPr>
              <a:t>Profiling the baseline (</a:t>
            </a:r>
            <a:r>
              <a:rPr lang="en-US" altLang="zh-CN" sz="4400" dirty="0">
                <a:effectLst/>
                <a:latin typeface="Optima" panose="02000503060000020004" pitchFamily="2" charset="0"/>
                <a:ea typeface="Microsoft YaHei UI" panose="020B0503020204020204" pitchFamily="34" charset="-122"/>
              </a:rPr>
              <a:t>L1 Berti + L2 Pythia</a:t>
            </a:r>
            <a:r>
              <a:rPr lang="en-US" altLang="zh-CN" dirty="0">
                <a:latin typeface="Optima" panose="02000503060000020004" pitchFamily="2" charset="0"/>
              </a:rPr>
              <a:t>)</a:t>
            </a:r>
            <a:endParaRPr lang="en-US" dirty="0">
              <a:latin typeface="Optima" panose="02000503060000020004" pitchFamily="2" charset="0"/>
            </a:endParaRPr>
          </a:p>
        </p:txBody>
      </p:sp>
      <p:sp>
        <p:nvSpPr>
          <p:cNvPr id="5" name="Content Placeholder 2">
            <a:extLst>
              <a:ext uri="{FF2B5EF4-FFF2-40B4-BE49-F238E27FC236}">
                <a16:creationId xmlns:a16="http://schemas.microsoft.com/office/drawing/2014/main" id="{9655A097-32B2-1001-33F7-EF5C05312891}"/>
              </a:ext>
            </a:extLst>
          </p:cNvPr>
          <p:cNvSpPr txBox="1">
            <a:spLocks/>
          </p:cNvSpPr>
          <p:nvPr/>
        </p:nvSpPr>
        <p:spPr>
          <a:xfrm>
            <a:off x="838200" y="1508491"/>
            <a:ext cx="10515600" cy="38372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ja-JP" dirty="0">
                <a:latin typeface="Optima" panose="02000503060000020004" pitchFamily="2" charset="0"/>
                <a:ea typeface="Microsoft YaHei UI" panose="020B0503020204020204" pitchFamily="34" charset="-122"/>
              </a:rPr>
              <a:t>Miss rate analysis</a:t>
            </a:r>
          </a:p>
          <a:p>
            <a:pPr lvl="1">
              <a:lnSpc>
                <a:spcPct val="100000"/>
              </a:lnSpc>
            </a:pPr>
            <a:r>
              <a:rPr lang="en-US" altLang="zh-CN" sz="2000" dirty="0">
                <a:latin typeface="Optima" panose="02000503060000020004" pitchFamily="2" charset="0"/>
                <a:ea typeface="Microsoft YaHei UI" panose="020B0503020204020204" pitchFamily="34" charset="-122"/>
              </a:rPr>
              <a:t>High L1D miss rate for AI-ML and Graph workloads</a:t>
            </a:r>
          </a:p>
          <a:p>
            <a:pPr lvl="1">
              <a:lnSpc>
                <a:spcPct val="100000"/>
              </a:lnSpc>
            </a:pPr>
            <a:r>
              <a:rPr lang="en-US" altLang="zh-CN" sz="2000" dirty="0">
                <a:latin typeface="Optima" panose="02000503060000020004" pitchFamily="2" charset="0"/>
                <a:ea typeface="Microsoft YaHei UI" panose="020B0503020204020204" pitchFamily="34" charset="-122"/>
              </a:rPr>
              <a:t>High</a:t>
            </a:r>
            <a:r>
              <a:rPr lang="zh-CN" altLang="en-US" sz="2000" dirty="0">
                <a:latin typeface="Optima" panose="02000503060000020004" pitchFamily="2" charset="0"/>
                <a:ea typeface="Microsoft YaHei UI" panose="020B0503020204020204" pitchFamily="34" charset="-122"/>
              </a:rPr>
              <a:t> </a:t>
            </a:r>
            <a:r>
              <a:rPr lang="en-US" altLang="zh-CN" sz="2000" dirty="0">
                <a:latin typeface="Optima" panose="02000503060000020004" pitchFamily="2" charset="0"/>
                <a:ea typeface="Microsoft YaHei UI" panose="020B0503020204020204" pitchFamily="34" charset="-122"/>
              </a:rPr>
              <a:t>L1I miss rate for </a:t>
            </a:r>
            <a:r>
              <a:rPr lang="en-US" altLang="zh-CN" sz="2000" dirty="0" err="1">
                <a:latin typeface="Optima" panose="02000503060000020004" pitchFamily="2" charset="0"/>
                <a:ea typeface="Microsoft YaHei UI" panose="020B0503020204020204" pitchFamily="34" charset="-122"/>
              </a:rPr>
              <a:t>GTraces</a:t>
            </a:r>
            <a:r>
              <a:rPr lang="en-US" altLang="zh-CN" sz="2000" dirty="0">
                <a:latin typeface="Optima" panose="02000503060000020004" pitchFamily="2" charset="0"/>
                <a:ea typeface="Microsoft YaHei UI" panose="020B0503020204020204" pitchFamily="34" charset="-122"/>
              </a:rPr>
              <a:t> v2</a:t>
            </a:r>
          </a:p>
          <a:p>
            <a:pPr lvl="1">
              <a:lnSpc>
                <a:spcPct val="100000"/>
              </a:lnSpc>
            </a:pPr>
            <a:endParaRPr lang="en-US" altLang="ja-JP" sz="2000" dirty="0">
              <a:effectLst/>
              <a:latin typeface="Optima" panose="02000503060000020004" pitchFamily="2" charset="0"/>
              <a:ea typeface="Microsoft YaHei UI" panose="020B0503020204020204" pitchFamily="34" charset="-122"/>
            </a:endParaRPr>
          </a:p>
          <a:p>
            <a:pPr>
              <a:lnSpc>
                <a:spcPct val="100000"/>
              </a:lnSpc>
            </a:pPr>
            <a:endParaRPr lang="en-US" altLang="ja-JP" sz="2400" dirty="0">
              <a:latin typeface="Optima" panose="02000503060000020004" pitchFamily="2" charset="0"/>
              <a:ea typeface="Microsoft YaHei UI" panose="020B0503020204020204" pitchFamily="34" charset="-122"/>
            </a:endParaRPr>
          </a:p>
          <a:p>
            <a:pPr>
              <a:lnSpc>
                <a:spcPct val="100000"/>
              </a:lnSpc>
            </a:pPr>
            <a:endParaRPr lang="en-US" altLang="ja-JP" dirty="0">
              <a:latin typeface="Optima" panose="02000503060000020004" pitchFamily="2" charset="0"/>
              <a:ea typeface="Microsoft YaHei UI" panose="020B0503020204020204" pitchFamily="34" charset="-122"/>
            </a:endParaRPr>
          </a:p>
        </p:txBody>
      </p:sp>
      <p:sp>
        <p:nvSpPr>
          <p:cNvPr id="6" name="日期占位符 5">
            <a:extLst>
              <a:ext uri="{FF2B5EF4-FFF2-40B4-BE49-F238E27FC236}">
                <a16:creationId xmlns:a16="http://schemas.microsoft.com/office/drawing/2014/main" id="{CD618F05-3FAE-30E3-9B10-C5EAE75D8C9F}"/>
              </a:ext>
            </a:extLst>
          </p:cNvPr>
          <p:cNvSpPr>
            <a:spLocks noGrp="1"/>
          </p:cNvSpPr>
          <p:nvPr>
            <p:ph type="dt" sz="half" idx="10"/>
          </p:nvPr>
        </p:nvSpPr>
        <p:spPr/>
        <p:txBody>
          <a:bodyPr/>
          <a:lstStyle/>
          <a:p>
            <a:r>
              <a:rPr kumimoji="1" lang="en-US" altLang="zh-CN"/>
              <a:t>February 1, 2026</a:t>
            </a:r>
            <a:endParaRPr kumimoji="1" lang="zh-CN" altLang="en-US"/>
          </a:p>
        </p:txBody>
      </p:sp>
      <p:sp>
        <p:nvSpPr>
          <p:cNvPr id="7" name="灯片编号占位符 6">
            <a:extLst>
              <a:ext uri="{FF2B5EF4-FFF2-40B4-BE49-F238E27FC236}">
                <a16:creationId xmlns:a16="http://schemas.microsoft.com/office/drawing/2014/main" id="{B4F88DD0-3749-F69B-B8FC-5E6295AA67A8}"/>
              </a:ext>
            </a:extLst>
          </p:cNvPr>
          <p:cNvSpPr>
            <a:spLocks noGrp="1"/>
          </p:cNvSpPr>
          <p:nvPr>
            <p:ph type="sldNum" sz="quarter" idx="12"/>
          </p:nvPr>
        </p:nvSpPr>
        <p:spPr/>
        <p:txBody>
          <a:bodyPr/>
          <a:lstStyle/>
          <a:p>
            <a:fld id="{316D01FC-19EB-7E40-9630-B05DD31B9AAA}" type="slidenum">
              <a:rPr kumimoji="1" lang="zh-CN" altLang="en-US" smtClean="0"/>
              <a:t>3</a:t>
            </a:fld>
            <a:endParaRPr kumimoji="1" lang="zh-CN" altLang="en-US"/>
          </a:p>
        </p:txBody>
      </p:sp>
      <p:pic>
        <p:nvPicPr>
          <p:cNvPr id="8" name="图片 7">
            <a:extLst>
              <a:ext uri="{FF2B5EF4-FFF2-40B4-BE49-F238E27FC236}">
                <a16:creationId xmlns:a16="http://schemas.microsoft.com/office/drawing/2014/main" id="{6880E4CF-E1A8-FAB9-53F1-BFAB278BBDEA}"/>
              </a:ext>
            </a:extLst>
          </p:cNvPr>
          <p:cNvPicPr>
            <a:picLocks noChangeAspect="1"/>
          </p:cNvPicPr>
          <p:nvPr/>
        </p:nvPicPr>
        <p:blipFill>
          <a:blip r:embed="rId3"/>
          <a:stretch>
            <a:fillRect/>
          </a:stretch>
        </p:blipFill>
        <p:spPr>
          <a:xfrm>
            <a:off x="5170" y="3044519"/>
            <a:ext cx="12186830" cy="3311831"/>
          </a:xfrm>
          <a:prstGeom prst="rect">
            <a:avLst/>
          </a:prstGeom>
        </p:spPr>
      </p:pic>
    </p:spTree>
    <p:extLst>
      <p:ext uri="{BB962C8B-B14F-4D97-AF65-F5344CB8AC3E}">
        <p14:creationId xmlns:p14="http://schemas.microsoft.com/office/powerpoint/2010/main" val="4070558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27FCF-8A39-C369-CB24-522C495B89E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66EFC8A-E431-1EBE-7AD0-6FC70FCC3689}"/>
              </a:ext>
            </a:extLst>
          </p:cNvPr>
          <p:cNvSpPr>
            <a:spLocks noGrp="1"/>
          </p:cNvSpPr>
          <p:nvPr>
            <p:ph type="title"/>
          </p:nvPr>
        </p:nvSpPr>
        <p:spPr>
          <a:xfrm>
            <a:off x="838200" y="365125"/>
            <a:ext cx="10515600" cy="1325563"/>
          </a:xfrm>
        </p:spPr>
        <p:txBody>
          <a:bodyPr/>
          <a:lstStyle/>
          <a:p>
            <a:r>
              <a:rPr lang="en-US" altLang="zh-CN" dirty="0">
                <a:latin typeface="Optima" panose="02000503060000020004" pitchFamily="2" charset="0"/>
              </a:rPr>
              <a:t>Profiling the baseline (</a:t>
            </a:r>
            <a:r>
              <a:rPr lang="en-US" altLang="zh-CN" sz="4400" dirty="0">
                <a:effectLst/>
                <a:latin typeface="Optima" panose="02000503060000020004" pitchFamily="2" charset="0"/>
                <a:ea typeface="Microsoft YaHei UI" panose="020B0503020204020204" pitchFamily="34" charset="-122"/>
              </a:rPr>
              <a:t>L1 Berti + L2 Pythia</a:t>
            </a:r>
            <a:r>
              <a:rPr lang="en-US" altLang="zh-CN" dirty="0">
                <a:latin typeface="Optima" panose="02000503060000020004" pitchFamily="2" charset="0"/>
              </a:rPr>
              <a:t>)</a:t>
            </a:r>
            <a:endParaRPr lang="en-US" dirty="0">
              <a:latin typeface="Optima" panose="02000503060000020004" pitchFamily="2" charset="0"/>
            </a:endParaRPr>
          </a:p>
        </p:txBody>
      </p:sp>
      <p:sp>
        <p:nvSpPr>
          <p:cNvPr id="5" name="Content Placeholder 2">
            <a:extLst>
              <a:ext uri="{FF2B5EF4-FFF2-40B4-BE49-F238E27FC236}">
                <a16:creationId xmlns:a16="http://schemas.microsoft.com/office/drawing/2014/main" id="{9714288D-D2B6-9485-B248-CB2EA2B6D180}"/>
              </a:ext>
            </a:extLst>
          </p:cNvPr>
          <p:cNvSpPr txBox="1">
            <a:spLocks/>
          </p:cNvSpPr>
          <p:nvPr/>
        </p:nvSpPr>
        <p:spPr>
          <a:xfrm>
            <a:off x="838200" y="1508491"/>
            <a:ext cx="10515600" cy="38372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ja-JP" sz="3200" dirty="0">
                <a:effectLst/>
                <a:latin typeface="Optima" panose="02000503060000020004" pitchFamily="2" charset="0"/>
                <a:ea typeface="Microsoft YaHei UI" panose="020B0503020204020204" pitchFamily="34" charset="-122"/>
              </a:rPr>
              <a:t>L1D memory</a:t>
            </a:r>
            <a:r>
              <a:rPr lang="zh-CN" altLang="en-US" sz="3200" dirty="0">
                <a:effectLst/>
                <a:latin typeface="Optima" panose="02000503060000020004" pitchFamily="2" charset="0"/>
                <a:ea typeface="Microsoft YaHei UI" panose="020B0503020204020204" pitchFamily="34" charset="-122"/>
              </a:rPr>
              <a:t> </a:t>
            </a:r>
            <a:r>
              <a:rPr lang="en-US" altLang="ja-JP" sz="3200" dirty="0">
                <a:effectLst/>
                <a:latin typeface="Optima" panose="02000503060000020004" pitchFamily="2" charset="0"/>
                <a:ea typeface="Microsoft YaHei UI" panose="020B0503020204020204" pitchFamily="34" charset="-122"/>
              </a:rPr>
              <a:t>access trace analysis</a:t>
            </a:r>
          </a:p>
          <a:p>
            <a:pPr lvl="1">
              <a:lnSpc>
                <a:spcPct val="100000"/>
              </a:lnSpc>
            </a:pPr>
            <a:r>
              <a:rPr lang="en-US" altLang="ja-JP" dirty="0">
                <a:effectLst/>
                <a:latin typeface="Optima" panose="02000503060000020004" pitchFamily="2" charset="0"/>
                <a:ea typeface="Microsoft YaHei UI" panose="020B0503020204020204" pitchFamily="34" charset="-122"/>
              </a:rPr>
              <a:t>Graph workloads: A[B[</a:t>
            </a:r>
            <a:r>
              <a:rPr lang="en-US" altLang="ja-JP" dirty="0" err="1">
                <a:effectLst/>
                <a:latin typeface="Optima" panose="02000503060000020004" pitchFamily="2" charset="0"/>
                <a:ea typeface="Microsoft YaHei UI" panose="020B0503020204020204" pitchFamily="34" charset="-122"/>
              </a:rPr>
              <a:t>i</a:t>
            </a:r>
            <a:r>
              <a:rPr lang="en-US" altLang="ja-JP" dirty="0">
                <a:effectLst/>
                <a:latin typeface="Optima" panose="02000503060000020004" pitchFamily="2" charset="0"/>
                <a:ea typeface="Microsoft YaHei UI" panose="020B0503020204020204" pitchFamily="34" charset="-122"/>
              </a:rPr>
              <a:t>]] accesses due to its CSR graph format</a:t>
            </a:r>
          </a:p>
          <a:p>
            <a:pPr lvl="2">
              <a:lnSpc>
                <a:spcPct val="100000"/>
              </a:lnSpc>
            </a:pPr>
            <a:r>
              <a:rPr lang="en-US" altLang="ja-JP" sz="1800" dirty="0">
                <a:effectLst/>
                <a:latin typeface="Optima" panose="02000503060000020004" pitchFamily="2" charset="0"/>
                <a:ea typeface="Microsoft YaHei UI" panose="020B0503020204020204" pitchFamily="34" charset="-122"/>
              </a:rPr>
              <a:t>No load values in the traces and the prefetcher is not allowed to get the values in the Cache</a:t>
            </a:r>
          </a:p>
          <a:p>
            <a:pPr lvl="1">
              <a:lnSpc>
                <a:spcPct val="100000"/>
              </a:lnSpc>
            </a:pPr>
            <a:r>
              <a:rPr lang="en-US" altLang="ja-JP" dirty="0">
                <a:latin typeface="Optima" panose="02000503060000020004" pitchFamily="2" charset="0"/>
                <a:ea typeface="Microsoft YaHei UI" panose="020B0503020204020204" pitchFamily="34" charset="-122"/>
              </a:rPr>
              <a:t>AI-ML workloads: Stream access pattern (especially llama2.c)</a:t>
            </a:r>
          </a:p>
          <a:p>
            <a:pPr lvl="1">
              <a:lnSpc>
                <a:spcPct val="100000"/>
              </a:lnSpc>
            </a:pPr>
            <a:endParaRPr lang="en-US" altLang="ja-JP" dirty="0">
              <a:latin typeface="Optima" panose="02000503060000020004" pitchFamily="2" charset="0"/>
              <a:ea typeface="Microsoft YaHei UI" panose="020B0503020204020204" pitchFamily="34" charset="-122"/>
            </a:endParaRPr>
          </a:p>
          <a:p>
            <a:pPr lvl="1">
              <a:lnSpc>
                <a:spcPct val="100000"/>
              </a:lnSpc>
            </a:pPr>
            <a:endParaRPr lang="en-US" altLang="ja-JP" dirty="0">
              <a:latin typeface="Optima" panose="02000503060000020004" pitchFamily="2" charset="0"/>
              <a:ea typeface="Microsoft YaHei UI" panose="020B0503020204020204" pitchFamily="34" charset="-122"/>
            </a:endParaRPr>
          </a:p>
          <a:p>
            <a:pPr>
              <a:lnSpc>
                <a:spcPct val="100000"/>
              </a:lnSpc>
            </a:pPr>
            <a:endParaRPr lang="en-US" altLang="ja-JP" sz="3200" dirty="0">
              <a:latin typeface="Optima" panose="02000503060000020004" pitchFamily="2" charset="0"/>
              <a:ea typeface="Microsoft YaHei UI" panose="020B0503020204020204" pitchFamily="34" charset="-122"/>
            </a:endParaRPr>
          </a:p>
        </p:txBody>
      </p:sp>
      <p:sp>
        <p:nvSpPr>
          <p:cNvPr id="6" name="日期占位符 5">
            <a:extLst>
              <a:ext uri="{FF2B5EF4-FFF2-40B4-BE49-F238E27FC236}">
                <a16:creationId xmlns:a16="http://schemas.microsoft.com/office/drawing/2014/main" id="{34665287-33AD-D0D1-CA4F-CAE365BA473E}"/>
              </a:ext>
            </a:extLst>
          </p:cNvPr>
          <p:cNvSpPr>
            <a:spLocks noGrp="1"/>
          </p:cNvSpPr>
          <p:nvPr>
            <p:ph type="dt" sz="half" idx="10"/>
          </p:nvPr>
        </p:nvSpPr>
        <p:spPr/>
        <p:txBody>
          <a:bodyPr/>
          <a:lstStyle/>
          <a:p>
            <a:r>
              <a:rPr kumimoji="1" lang="en-US" altLang="zh-CN" dirty="0"/>
              <a:t>February 1, 2026</a:t>
            </a:r>
            <a:endParaRPr kumimoji="1" lang="zh-CN" altLang="en-US" dirty="0"/>
          </a:p>
        </p:txBody>
      </p:sp>
      <p:sp>
        <p:nvSpPr>
          <p:cNvPr id="7" name="灯片编号占位符 6">
            <a:extLst>
              <a:ext uri="{FF2B5EF4-FFF2-40B4-BE49-F238E27FC236}">
                <a16:creationId xmlns:a16="http://schemas.microsoft.com/office/drawing/2014/main" id="{41DF8009-30A3-0806-8340-842A401C7B8E}"/>
              </a:ext>
            </a:extLst>
          </p:cNvPr>
          <p:cNvSpPr>
            <a:spLocks noGrp="1"/>
          </p:cNvSpPr>
          <p:nvPr>
            <p:ph type="sldNum" sz="quarter" idx="12"/>
          </p:nvPr>
        </p:nvSpPr>
        <p:spPr/>
        <p:txBody>
          <a:bodyPr/>
          <a:lstStyle/>
          <a:p>
            <a:fld id="{316D01FC-19EB-7E40-9630-B05DD31B9AAA}" type="slidenum">
              <a:rPr kumimoji="1" lang="zh-CN" altLang="en-US" smtClean="0"/>
              <a:t>4</a:t>
            </a:fld>
            <a:endParaRPr kumimoji="1" lang="zh-CN" altLang="en-US"/>
          </a:p>
        </p:txBody>
      </p:sp>
    </p:spTree>
    <p:extLst>
      <p:ext uri="{BB962C8B-B14F-4D97-AF65-F5344CB8AC3E}">
        <p14:creationId xmlns:p14="http://schemas.microsoft.com/office/powerpoint/2010/main" val="3537330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40D5F-6963-51C2-C9D6-757FC2F37B4F}"/>
            </a:ext>
          </a:extLst>
        </p:cNvPr>
        <p:cNvGrpSpPr/>
        <p:nvPr/>
      </p:nvGrpSpPr>
      <p:grpSpPr>
        <a:xfrm>
          <a:off x="0" y="0"/>
          <a:ext cx="0" cy="0"/>
          <a:chOff x="0" y="0"/>
          <a:chExt cx="0" cy="0"/>
        </a:xfrm>
      </p:grpSpPr>
      <p:pic>
        <p:nvPicPr>
          <p:cNvPr id="25" name="图片 24">
            <a:extLst>
              <a:ext uri="{FF2B5EF4-FFF2-40B4-BE49-F238E27FC236}">
                <a16:creationId xmlns:a16="http://schemas.microsoft.com/office/drawing/2014/main" id="{467EEDB9-BE5C-5B73-D71B-10F493CD4FE6}"/>
              </a:ext>
            </a:extLst>
          </p:cNvPr>
          <p:cNvPicPr>
            <a:picLocks noChangeAspect="1"/>
          </p:cNvPicPr>
          <p:nvPr/>
        </p:nvPicPr>
        <p:blipFill>
          <a:blip r:embed="rId3"/>
          <a:stretch>
            <a:fillRect/>
          </a:stretch>
        </p:blipFill>
        <p:spPr>
          <a:xfrm>
            <a:off x="6164242" y="1396653"/>
            <a:ext cx="5744520" cy="4382284"/>
          </a:xfrm>
          <a:prstGeom prst="rect">
            <a:avLst/>
          </a:prstGeom>
        </p:spPr>
      </p:pic>
      <p:sp>
        <p:nvSpPr>
          <p:cNvPr id="4" name="Title 1">
            <a:extLst>
              <a:ext uri="{FF2B5EF4-FFF2-40B4-BE49-F238E27FC236}">
                <a16:creationId xmlns:a16="http://schemas.microsoft.com/office/drawing/2014/main" id="{AC71B2B2-AB59-A7B4-B244-03B7CEF365B1}"/>
              </a:ext>
            </a:extLst>
          </p:cNvPr>
          <p:cNvSpPr>
            <a:spLocks noGrp="1"/>
          </p:cNvSpPr>
          <p:nvPr>
            <p:ph type="title"/>
          </p:nvPr>
        </p:nvSpPr>
        <p:spPr>
          <a:xfrm>
            <a:off x="838200" y="365125"/>
            <a:ext cx="10515600" cy="1325563"/>
          </a:xfrm>
        </p:spPr>
        <p:txBody>
          <a:bodyPr/>
          <a:lstStyle/>
          <a:p>
            <a:r>
              <a:rPr lang="en-US" altLang="zh-CN" dirty="0">
                <a:latin typeface="Optima" panose="02000503060000020004" pitchFamily="2" charset="0"/>
              </a:rPr>
              <a:t>Dive</a:t>
            </a:r>
            <a:r>
              <a:rPr lang="zh-CN" altLang="en-US" dirty="0">
                <a:latin typeface="Optima" panose="02000503060000020004" pitchFamily="2" charset="0"/>
              </a:rPr>
              <a:t> </a:t>
            </a:r>
            <a:r>
              <a:rPr lang="en-US" altLang="zh-CN" dirty="0">
                <a:latin typeface="Optima" panose="02000503060000020004" pitchFamily="2" charset="0"/>
              </a:rPr>
              <a:t>into the DPC3 Berti</a:t>
            </a:r>
            <a:r>
              <a:rPr lang="zh-CN" altLang="en-US" dirty="0">
                <a:latin typeface="Optima" panose="02000503060000020004" pitchFamily="2" charset="0"/>
              </a:rPr>
              <a:t> </a:t>
            </a:r>
            <a:r>
              <a:rPr lang="en-US" altLang="zh-CN" dirty="0">
                <a:latin typeface="Optima" panose="02000503060000020004" pitchFamily="2" charset="0"/>
              </a:rPr>
              <a:t>used in</a:t>
            </a:r>
            <a:r>
              <a:rPr lang="zh-CN" altLang="en-US" dirty="0">
                <a:latin typeface="Optima" panose="02000503060000020004" pitchFamily="2" charset="0"/>
              </a:rPr>
              <a:t> </a:t>
            </a:r>
            <a:r>
              <a:rPr lang="en-US" altLang="zh-CN" dirty="0">
                <a:latin typeface="Optima" panose="02000503060000020004" pitchFamily="2" charset="0"/>
              </a:rPr>
              <a:t>baseline</a:t>
            </a:r>
            <a:endParaRPr lang="en-US" dirty="0">
              <a:latin typeface="Optima" panose="02000503060000020004" pitchFamily="2" charset="0"/>
            </a:endParaRPr>
          </a:p>
        </p:txBody>
      </p:sp>
      <p:sp>
        <p:nvSpPr>
          <p:cNvPr id="5" name="Content Placeholder 2">
            <a:extLst>
              <a:ext uri="{FF2B5EF4-FFF2-40B4-BE49-F238E27FC236}">
                <a16:creationId xmlns:a16="http://schemas.microsoft.com/office/drawing/2014/main" id="{798C9868-2384-85AF-DA95-B5ABBE510160}"/>
              </a:ext>
            </a:extLst>
          </p:cNvPr>
          <p:cNvSpPr txBox="1">
            <a:spLocks/>
          </p:cNvSpPr>
          <p:nvPr/>
        </p:nvSpPr>
        <p:spPr>
          <a:xfrm>
            <a:off x="838200" y="1508491"/>
            <a:ext cx="5189558" cy="30103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ja-JP" sz="2400" dirty="0">
                <a:effectLst/>
                <a:latin typeface="Optima" panose="02000503060000020004" pitchFamily="2" charset="0"/>
                <a:ea typeface="Microsoft YaHei UI" panose="020B0503020204020204" pitchFamily="34" charset="-122"/>
              </a:rPr>
              <a:t>Accurate</a:t>
            </a:r>
            <a:r>
              <a:rPr lang="zh-CN" altLang="en-US" sz="2400" dirty="0">
                <a:effectLst/>
                <a:latin typeface="Optima" panose="02000503060000020004" pitchFamily="2" charset="0"/>
                <a:ea typeface="Microsoft YaHei UI" panose="020B0503020204020204" pitchFamily="34" charset="-122"/>
              </a:rPr>
              <a:t> </a:t>
            </a:r>
            <a:r>
              <a:rPr lang="en-US" altLang="zh-CN" sz="2400" dirty="0">
                <a:effectLst/>
                <a:latin typeface="Optima" panose="02000503060000020004" pitchFamily="2" charset="0"/>
                <a:ea typeface="Microsoft YaHei UI" panose="020B0503020204020204" pitchFamily="34" charset="-122"/>
              </a:rPr>
              <a:t>in predicting</a:t>
            </a:r>
            <a:r>
              <a:rPr lang="zh-CN" altLang="en-US" sz="2400" dirty="0">
                <a:effectLst/>
                <a:latin typeface="Optima" panose="02000503060000020004" pitchFamily="2" charset="0"/>
                <a:ea typeface="Microsoft YaHei UI" panose="020B0503020204020204" pitchFamily="34" charset="-122"/>
              </a:rPr>
              <a:t> </a:t>
            </a:r>
            <a:r>
              <a:rPr lang="en-US" altLang="zh-CN" sz="2400" dirty="0">
                <a:effectLst/>
                <a:latin typeface="Optima" panose="02000503060000020004" pitchFamily="2" charset="0"/>
                <a:ea typeface="Microsoft YaHei UI" panose="020B0503020204020204" pitchFamily="34" charset="-122"/>
              </a:rPr>
              <a:t>stream</a:t>
            </a:r>
            <a:r>
              <a:rPr lang="en-US" altLang="zh-CN" sz="2400" dirty="0">
                <a:latin typeface="Optima" panose="02000503060000020004" pitchFamily="2" charset="0"/>
                <a:ea typeface="Microsoft YaHei UI" panose="020B0503020204020204" pitchFamily="34" charset="-122"/>
              </a:rPr>
              <a:t> accesses</a:t>
            </a:r>
            <a:endParaRPr lang="en-US" altLang="ja-JP" sz="2400" dirty="0">
              <a:latin typeface="Optima" panose="02000503060000020004" pitchFamily="2" charset="0"/>
              <a:ea typeface="Microsoft YaHei UI" panose="020B0503020204020204" pitchFamily="34" charset="-122"/>
            </a:endParaRPr>
          </a:p>
          <a:p>
            <a:pPr>
              <a:lnSpc>
                <a:spcPct val="100000"/>
              </a:lnSpc>
            </a:pPr>
            <a:r>
              <a:rPr lang="en-US" altLang="ja-JP" sz="2400" dirty="0">
                <a:latin typeface="Optima" panose="02000503060000020004" pitchFamily="2" charset="0"/>
                <a:ea typeface="Microsoft YaHei UI" panose="020B0503020204020204" pitchFamily="34" charset="-122"/>
              </a:rPr>
              <a:t>Misses occur every 4K page -&gt; Missing cross-page prefetch opportunities</a:t>
            </a:r>
          </a:p>
        </p:txBody>
      </p:sp>
      <p:sp>
        <p:nvSpPr>
          <p:cNvPr id="6" name="日期占位符 5">
            <a:extLst>
              <a:ext uri="{FF2B5EF4-FFF2-40B4-BE49-F238E27FC236}">
                <a16:creationId xmlns:a16="http://schemas.microsoft.com/office/drawing/2014/main" id="{822CE6CF-2B4C-6BD4-2319-DBC132F1CB95}"/>
              </a:ext>
            </a:extLst>
          </p:cNvPr>
          <p:cNvSpPr>
            <a:spLocks noGrp="1"/>
          </p:cNvSpPr>
          <p:nvPr>
            <p:ph type="dt" sz="half" idx="10"/>
          </p:nvPr>
        </p:nvSpPr>
        <p:spPr/>
        <p:txBody>
          <a:bodyPr/>
          <a:lstStyle/>
          <a:p>
            <a:r>
              <a:rPr kumimoji="1" lang="en-US" altLang="zh-CN"/>
              <a:t>February 1, 2026</a:t>
            </a:r>
            <a:endParaRPr kumimoji="1" lang="zh-CN" altLang="en-US"/>
          </a:p>
        </p:txBody>
      </p:sp>
      <p:sp>
        <p:nvSpPr>
          <p:cNvPr id="7" name="灯片编号占位符 6">
            <a:extLst>
              <a:ext uri="{FF2B5EF4-FFF2-40B4-BE49-F238E27FC236}">
                <a16:creationId xmlns:a16="http://schemas.microsoft.com/office/drawing/2014/main" id="{46860B6D-5D46-D45E-7DAF-3DC8AC4ECE5C}"/>
              </a:ext>
            </a:extLst>
          </p:cNvPr>
          <p:cNvSpPr>
            <a:spLocks noGrp="1"/>
          </p:cNvSpPr>
          <p:nvPr>
            <p:ph type="sldNum" sz="quarter" idx="12"/>
          </p:nvPr>
        </p:nvSpPr>
        <p:spPr/>
        <p:txBody>
          <a:bodyPr/>
          <a:lstStyle/>
          <a:p>
            <a:fld id="{316D01FC-19EB-7E40-9630-B05DD31B9AAA}" type="slidenum">
              <a:rPr kumimoji="1" lang="zh-CN" altLang="en-US" smtClean="0"/>
              <a:t>5</a:t>
            </a:fld>
            <a:endParaRPr kumimoji="1" lang="zh-CN" altLang="en-US"/>
          </a:p>
        </p:txBody>
      </p:sp>
      <p:cxnSp>
        <p:nvCxnSpPr>
          <p:cNvPr id="9" name="直线箭头连接符 8">
            <a:extLst>
              <a:ext uri="{FF2B5EF4-FFF2-40B4-BE49-F238E27FC236}">
                <a16:creationId xmlns:a16="http://schemas.microsoft.com/office/drawing/2014/main" id="{4216F06B-0D6A-4066-E964-3AF9C8474203}"/>
              </a:ext>
            </a:extLst>
          </p:cNvPr>
          <p:cNvCxnSpPr>
            <a:cxnSpLocks/>
          </p:cNvCxnSpPr>
          <p:nvPr/>
        </p:nvCxnSpPr>
        <p:spPr>
          <a:xfrm flipV="1">
            <a:off x="6096000" y="1383951"/>
            <a:ext cx="0" cy="4476069"/>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11" name="直线箭头连接符 10">
            <a:extLst>
              <a:ext uri="{FF2B5EF4-FFF2-40B4-BE49-F238E27FC236}">
                <a16:creationId xmlns:a16="http://schemas.microsoft.com/office/drawing/2014/main" id="{801FC2D4-72FA-F8F3-D219-D8FCEE597F2E}"/>
              </a:ext>
            </a:extLst>
          </p:cNvPr>
          <p:cNvCxnSpPr>
            <a:cxnSpLocks/>
          </p:cNvCxnSpPr>
          <p:nvPr/>
        </p:nvCxnSpPr>
        <p:spPr>
          <a:xfrm>
            <a:off x="6096000" y="5848297"/>
            <a:ext cx="5591908"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14" name="文本框 13">
            <a:extLst>
              <a:ext uri="{FF2B5EF4-FFF2-40B4-BE49-F238E27FC236}">
                <a16:creationId xmlns:a16="http://schemas.microsoft.com/office/drawing/2014/main" id="{3E7530E6-9289-8C83-2175-ADDF0EE9099F}"/>
              </a:ext>
            </a:extLst>
          </p:cNvPr>
          <p:cNvSpPr txBox="1"/>
          <p:nvPr/>
        </p:nvSpPr>
        <p:spPr>
          <a:xfrm>
            <a:off x="10899531" y="5917658"/>
            <a:ext cx="788377" cy="369332"/>
          </a:xfrm>
          <a:prstGeom prst="rect">
            <a:avLst/>
          </a:prstGeom>
          <a:noFill/>
        </p:spPr>
        <p:txBody>
          <a:bodyPr wrap="square">
            <a:spAutoFit/>
          </a:bodyPr>
          <a:lstStyle/>
          <a:p>
            <a:r>
              <a:rPr lang="en-US" altLang="zh-CN" sz="1800" dirty="0">
                <a:latin typeface="Optima" panose="02000503060000020004" pitchFamily="2" charset="0"/>
                <a:ea typeface="Microsoft YaHei UI" panose="020B0503020204020204" pitchFamily="34" charset="-122"/>
              </a:rPr>
              <a:t>Time</a:t>
            </a:r>
            <a:endParaRPr lang="zh-CN" altLang="en-US" dirty="0"/>
          </a:p>
        </p:txBody>
      </p:sp>
      <p:sp>
        <p:nvSpPr>
          <p:cNvPr id="15" name="文本框 14">
            <a:extLst>
              <a:ext uri="{FF2B5EF4-FFF2-40B4-BE49-F238E27FC236}">
                <a16:creationId xmlns:a16="http://schemas.microsoft.com/office/drawing/2014/main" id="{7CCA95BE-08CB-6004-848A-F7B9A72134C9}"/>
              </a:ext>
            </a:extLst>
          </p:cNvPr>
          <p:cNvSpPr txBox="1"/>
          <p:nvPr/>
        </p:nvSpPr>
        <p:spPr>
          <a:xfrm>
            <a:off x="5129682" y="1320922"/>
            <a:ext cx="966318" cy="369332"/>
          </a:xfrm>
          <a:prstGeom prst="rect">
            <a:avLst/>
          </a:prstGeom>
          <a:noFill/>
        </p:spPr>
        <p:txBody>
          <a:bodyPr wrap="square">
            <a:spAutoFit/>
          </a:bodyPr>
          <a:lstStyle/>
          <a:p>
            <a:r>
              <a:rPr lang="en-US" altLang="zh-CN" sz="1800" dirty="0">
                <a:latin typeface="Optima" panose="02000503060000020004" pitchFamily="2" charset="0"/>
                <a:ea typeface="Microsoft YaHei UI" panose="020B0503020204020204" pitchFamily="34" charset="-122"/>
              </a:rPr>
              <a:t>Address</a:t>
            </a:r>
            <a:endParaRPr lang="zh-CN" altLang="en-US" dirty="0"/>
          </a:p>
        </p:txBody>
      </p:sp>
      <p:sp>
        <p:nvSpPr>
          <p:cNvPr id="17" name="文本框 16">
            <a:extLst>
              <a:ext uri="{FF2B5EF4-FFF2-40B4-BE49-F238E27FC236}">
                <a16:creationId xmlns:a16="http://schemas.microsoft.com/office/drawing/2014/main" id="{B07855AC-6FB5-18CC-17EB-74189299087A}"/>
              </a:ext>
            </a:extLst>
          </p:cNvPr>
          <p:cNvSpPr txBox="1"/>
          <p:nvPr/>
        </p:nvSpPr>
        <p:spPr>
          <a:xfrm>
            <a:off x="6544913" y="4372304"/>
            <a:ext cx="1171183" cy="369332"/>
          </a:xfrm>
          <a:prstGeom prst="rect">
            <a:avLst/>
          </a:prstGeom>
          <a:noFill/>
        </p:spPr>
        <p:txBody>
          <a:bodyPr wrap="square">
            <a:spAutoFit/>
          </a:bodyPr>
          <a:lstStyle/>
          <a:p>
            <a:r>
              <a:rPr lang="en-US" altLang="zh-CN" dirty="0">
                <a:solidFill>
                  <a:srgbClr val="0070C0"/>
                </a:solidFill>
                <a:latin typeface="Optima" panose="02000503060000020004" pitchFamily="2" charset="0"/>
                <a:ea typeface="Microsoft YaHei UI" panose="020B0503020204020204" pitchFamily="34" charset="-122"/>
              </a:rPr>
              <a:t>PF issued</a:t>
            </a:r>
            <a:endParaRPr lang="zh-CN" altLang="en-US" dirty="0">
              <a:solidFill>
                <a:srgbClr val="0070C0"/>
              </a:solidFill>
            </a:endParaRPr>
          </a:p>
        </p:txBody>
      </p:sp>
      <p:sp>
        <p:nvSpPr>
          <p:cNvPr id="18" name="文本框 17">
            <a:extLst>
              <a:ext uri="{FF2B5EF4-FFF2-40B4-BE49-F238E27FC236}">
                <a16:creationId xmlns:a16="http://schemas.microsoft.com/office/drawing/2014/main" id="{40C19434-25DF-5852-0976-DBB36D64C544}"/>
              </a:ext>
            </a:extLst>
          </p:cNvPr>
          <p:cNvSpPr txBox="1"/>
          <p:nvPr/>
        </p:nvSpPr>
        <p:spPr>
          <a:xfrm>
            <a:off x="7679769" y="4856724"/>
            <a:ext cx="1755531" cy="369332"/>
          </a:xfrm>
          <a:prstGeom prst="rect">
            <a:avLst/>
          </a:prstGeom>
          <a:noFill/>
        </p:spPr>
        <p:txBody>
          <a:bodyPr wrap="square">
            <a:spAutoFit/>
          </a:bodyPr>
          <a:lstStyle/>
          <a:p>
            <a:r>
              <a:rPr lang="en-US" altLang="zh-CN" dirty="0">
                <a:solidFill>
                  <a:schemeClr val="accent2">
                    <a:lumMod val="60000"/>
                    <a:lumOff val="40000"/>
                  </a:schemeClr>
                </a:solidFill>
                <a:latin typeface="Optima" panose="02000503060000020004" pitchFamily="2" charset="0"/>
                <a:ea typeface="Microsoft YaHei UI" panose="020B0503020204020204" pitchFamily="34" charset="-122"/>
              </a:rPr>
              <a:t>Hit &amp; PF useful</a:t>
            </a:r>
            <a:endParaRPr lang="zh-CN" altLang="en-US" dirty="0">
              <a:solidFill>
                <a:schemeClr val="accent2">
                  <a:lumMod val="60000"/>
                  <a:lumOff val="40000"/>
                </a:schemeClr>
              </a:solidFill>
            </a:endParaRPr>
          </a:p>
        </p:txBody>
      </p:sp>
      <p:sp>
        <p:nvSpPr>
          <p:cNvPr id="19" name="文本框 18">
            <a:extLst>
              <a:ext uri="{FF2B5EF4-FFF2-40B4-BE49-F238E27FC236}">
                <a16:creationId xmlns:a16="http://schemas.microsoft.com/office/drawing/2014/main" id="{321F4534-CE93-98F2-AD6E-D804E4F36AF8}"/>
              </a:ext>
            </a:extLst>
          </p:cNvPr>
          <p:cNvSpPr txBox="1"/>
          <p:nvPr/>
        </p:nvSpPr>
        <p:spPr>
          <a:xfrm>
            <a:off x="6970213" y="5328980"/>
            <a:ext cx="1171183" cy="369332"/>
          </a:xfrm>
          <a:prstGeom prst="rect">
            <a:avLst/>
          </a:prstGeom>
          <a:noFill/>
        </p:spPr>
        <p:txBody>
          <a:bodyPr wrap="square">
            <a:spAutoFit/>
          </a:bodyPr>
          <a:lstStyle/>
          <a:p>
            <a:r>
              <a:rPr lang="en-US" altLang="zh-CN" dirty="0">
                <a:solidFill>
                  <a:srgbClr val="C00000"/>
                </a:solidFill>
                <a:latin typeface="Optima" panose="02000503060000020004" pitchFamily="2" charset="0"/>
                <a:ea typeface="Microsoft YaHei UI" panose="020B0503020204020204" pitchFamily="34" charset="-122"/>
              </a:rPr>
              <a:t>Miss</a:t>
            </a:r>
            <a:endParaRPr lang="zh-CN" altLang="en-US" dirty="0">
              <a:solidFill>
                <a:srgbClr val="C00000"/>
              </a:solidFill>
            </a:endParaRPr>
          </a:p>
        </p:txBody>
      </p:sp>
      <p:sp>
        <p:nvSpPr>
          <p:cNvPr id="21" name="文本框 20">
            <a:extLst>
              <a:ext uri="{FF2B5EF4-FFF2-40B4-BE49-F238E27FC236}">
                <a16:creationId xmlns:a16="http://schemas.microsoft.com/office/drawing/2014/main" id="{58A581FA-C119-4334-F6F3-D3A71D1BF094}"/>
              </a:ext>
            </a:extLst>
          </p:cNvPr>
          <p:cNvSpPr txBox="1"/>
          <p:nvPr/>
        </p:nvSpPr>
        <p:spPr>
          <a:xfrm>
            <a:off x="1297489" y="4738950"/>
            <a:ext cx="4215008" cy="830997"/>
          </a:xfrm>
          <a:prstGeom prst="rect">
            <a:avLst/>
          </a:prstGeom>
          <a:noFill/>
        </p:spPr>
        <p:txBody>
          <a:bodyPr wrap="square">
            <a:spAutoFit/>
          </a:bodyPr>
          <a:lstStyle/>
          <a:p>
            <a:r>
              <a:rPr lang="en-US" altLang="ja-JP" sz="2400" dirty="0">
                <a:solidFill>
                  <a:srgbClr val="C00000"/>
                </a:solidFill>
                <a:latin typeface="Optima" panose="02000503060000020004" pitchFamily="2" charset="0"/>
                <a:ea typeface="Microsoft YaHei UI" panose="020B0503020204020204" pitchFamily="34" charset="-122"/>
              </a:rPr>
              <a:t>Incorporate</a:t>
            </a:r>
            <a:r>
              <a:rPr lang="zh-CN" altLang="en-US" sz="2400" dirty="0">
                <a:solidFill>
                  <a:srgbClr val="C00000"/>
                </a:solidFill>
                <a:latin typeface="Optima" panose="02000503060000020004" pitchFamily="2" charset="0"/>
                <a:ea typeface="Microsoft YaHei UI" panose="020B0503020204020204" pitchFamily="34" charset="-122"/>
              </a:rPr>
              <a:t> </a:t>
            </a:r>
            <a:r>
              <a:rPr lang="en-US" altLang="zh-CN" sz="2400" dirty="0">
                <a:solidFill>
                  <a:srgbClr val="C00000"/>
                </a:solidFill>
                <a:latin typeface="Optima" panose="02000503060000020004" pitchFamily="2" charset="0"/>
                <a:ea typeface="Microsoft YaHei UI" panose="020B0503020204020204" pitchFamily="34" charset="-122"/>
              </a:rPr>
              <a:t>stride prefetchers to cover the cross-page misses</a:t>
            </a:r>
            <a:endParaRPr lang="en-US" altLang="ja-JP" sz="2400" dirty="0">
              <a:solidFill>
                <a:srgbClr val="C00000"/>
              </a:solidFill>
              <a:latin typeface="Optima" panose="02000503060000020004" pitchFamily="2" charset="0"/>
              <a:ea typeface="Microsoft YaHei UI" panose="020B0503020204020204" pitchFamily="34" charset="-122"/>
            </a:endParaRPr>
          </a:p>
        </p:txBody>
      </p:sp>
      <p:sp>
        <p:nvSpPr>
          <p:cNvPr id="22" name="椭圆 21">
            <a:extLst>
              <a:ext uri="{FF2B5EF4-FFF2-40B4-BE49-F238E27FC236}">
                <a16:creationId xmlns:a16="http://schemas.microsoft.com/office/drawing/2014/main" id="{5A04B418-70B6-B731-24F8-11E6CBB777B0}"/>
              </a:ext>
            </a:extLst>
          </p:cNvPr>
          <p:cNvSpPr/>
          <p:nvPr/>
        </p:nvSpPr>
        <p:spPr>
          <a:xfrm>
            <a:off x="8654637" y="3488752"/>
            <a:ext cx="763729" cy="369332"/>
          </a:xfrm>
          <a:prstGeom prst="ellipse">
            <a:avLst/>
          </a:prstGeom>
          <a:noFill/>
          <a:ln w="28575">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23" name="椭圆 22">
            <a:extLst>
              <a:ext uri="{FF2B5EF4-FFF2-40B4-BE49-F238E27FC236}">
                <a16:creationId xmlns:a16="http://schemas.microsoft.com/office/drawing/2014/main" id="{DD54A5B2-3A6A-2359-1DCE-E8E1C16BEAF3}"/>
              </a:ext>
            </a:extLst>
          </p:cNvPr>
          <p:cNvSpPr/>
          <p:nvPr/>
        </p:nvSpPr>
        <p:spPr>
          <a:xfrm>
            <a:off x="10529990" y="2055892"/>
            <a:ext cx="763729" cy="369332"/>
          </a:xfrm>
          <a:prstGeom prst="ellipse">
            <a:avLst/>
          </a:prstGeom>
          <a:noFill/>
          <a:ln w="28575">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24" name="椭圆 23">
            <a:extLst>
              <a:ext uri="{FF2B5EF4-FFF2-40B4-BE49-F238E27FC236}">
                <a16:creationId xmlns:a16="http://schemas.microsoft.com/office/drawing/2014/main" id="{CCEC7A8F-6DB1-0268-C9A7-31E68A934B2C}"/>
              </a:ext>
            </a:extLst>
          </p:cNvPr>
          <p:cNvSpPr/>
          <p:nvPr/>
        </p:nvSpPr>
        <p:spPr>
          <a:xfrm>
            <a:off x="6875986" y="4981250"/>
            <a:ext cx="763729" cy="369332"/>
          </a:xfrm>
          <a:prstGeom prst="ellipse">
            <a:avLst/>
          </a:prstGeom>
          <a:noFill/>
          <a:ln w="28575">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Tree>
    <p:extLst>
      <p:ext uri="{BB962C8B-B14F-4D97-AF65-F5344CB8AC3E}">
        <p14:creationId xmlns:p14="http://schemas.microsoft.com/office/powerpoint/2010/main" val="3680677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29F6107-D4E6-04BA-D6C1-9EDCDE3BC4CD}"/>
              </a:ext>
            </a:extLst>
          </p:cNvPr>
          <p:cNvSpPr>
            <a:spLocks noGrp="1"/>
          </p:cNvSpPr>
          <p:nvPr>
            <p:ph type="title"/>
          </p:nvPr>
        </p:nvSpPr>
        <p:spPr>
          <a:xfrm>
            <a:off x="838200" y="365125"/>
            <a:ext cx="10515600" cy="1325563"/>
          </a:xfrm>
        </p:spPr>
        <p:txBody>
          <a:bodyPr/>
          <a:lstStyle/>
          <a:p>
            <a:r>
              <a:rPr lang="en-US" altLang="zh-CN" dirty="0">
                <a:latin typeface="Optima" panose="02000503060000020004" pitchFamily="2" charset="0"/>
              </a:rPr>
              <a:t>Smart</a:t>
            </a:r>
            <a:r>
              <a:rPr lang="zh-CN" altLang="en-US" dirty="0">
                <a:latin typeface="Optima" panose="02000503060000020004" pitchFamily="2" charset="0"/>
              </a:rPr>
              <a:t> </a:t>
            </a:r>
            <a:r>
              <a:rPr lang="en-US" altLang="zh-CN" dirty="0">
                <a:latin typeface="Optima" panose="02000503060000020004" pitchFamily="2" charset="0"/>
              </a:rPr>
              <a:t>Stride</a:t>
            </a:r>
            <a:r>
              <a:rPr lang="zh-CN" altLang="en-US" dirty="0">
                <a:latin typeface="Optima" panose="02000503060000020004" pitchFamily="2" charset="0"/>
              </a:rPr>
              <a:t> </a:t>
            </a:r>
            <a:r>
              <a:rPr lang="en-US" altLang="zh-CN" dirty="0">
                <a:latin typeface="Optima" panose="02000503060000020004" pitchFamily="2" charset="0"/>
              </a:rPr>
              <a:t>Prefetcher</a:t>
            </a:r>
            <a:endParaRPr lang="en-US" dirty="0">
              <a:latin typeface="Optima" panose="02000503060000020004" pitchFamily="2" charset="0"/>
            </a:endParaRPr>
          </a:p>
        </p:txBody>
      </p:sp>
      <p:sp>
        <p:nvSpPr>
          <p:cNvPr id="5" name="Content Placeholder 2">
            <a:extLst>
              <a:ext uri="{FF2B5EF4-FFF2-40B4-BE49-F238E27FC236}">
                <a16:creationId xmlns:a16="http://schemas.microsoft.com/office/drawing/2014/main" id="{13FA350B-1D3A-39B3-6D20-444AFC5806D3}"/>
              </a:ext>
            </a:extLst>
          </p:cNvPr>
          <p:cNvSpPr txBox="1">
            <a:spLocks/>
          </p:cNvSpPr>
          <p:nvPr/>
        </p:nvSpPr>
        <p:spPr>
          <a:xfrm>
            <a:off x="838200" y="1508490"/>
            <a:ext cx="10515600" cy="192050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ja-JP" sz="2400" dirty="0">
                <a:latin typeface="Optima" panose="02000503060000020004" pitchFamily="2" charset="0"/>
                <a:ea typeface="Microsoft YaHei UI" panose="020B0503020204020204" pitchFamily="34" charset="-122"/>
              </a:rPr>
              <a:t>A stride prefetcher derived from the </a:t>
            </a:r>
            <a:r>
              <a:rPr lang="en-US" altLang="ja-JP" sz="2400" dirty="0" err="1">
                <a:latin typeface="Optima" panose="02000503060000020004" pitchFamily="2" charset="0"/>
                <a:ea typeface="Microsoft YaHei UI" panose="020B0503020204020204" pitchFamily="34" charset="-122"/>
              </a:rPr>
              <a:t>xs_stride</a:t>
            </a:r>
            <a:r>
              <a:rPr lang="en-US" altLang="ja-JP" sz="2400" dirty="0">
                <a:latin typeface="Optima" panose="02000503060000020004" pitchFamily="2" charset="0"/>
                <a:ea typeface="Microsoft YaHei UI" panose="020B0503020204020204" pitchFamily="34" charset="-122"/>
              </a:rPr>
              <a:t> prefetcher in </a:t>
            </a:r>
            <a:r>
              <a:rPr lang="en-US" altLang="ja-JP" sz="2400" dirty="0" err="1">
                <a:latin typeface="Optima" panose="02000503060000020004" pitchFamily="2" charset="0"/>
                <a:ea typeface="Microsoft YaHei UI" panose="020B0503020204020204" pitchFamily="34" charset="-122"/>
              </a:rPr>
              <a:t>XiangShan</a:t>
            </a:r>
            <a:endParaRPr lang="en-US" altLang="ja-JP" sz="2400" dirty="0">
              <a:latin typeface="Optima" panose="02000503060000020004" pitchFamily="2" charset="0"/>
              <a:ea typeface="Microsoft YaHei UI" panose="020B0503020204020204" pitchFamily="34" charset="-122"/>
            </a:endParaRPr>
          </a:p>
          <a:p>
            <a:pPr>
              <a:lnSpc>
                <a:spcPct val="100000"/>
              </a:lnSpc>
            </a:pPr>
            <a:r>
              <a:rPr lang="en-US" altLang="ja-JP" sz="2400" dirty="0">
                <a:latin typeface="Optima" panose="02000503060000020004" pitchFamily="2" charset="0"/>
                <a:ea typeface="Microsoft YaHei UI" panose="020B0503020204020204" pitchFamily="34" charset="-122"/>
              </a:rPr>
              <a:t>Confidence directed stride</a:t>
            </a:r>
            <a:r>
              <a:rPr lang="zh-CN" altLang="en-US" sz="2400" dirty="0">
                <a:latin typeface="Optima" panose="02000503060000020004" pitchFamily="2" charset="0"/>
                <a:ea typeface="Microsoft YaHei UI" panose="020B0503020204020204" pitchFamily="34" charset="-122"/>
              </a:rPr>
              <a:t> </a:t>
            </a:r>
            <a:r>
              <a:rPr lang="en-US" altLang="zh-CN" sz="2400" dirty="0">
                <a:latin typeface="Optima" panose="02000503060000020004" pitchFamily="2" charset="0"/>
                <a:ea typeface="Microsoft YaHei UI" panose="020B0503020204020204" pitchFamily="34" charset="-122"/>
              </a:rPr>
              <a:t>pattern</a:t>
            </a:r>
            <a:r>
              <a:rPr lang="zh-CN" altLang="en-US" sz="2400" dirty="0">
                <a:latin typeface="Optima" panose="02000503060000020004" pitchFamily="2" charset="0"/>
                <a:ea typeface="Microsoft YaHei UI" panose="020B0503020204020204" pitchFamily="34" charset="-122"/>
              </a:rPr>
              <a:t> </a:t>
            </a:r>
            <a:r>
              <a:rPr lang="en-US" altLang="zh-CN" sz="2400" dirty="0">
                <a:latin typeface="Optima" panose="02000503060000020004" pitchFamily="2" charset="0"/>
                <a:ea typeface="Microsoft YaHei UI" panose="020B0503020204020204" pitchFamily="34" charset="-122"/>
              </a:rPr>
              <a:t>detection</a:t>
            </a:r>
            <a:r>
              <a:rPr lang="zh-CN" altLang="en-US" sz="2400" dirty="0">
                <a:latin typeface="Optima" panose="02000503060000020004" pitchFamily="2" charset="0"/>
                <a:ea typeface="Microsoft YaHei UI" panose="020B0503020204020204" pitchFamily="34" charset="-122"/>
              </a:rPr>
              <a:t> </a:t>
            </a:r>
            <a:r>
              <a:rPr lang="en-US" altLang="zh-CN" sz="2400" dirty="0">
                <a:latin typeface="Optima" panose="02000503060000020004" pitchFamily="2" charset="0"/>
                <a:ea typeface="Microsoft YaHei UI" panose="020B0503020204020204" pitchFamily="34" charset="-122"/>
              </a:rPr>
              <a:t>for</a:t>
            </a:r>
            <a:r>
              <a:rPr lang="zh-CN" altLang="en-US" sz="2400" dirty="0">
                <a:latin typeface="Optima" panose="02000503060000020004" pitchFamily="2" charset="0"/>
                <a:ea typeface="Microsoft YaHei UI" panose="020B0503020204020204" pitchFamily="34" charset="-122"/>
              </a:rPr>
              <a:t> </a:t>
            </a:r>
            <a:r>
              <a:rPr lang="en-US" altLang="zh-CN" sz="2400" dirty="0">
                <a:latin typeface="Optima" panose="02000503060000020004" pitchFamily="2" charset="0"/>
                <a:ea typeface="Microsoft YaHei UI" panose="020B0503020204020204" pitchFamily="34" charset="-122"/>
              </a:rPr>
              <a:t>accuracy</a:t>
            </a:r>
            <a:endParaRPr lang="en-US" altLang="ja-JP" sz="2400" dirty="0">
              <a:latin typeface="Optima" panose="02000503060000020004" pitchFamily="2" charset="0"/>
              <a:ea typeface="Microsoft YaHei UI" panose="020B0503020204020204" pitchFamily="34" charset="-122"/>
            </a:endParaRPr>
          </a:p>
          <a:p>
            <a:pPr>
              <a:lnSpc>
                <a:spcPct val="100000"/>
              </a:lnSpc>
            </a:pPr>
            <a:r>
              <a:rPr lang="en-US" altLang="zh-CN" sz="2400" dirty="0">
                <a:latin typeface="Optima" panose="02000503060000020004" pitchFamily="2" charset="0"/>
                <a:ea typeface="Microsoft YaHei UI" panose="020B0503020204020204" pitchFamily="34" charset="-122"/>
              </a:rPr>
              <a:t>Depth</a:t>
            </a:r>
            <a:r>
              <a:rPr lang="zh-CN" altLang="en-US" sz="2400" dirty="0">
                <a:latin typeface="Optima" panose="02000503060000020004" pitchFamily="2" charset="0"/>
                <a:ea typeface="Microsoft YaHei UI" panose="020B0503020204020204" pitchFamily="34" charset="-122"/>
              </a:rPr>
              <a:t> </a:t>
            </a:r>
            <a:r>
              <a:rPr lang="en-US" altLang="zh-CN" sz="2400" dirty="0">
                <a:latin typeface="Optima" panose="02000503060000020004" pitchFamily="2" charset="0"/>
                <a:ea typeface="Microsoft YaHei UI" panose="020B0503020204020204" pitchFamily="34" charset="-122"/>
              </a:rPr>
              <a:t>adjustment</a:t>
            </a:r>
            <a:r>
              <a:rPr lang="zh-CN" altLang="en-US" sz="2400" dirty="0">
                <a:latin typeface="Optima" panose="02000503060000020004" pitchFamily="2" charset="0"/>
                <a:ea typeface="Microsoft YaHei UI" panose="020B0503020204020204" pitchFamily="34" charset="-122"/>
              </a:rPr>
              <a:t> </a:t>
            </a:r>
            <a:r>
              <a:rPr lang="en-US" altLang="zh-CN" sz="2400" dirty="0">
                <a:latin typeface="Optima" panose="02000503060000020004" pitchFamily="2" charset="0"/>
                <a:ea typeface="Microsoft YaHei UI" panose="020B0503020204020204" pitchFamily="34" charset="-122"/>
              </a:rPr>
              <a:t>based</a:t>
            </a:r>
            <a:r>
              <a:rPr lang="zh-CN" altLang="en-US" sz="2400" dirty="0">
                <a:latin typeface="Optima" panose="02000503060000020004" pitchFamily="2" charset="0"/>
                <a:ea typeface="Microsoft YaHei UI" panose="020B0503020204020204" pitchFamily="34" charset="-122"/>
              </a:rPr>
              <a:t> </a:t>
            </a:r>
            <a:r>
              <a:rPr lang="en-US" altLang="zh-CN" sz="2400" dirty="0">
                <a:latin typeface="Optima" panose="02000503060000020004" pitchFamily="2" charset="0"/>
                <a:ea typeface="Microsoft YaHei UI" panose="020B0503020204020204" pitchFamily="34" charset="-122"/>
              </a:rPr>
              <a:t>on late detection</a:t>
            </a:r>
            <a:r>
              <a:rPr lang="zh-CN" altLang="en-US" sz="2400" dirty="0">
                <a:latin typeface="Optima" panose="02000503060000020004" pitchFamily="2" charset="0"/>
                <a:ea typeface="Microsoft YaHei UI" panose="020B0503020204020204" pitchFamily="34" charset="-122"/>
              </a:rPr>
              <a:t> </a:t>
            </a:r>
            <a:r>
              <a:rPr lang="en-US" altLang="zh-CN" sz="2400" dirty="0">
                <a:latin typeface="Optima" panose="02000503060000020004" pitchFamily="2" charset="0"/>
                <a:ea typeface="Microsoft YaHei UI" panose="020B0503020204020204" pitchFamily="34" charset="-122"/>
              </a:rPr>
              <a:t>for</a:t>
            </a:r>
            <a:r>
              <a:rPr lang="zh-CN" altLang="en-US" sz="2400" dirty="0">
                <a:latin typeface="Optima" panose="02000503060000020004" pitchFamily="2" charset="0"/>
                <a:ea typeface="Microsoft YaHei UI" panose="020B0503020204020204" pitchFamily="34" charset="-122"/>
              </a:rPr>
              <a:t> </a:t>
            </a:r>
            <a:r>
              <a:rPr lang="en" altLang="zh-CN" sz="2400" dirty="0">
                <a:latin typeface="Optima" panose="02000503060000020004" pitchFamily="2" charset="0"/>
                <a:ea typeface="Microsoft YaHei UI" panose="020B0503020204020204" pitchFamily="34" charset="-122"/>
              </a:rPr>
              <a:t>timeliness</a:t>
            </a:r>
            <a:endParaRPr lang="en-US" altLang="zh-CN" sz="2400" dirty="0">
              <a:latin typeface="Optima" panose="02000503060000020004" pitchFamily="2" charset="0"/>
              <a:ea typeface="Microsoft YaHei UI" panose="020B0503020204020204" pitchFamily="34" charset="-122"/>
            </a:endParaRPr>
          </a:p>
          <a:p>
            <a:pPr>
              <a:lnSpc>
                <a:spcPct val="100000"/>
              </a:lnSpc>
            </a:pPr>
            <a:r>
              <a:rPr lang="en-US" altLang="zh-CN" sz="2400" dirty="0">
                <a:latin typeface="Optima" panose="02000503060000020004" pitchFamily="2" charset="0"/>
                <a:ea typeface="Microsoft YaHei UI" panose="020B0503020204020204" pitchFamily="34" charset="-122"/>
              </a:rPr>
              <a:t>Strides are detected at multiples of the Delta to mitigate the </a:t>
            </a:r>
            <a:r>
              <a:rPr lang="en-US" altLang="zh-CN" sz="2400" dirty="0" err="1">
                <a:latin typeface="Optima" panose="02000503060000020004" pitchFamily="2" charset="0"/>
                <a:ea typeface="Microsoft YaHei UI" panose="020B0503020204020204" pitchFamily="34" charset="-122"/>
              </a:rPr>
              <a:t>OoO</a:t>
            </a:r>
            <a:r>
              <a:rPr lang="en-US" altLang="zh-CN" sz="2400" dirty="0">
                <a:latin typeface="Optima" panose="02000503060000020004" pitchFamily="2" charset="0"/>
                <a:ea typeface="Microsoft YaHei UI" panose="020B0503020204020204" pitchFamily="34" charset="-122"/>
              </a:rPr>
              <a:t> effect</a:t>
            </a:r>
          </a:p>
        </p:txBody>
      </p:sp>
      <p:sp>
        <p:nvSpPr>
          <p:cNvPr id="6" name="日期占位符 5">
            <a:extLst>
              <a:ext uri="{FF2B5EF4-FFF2-40B4-BE49-F238E27FC236}">
                <a16:creationId xmlns:a16="http://schemas.microsoft.com/office/drawing/2014/main" id="{92919CA3-2DC5-1A7A-E7BB-784C87985DF6}"/>
              </a:ext>
            </a:extLst>
          </p:cNvPr>
          <p:cNvSpPr>
            <a:spLocks noGrp="1"/>
          </p:cNvSpPr>
          <p:nvPr>
            <p:ph type="dt" sz="half" idx="10"/>
          </p:nvPr>
        </p:nvSpPr>
        <p:spPr/>
        <p:txBody>
          <a:bodyPr/>
          <a:lstStyle/>
          <a:p>
            <a:r>
              <a:rPr kumimoji="1" lang="en-US" altLang="zh-CN"/>
              <a:t>February 1, 2026</a:t>
            </a:r>
            <a:endParaRPr kumimoji="1" lang="zh-CN" altLang="en-US"/>
          </a:p>
        </p:txBody>
      </p:sp>
      <p:sp>
        <p:nvSpPr>
          <p:cNvPr id="7" name="灯片编号占位符 6">
            <a:extLst>
              <a:ext uri="{FF2B5EF4-FFF2-40B4-BE49-F238E27FC236}">
                <a16:creationId xmlns:a16="http://schemas.microsoft.com/office/drawing/2014/main" id="{18CAC073-221F-7AD6-24C8-70DF18E83E47}"/>
              </a:ext>
            </a:extLst>
          </p:cNvPr>
          <p:cNvSpPr>
            <a:spLocks noGrp="1"/>
          </p:cNvSpPr>
          <p:nvPr>
            <p:ph type="sldNum" sz="quarter" idx="12"/>
          </p:nvPr>
        </p:nvSpPr>
        <p:spPr/>
        <p:txBody>
          <a:bodyPr/>
          <a:lstStyle/>
          <a:p>
            <a:fld id="{316D01FC-19EB-7E40-9630-B05DD31B9AAA}" type="slidenum">
              <a:rPr kumimoji="1" lang="zh-CN" altLang="en-US" smtClean="0"/>
              <a:t>6</a:t>
            </a:fld>
            <a:endParaRPr kumimoji="1" lang="zh-CN" altLang="en-US"/>
          </a:p>
        </p:txBody>
      </p:sp>
      <p:pic>
        <p:nvPicPr>
          <p:cNvPr id="9" name="图片 8">
            <a:extLst>
              <a:ext uri="{FF2B5EF4-FFF2-40B4-BE49-F238E27FC236}">
                <a16:creationId xmlns:a16="http://schemas.microsoft.com/office/drawing/2014/main" id="{756B7C7D-9295-142C-4FE4-1C8C84CCE772}"/>
              </a:ext>
            </a:extLst>
          </p:cNvPr>
          <p:cNvPicPr>
            <a:picLocks noChangeAspect="1"/>
          </p:cNvPicPr>
          <p:nvPr/>
        </p:nvPicPr>
        <p:blipFill>
          <a:blip r:embed="rId3"/>
          <a:stretch>
            <a:fillRect/>
          </a:stretch>
        </p:blipFill>
        <p:spPr>
          <a:xfrm>
            <a:off x="1228677" y="3428999"/>
            <a:ext cx="9734645" cy="2592064"/>
          </a:xfrm>
          <a:prstGeom prst="rect">
            <a:avLst/>
          </a:prstGeom>
        </p:spPr>
      </p:pic>
    </p:spTree>
    <p:extLst>
      <p:ext uri="{BB962C8B-B14F-4D97-AF65-F5344CB8AC3E}">
        <p14:creationId xmlns:p14="http://schemas.microsoft.com/office/powerpoint/2010/main" val="1000748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C200A-73ED-5D91-F066-0D13DDD9B188}"/>
            </a:ext>
          </a:extLst>
        </p:cNvPr>
        <p:cNvGrpSpPr/>
        <p:nvPr/>
      </p:nvGrpSpPr>
      <p:grpSpPr>
        <a:xfrm>
          <a:off x="0" y="0"/>
          <a:ext cx="0" cy="0"/>
          <a:chOff x="0" y="0"/>
          <a:chExt cx="0" cy="0"/>
        </a:xfrm>
      </p:grpSpPr>
      <p:pic>
        <p:nvPicPr>
          <p:cNvPr id="18" name="图片 17">
            <a:extLst>
              <a:ext uri="{FF2B5EF4-FFF2-40B4-BE49-F238E27FC236}">
                <a16:creationId xmlns:a16="http://schemas.microsoft.com/office/drawing/2014/main" id="{10556ECF-D67B-F363-6537-2899CD6B19DD}"/>
              </a:ext>
            </a:extLst>
          </p:cNvPr>
          <p:cNvPicPr>
            <a:picLocks noChangeAspect="1"/>
          </p:cNvPicPr>
          <p:nvPr/>
        </p:nvPicPr>
        <p:blipFill>
          <a:blip r:embed="rId3"/>
          <a:stretch>
            <a:fillRect/>
          </a:stretch>
        </p:blipFill>
        <p:spPr>
          <a:xfrm>
            <a:off x="1288228" y="2201009"/>
            <a:ext cx="4586343" cy="3498753"/>
          </a:xfrm>
          <a:prstGeom prst="rect">
            <a:avLst/>
          </a:prstGeom>
        </p:spPr>
      </p:pic>
      <p:pic>
        <p:nvPicPr>
          <p:cNvPr id="17" name="图片 16">
            <a:extLst>
              <a:ext uri="{FF2B5EF4-FFF2-40B4-BE49-F238E27FC236}">
                <a16:creationId xmlns:a16="http://schemas.microsoft.com/office/drawing/2014/main" id="{4DE3F9ED-5A07-9F89-3650-2F6BE3BA51BD}"/>
              </a:ext>
            </a:extLst>
          </p:cNvPr>
          <p:cNvPicPr>
            <a:picLocks noChangeAspect="1"/>
          </p:cNvPicPr>
          <p:nvPr/>
        </p:nvPicPr>
        <p:blipFill>
          <a:blip r:embed="rId4"/>
          <a:stretch>
            <a:fillRect/>
          </a:stretch>
        </p:blipFill>
        <p:spPr>
          <a:xfrm>
            <a:off x="7035846" y="2168379"/>
            <a:ext cx="4868056" cy="3651042"/>
          </a:xfrm>
          <a:prstGeom prst="rect">
            <a:avLst/>
          </a:prstGeom>
        </p:spPr>
      </p:pic>
      <p:sp>
        <p:nvSpPr>
          <p:cNvPr id="4" name="日期占位符 3">
            <a:extLst>
              <a:ext uri="{FF2B5EF4-FFF2-40B4-BE49-F238E27FC236}">
                <a16:creationId xmlns:a16="http://schemas.microsoft.com/office/drawing/2014/main" id="{59223CEA-8193-4D4C-27A2-C952EC06598B}"/>
              </a:ext>
            </a:extLst>
          </p:cNvPr>
          <p:cNvSpPr>
            <a:spLocks noGrp="1"/>
          </p:cNvSpPr>
          <p:nvPr>
            <p:ph type="dt" sz="half" idx="10"/>
          </p:nvPr>
        </p:nvSpPr>
        <p:spPr/>
        <p:txBody>
          <a:bodyPr/>
          <a:lstStyle/>
          <a:p>
            <a:r>
              <a:rPr kumimoji="1" lang="en-US" altLang="zh-CN"/>
              <a:t>February 1, 2026</a:t>
            </a:r>
            <a:endParaRPr kumimoji="1" lang="zh-CN" altLang="en-US"/>
          </a:p>
        </p:txBody>
      </p:sp>
      <p:sp>
        <p:nvSpPr>
          <p:cNvPr id="5" name="灯片编号占位符 4">
            <a:extLst>
              <a:ext uri="{FF2B5EF4-FFF2-40B4-BE49-F238E27FC236}">
                <a16:creationId xmlns:a16="http://schemas.microsoft.com/office/drawing/2014/main" id="{68BDD69F-842D-3271-07BD-C929D50100A1}"/>
              </a:ext>
            </a:extLst>
          </p:cNvPr>
          <p:cNvSpPr>
            <a:spLocks noGrp="1"/>
          </p:cNvSpPr>
          <p:nvPr>
            <p:ph type="sldNum" sz="quarter" idx="12"/>
          </p:nvPr>
        </p:nvSpPr>
        <p:spPr/>
        <p:txBody>
          <a:bodyPr/>
          <a:lstStyle/>
          <a:p>
            <a:fld id="{316D01FC-19EB-7E40-9630-B05DD31B9AAA}" type="slidenum">
              <a:rPr kumimoji="1" lang="zh-CN" altLang="en-US" smtClean="0"/>
              <a:t>7</a:t>
            </a:fld>
            <a:endParaRPr kumimoji="1" lang="zh-CN" altLang="en-US"/>
          </a:p>
        </p:txBody>
      </p:sp>
      <p:sp>
        <p:nvSpPr>
          <p:cNvPr id="7" name="Title 1">
            <a:extLst>
              <a:ext uri="{FF2B5EF4-FFF2-40B4-BE49-F238E27FC236}">
                <a16:creationId xmlns:a16="http://schemas.microsoft.com/office/drawing/2014/main" id="{F2C43E95-E86F-1630-33F1-33CC35538316}"/>
              </a:ext>
            </a:extLst>
          </p:cNvPr>
          <p:cNvSpPr>
            <a:spLocks noGrp="1"/>
          </p:cNvSpPr>
          <p:nvPr>
            <p:ph type="title"/>
          </p:nvPr>
        </p:nvSpPr>
        <p:spPr>
          <a:xfrm>
            <a:off x="838200" y="365125"/>
            <a:ext cx="10515600" cy="1325563"/>
          </a:xfrm>
        </p:spPr>
        <p:txBody>
          <a:bodyPr/>
          <a:lstStyle/>
          <a:p>
            <a:r>
              <a:rPr lang="en-US" altLang="zh-CN" dirty="0" err="1">
                <a:latin typeface="Optima" panose="02000503060000020004" pitchFamily="2" charset="0"/>
              </a:rPr>
              <a:t>sBerti</a:t>
            </a:r>
            <a:r>
              <a:rPr lang="en-US" altLang="zh-CN" dirty="0">
                <a:latin typeface="Optima" panose="02000503060000020004" pitchFamily="2" charset="0"/>
              </a:rPr>
              <a:t> = Berti + Smart</a:t>
            </a:r>
            <a:r>
              <a:rPr lang="zh-CN" altLang="en-US" dirty="0">
                <a:latin typeface="Optima" panose="02000503060000020004" pitchFamily="2" charset="0"/>
              </a:rPr>
              <a:t> </a:t>
            </a:r>
            <a:r>
              <a:rPr lang="en-US" altLang="zh-CN" dirty="0">
                <a:latin typeface="Optima" panose="02000503060000020004" pitchFamily="2" charset="0"/>
              </a:rPr>
              <a:t>Stride</a:t>
            </a:r>
            <a:r>
              <a:rPr lang="zh-CN" altLang="en-US" dirty="0">
                <a:latin typeface="Optima" panose="02000503060000020004" pitchFamily="2" charset="0"/>
              </a:rPr>
              <a:t> </a:t>
            </a:r>
            <a:r>
              <a:rPr lang="en-US" altLang="zh-CN" dirty="0">
                <a:latin typeface="Optima" panose="02000503060000020004" pitchFamily="2" charset="0"/>
              </a:rPr>
              <a:t>Prefetcher</a:t>
            </a:r>
            <a:endParaRPr lang="en-US" dirty="0">
              <a:latin typeface="Optima" panose="02000503060000020004" pitchFamily="2" charset="0"/>
            </a:endParaRPr>
          </a:p>
        </p:txBody>
      </p:sp>
      <p:sp>
        <p:nvSpPr>
          <p:cNvPr id="9" name="Content Placeholder 2">
            <a:extLst>
              <a:ext uri="{FF2B5EF4-FFF2-40B4-BE49-F238E27FC236}">
                <a16:creationId xmlns:a16="http://schemas.microsoft.com/office/drawing/2014/main" id="{9A2B5873-DAE0-AAC3-AEBB-CBC241BB0E00}"/>
              </a:ext>
            </a:extLst>
          </p:cNvPr>
          <p:cNvSpPr txBox="1">
            <a:spLocks/>
          </p:cNvSpPr>
          <p:nvPr/>
        </p:nvSpPr>
        <p:spPr>
          <a:xfrm>
            <a:off x="838200" y="1508490"/>
            <a:ext cx="10515600" cy="19205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ja-JP" sz="2400" dirty="0">
                <a:latin typeface="Optima" panose="02000503060000020004" pitchFamily="2" charset="0"/>
                <a:ea typeface="Microsoft YaHei UI" panose="020B0503020204020204" pitchFamily="34" charset="-122"/>
              </a:rPr>
              <a:t>Useful prefetches: 846 -&gt; 995</a:t>
            </a:r>
          </a:p>
          <a:p>
            <a:endParaRPr lang="ja-JP" altLang="en-US" sz="2400">
              <a:effectLst/>
              <a:latin typeface="Optima" panose="02000503060000020004" pitchFamily="2" charset="0"/>
              <a:ea typeface="Microsoft YaHei UI" panose="020B0503020204020204" pitchFamily="34" charset="-122"/>
            </a:endParaRPr>
          </a:p>
        </p:txBody>
      </p:sp>
      <p:sp>
        <p:nvSpPr>
          <p:cNvPr id="11" name="文本框 10">
            <a:extLst>
              <a:ext uri="{FF2B5EF4-FFF2-40B4-BE49-F238E27FC236}">
                <a16:creationId xmlns:a16="http://schemas.microsoft.com/office/drawing/2014/main" id="{0351D432-7344-CB82-847F-70079D990C15}"/>
              </a:ext>
            </a:extLst>
          </p:cNvPr>
          <p:cNvSpPr txBox="1"/>
          <p:nvPr/>
        </p:nvSpPr>
        <p:spPr>
          <a:xfrm>
            <a:off x="2701447" y="5731668"/>
            <a:ext cx="1810011" cy="400110"/>
          </a:xfrm>
          <a:prstGeom prst="rect">
            <a:avLst/>
          </a:prstGeom>
          <a:noFill/>
        </p:spPr>
        <p:txBody>
          <a:bodyPr wrap="square">
            <a:spAutoFit/>
          </a:bodyPr>
          <a:lstStyle/>
          <a:p>
            <a:r>
              <a:rPr lang="en-US" altLang="zh-CN" sz="2000" dirty="0">
                <a:latin typeface="Optima" panose="02000503060000020004" pitchFamily="2" charset="0"/>
              </a:rPr>
              <a:t>Berti in DPC3</a:t>
            </a:r>
            <a:endParaRPr lang="zh-CN" altLang="en-US" sz="2000" dirty="0"/>
          </a:p>
        </p:txBody>
      </p:sp>
      <p:sp>
        <p:nvSpPr>
          <p:cNvPr id="12" name="文本框 11">
            <a:extLst>
              <a:ext uri="{FF2B5EF4-FFF2-40B4-BE49-F238E27FC236}">
                <a16:creationId xmlns:a16="http://schemas.microsoft.com/office/drawing/2014/main" id="{6F154E52-9A40-0B57-01C8-7BBC0CC59A71}"/>
              </a:ext>
            </a:extLst>
          </p:cNvPr>
          <p:cNvSpPr txBox="1"/>
          <p:nvPr/>
        </p:nvSpPr>
        <p:spPr>
          <a:xfrm>
            <a:off x="9236902" y="5731668"/>
            <a:ext cx="1014608" cy="400110"/>
          </a:xfrm>
          <a:prstGeom prst="rect">
            <a:avLst/>
          </a:prstGeom>
          <a:noFill/>
        </p:spPr>
        <p:txBody>
          <a:bodyPr wrap="square">
            <a:spAutoFit/>
          </a:bodyPr>
          <a:lstStyle/>
          <a:p>
            <a:r>
              <a:rPr lang="en-US" altLang="zh-CN" sz="2000" dirty="0" err="1">
                <a:latin typeface="Optima" panose="02000503060000020004" pitchFamily="2" charset="0"/>
              </a:rPr>
              <a:t>sBerti</a:t>
            </a:r>
            <a:endParaRPr lang="zh-CN" altLang="en-US" sz="2000" dirty="0"/>
          </a:p>
        </p:txBody>
      </p:sp>
      <p:sp>
        <p:nvSpPr>
          <p:cNvPr id="13" name="右箭头 12">
            <a:extLst>
              <a:ext uri="{FF2B5EF4-FFF2-40B4-BE49-F238E27FC236}">
                <a16:creationId xmlns:a16="http://schemas.microsoft.com/office/drawing/2014/main" id="{DCD29649-9921-FD54-4CDE-B9E97CD5781F}"/>
              </a:ext>
            </a:extLst>
          </p:cNvPr>
          <p:cNvSpPr/>
          <p:nvPr/>
        </p:nvSpPr>
        <p:spPr>
          <a:xfrm>
            <a:off x="6191186" y="3950386"/>
            <a:ext cx="585788" cy="277003"/>
          </a:xfrm>
          <a:prstGeom prst="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文本框 13">
            <a:extLst>
              <a:ext uri="{FF2B5EF4-FFF2-40B4-BE49-F238E27FC236}">
                <a16:creationId xmlns:a16="http://schemas.microsoft.com/office/drawing/2014/main" id="{122B2AFD-6A7B-DE62-95D6-B379D90BB33E}"/>
              </a:ext>
            </a:extLst>
          </p:cNvPr>
          <p:cNvSpPr txBox="1"/>
          <p:nvPr/>
        </p:nvSpPr>
        <p:spPr>
          <a:xfrm>
            <a:off x="2676047" y="3335639"/>
            <a:ext cx="1171183" cy="369332"/>
          </a:xfrm>
          <a:prstGeom prst="rect">
            <a:avLst/>
          </a:prstGeom>
          <a:noFill/>
        </p:spPr>
        <p:txBody>
          <a:bodyPr wrap="square">
            <a:spAutoFit/>
          </a:bodyPr>
          <a:lstStyle/>
          <a:p>
            <a:r>
              <a:rPr lang="en-US" altLang="zh-CN" dirty="0">
                <a:solidFill>
                  <a:srgbClr val="0070C0"/>
                </a:solidFill>
                <a:latin typeface="Optima" panose="02000503060000020004" pitchFamily="2" charset="0"/>
                <a:ea typeface="Microsoft YaHei UI" panose="020B0503020204020204" pitchFamily="34" charset="-122"/>
              </a:rPr>
              <a:t>PF issued</a:t>
            </a:r>
            <a:endParaRPr lang="zh-CN" altLang="en-US" dirty="0">
              <a:solidFill>
                <a:srgbClr val="0070C0"/>
              </a:solidFill>
            </a:endParaRPr>
          </a:p>
        </p:txBody>
      </p:sp>
      <p:sp>
        <p:nvSpPr>
          <p:cNvPr id="15" name="文本框 14">
            <a:extLst>
              <a:ext uri="{FF2B5EF4-FFF2-40B4-BE49-F238E27FC236}">
                <a16:creationId xmlns:a16="http://schemas.microsoft.com/office/drawing/2014/main" id="{6C3F4FEB-C05E-56E1-D343-D6EA77DADB30}"/>
              </a:ext>
            </a:extLst>
          </p:cNvPr>
          <p:cNvSpPr txBox="1"/>
          <p:nvPr/>
        </p:nvSpPr>
        <p:spPr>
          <a:xfrm>
            <a:off x="3962400" y="3746604"/>
            <a:ext cx="1755531" cy="369332"/>
          </a:xfrm>
          <a:prstGeom prst="rect">
            <a:avLst/>
          </a:prstGeom>
          <a:noFill/>
        </p:spPr>
        <p:txBody>
          <a:bodyPr wrap="square">
            <a:spAutoFit/>
          </a:bodyPr>
          <a:lstStyle/>
          <a:p>
            <a:r>
              <a:rPr lang="en-US" altLang="zh-CN" dirty="0">
                <a:solidFill>
                  <a:schemeClr val="accent2">
                    <a:lumMod val="60000"/>
                    <a:lumOff val="40000"/>
                  </a:schemeClr>
                </a:solidFill>
                <a:latin typeface="Optima" panose="02000503060000020004" pitchFamily="2" charset="0"/>
                <a:ea typeface="Microsoft YaHei UI" panose="020B0503020204020204" pitchFamily="34" charset="-122"/>
              </a:rPr>
              <a:t>Hit &amp; PF useful</a:t>
            </a:r>
            <a:endParaRPr lang="zh-CN" altLang="en-US" dirty="0">
              <a:solidFill>
                <a:schemeClr val="accent2">
                  <a:lumMod val="60000"/>
                  <a:lumOff val="40000"/>
                </a:schemeClr>
              </a:solidFill>
            </a:endParaRPr>
          </a:p>
        </p:txBody>
      </p:sp>
      <p:sp>
        <p:nvSpPr>
          <p:cNvPr id="16" name="文本框 15">
            <a:extLst>
              <a:ext uri="{FF2B5EF4-FFF2-40B4-BE49-F238E27FC236}">
                <a16:creationId xmlns:a16="http://schemas.microsoft.com/office/drawing/2014/main" id="{3003D2C8-1840-D80F-BD46-597DDA7BADEB}"/>
              </a:ext>
            </a:extLst>
          </p:cNvPr>
          <p:cNvSpPr txBox="1"/>
          <p:nvPr/>
        </p:nvSpPr>
        <p:spPr>
          <a:xfrm>
            <a:off x="3340251" y="4063331"/>
            <a:ext cx="1171183" cy="369332"/>
          </a:xfrm>
          <a:prstGeom prst="rect">
            <a:avLst/>
          </a:prstGeom>
          <a:noFill/>
        </p:spPr>
        <p:txBody>
          <a:bodyPr wrap="square">
            <a:spAutoFit/>
          </a:bodyPr>
          <a:lstStyle/>
          <a:p>
            <a:r>
              <a:rPr lang="en-US" altLang="zh-CN" dirty="0">
                <a:solidFill>
                  <a:srgbClr val="C00000"/>
                </a:solidFill>
                <a:latin typeface="Optima" panose="02000503060000020004" pitchFamily="2" charset="0"/>
                <a:ea typeface="Microsoft YaHei UI" panose="020B0503020204020204" pitchFamily="34" charset="-122"/>
              </a:rPr>
              <a:t>Miss</a:t>
            </a:r>
            <a:endParaRPr lang="zh-CN" altLang="en-US" dirty="0">
              <a:solidFill>
                <a:srgbClr val="C00000"/>
              </a:solidFill>
            </a:endParaRPr>
          </a:p>
        </p:txBody>
      </p:sp>
    </p:spTree>
    <p:extLst>
      <p:ext uri="{BB962C8B-B14F-4D97-AF65-F5344CB8AC3E}">
        <p14:creationId xmlns:p14="http://schemas.microsoft.com/office/powerpoint/2010/main" val="811325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E71A395B-DBBC-E4C5-371C-E043B9BFACF2}"/>
              </a:ext>
            </a:extLst>
          </p:cNvPr>
          <p:cNvPicPr>
            <a:picLocks noChangeAspect="1"/>
          </p:cNvPicPr>
          <p:nvPr/>
        </p:nvPicPr>
        <p:blipFill>
          <a:blip r:embed="rId3"/>
          <a:stretch>
            <a:fillRect/>
          </a:stretch>
        </p:blipFill>
        <p:spPr>
          <a:xfrm>
            <a:off x="7040391" y="1508491"/>
            <a:ext cx="4737100" cy="3975100"/>
          </a:xfrm>
          <a:prstGeom prst="rect">
            <a:avLst/>
          </a:prstGeom>
        </p:spPr>
      </p:pic>
      <p:sp>
        <p:nvSpPr>
          <p:cNvPr id="4" name="日期占位符 3">
            <a:extLst>
              <a:ext uri="{FF2B5EF4-FFF2-40B4-BE49-F238E27FC236}">
                <a16:creationId xmlns:a16="http://schemas.microsoft.com/office/drawing/2014/main" id="{AAFBAAF9-A9C5-C22F-E080-4E1AE80E810D}"/>
              </a:ext>
            </a:extLst>
          </p:cNvPr>
          <p:cNvSpPr>
            <a:spLocks noGrp="1"/>
          </p:cNvSpPr>
          <p:nvPr>
            <p:ph type="dt" sz="half" idx="10"/>
          </p:nvPr>
        </p:nvSpPr>
        <p:spPr/>
        <p:txBody>
          <a:bodyPr/>
          <a:lstStyle/>
          <a:p>
            <a:r>
              <a:rPr kumimoji="1" lang="en-US" altLang="zh-CN" dirty="0"/>
              <a:t>February 1, 2026</a:t>
            </a:r>
            <a:endParaRPr kumimoji="1" lang="zh-CN" altLang="en-US" dirty="0"/>
          </a:p>
        </p:txBody>
      </p:sp>
      <p:sp>
        <p:nvSpPr>
          <p:cNvPr id="5" name="灯片编号占位符 4">
            <a:extLst>
              <a:ext uri="{FF2B5EF4-FFF2-40B4-BE49-F238E27FC236}">
                <a16:creationId xmlns:a16="http://schemas.microsoft.com/office/drawing/2014/main" id="{53D51C10-3441-7102-8FC0-193740039BB5}"/>
              </a:ext>
            </a:extLst>
          </p:cNvPr>
          <p:cNvSpPr>
            <a:spLocks noGrp="1"/>
          </p:cNvSpPr>
          <p:nvPr>
            <p:ph type="sldNum" sz="quarter" idx="12"/>
          </p:nvPr>
        </p:nvSpPr>
        <p:spPr/>
        <p:txBody>
          <a:bodyPr/>
          <a:lstStyle/>
          <a:p>
            <a:fld id="{316D01FC-19EB-7E40-9630-B05DD31B9AAA}" type="slidenum">
              <a:rPr kumimoji="1" lang="zh-CN" altLang="en-US" smtClean="0"/>
              <a:t>8</a:t>
            </a:fld>
            <a:endParaRPr kumimoji="1" lang="zh-CN" altLang="en-US"/>
          </a:p>
        </p:txBody>
      </p:sp>
      <p:sp>
        <p:nvSpPr>
          <p:cNvPr id="9" name="Title 1">
            <a:extLst>
              <a:ext uri="{FF2B5EF4-FFF2-40B4-BE49-F238E27FC236}">
                <a16:creationId xmlns:a16="http://schemas.microsoft.com/office/drawing/2014/main" id="{A0A4E763-4CF4-A4AA-02B7-9EF39A636DA1}"/>
              </a:ext>
            </a:extLst>
          </p:cNvPr>
          <p:cNvSpPr>
            <a:spLocks noGrp="1"/>
          </p:cNvSpPr>
          <p:nvPr>
            <p:ph type="title"/>
          </p:nvPr>
        </p:nvSpPr>
        <p:spPr>
          <a:xfrm>
            <a:off x="838200" y="365125"/>
            <a:ext cx="10515600" cy="1325563"/>
          </a:xfrm>
        </p:spPr>
        <p:txBody>
          <a:bodyPr>
            <a:normAutofit/>
          </a:bodyPr>
          <a:lstStyle/>
          <a:p>
            <a:r>
              <a:rPr lang="en-US" altLang="zh-CN" dirty="0">
                <a:latin typeface="Optima" panose="02000503060000020004" pitchFamily="2" charset="0"/>
              </a:rPr>
              <a:t>Can </a:t>
            </a:r>
            <a:r>
              <a:rPr lang="en-US" altLang="zh-CN" dirty="0" err="1">
                <a:latin typeface="Optima" panose="02000503060000020004" pitchFamily="2" charset="0"/>
              </a:rPr>
              <a:t>vBerti</a:t>
            </a:r>
            <a:r>
              <a:rPr lang="en-US" altLang="zh-CN" dirty="0">
                <a:latin typeface="Optima" panose="02000503060000020004" pitchFamily="2" charset="0"/>
              </a:rPr>
              <a:t> cover the cross-page pattern?</a:t>
            </a:r>
            <a:endParaRPr lang="en-US" dirty="0">
              <a:latin typeface="Optima" panose="02000503060000020004" pitchFamily="2" charset="0"/>
            </a:endParaRPr>
          </a:p>
        </p:txBody>
      </p:sp>
      <p:sp>
        <p:nvSpPr>
          <p:cNvPr id="10" name="Content Placeholder 2">
            <a:extLst>
              <a:ext uri="{FF2B5EF4-FFF2-40B4-BE49-F238E27FC236}">
                <a16:creationId xmlns:a16="http://schemas.microsoft.com/office/drawing/2014/main" id="{C2D36BFF-78E1-195F-9081-CEF1D0AEB880}"/>
              </a:ext>
            </a:extLst>
          </p:cNvPr>
          <p:cNvSpPr txBox="1">
            <a:spLocks/>
          </p:cNvSpPr>
          <p:nvPr/>
        </p:nvSpPr>
        <p:spPr>
          <a:xfrm>
            <a:off x="838199" y="1508491"/>
            <a:ext cx="5787683" cy="38372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altLang="zh-CN" sz="2400" dirty="0">
                <a:latin typeface="Optima" panose="02000503060000020004" pitchFamily="2" charset="0"/>
                <a:ea typeface="Microsoft YaHei UI" panose="020B0503020204020204" pitchFamily="34" charset="-122"/>
              </a:rPr>
              <a:t>Observation</a:t>
            </a:r>
          </a:p>
          <a:p>
            <a:pPr lvl="1">
              <a:lnSpc>
                <a:spcPct val="110000"/>
              </a:lnSpc>
            </a:pPr>
            <a:r>
              <a:rPr lang="en-US" altLang="ja-JP" dirty="0">
                <a:latin typeface="Optima" panose="02000503060000020004" pitchFamily="2" charset="0"/>
                <a:ea typeface="Microsoft YaHei UI" panose="020B0503020204020204" pitchFamily="34" charset="-122"/>
              </a:rPr>
              <a:t>Prefetch Queue is full most of the time. Prefetches with large strides (depth) are less likely issued.</a:t>
            </a:r>
          </a:p>
          <a:p>
            <a:pPr lvl="1">
              <a:lnSpc>
                <a:spcPct val="110000"/>
              </a:lnSpc>
            </a:pPr>
            <a:r>
              <a:rPr lang="en-US" altLang="zh-CN" dirty="0">
                <a:latin typeface="Optima" panose="02000503060000020004" pitchFamily="2" charset="0"/>
                <a:ea typeface="Microsoft YaHei UI" panose="020B0503020204020204" pitchFamily="34" charset="-122"/>
              </a:rPr>
              <a:t>The highest confidence is observed with stride 1.</a:t>
            </a:r>
          </a:p>
          <a:p>
            <a:pPr lvl="1">
              <a:lnSpc>
                <a:spcPct val="110000"/>
              </a:lnSpc>
            </a:pPr>
            <a:r>
              <a:rPr lang="en-US" altLang="ja-JP" dirty="0">
                <a:latin typeface="Optima" panose="02000503060000020004" pitchFamily="2" charset="0"/>
                <a:ea typeface="Microsoft YaHei UI" panose="020B0503020204020204" pitchFamily="34" charset="-122"/>
              </a:rPr>
              <a:t>Addresses in Prefetch Queue are stall</a:t>
            </a:r>
          </a:p>
          <a:p>
            <a:pPr>
              <a:lnSpc>
                <a:spcPct val="110000"/>
              </a:lnSpc>
            </a:pPr>
            <a:r>
              <a:rPr lang="en-US" altLang="ja-JP" sz="2400" dirty="0">
                <a:latin typeface="Optima" panose="02000503060000020004" pitchFamily="2" charset="0"/>
                <a:ea typeface="Microsoft YaHei UI" panose="020B0503020204020204" pitchFamily="34" charset="-122"/>
              </a:rPr>
              <a:t>Still </a:t>
            </a:r>
            <a:r>
              <a:rPr lang="en-US" altLang="ja-JP" sz="2400" dirty="0" err="1">
                <a:latin typeface="Optima" panose="02000503060000020004" pitchFamily="2" charset="0"/>
                <a:ea typeface="Microsoft YaHei UI" panose="020B0503020204020204" pitchFamily="34" charset="-122"/>
              </a:rPr>
              <a:t>debuging</a:t>
            </a:r>
            <a:r>
              <a:rPr lang="en-US" altLang="ja-JP" sz="2400" dirty="0">
                <a:latin typeface="Optima" panose="02000503060000020004" pitchFamily="2" charset="0"/>
                <a:ea typeface="Microsoft YaHei UI" panose="020B0503020204020204" pitchFamily="34" charset="-122"/>
              </a:rPr>
              <a:t> on the issues</a:t>
            </a:r>
          </a:p>
        </p:txBody>
      </p:sp>
      <p:sp>
        <p:nvSpPr>
          <p:cNvPr id="12" name="文本框 11">
            <a:extLst>
              <a:ext uri="{FF2B5EF4-FFF2-40B4-BE49-F238E27FC236}">
                <a16:creationId xmlns:a16="http://schemas.microsoft.com/office/drawing/2014/main" id="{6518E372-64E1-0D55-BFB4-48B64F84896B}"/>
              </a:ext>
            </a:extLst>
          </p:cNvPr>
          <p:cNvSpPr txBox="1"/>
          <p:nvPr/>
        </p:nvSpPr>
        <p:spPr>
          <a:xfrm>
            <a:off x="9163746" y="5413057"/>
            <a:ext cx="1014608" cy="461665"/>
          </a:xfrm>
          <a:prstGeom prst="rect">
            <a:avLst/>
          </a:prstGeom>
          <a:noFill/>
        </p:spPr>
        <p:txBody>
          <a:bodyPr wrap="square">
            <a:spAutoFit/>
          </a:bodyPr>
          <a:lstStyle/>
          <a:p>
            <a:r>
              <a:rPr lang="en-US" altLang="zh-CN" sz="2400" dirty="0" err="1">
                <a:latin typeface="Optima" panose="02000503060000020004" pitchFamily="2" charset="0"/>
              </a:rPr>
              <a:t>vBerti</a:t>
            </a:r>
            <a:endParaRPr lang="zh-CN" altLang="en-US" sz="2400" dirty="0"/>
          </a:p>
        </p:txBody>
      </p:sp>
      <p:sp>
        <p:nvSpPr>
          <p:cNvPr id="13" name="文本框 12">
            <a:extLst>
              <a:ext uri="{FF2B5EF4-FFF2-40B4-BE49-F238E27FC236}">
                <a16:creationId xmlns:a16="http://schemas.microsoft.com/office/drawing/2014/main" id="{69E705FC-0699-D015-3C66-94EF252B6D82}"/>
              </a:ext>
            </a:extLst>
          </p:cNvPr>
          <p:cNvSpPr txBox="1"/>
          <p:nvPr/>
        </p:nvSpPr>
        <p:spPr>
          <a:xfrm>
            <a:off x="7705608" y="3554860"/>
            <a:ext cx="1171183" cy="369332"/>
          </a:xfrm>
          <a:prstGeom prst="rect">
            <a:avLst/>
          </a:prstGeom>
          <a:noFill/>
        </p:spPr>
        <p:txBody>
          <a:bodyPr wrap="square">
            <a:spAutoFit/>
          </a:bodyPr>
          <a:lstStyle/>
          <a:p>
            <a:r>
              <a:rPr lang="en-US" altLang="zh-CN" dirty="0">
                <a:solidFill>
                  <a:srgbClr val="0070C0"/>
                </a:solidFill>
                <a:latin typeface="Optima" panose="02000503060000020004" pitchFamily="2" charset="0"/>
                <a:ea typeface="Microsoft YaHei UI" panose="020B0503020204020204" pitchFamily="34" charset="-122"/>
              </a:rPr>
              <a:t>PF issued</a:t>
            </a:r>
            <a:endParaRPr lang="zh-CN" altLang="en-US" dirty="0">
              <a:solidFill>
                <a:srgbClr val="0070C0"/>
              </a:solidFill>
            </a:endParaRPr>
          </a:p>
        </p:txBody>
      </p:sp>
      <p:sp>
        <p:nvSpPr>
          <p:cNvPr id="14" name="文本框 13">
            <a:extLst>
              <a:ext uri="{FF2B5EF4-FFF2-40B4-BE49-F238E27FC236}">
                <a16:creationId xmlns:a16="http://schemas.microsoft.com/office/drawing/2014/main" id="{F7D6283B-69E2-8384-5152-6F06AC924E0C}"/>
              </a:ext>
            </a:extLst>
          </p:cNvPr>
          <p:cNvSpPr txBox="1"/>
          <p:nvPr/>
        </p:nvSpPr>
        <p:spPr>
          <a:xfrm>
            <a:off x="8991961" y="3965825"/>
            <a:ext cx="1755531" cy="369332"/>
          </a:xfrm>
          <a:prstGeom prst="rect">
            <a:avLst/>
          </a:prstGeom>
          <a:noFill/>
        </p:spPr>
        <p:txBody>
          <a:bodyPr wrap="square">
            <a:spAutoFit/>
          </a:bodyPr>
          <a:lstStyle/>
          <a:p>
            <a:r>
              <a:rPr lang="en-US" altLang="zh-CN" dirty="0">
                <a:solidFill>
                  <a:schemeClr val="accent2">
                    <a:lumMod val="60000"/>
                    <a:lumOff val="40000"/>
                  </a:schemeClr>
                </a:solidFill>
                <a:latin typeface="Optima" panose="02000503060000020004" pitchFamily="2" charset="0"/>
                <a:ea typeface="Microsoft YaHei UI" panose="020B0503020204020204" pitchFamily="34" charset="-122"/>
              </a:rPr>
              <a:t>Hit &amp; PF useful</a:t>
            </a:r>
            <a:endParaRPr lang="zh-CN" altLang="en-US" dirty="0">
              <a:solidFill>
                <a:schemeClr val="accent2">
                  <a:lumMod val="60000"/>
                  <a:lumOff val="40000"/>
                </a:schemeClr>
              </a:solidFill>
            </a:endParaRPr>
          </a:p>
        </p:txBody>
      </p:sp>
    </p:spTree>
    <p:extLst>
      <p:ext uri="{BB962C8B-B14F-4D97-AF65-F5344CB8AC3E}">
        <p14:creationId xmlns:p14="http://schemas.microsoft.com/office/powerpoint/2010/main" val="1959877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6392989-6B1C-6062-F8D7-4CC25A5EDED3}"/>
              </a:ext>
            </a:extLst>
          </p:cNvPr>
          <p:cNvSpPr>
            <a:spLocks noGrp="1"/>
          </p:cNvSpPr>
          <p:nvPr>
            <p:ph type="title"/>
          </p:nvPr>
        </p:nvSpPr>
        <p:spPr>
          <a:xfrm>
            <a:off x="838200" y="365125"/>
            <a:ext cx="10515600" cy="1325563"/>
          </a:xfrm>
        </p:spPr>
        <p:txBody>
          <a:bodyPr/>
          <a:lstStyle/>
          <a:p>
            <a:r>
              <a:rPr lang="en-US" altLang="zh-CN" dirty="0" err="1">
                <a:latin typeface="Optima" panose="02000503060000020004" pitchFamily="2" charset="0"/>
              </a:rPr>
              <a:t>sBerti</a:t>
            </a:r>
            <a:r>
              <a:rPr lang="en-US" altLang="zh-CN" dirty="0">
                <a:latin typeface="Optima" panose="02000503060000020004" pitchFamily="2" charset="0"/>
              </a:rPr>
              <a:t> Storage</a:t>
            </a:r>
            <a:r>
              <a:rPr lang="zh-CN" altLang="en-US" dirty="0">
                <a:latin typeface="Optima" panose="02000503060000020004" pitchFamily="2" charset="0"/>
              </a:rPr>
              <a:t> </a:t>
            </a:r>
            <a:r>
              <a:rPr lang="en-US" altLang="zh-CN" dirty="0">
                <a:latin typeface="Optima" panose="02000503060000020004" pitchFamily="2" charset="0"/>
              </a:rPr>
              <a:t>Overhead</a:t>
            </a:r>
            <a:endParaRPr lang="en-US" dirty="0">
              <a:latin typeface="Optima" panose="02000503060000020004" pitchFamily="2" charset="0"/>
            </a:endParaRPr>
          </a:p>
        </p:txBody>
      </p:sp>
      <p:sp>
        <p:nvSpPr>
          <p:cNvPr id="7" name="Content Placeholder 2">
            <a:extLst>
              <a:ext uri="{FF2B5EF4-FFF2-40B4-BE49-F238E27FC236}">
                <a16:creationId xmlns:a16="http://schemas.microsoft.com/office/drawing/2014/main" id="{50D7046E-764C-9E08-3E8E-950176AF012E}"/>
              </a:ext>
            </a:extLst>
          </p:cNvPr>
          <p:cNvSpPr txBox="1">
            <a:spLocks/>
          </p:cNvSpPr>
          <p:nvPr/>
        </p:nvSpPr>
        <p:spPr>
          <a:xfrm>
            <a:off x="838200" y="1508491"/>
            <a:ext cx="10515600" cy="24998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ja-JP" sz="2400" dirty="0">
                <a:latin typeface="Optima" panose="02000503060000020004" pitchFamily="2" charset="0"/>
                <a:ea typeface="Microsoft YaHei UI" panose="020B0503020204020204" pitchFamily="34" charset="-122"/>
              </a:rPr>
              <a:t>Smart Stride Prefetcher: ~4KB</a:t>
            </a:r>
          </a:p>
          <a:p>
            <a:pPr lvl="1">
              <a:lnSpc>
                <a:spcPct val="100000"/>
              </a:lnSpc>
            </a:pPr>
            <a:r>
              <a:rPr lang="en-US" altLang="ja-JP" sz="2000" dirty="0">
                <a:latin typeface="Optima" panose="02000503060000020004" pitchFamily="2" charset="0"/>
                <a:ea typeface="Microsoft YaHei UI" panose="020B0503020204020204" pitchFamily="34" charset="-122"/>
              </a:rPr>
              <a:t>Stride detection</a:t>
            </a:r>
            <a:r>
              <a:rPr lang="zh-CN" altLang="en-US" sz="2000" dirty="0">
                <a:latin typeface="Optima" panose="02000503060000020004" pitchFamily="2" charset="0"/>
                <a:ea typeface="Microsoft YaHei UI" panose="020B0503020204020204" pitchFamily="34" charset="-122"/>
              </a:rPr>
              <a:t> </a:t>
            </a:r>
            <a:r>
              <a:rPr lang="en-US" altLang="zh-CN" sz="2000" dirty="0">
                <a:latin typeface="Optima" panose="02000503060000020004" pitchFamily="2" charset="0"/>
                <a:ea typeface="Microsoft YaHei UI" panose="020B0503020204020204" pitchFamily="34" charset="-122"/>
              </a:rPr>
              <a:t>table and a</a:t>
            </a:r>
            <a:r>
              <a:rPr lang="zh-CN" altLang="en-US" sz="2000" dirty="0">
                <a:latin typeface="Optima" panose="02000503060000020004" pitchFamily="2" charset="0"/>
                <a:ea typeface="Microsoft YaHei UI" panose="020B0503020204020204" pitchFamily="34" charset="-122"/>
              </a:rPr>
              <a:t> </a:t>
            </a:r>
            <a:r>
              <a:rPr lang="en-US" altLang="zh-CN" sz="2000" dirty="0">
                <a:latin typeface="Optima" panose="02000503060000020004" pitchFamily="2" charset="0"/>
                <a:ea typeface="Microsoft YaHei UI" panose="020B0503020204020204" pitchFamily="34" charset="-122"/>
              </a:rPr>
              <a:t>deduplication</a:t>
            </a:r>
            <a:r>
              <a:rPr lang="zh-CN" altLang="en-US" sz="2000" dirty="0">
                <a:latin typeface="Optima" panose="02000503060000020004" pitchFamily="2" charset="0"/>
                <a:ea typeface="Microsoft YaHei UI" panose="020B0503020204020204" pitchFamily="34" charset="-122"/>
              </a:rPr>
              <a:t> </a:t>
            </a:r>
            <a:r>
              <a:rPr lang="en-US" altLang="zh-CN" sz="2000" dirty="0">
                <a:latin typeface="Optima" panose="02000503060000020004" pitchFamily="2" charset="0"/>
                <a:ea typeface="Microsoft YaHei UI" panose="020B0503020204020204" pitchFamily="34" charset="-122"/>
              </a:rPr>
              <a:t>buffer</a:t>
            </a:r>
            <a:endParaRPr lang="en-US" altLang="ja-JP" sz="2000" dirty="0">
              <a:effectLst/>
              <a:latin typeface="Optima" panose="02000503060000020004" pitchFamily="2" charset="0"/>
              <a:ea typeface="Microsoft YaHei UI" panose="020B0503020204020204" pitchFamily="34" charset="-122"/>
            </a:endParaRPr>
          </a:p>
          <a:p>
            <a:pPr>
              <a:lnSpc>
                <a:spcPct val="100000"/>
              </a:lnSpc>
            </a:pPr>
            <a:r>
              <a:rPr lang="en-US" altLang="ja-JP" sz="2400" dirty="0">
                <a:latin typeface="Optima" panose="02000503060000020004" pitchFamily="2" charset="0"/>
                <a:ea typeface="Microsoft YaHei UI" panose="020B0503020204020204" pitchFamily="34" charset="-122"/>
              </a:rPr>
              <a:t>Berti: ~28KB</a:t>
            </a:r>
          </a:p>
          <a:p>
            <a:pPr lvl="1">
              <a:lnSpc>
                <a:spcPct val="100000"/>
              </a:lnSpc>
            </a:pPr>
            <a:r>
              <a:rPr lang="en-US" altLang="ja-JP" sz="2000" dirty="0">
                <a:effectLst/>
                <a:latin typeface="Optima" panose="02000503060000020004" pitchFamily="2" charset="0"/>
                <a:ea typeface="Microsoft YaHei UI" panose="020B0503020204020204" pitchFamily="34" charset="-122"/>
              </a:rPr>
              <a:t>Reduce the number of the Recorded Pages </a:t>
            </a:r>
            <a:r>
              <a:rPr lang="en-US" altLang="zh-CN" sz="2000" dirty="0">
                <a:effectLst/>
                <a:latin typeface="Optima" panose="02000503060000020004" pitchFamily="2" charset="0"/>
                <a:ea typeface="Microsoft YaHei UI" panose="020B0503020204020204" pitchFamily="34" charset="-122"/>
              </a:rPr>
              <a:t>to</a:t>
            </a:r>
            <a:r>
              <a:rPr lang="zh-CN" altLang="en-US" sz="2000" dirty="0">
                <a:latin typeface="Optima" panose="02000503060000020004" pitchFamily="2" charset="0"/>
                <a:ea typeface="Microsoft YaHei UI" panose="020B0503020204020204" pitchFamily="34" charset="-122"/>
              </a:rPr>
              <a:t> </a:t>
            </a:r>
            <a:r>
              <a:rPr lang="en-US" altLang="zh-CN" sz="2000" dirty="0">
                <a:latin typeface="Optima" panose="02000503060000020004" pitchFamily="2" charset="0"/>
                <a:ea typeface="Microsoft YaHei UI" panose="020B0503020204020204" pitchFamily="34" charset="-122"/>
              </a:rPr>
              <a:t>satisfy</a:t>
            </a:r>
            <a:r>
              <a:rPr lang="en-US" altLang="zh-CN" sz="2000" dirty="0">
                <a:effectLst/>
                <a:latin typeface="Optima" panose="02000503060000020004" pitchFamily="2" charset="0"/>
                <a:ea typeface="Microsoft YaHei UI" panose="020B0503020204020204" pitchFamily="34" charset="-122"/>
              </a:rPr>
              <a:t> the 32KB budget in total</a:t>
            </a:r>
            <a:endParaRPr lang="en-US" altLang="ja-JP" sz="2000" dirty="0">
              <a:effectLst/>
              <a:latin typeface="Optima" panose="02000503060000020004" pitchFamily="2" charset="0"/>
              <a:ea typeface="Microsoft YaHei UI" panose="020B0503020204020204" pitchFamily="34" charset="-122"/>
            </a:endParaRPr>
          </a:p>
          <a:p>
            <a:pPr>
              <a:lnSpc>
                <a:spcPct val="100000"/>
              </a:lnSpc>
            </a:pPr>
            <a:endParaRPr lang="en-US" altLang="ja-JP" sz="2400" dirty="0">
              <a:latin typeface="Optima" panose="02000503060000020004" pitchFamily="2" charset="0"/>
              <a:ea typeface="Microsoft YaHei UI" panose="020B0503020204020204" pitchFamily="34" charset="-122"/>
            </a:endParaRPr>
          </a:p>
        </p:txBody>
      </p:sp>
      <p:sp>
        <p:nvSpPr>
          <p:cNvPr id="8" name="日期占位符 7">
            <a:extLst>
              <a:ext uri="{FF2B5EF4-FFF2-40B4-BE49-F238E27FC236}">
                <a16:creationId xmlns:a16="http://schemas.microsoft.com/office/drawing/2014/main" id="{2075D14F-066B-97CB-6C43-A142BAEBDE60}"/>
              </a:ext>
            </a:extLst>
          </p:cNvPr>
          <p:cNvSpPr>
            <a:spLocks noGrp="1"/>
          </p:cNvSpPr>
          <p:nvPr>
            <p:ph type="dt" sz="half" idx="10"/>
          </p:nvPr>
        </p:nvSpPr>
        <p:spPr/>
        <p:txBody>
          <a:bodyPr/>
          <a:lstStyle/>
          <a:p>
            <a:r>
              <a:rPr kumimoji="1" lang="en-US" altLang="zh-CN"/>
              <a:t>February 1, 2026</a:t>
            </a:r>
            <a:endParaRPr kumimoji="1" lang="zh-CN" altLang="en-US"/>
          </a:p>
        </p:txBody>
      </p:sp>
      <p:sp>
        <p:nvSpPr>
          <p:cNvPr id="9" name="灯片编号占位符 8">
            <a:extLst>
              <a:ext uri="{FF2B5EF4-FFF2-40B4-BE49-F238E27FC236}">
                <a16:creationId xmlns:a16="http://schemas.microsoft.com/office/drawing/2014/main" id="{F5951F41-17D0-38DF-C038-AB74713A5FEF}"/>
              </a:ext>
            </a:extLst>
          </p:cNvPr>
          <p:cNvSpPr>
            <a:spLocks noGrp="1"/>
          </p:cNvSpPr>
          <p:nvPr>
            <p:ph type="sldNum" sz="quarter" idx="12"/>
          </p:nvPr>
        </p:nvSpPr>
        <p:spPr/>
        <p:txBody>
          <a:bodyPr/>
          <a:lstStyle/>
          <a:p>
            <a:fld id="{316D01FC-19EB-7E40-9630-B05DD31B9AAA}" type="slidenum">
              <a:rPr kumimoji="1" lang="zh-CN" altLang="en-US" smtClean="0"/>
              <a:t>9</a:t>
            </a:fld>
            <a:endParaRPr kumimoji="1" lang="zh-CN" altLang="en-US"/>
          </a:p>
        </p:txBody>
      </p:sp>
    </p:spTree>
    <p:extLst>
      <p:ext uri="{BB962C8B-B14F-4D97-AF65-F5344CB8AC3E}">
        <p14:creationId xmlns:p14="http://schemas.microsoft.com/office/powerpoint/2010/main" val="1229062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DEFC60E-9B5B-94A3-2BD2-4CAA18B7BA8F}"/>
              </a:ext>
            </a:extLst>
          </p:cNvPr>
          <p:cNvPicPr>
            <a:picLocks noChangeAspect="1"/>
          </p:cNvPicPr>
          <p:nvPr/>
        </p:nvPicPr>
        <p:blipFill>
          <a:blip r:embed="rId3"/>
          <a:stretch>
            <a:fillRect/>
          </a:stretch>
        </p:blipFill>
        <p:spPr>
          <a:xfrm>
            <a:off x="2239156" y="2834054"/>
            <a:ext cx="7713687" cy="2906407"/>
          </a:xfrm>
          <a:prstGeom prst="rect">
            <a:avLst/>
          </a:prstGeom>
        </p:spPr>
      </p:pic>
      <p:sp>
        <p:nvSpPr>
          <p:cNvPr id="8" name="Title 1">
            <a:extLst>
              <a:ext uri="{FF2B5EF4-FFF2-40B4-BE49-F238E27FC236}">
                <a16:creationId xmlns:a16="http://schemas.microsoft.com/office/drawing/2014/main" id="{9B6B750B-A39E-2427-A54C-AEAC2F8BE499}"/>
              </a:ext>
            </a:extLst>
          </p:cNvPr>
          <p:cNvSpPr>
            <a:spLocks noGrp="1"/>
          </p:cNvSpPr>
          <p:nvPr>
            <p:ph type="title"/>
          </p:nvPr>
        </p:nvSpPr>
        <p:spPr>
          <a:xfrm>
            <a:off x="838200" y="365125"/>
            <a:ext cx="10515600" cy="1325563"/>
          </a:xfrm>
        </p:spPr>
        <p:txBody>
          <a:bodyPr/>
          <a:lstStyle/>
          <a:p>
            <a:r>
              <a:rPr lang="en-US" dirty="0" err="1">
                <a:latin typeface="Optima" panose="02000503060000020004" pitchFamily="2" charset="0"/>
              </a:rPr>
              <a:t>sBerti</a:t>
            </a:r>
            <a:r>
              <a:rPr lang="en-US" dirty="0">
                <a:latin typeface="Optima" panose="02000503060000020004" pitchFamily="2" charset="0"/>
              </a:rPr>
              <a:t> Coverage </a:t>
            </a:r>
            <a:r>
              <a:rPr lang="en-US" altLang="zh-CN" dirty="0">
                <a:latin typeface="Optima" panose="02000503060000020004" pitchFamily="2" charset="0"/>
              </a:rPr>
              <a:t>in </a:t>
            </a:r>
            <a:r>
              <a:rPr lang="en-US" altLang="zh-CN" dirty="0" err="1">
                <a:latin typeface="Optima" panose="02000503060000020004" pitchFamily="2" charset="0"/>
              </a:rPr>
              <a:t>FullBW</a:t>
            </a:r>
            <a:endParaRPr lang="en-US" dirty="0">
              <a:latin typeface="Optima" panose="02000503060000020004" pitchFamily="2" charset="0"/>
            </a:endParaRPr>
          </a:p>
        </p:txBody>
      </p:sp>
      <p:sp>
        <p:nvSpPr>
          <p:cNvPr id="9" name="Content Placeholder 2">
            <a:extLst>
              <a:ext uri="{FF2B5EF4-FFF2-40B4-BE49-F238E27FC236}">
                <a16:creationId xmlns:a16="http://schemas.microsoft.com/office/drawing/2014/main" id="{E8618509-033F-072F-6D14-BFE47E61DCA4}"/>
              </a:ext>
            </a:extLst>
          </p:cNvPr>
          <p:cNvSpPr txBox="1">
            <a:spLocks/>
          </p:cNvSpPr>
          <p:nvPr/>
        </p:nvSpPr>
        <p:spPr>
          <a:xfrm>
            <a:off x="838200" y="1508491"/>
            <a:ext cx="10515600" cy="15522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ja-JP" sz="2400" dirty="0">
                <a:effectLst/>
                <a:latin typeface="Optima" panose="02000503060000020004" pitchFamily="2" charset="0"/>
                <a:ea typeface="Microsoft YaHei UI" panose="020B0503020204020204" pitchFamily="34" charset="-122"/>
              </a:rPr>
              <a:t>Slight</a:t>
            </a:r>
            <a:r>
              <a:rPr lang="zh-CN" altLang="en-US" sz="2400" dirty="0">
                <a:effectLst/>
                <a:latin typeface="Optima" panose="02000503060000020004" pitchFamily="2" charset="0"/>
                <a:ea typeface="Microsoft YaHei UI" panose="020B0503020204020204" pitchFamily="34" charset="-122"/>
              </a:rPr>
              <a:t> </a:t>
            </a:r>
            <a:r>
              <a:rPr lang="en-US" altLang="ja-JP" sz="2400" dirty="0">
                <a:effectLst/>
                <a:latin typeface="Optima" panose="02000503060000020004" pitchFamily="2" charset="0"/>
                <a:ea typeface="Microsoft YaHei UI" panose="020B0503020204020204" pitchFamily="34" charset="-122"/>
              </a:rPr>
              <a:t>L1D coverage increase for AI-ML and SPEC17 workloads</a:t>
            </a:r>
            <a:endParaRPr lang="ja-JP" altLang="en-US" sz="2400">
              <a:effectLst/>
              <a:latin typeface="Optima" panose="02000503060000020004" pitchFamily="2" charset="0"/>
              <a:ea typeface="Microsoft YaHei UI" panose="020B0503020204020204" pitchFamily="34" charset="-122"/>
            </a:endParaRPr>
          </a:p>
        </p:txBody>
      </p:sp>
      <p:sp>
        <p:nvSpPr>
          <p:cNvPr id="10" name="日期占位符 9">
            <a:extLst>
              <a:ext uri="{FF2B5EF4-FFF2-40B4-BE49-F238E27FC236}">
                <a16:creationId xmlns:a16="http://schemas.microsoft.com/office/drawing/2014/main" id="{506AD71E-0030-A7A8-5A5C-643EDB071463}"/>
              </a:ext>
            </a:extLst>
          </p:cNvPr>
          <p:cNvSpPr>
            <a:spLocks noGrp="1"/>
          </p:cNvSpPr>
          <p:nvPr>
            <p:ph type="dt" sz="half" idx="10"/>
          </p:nvPr>
        </p:nvSpPr>
        <p:spPr/>
        <p:txBody>
          <a:bodyPr/>
          <a:lstStyle/>
          <a:p>
            <a:r>
              <a:rPr kumimoji="1" lang="en-US" altLang="zh-CN"/>
              <a:t>February 1, 2026</a:t>
            </a:r>
            <a:endParaRPr kumimoji="1" lang="zh-CN" altLang="en-US"/>
          </a:p>
        </p:txBody>
      </p:sp>
      <p:sp>
        <p:nvSpPr>
          <p:cNvPr id="11" name="灯片编号占位符 10">
            <a:extLst>
              <a:ext uri="{FF2B5EF4-FFF2-40B4-BE49-F238E27FC236}">
                <a16:creationId xmlns:a16="http://schemas.microsoft.com/office/drawing/2014/main" id="{396398BF-246A-9E77-8740-73D31A8621C2}"/>
              </a:ext>
            </a:extLst>
          </p:cNvPr>
          <p:cNvSpPr>
            <a:spLocks noGrp="1"/>
          </p:cNvSpPr>
          <p:nvPr>
            <p:ph type="sldNum" sz="quarter" idx="12"/>
          </p:nvPr>
        </p:nvSpPr>
        <p:spPr/>
        <p:txBody>
          <a:bodyPr/>
          <a:lstStyle/>
          <a:p>
            <a:fld id="{316D01FC-19EB-7E40-9630-B05DD31B9AAA}" type="slidenum">
              <a:rPr kumimoji="1" lang="zh-CN" altLang="en-US" smtClean="0"/>
              <a:t>10</a:t>
            </a:fld>
            <a:endParaRPr kumimoji="1" lang="zh-CN" altLang="en-US"/>
          </a:p>
        </p:txBody>
      </p:sp>
    </p:spTree>
    <p:extLst>
      <p:ext uri="{BB962C8B-B14F-4D97-AF65-F5344CB8AC3E}">
        <p14:creationId xmlns:p14="http://schemas.microsoft.com/office/powerpoint/2010/main" val="2410832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2C37D-676C-50A3-D8DC-AA843E6637F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BD7541D-962F-2DBC-570D-7A6FBB5011C7}"/>
              </a:ext>
            </a:extLst>
          </p:cNvPr>
          <p:cNvSpPr>
            <a:spLocks noGrp="1"/>
          </p:cNvSpPr>
          <p:nvPr>
            <p:ph type="title"/>
          </p:nvPr>
        </p:nvSpPr>
        <p:spPr>
          <a:xfrm>
            <a:off x="838200" y="365125"/>
            <a:ext cx="10515600" cy="1325563"/>
          </a:xfrm>
        </p:spPr>
        <p:txBody>
          <a:bodyPr/>
          <a:lstStyle/>
          <a:p>
            <a:r>
              <a:rPr lang="en-US" dirty="0" err="1">
                <a:latin typeface="Optima" panose="02000503060000020004" pitchFamily="2" charset="0"/>
              </a:rPr>
              <a:t>sBerti</a:t>
            </a:r>
            <a:r>
              <a:rPr lang="en-US" dirty="0">
                <a:latin typeface="Optima" panose="02000503060000020004" pitchFamily="2" charset="0"/>
              </a:rPr>
              <a:t> Accuracy in </a:t>
            </a:r>
            <a:r>
              <a:rPr lang="en-US" dirty="0" err="1">
                <a:latin typeface="Optima" panose="02000503060000020004" pitchFamily="2" charset="0"/>
              </a:rPr>
              <a:t>FullBW</a:t>
            </a:r>
            <a:endParaRPr lang="en-US" dirty="0">
              <a:latin typeface="Optima" panose="02000503060000020004" pitchFamily="2" charset="0"/>
            </a:endParaRPr>
          </a:p>
        </p:txBody>
      </p:sp>
      <p:sp>
        <p:nvSpPr>
          <p:cNvPr id="9" name="Content Placeholder 2">
            <a:extLst>
              <a:ext uri="{FF2B5EF4-FFF2-40B4-BE49-F238E27FC236}">
                <a16:creationId xmlns:a16="http://schemas.microsoft.com/office/drawing/2014/main" id="{FC5ED93F-77C6-DC74-248A-6706DCE6866C}"/>
              </a:ext>
            </a:extLst>
          </p:cNvPr>
          <p:cNvSpPr txBox="1">
            <a:spLocks/>
          </p:cNvSpPr>
          <p:nvPr/>
        </p:nvSpPr>
        <p:spPr>
          <a:xfrm>
            <a:off x="838200" y="1508491"/>
            <a:ext cx="10515600" cy="15522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ja-JP" sz="2400" dirty="0">
                <a:effectLst/>
                <a:latin typeface="Optima" panose="02000503060000020004" pitchFamily="2" charset="0"/>
                <a:ea typeface="Microsoft YaHei UI" panose="020B0503020204020204" pitchFamily="34" charset="-122"/>
              </a:rPr>
              <a:t>Accuracy </a:t>
            </a:r>
            <a:r>
              <a:rPr lang="en-US" altLang="ja-JP" sz="2400" dirty="0">
                <a:latin typeface="Optima" panose="02000503060000020004" pitchFamily="2" charset="0"/>
                <a:ea typeface="Microsoft YaHei UI" panose="020B0503020204020204" pitchFamily="34" charset="-122"/>
              </a:rPr>
              <a:t>drop across all categories</a:t>
            </a:r>
            <a:endParaRPr lang="ja-JP" altLang="en-US" sz="2400">
              <a:effectLst/>
              <a:latin typeface="Optima" panose="02000503060000020004" pitchFamily="2" charset="0"/>
              <a:ea typeface="Microsoft YaHei UI" panose="020B0503020204020204" pitchFamily="34" charset="-122"/>
            </a:endParaRPr>
          </a:p>
        </p:txBody>
      </p:sp>
      <p:sp>
        <p:nvSpPr>
          <p:cNvPr id="10" name="日期占位符 9">
            <a:extLst>
              <a:ext uri="{FF2B5EF4-FFF2-40B4-BE49-F238E27FC236}">
                <a16:creationId xmlns:a16="http://schemas.microsoft.com/office/drawing/2014/main" id="{A3AAF5D0-B4B8-AFCF-E90E-3A4F57689965}"/>
              </a:ext>
            </a:extLst>
          </p:cNvPr>
          <p:cNvSpPr>
            <a:spLocks noGrp="1"/>
          </p:cNvSpPr>
          <p:nvPr>
            <p:ph type="dt" sz="half" idx="10"/>
          </p:nvPr>
        </p:nvSpPr>
        <p:spPr/>
        <p:txBody>
          <a:bodyPr/>
          <a:lstStyle/>
          <a:p>
            <a:r>
              <a:rPr kumimoji="1" lang="en-US" altLang="zh-CN"/>
              <a:t>February 1, 2026</a:t>
            </a:r>
            <a:endParaRPr kumimoji="1" lang="zh-CN" altLang="en-US"/>
          </a:p>
        </p:txBody>
      </p:sp>
      <p:sp>
        <p:nvSpPr>
          <p:cNvPr id="11" name="灯片编号占位符 10">
            <a:extLst>
              <a:ext uri="{FF2B5EF4-FFF2-40B4-BE49-F238E27FC236}">
                <a16:creationId xmlns:a16="http://schemas.microsoft.com/office/drawing/2014/main" id="{4F5CF2BC-B70E-D3F9-53CB-C4A5784D81EF}"/>
              </a:ext>
            </a:extLst>
          </p:cNvPr>
          <p:cNvSpPr>
            <a:spLocks noGrp="1"/>
          </p:cNvSpPr>
          <p:nvPr>
            <p:ph type="sldNum" sz="quarter" idx="12"/>
          </p:nvPr>
        </p:nvSpPr>
        <p:spPr/>
        <p:txBody>
          <a:bodyPr/>
          <a:lstStyle/>
          <a:p>
            <a:fld id="{316D01FC-19EB-7E40-9630-B05DD31B9AAA}" type="slidenum">
              <a:rPr kumimoji="1" lang="zh-CN" altLang="en-US" smtClean="0"/>
              <a:t>11</a:t>
            </a:fld>
            <a:endParaRPr kumimoji="1" lang="zh-CN" altLang="en-US"/>
          </a:p>
        </p:txBody>
      </p:sp>
      <p:pic>
        <p:nvPicPr>
          <p:cNvPr id="3" name="图片 2">
            <a:extLst>
              <a:ext uri="{FF2B5EF4-FFF2-40B4-BE49-F238E27FC236}">
                <a16:creationId xmlns:a16="http://schemas.microsoft.com/office/drawing/2014/main" id="{2B00A194-E5C2-897B-DE3F-8C946471EE4D}"/>
              </a:ext>
            </a:extLst>
          </p:cNvPr>
          <p:cNvPicPr>
            <a:picLocks noChangeAspect="1"/>
          </p:cNvPicPr>
          <p:nvPr/>
        </p:nvPicPr>
        <p:blipFill>
          <a:blip r:embed="rId3"/>
          <a:stretch>
            <a:fillRect/>
          </a:stretch>
        </p:blipFill>
        <p:spPr>
          <a:xfrm>
            <a:off x="2268726" y="2834054"/>
            <a:ext cx="7654547" cy="3198507"/>
          </a:xfrm>
          <a:prstGeom prst="rect">
            <a:avLst/>
          </a:prstGeom>
        </p:spPr>
      </p:pic>
    </p:spTree>
    <p:extLst>
      <p:ext uri="{BB962C8B-B14F-4D97-AF65-F5344CB8AC3E}">
        <p14:creationId xmlns:p14="http://schemas.microsoft.com/office/powerpoint/2010/main" val="13775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8385576-4990-37A6-75B5-91764649E8F1}"/>
              </a:ext>
            </a:extLst>
          </p:cNvPr>
          <p:cNvPicPr>
            <a:picLocks noChangeAspect="1"/>
          </p:cNvPicPr>
          <p:nvPr/>
        </p:nvPicPr>
        <p:blipFill>
          <a:blip r:embed="rId3"/>
          <a:stretch>
            <a:fillRect/>
          </a:stretch>
        </p:blipFill>
        <p:spPr>
          <a:xfrm>
            <a:off x="2362200" y="2432050"/>
            <a:ext cx="7467600" cy="3924300"/>
          </a:xfrm>
          <a:prstGeom prst="rect">
            <a:avLst/>
          </a:prstGeom>
        </p:spPr>
      </p:pic>
      <p:sp>
        <p:nvSpPr>
          <p:cNvPr id="5" name="Title 1">
            <a:extLst>
              <a:ext uri="{FF2B5EF4-FFF2-40B4-BE49-F238E27FC236}">
                <a16:creationId xmlns:a16="http://schemas.microsoft.com/office/drawing/2014/main" id="{10DD572F-A992-D74B-71E4-0C3A9406EF97}"/>
              </a:ext>
            </a:extLst>
          </p:cNvPr>
          <p:cNvSpPr>
            <a:spLocks noGrp="1"/>
          </p:cNvSpPr>
          <p:nvPr>
            <p:ph type="title"/>
          </p:nvPr>
        </p:nvSpPr>
        <p:spPr>
          <a:xfrm>
            <a:off x="838200" y="365125"/>
            <a:ext cx="10515600" cy="1325563"/>
          </a:xfrm>
        </p:spPr>
        <p:txBody>
          <a:bodyPr/>
          <a:lstStyle/>
          <a:p>
            <a:r>
              <a:rPr lang="en-US" dirty="0" err="1">
                <a:latin typeface="Optima" panose="02000503060000020004" pitchFamily="2" charset="0"/>
              </a:rPr>
              <a:t>sBerti</a:t>
            </a:r>
            <a:r>
              <a:rPr lang="en-US" dirty="0">
                <a:latin typeface="Optima" panose="02000503060000020004" pitchFamily="2" charset="0"/>
              </a:rPr>
              <a:t> Speedup over Berti</a:t>
            </a:r>
          </a:p>
        </p:txBody>
      </p:sp>
      <p:sp>
        <p:nvSpPr>
          <p:cNvPr id="6" name="日期占位符 5">
            <a:extLst>
              <a:ext uri="{FF2B5EF4-FFF2-40B4-BE49-F238E27FC236}">
                <a16:creationId xmlns:a16="http://schemas.microsoft.com/office/drawing/2014/main" id="{3D78EEC1-6FEE-A480-D7EC-0EF1AF643994}"/>
              </a:ext>
            </a:extLst>
          </p:cNvPr>
          <p:cNvSpPr>
            <a:spLocks noGrp="1"/>
          </p:cNvSpPr>
          <p:nvPr>
            <p:ph type="dt" sz="half" idx="10"/>
          </p:nvPr>
        </p:nvSpPr>
        <p:spPr/>
        <p:txBody>
          <a:bodyPr/>
          <a:lstStyle/>
          <a:p>
            <a:r>
              <a:rPr kumimoji="1" lang="en-US" altLang="zh-CN"/>
              <a:t>February 1, 2026</a:t>
            </a:r>
            <a:endParaRPr kumimoji="1" lang="zh-CN" altLang="en-US"/>
          </a:p>
        </p:txBody>
      </p:sp>
      <p:sp>
        <p:nvSpPr>
          <p:cNvPr id="7" name="灯片编号占位符 6">
            <a:extLst>
              <a:ext uri="{FF2B5EF4-FFF2-40B4-BE49-F238E27FC236}">
                <a16:creationId xmlns:a16="http://schemas.microsoft.com/office/drawing/2014/main" id="{9812DE73-3F62-2C88-9600-0E01ADFE7D49}"/>
              </a:ext>
            </a:extLst>
          </p:cNvPr>
          <p:cNvSpPr>
            <a:spLocks noGrp="1"/>
          </p:cNvSpPr>
          <p:nvPr>
            <p:ph type="sldNum" sz="quarter" idx="12"/>
          </p:nvPr>
        </p:nvSpPr>
        <p:spPr/>
        <p:txBody>
          <a:bodyPr/>
          <a:lstStyle/>
          <a:p>
            <a:fld id="{316D01FC-19EB-7E40-9630-B05DD31B9AAA}" type="slidenum">
              <a:rPr kumimoji="1" lang="zh-CN" altLang="en-US" smtClean="0"/>
              <a:t>12</a:t>
            </a:fld>
            <a:endParaRPr kumimoji="1" lang="zh-CN" altLang="en-US"/>
          </a:p>
        </p:txBody>
      </p:sp>
      <p:sp>
        <p:nvSpPr>
          <p:cNvPr id="8" name="Content Placeholder 2">
            <a:extLst>
              <a:ext uri="{FF2B5EF4-FFF2-40B4-BE49-F238E27FC236}">
                <a16:creationId xmlns:a16="http://schemas.microsoft.com/office/drawing/2014/main" id="{C0DB9D1C-4CF3-415E-202A-76B0FF91307D}"/>
              </a:ext>
            </a:extLst>
          </p:cNvPr>
          <p:cNvSpPr txBox="1">
            <a:spLocks/>
          </p:cNvSpPr>
          <p:nvPr/>
        </p:nvSpPr>
        <p:spPr>
          <a:xfrm>
            <a:off x="838200" y="1508491"/>
            <a:ext cx="10515600" cy="15522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ja-JP" sz="2400" dirty="0">
                <a:effectLst/>
                <a:latin typeface="Optima" panose="02000503060000020004" pitchFamily="2" charset="0"/>
                <a:ea typeface="Microsoft YaHei UI" panose="020B0503020204020204" pitchFamily="34" charset="-122"/>
              </a:rPr>
              <a:t>IPC speedup on workloads</a:t>
            </a:r>
            <a:r>
              <a:rPr lang="zh-CN" altLang="en-US" sz="2400" dirty="0">
                <a:effectLst/>
                <a:latin typeface="Optima" panose="02000503060000020004" pitchFamily="2" charset="0"/>
                <a:ea typeface="Microsoft YaHei UI" panose="020B0503020204020204" pitchFamily="34" charset="-122"/>
              </a:rPr>
              <a:t> </a:t>
            </a:r>
            <a:r>
              <a:rPr lang="en-US" altLang="zh-CN" sz="2400" dirty="0">
                <a:latin typeface="Optima" panose="02000503060000020004" pitchFamily="2" charset="0"/>
                <a:ea typeface="Microsoft YaHei UI" panose="020B0503020204020204" pitchFamily="34" charset="-122"/>
              </a:rPr>
              <a:t>with </a:t>
            </a:r>
            <a:r>
              <a:rPr lang="en-US" altLang="ja-JP" sz="2400" dirty="0">
                <a:effectLst/>
                <a:latin typeface="Optima" panose="02000503060000020004" pitchFamily="2" charset="0"/>
                <a:ea typeface="Microsoft YaHei UI" panose="020B0503020204020204" pitchFamily="34" charset="-122"/>
              </a:rPr>
              <a:t>over 50% stream access patterns</a:t>
            </a:r>
            <a:endParaRPr lang="ja-JP" altLang="en-US" sz="2400">
              <a:effectLst/>
              <a:latin typeface="Optima" panose="02000503060000020004" pitchFamily="2" charset="0"/>
              <a:ea typeface="Microsoft YaHei UI" panose="020B0503020204020204" pitchFamily="34" charset="-122"/>
            </a:endParaRPr>
          </a:p>
        </p:txBody>
      </p:sp>
    </p:spTree>
    <p:extLst>
      <p:ext uri="{BB962C8B-B14F-4D97-AF65-F5344CB8AC3E}">
        <p14:creationId xmlns:p14="http://schemas.microsoft.com/office/powerpoint/2010/main" val="2695599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354D6BF-6B79-70D9-819A-C80F909139CD}"/>
              </a:ext>
            </a:extLst>
          </p:cNvPr>
          <p:cNvPicPr>
            <a:picLocks noChangeAspect="1"/>
          </p:cNvPicPr>
          <p:nvPr/>
        </p:nvPicPr>
        <p:blipFill>
          <a:blip r:embed="rId3"/>
          <a:stretch>
            <a:fillRect/>
          </a:stretch>
        </p:blipFill>
        <p:spPr>
          <a:xfrm>
            <a:off x="2585683" y="3517900"/>
            <a:ext cx="7020634" cy="2838450"/>
          </a:xfrm>
          <a:prstGeom prst="rect">
            <a:avLst/>
          </a:prstGeom>
        </p:spPr>
      </p:pic>
      <p:sp>
        <p:nvSpPr>
          <p:cNvPr id="6" name="Title 1">
            <a:extLst>
              <a:ext uri="{FF2B5EF4-FFF2-40B4-BE49-F238E27FC236}">
                <a16:creationId xmlns:a16="http://schemas.microsoft.com/office/drawing/2014/main" id="{383452D5-6D20-4B86-F728-5056645355CD}"/>
              </a:ext>
            </a:extLst>
          </p:cNvPr>
          <p:cNvSpPr>
            <a:spLocks noGrp="1"/>
          </p:cNvSpPr>
          <p:nvPr>
            <p:ph type="title"/>
          </p:nvPr>
        </p:nvSpPr>
        <p:spPr>
          <a:xfrm>
            <a:off x="838200" y="365125"/>
            <a:ext cx="10515600" cy="1325563"/>
          </a:xfrm>
        </p:spPr>
        <p:txBody>
          <a:bodyPr/>
          <a:lstStyle/>
          <a:p>
            <a:r>
              <a:rPr lang="en-US" altLang="zh-CN" dirty="0">
                <a:latin typeface="Optima" panose="02000503060000020004" pitchFamily="2" charset="0"/>
              </a:rPr>
              <a:t>Speedup over baseline</a:t>
            </a:r>
            <a:r>
              <a:rPr lang="zh-CN" altLang="en-US" dirty="0">
                <a:latin typeface="Optima" panose="02000503060000020004" pitchFamily="2" charset="0"/>
              </a:rPr>
              <a:t> </a:t>
            </a:r>
            <a:r>
              <a:rPr lang="en-US" altLang="zh-CN" dirty="0">
                <a:latin typeface="Optima" panose="02000503060000020004" pitchFamily="2" charset="0"/>
              </a:rPr>
              <a:t>(Berti + Pythia)</a:t>
            </a:r>
            <a:endParaRPr lang="en-US" dirty="0">
              <a:latin typeface="Optima" panose="02000503060000020004" pitchFamily="2" charset="0"/>
            </a:endParaRPr>
          </a:p>
        </p:txBody>
      </p:sp>
      <p:sp>
        <p:nvSpPr>
          <p:cNvPr id="7" name="日期占位符 6">
            <a:extLst>
              <a:ext uri="{FF2B5EF4-FFF2-40B4-BE49-F238E27FC236}">
                <a16:creationId xmlns:a16="http://schemas.microsoft.com/office/drawing/2014/main" id="{C33EC107-696C-2B1E-56CD-95FD47BEBC4B}"/>
              </a:ext>
            </a:extLst>
          </p:cNvPr>
          <p:cNvSpPr>
            <a:spLocks noGrp="1"/>
          </p:cNvSpPr>
          <p:nvPr>
            <p:ph type="dt" sz="half" idx="10"/>
          </p:nvPr>
        </p:nvSpPr>
        <p:spPr/>
        <p:txBody>
          <a:bodyPr/>
          <a:lstStyle/>
          <a:p>
            <a:r>
              <a:rPr kumimoji="1" lang="en-US" altLang="zh-CN"/>
              <a:t>February 1, 2026</a:t>
            </a:r>
            <a:endParaRPr kumimoji="1" lang="zh-CN" altLang="en-US"/>
          </a:p>
        </p:txBody>
      </p:sp>
      <p:sp>
        <p:nvSpPr>
          <p:cNvPr id="8" name="灯片编号占位符 7">
            <a:extLst>
              <a:ext uri="{FF2B5EF4-FFF2-40B4-BE49-F238E27FC236}">
                <a16:creationId xmlns:a16="http://schemas.microsoft.com/office/drawing/2014/main" id="{7434D304-49B6-6909-6512-1FA26D2CE211}"/>
              </a:ext>
            </a:extLst>
          </p:cNvPr>
          <p:cNvSpPr>
            <a:spLocks noGrp="1"/>
          </p:cNvSpPr>
          <p:nvPr>
            <p:ph type="sldNum" sz="quarter" idx="12"/>
          </p:nvPr>
        </p:nvSpPr>
        <p:spPr/>
        <p:txBody>
          <a:bodyPr/>
          <a:lstStyle/>
          <a:p>
            <a:fld id="{316D01FC-19EB-7E40-9630-B05DD31B9AAA}" type="slidenum">
              <a:rPr kumimoji="1" lang="zh-CN" altLang="en-US" smtClean="0"/>
              <a:t>13</a:t>
            </a:fld>
            <a:endParaRPr kumimoji="1" lang="zh-CN" altLang="en-US"/>
          </a:p>
        </p:txBody>
      </p:sp>
      <p:sp>
        <p:nvSpPr>
          <p:cNvPr id="9" name="Content Placeholder 2">
            <a:extLst>
              <a:ext uri="{FF2B5EF4-FFF2-40B4-BE49-F238E27FC236}">
                <a16:creationId xmlns:a16="http://schemas.microsoft.com/office/drawing/2014/main" id="{97004802-F165-9F32-0D99-0C6E5175C796}"/>
              </a:ext>
            </a:extLst>
          </p:cNvPr>
          <p:cNvSpPr txBox="1">
            <a:spLocks/>
          </p:cNvSpPr>
          <p:nvPr/>
        </p:nvSpPr>
        <p:spPr>
          <a:xfrm>
            <a:off x="838200" y="1508490"/>
            <a:ext cx="10515600" cy="192050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altLang="ja-JP" sz="2400" dirty="0">
                <a:effectLst/>
                <a:latin typeface="Optima" panose="02000503060000020004" pitchFamily="2" charset="0"/>
                <a:ea typeface="Microsoft YaHei UI" panose="020B0503020204020204" pitchFamily="34" charset="-122"/>
              </a:rPr>
              <a:t>Our</a:t>
            </a:r>
            <a:r>
              <a:rPr lang="zh-CN" altLang="en-US" sz="2400" dirty="0">
                <a:effectLst/>
                <a:latin typeface="Optima" panose="02000503060000020004" pitchFamily="2" charset="0"/>
                <a:ea typeface="Microsoft YaHei UI" panose="020B0503020204020204" pitchFamily="34" charset="-122"/>
              </a:rPr>
              <a:t> </a:t>
            </a:r>
            <a:r>
              <a:rPr lang="en-US" altLang="zh-CN" sz="2400" dirty="0">
                <a:effectLst/>
                <a:latin typeface="Optima" panose="02000503060000020004" pitchFamily="2" charset="0"/>
                <a:ea typeface="Microsoft YaHei UI" panose="020B0503020204020204" pitchFamily="34" charset="-122"/>
              </a:rPr>
              <a:t>solution: L1 </a:t>
            </a:r>
            <a:r>
              <a:rPr lang="en-US" altLang="zh-CN" sz="2400" dirty="0" err="1">
                <a:effectLst/>
                <a:latin typeface="Optima" panose="02000503060000020004" pitchFamily="2" charset="0"/>
                <a:ea typeface="Microsoft YaHei UI" panose="020B0503020204020204" pitchFamily="34" charset="-122"/>
              </a:rPr>
              <a:t>sBerti</a:t>
            </a:r>
            <a:r>
              <a:rPr lang="en-US" altLang="zh-CN" sz="2400" dirty="0">
                <a:effectLst/>
                <a:latin typeface="Optima" panose="02000503060000020004" pitchFamily="2" charset="0"/>
                <a:ea typeface="Microsoft YaHei UI" panose="020B0503020204020204" pitchFamily="34" charset="-122"/>
              </a:rPr>
              <a:t> + L2 Pythia</a:t>
            </a:r>
            <a:endParaRPr lang="en-US" altLang="ja-JP" sz="2400" dirty="0">
              <a:effectLst/>
              <a:latin typeface="Optima" panose="02000503060000020004" pitchFamily="2" charset="0"/>
              <a:ea typeface="Microsoft YaHei UI" panose="020B0503020204020204" pitchFamily="34" charset="-122"/>
            </a:endParaRPr>
          </a:p>
          <a:p>
            <a:pPr>
              <a:lnSpc>
                <a:spcPct val="110000"/>
              </a:lnSpc>
            </a:pPr>
            <a:r>
              <a:rPr lang="en-US" altLang="zh-CN" sz="2400" dirty="0">
                <a:latin typeface="Optima" panose="02000503060000020004" pitchFamily="2" charset="0"/>
                <a:ea typeface="Microsoft YaHei UI" panose="020B0503020204020204" pitchFamily="34" charset="-122"/>
              </a:rPr>
              <a:t>Slight</a:t>
            </a:r>
            <a:r>
              <a:rPr lang="zh-CN" altLang="en-US" sz="2400" dirty="0">
                <a:latin typeface="Optima" panose="02000503060000020004" pitchFamily="2" charset="0"/>
                <a:ea typeface="Microsoft YaHei UI" panose="020B0503020204020204" pitchFamily="34" charset="-122"/>
              </a:rPr>
              <a:t> </a:t>
            </a:r>
            <a:r>
              <a:rPr lang="en-US" altLang="zh-CN" sz="2400" dirty="0">
                <a:latin typeface="Optima" panose="02000503060000020004" pitchFamily="2" charset="0"/>
                <a:ea typeface="Microsoft YaHei UI" panose="020B0503020204020204" pitchFamily="34" charset="-122"/>
              </a:rPr>
              <a:t>performance</a:t>
            </a:r>
            <a:r>
              <a:rPr lang="zh-CN" altLang="en-US" sz="2400" dirty="0">
                <a:latin typeface="Optima" panose="02000503060000020004" pitchFamily="2" charset="0"/>
                <a:ea typeface="Microsoft YaHei UI" panose="020B0503020204020204" pitchFamily="34" charset="-122"/>
              </a:rPr>
              <a:t> </a:t>
            </a:r>
            <a:r>
              <a:rPr lang="en-US" altLang="zh-CN" sz="2400" dirty="0">
                <a:latin typeface="Optima" panose="02000503060000020004" pitchFamily="2" charset="0"/>
                <a:ea typeface="Microsoft YaHei UI" panose="020B0503020204020204" pitchFamily="34" charset="-122"/>
              </a:rPr>
              <a:t>gains</a:t>
            </a:r>
            <a:r>
              <a:rPr lang="zh-CN" altLang="en-US" sz="2400" dirty="0">
                <a:latin typeface="Optima" panose="02000503060000020004" pitchFamily="2" charset="0"/>
                <a:ea typeface="Microsoft YaHei UI" panose="020B0503020204020204" pitchFamily="34" charset="-122"/>
              </a:rPr>
              <a:t> </a:t>
            </a:r>
            <a:r>
              <a:rPr lang="en-US" altLang="zh-CN" sz="2400" dirty="0">
                <a:latin typeface="Optima" panose="02000503060000020004" pitchFamily="2" charset="0"/>
                <a:ea typeface="Microsoft YaHei UI" panose="020B0503020204020204" pitchFamily="34" charset="-122"/>
              </a:rPr>
              <a:t>on AI-ML(7%) and SPEC17(2%) workloads under </a:t>
            </a:r>
            <a:r>
              <a:rPr lang="en-US" altLang="zh-CN" sz="2400" dirty="0" err="1">
                <a:latin typeface="Optima" panose="02000503060000020004" pitchFamily="2" charset="0"/>
                <a:ea typeface="Microsoft YaHei UI" panose="020B0503020204020204" pitchFamily="34" charset="-122"/>
              </a:rPr>
              <a:t>FullBW</a:t>
            </a:r>
            <a:r>
              <a:rPr lang="en-US" altLang="zh-CN" sz="2400" dirty="0">
                <a:latin typeface="Optima" panose="02000503060000020004" pitchFamily="2" charset="0"/>
                <a:ea typeface="Microsoft YaHei UI" panose="020B0503020204020204" pitchFamily="34" charset="-122"/>
              </a:rPr>
              <a:t> configuration</a:t>
            </a:r>
          </a:p>
          <a:p>
            <a:pPr>
              <a:lnSpc>
                <a:spcPct val="110000"/>
              </a:lnSpc>
            </a:pPr>
            <a:r>
              <a:rPr lang="en-US" altLang="ja-JP" sz="2400" dirty="0">
                <a:effectLst/>
                <a:latin typeface="Optima" panose="02000503060000020004" pitchFamily="2" charset="0"/>
                <a:ea typeface="Microsoft YaHei UI" panose="020B0503020204020204" pitchFamily="34" charset="-122"/>
              </a:rPr>
              <a:t>Remain identical</a:t>
            </a:r>
            <a:r>
              <a:rPr lang="en-US" altLang="ja-JP" sz="2400" dirty="0">
                <a:latin typeface="Optima" panose="02000503060000020004" pitchFamily="2" charset="0"/>
                <a:ea typeface="Microsoft YaHei UI" panose="020B0503020204020204" pitchFamily="34" charset="-122"/>
              </a:rPr>
              <a:t> performance </a:t>
            </a:r>
            <a:r>
              <a:rPr lang="en-US" altLang="zh-CN" sz="2400" dirty="0">
                <a:effectLst/>
                <a:latin typeface="Optima" panose="02000503060000020004" pitchFamily="2" charset="0"/>
                <a:ea typeface="Microsoft YaHei UI" panose="020B0503020204020204" pitchFamily="34" charset="-122"/>
              </a:rPr>
              <a:t>under</a:t>
            </a:r>
            <a:r>
              <a:rPr lang="zh-CN" altLang="en-US" sz="2400" dirty="0">
                <a:effectLst/>
                <a:latin typeface="Optima" panose="02000503060000020004" pitchFamily="2" charset="0"/>
                <a:ea typeface="Microsoft YaHei UI" panose="020B0503020204020204" pitchFamily="34" charset="-122"/>
              </a:rPr>
              <a:t> </a:t>
            </a:r>
            <a:r>
              <a:rPr lang="en-US" altLang="zh-CN" sz="2400" dirty="0" err="1">
                <a:effectLst/>
                <a:latin typeface="Optima" panose="02000503060000020004" pitchFamily="2" charset="0"/>
                <a:ea typeface="Microsoft YaHei UI" panose="020B0503020204020204" pitchFamily="34" charset="-122"/>
              </a:rPr>
              <a:t>LimitBW</a:t>
            </a:r>
            <a:r>
              <a:rPr lang="zh-CN" altLang="en-US" sz="2400" dirty="0">
                <a:effectLst/>
                <a:latin typeface="Optima" panose="02000503060000020004" pitchFamily="2" charset="0"/>
                <a:ea typeface="Microsoft YaHei UI" panose="020B0503020204020204" pitchFamily="34" charset="-122"/>
              </a:rPr>
              <a:t> </a:t>
            </a:r>
            <a:r>
              <a:rPr lang="en-US" altLang="zh-CN" sz="2400" dirty="0">
                <a:latin typeface="Optima" panose="02000503060000020004" pitchFamily="2" charset="0"/>
                <a:ea typeface="Microsoft YaHei UI" panose="020B0503020204020204" pitchFamily="34" charset="-122"/>
              </a:rPr>
              <a:t>configuration</a:t>
            </a:r>
            <a:endParaRPr lang="ja-JP" altLang="en-US" sz="2400">
              <a:effectLst/>
              <a:latin typeface="Optima" panose="02000503060000020004" pitchFamily="2" charset="0"/>
              <a:ea typeface="Microsoft YaHei UI" panose="020B0503020204020204" pitchFamily="34" charset="-122"/>
            </a:endParaRPr>
          </a:p>
        </p:txBody>
      </p:sp>
    </p:spTree>
    <p:extLst>
      <p:ext uri="{BB962C8B-B14F-4D97-AF65-F5344CB8AC3E}">
        <p14:creationId xmlns:p14="http://schemas.microsoft.com/office/powerpoint/2010/main" val="4186802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EC892-2E1C-4D63-E318-51EB1C4FE2A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5260425-B6F8-BA60-C418-C19232E34761}"/>
              </a:ext>
            </a:extLst>
          </p:cNvPr>
          <p:cNvSpPr>
            <a:spLocks noGrp="1"/>
          </p:cNvSpPr>
          <p:nvPr>
            <p:ph type="title"/>
          </p:nvPr>
        </p:nvSpPr>
        <p:spPr>
          <a:xfrm>
            <a:off x="838200" y="365125"/>
            <a:ext cx="10515600" cy="1325563"/>
          </a:xfrm>
        </p:spPr>
        <p:txBody>
          <a:bodyPr/>
          <a:lstStyle/>
          <a:p>
            <a:r>
              <a:rPr lang="en-US" altLang="zh-CN" dirty="0">
                <a:latin typeface="Optima" panose="02000503060000020004" pitchFamily="2" charset="0"/>
              </a:rPr>
              <a:t>Conclusion</a:t>
            </a:r>
            <a:endParaRPr lang="en-US" dirty="0">
              <a:latin typeface="Optima" panose="02000503060000020004" pitchFamily="2" charset="0"/>
            </a:endParaRPr>
          </a:p>
        </p:txBody>
      </p:sp>
      <p:sp>
        <p:nvSpPr>
          <p:cNvPr id="7" name="日期占位符 6">
            <a:extLst>
              <a:ext uri="{FF2B5EF4-FFF2-40B4-BE49-F238E27FC236}">
                <a16:creationId xmlns:a16="http://schemas.microsoft.com/office/drawing/2014/main" id="{23F2E675-4683-6AA1-5E98-B03028C98E93}"/>
              </a:ext>
            </a:extLst>
          </p:cNvPr>
          <p:cNvSpPr>
            <a:spLocks noGrp="1"/>
          </p:cNvSpPr>
          <p:nvPr>
            <p:ph type="dt" sz="half" idx="10"/>
          </p:nvPr>
        </p:nvSpPr>
        <p:spPr/>
        <p:txBody>
          <a:bodyPr/>
          <a:lstStyle/>
          <a:p>
            <a:r>
              <a:rPr kumimoji="1" lang="en-US" altLang="zh-CN"/>
              <a:t>February 1, 2026</a:t>
            </a:r>
            <a:endParaRPr kumimoji="1" lang="zh-CN" altLang="en-US"/>
          </a:p>
        </p:txBody>
      </p:sp>
      <p:sp>
        <p:nvSpPr>
          <p:cNvPr id="8" name="灯片编号占位符 7">
            <a:extLst>
              <a:ext uri="{FF2B5EF4-FFF2-40B4-BE49-F238E27FC236}">
                <a16:creationId xmlns:a16="http://schemas.microsoft.com/office/drawing/2014/main" id="{3A58168B-51E3-0622-8DD7-56353B276A10}"/>
              </a:ext>
            </a:extLst>
          </p:cNvPr>
          <p:cNvSpPr>
            <a:spLocks noGrp="1"/>
          </p:cNvSpPr>
          <p:nvPr>
            <p:ph type="sldNum" sz="quarter" idx="12"/>
          </p:nvPr>
        </p:nvSpPr>
        <p:spPr/>
        <p:txBody>
          <a:bodyPr/>
          <a:lstStyle/>
          <a:p>
            <a:fld id="{316D01FC-19EB-7E40-9630-B05DD31B9AAA}" type="slidenum">
              <a:rPr kumimoji="1" lang="zh-CN" altLang="en-US" smtClean="0"/>
              <a:t>14</a:t>
            </a:fld>
            <a:endParaRPr kumimoji="1" lang="zh-CN" altLang="en-US"/>
          </a:p>
        </p:txBody>
      </p:sp>
      <p:sp>
        <p:nvSpPr>
          <p:cNvPr id="9" name="Content Placeholder 2">
            <a:extLst>
              <a:ext uri="{FF2B5EF4-FFF2-40B4-BE49-F238E27FC236}">
                <a16:creationId xmlns:a16="http://schemas.microsoft.com/office/drawing/2014/main" id="{9CB40511-135A-6E38-690B-390F76F61172}"/>
              </a:ext>
            </a:extLst>
          </p:cNvPr>
          <p:cNvSpPr txBox="1">
            <a:spLocks/>
          </p:cNvSpPr>
          <p:nvPr/>
        </p:nvSpPr>
        <p:spPr>
          <a:xfrm>
            <a:off x="838200" y="1508488"/>
            <a:ext cx="10515600" cy="456684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altLang="ja-JP" sz="2400" dirty="0" err="1">
                <a:latin typeface="Optima" panose="02000503060000020004" pitchFamily="2" charset="0"/>
                <a:ea typeface="Microsoft YaHei UI" panose="020B0503020204020204" pitchFamily="34" charset="-122"/>
              </a:rPr>
              <a:t>sBerti</a:t>
            </a:r>
            <a:r>
              <a:rPr lang="en-US" altLang="ja-JP" sz="2400" dirty="0">
                <a:latin typeface="Optima" panose="02000503060000020004" pitchFamily="2" charset="0"/>
                <a:ea typeface="Microsoft YaHei UI" panose="020B0503020204020204" pitchFamily="34" charset="-122"/>
              </a:rPr>
              <a:t> is a hybrid prefetcher of Berti and a Stride Prefetcher derived</a:t>
            </a:r>
            <a:r>
              <a:rPr lang="zh-CN" altLang="en-US" sz="2400" dirty="0">
                <a:latin typeface="Optima" panose="02000503060000020004" pitchFamily="2" charset="0"/>
                <a:ea typeface="Microsoft YaHei UI" panose="020B0503020204020204" pitchFamily="34" charset="-122"/>
              </a:rPr>
              <a:t> </a:t>
            </a:r>
            <a:r>
              <a:rPr lang="en-US" altLang="zh-CN" sz="2400" dirty="0">
                <a:latin typeface="Optima" panose="02000503060000020004" pitchFamily="2" charset="0"/>
                <a:ea typeface="Microsoft YaHei UI" panose="020B0503020204020204" pitchFamily="34" charset="-122"/>
              </a:rPr>
              <a:t>from </a:t>
            </a:r>
            <a:r>
              <a:rPr lang="en-US" altLang="ja-JP" sz="2400" dirty="0" err="1">
                <a:latin typeface="Optima" panose="02000503060000020004" pitchFamily="2" charset="0"/>
                <a:ea typeface="Microsoft YaHei UI" panose="020B0503020204020204" pitchFamily="34" charset="-122"/>
              </a:rPr>
              <a:t>XiangShan</a:t>
            </a:r>
            <a:endParaRPr lang="en-US" altLang="ja-JP" sz="2400" dirty="0">
              <a:latin typeface="Optima" panose="02000503060000020004" pitchFamily="2" charset="0"/>
              <a:ea typeface="Microsoft YaHei UI" panose="020B0503020204020204" pitchFamily="34" charset="-122"/>
            </a:endParaRPr>
          </a:p>
          <a:p>
            <a:pPr>
              <a:lnSpc>
                <a:spcPct val="110000"/>
              </a:lnSpc>
            </a:pPr>
            <a:r>
              <a:rPr lang="en-US" altLang="ja-JP" sz="2400" dirty="0" err="1">
                <a:effectLst/>
                <a:latin typeface="Optima" panose="02000503060000020004" pitchFamily="2" charset="0"/>
                <a:ea typeface="Microsoft YaHei UI" panose="020B0503020204020204" pitchFamily="34" charset="-122"/>
              </a:rPr>
              <a:t>sBerti</a:t>
            </a:r>
            <a:r>
              <a:rPr lang="en-US" altLang="ja-JP" sz="2400" dirty="0">
                <a:effectLst/>
                <a:latin typeface="Optima" panose="02000503060000020004" pitchFamily="2" charset="0"/>
                <a:ea typeface="Microsoft YaHei UI" panose="020B0503020204020204" pitchFamily="34" charset="-122"/>
              </a:rPr>
              <a:t> </a:t>
            </a:r>
            <a:r>
              <a:rPr lang="en-US" altLang="ja-JP" sz="2400" dirty="0">
                <a:latin typeface="Optima" panose="02000503060000020004" pitchFamily="2" charset="0"/>
                <a:ea typeface="Microsoft YaHei UI" panose="020B0503020204020204" pitchFamily="34" charset="-122"/>
              </a:rPr>
              <a:t>o</a:t>
            </a:r>
            <a:r>
              <a:rPr lang="en-US" altLang="ja-JP" sz="2400" dirty="0">
                <a:effectLst/>
                <a:latin typeface="Optima" panose="02000503060000020004" pitchFamily="2" charset="0"/>
                <a:ea typeface="Microsoft YaHei UI" panose="020B0503020204020204" pitchFamily="34" charset="-122"/>
              </a:rPr>
              <a:t>ptimizes</a:t>
            </a:r>
            <a:r>
              <a:rPr lang="zh-CN" altLang="en-US" sz="2400" dirty="0">
                <a:effectLst/>
                <a:latin typeface="Optima" panose="02000503060000020004" pitchFamily="2" charset="0"/>
                <a:ea typeface="Microsoft YaHei UI" panose="020B0503020204020204" pitchFamily="34" charset="-122"/>
              </a:rPr>
              <a:t> </a:t>
            </a:r>
            <a:r>
              <a:rPr lang="en-US" altLang="zh-CN" sz="2400" dirty="0">
                <a:effectLst/>
                <a:latin typeface="Optima" panose="02000503060000020004" pitchFamily="2" charset="0"/>
                <a:ea typeface="Microsoft YaHei UI" panose="020B0503020204020204" pitchFamily="34" charset="-122"/>
              </a:rPr>
              <a:t>the cross-page weakness</a:t>
            </a:r>
            <a:r>
              <a:rPr lang="zh-CN" altLang="en-US" sz="2400" dirty="0">
                <a:effectLst/>
                <a:latin typeface="Optima" panose="02000503060000020004" pitchFamily="2" charset="0"/>
                <a:ea typeface="Microsoft YaHei UI" panose="020B0503020204020204" pitchFamily="34" charset="-122"/>
              </a:rPr>
              <a:t> </a:t>
            </a:r>
            <a:r>
              <a:rPr lang="en-US" altLang="zh-CN" sz="2400" dirty="0">
                <a:effectLst/>
                <a:latin typeface="Optima" panose="02000503060000020004" pitchFamily="2" charset="0"/>
                <a:ea typeface="Microsoft YaHei UI" panose="020B0503020204020204" pitchFamily="34" charset="-122"/>
              </a:rPr>
              <a:t>of Berti in DPC3 and achieves ~7% speedup for AI-ML workloads</a:t>
            </a:r>
          </a:p>
          <a:p>
            <a:pPr>
              <a:lnSpc>
                <a:spcPct val="110000"/>
              </a:lnSpc>
            </a:pPr>
            <a:r>
              <a:rPr lang="en-US" altLang="zh-CN" sz="2400" dirty="0">
                <a:effectLst/>
                <a:latin typeface="Optima" panose="02000503060000020004" pitchFamily="2" charset="0"/>
                <a:ea typeface="Microsoft YaHei UI" panose="020B0503020204020204" pitchFamily="34" charset="-122"/>
              </a:rPr>
              <a:t>Future Work</a:t>
            </a:r>
          </a:p>
          <a:p>
            <a:pPr lvl="1">
              <a:lnSpc>
                <a:spcPct val="110000"/>
              </a:lnSpc>
            </a:pPr>
            <a:r>
              <a:rPr lang="en-US" altLang="zh-CN" sz="2000" dirty="0">
                <a:effectLst/>
                <a:latin typeface="Optima" panose="02000503060000020004" pitchFamily="2" charset="0"/>
                <a:ea typeface="Microsoft YaHei UI" panose="020B0503020204020204" pitchFamily="34" charset="-122"/>
              </a:rPr>
              <a:t>Further optimization on </a:t>
            </a:r>
            <a:r>
              <a:rPr lang="en-US" altLang="zh-CN" sz="2000" dirty="0" err="1">
                <a:effectLst/>
                <a:latin typeface="Optima" panose="02000503060000020004" pitchFamily="2" charset="0"/>
                <a:ea typeface="Microsoft YaHei UI" panose="020B0503020204020204" pitchFamily="34" charset="-122"/>
              </a:rPr>
              <a:t>sBerti</a:t>
            </a:r>
            <a:r>
              <a:rPr lang="en-US" altLang="zh-CN" sz="2000" dirty="0">
                <a:effectLst/>
                <a:latin typeface="Optima" panose="02000503060000020004" pitchFamily="2" charset="0"/>
                <a:ea typeface="Microsoft YaHei UI" panose="020B0503020204020204" pitchFamily="34" charset="-122"/>
              </a:rPr>
              <a:t> for prefetch accuracy</a:t>
            </a:r>
          </a:p>
          <a:p>
            <a:pPr lvl="1">
              <a:lnSpc>
                <a:spcPct val="110000"/>
              </a:lnSpc>
            </a:pPr>
            <a:r>
              <a:rPr lang="en-US" altLang="zh-CN" sz="2000" dirty="0">
                <a:effectLst/>
                <a:latin typeface="Optima" panose="02000503060000020004" pitchFamily="2" charset="0"/>
                <a:ea typeface="Microsoft YaHei UI" panose="020B0503020204020204" pitchFamily="34" charset="-122"/>
              </a:rPr>
              <a:t>Investigating </a:t>
            </a:r>
            <a:r>
              <a:rPr lang="en-US" altLang="zh-CN" sz="2000" dirty="0" err="1">
                <a:effectLst/>
                <a:latin typeface="Optima" panose="02000503060000020004" pitchFamily="2" charset="0"/>
                <a:ea typeface="Microsoft YaHei UI" panose="020B0503020204020204" pitchFamily="34" charset="-122"/>
              </a:rPr>
              <a:t>vBerti</a:t>
            </a:r>
            <a:r>
              <a:rPr lang="en-US" altLang="zh-CN" sz="2000" dirty="0">
                <a:effectLst/>
                <a:latin typeface="Optima" panose="02000503060000020004" pitchFamily="2" charset="0"/>
                <a:ea typeface="Microsoft YaHei UI" panose="020B0503020204020204" pitchFamily="34" charset="-122"/>
              </a:rPr>
              <a:t> to solve cross-page boundary </a:t>
            </a:r>
            <a:r>
              <a:rPr lang="en-US" altLang="zh-CN" sz="2000" dirty="0">
                <a:latin typeface="Optima" panose="02000503060000020004" pitchFamily="2" charset="0"/>
                <a:ea typeface="Microsoft YaHei UI" panose="020B0503020204020204" pitchFamily="34" charset="-122"/>
              </a:rPr>
              <a:t>problems</a:t>
            </a:r>
            <a:endParaRPr lang="en-US" altLang="zh-CN" sz="2000" dirty="0">
              <a:effectLst/>
              <a:latin typeface="Optima" panose="02000503060000020004" pitchFamily="2" charset="0"/>
              <a:ea typeface="Microsoft YaHei UI" panose="020B0503020204020204" pitchFamily="34" charset="-122"/>
            </a:endParaRPr>
          </a:p>
          <a:p>
            <a:pPr>
              <a:lnSpc>
                <a:spcPct val="110000"/>
              </a:lnSpc>
            </a:pPr>
            <a:endParaRPr lang="en-US" altLang="ja-JP" sz="2400" dirty="0">
              <a:effectLst/>
              <a:latin typeface="Optima" panose="02000503060000020004" pitchFamily="2" charset="0"/>
              <a:ea typeface="Microsoft YaHei UI" panose="020B0503020204020204" pitchFamily="34" charset="-122"/>
            </a:endParaRPr>
          </a:p>
          <a:p>
            <a:pPr>
              <a:lnSpc>
                <a:spcPct val="110000"/>
              </a:lnSpc>
            </a:pPr>
            <a:r>
              <a:rPr lang="en" altLang="ja-JP" sz="2400" dirty="0">
                <a:effectLst/>
                <a:latin typeface="Optima" panose="02000503060000020004" pitchFamily="2" charset="0"/>
                <a:ea typeface="Microsoft YaHei UI" panose="020B0503020204020204" pitchFamily="34" charset="-122"/>
              </a:rPr>
              <a:t>Special thanks to the reviewers for their constructive comments and to the DPC-4 organizers for their excellent work</a:t>
            </a:r>
            <a:endParaRPr lang="ja-JP" altLang="en-US" sz="2400">
              <a:effectLst/>
              <a:latin typeface="Optima" panose="02000503060000020004" pitchFamily="2" charset="0"/>
              <a:ea typeface="Microsoft YaHei UI" panose="020B0503020204020204" pitchFamily="34" charset="-122"/>
            </a:endParaRPr>
          </a:p>
        </p:txBody>
      </p:sp>
    </p:spTree>
    <p:extLst>
      <p:ext uri="{BB962C8B-B14F-4D97-AF65-F5344CB8AC3E}">
        <p14:creationId xmlns:p14="http://schemas.microsoft.com/office/powerpoint/2010/main" val="1199291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871A2-9964-6090-4254-356B9279E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755E-8DED-F7BF-4D63-1E2DB325631A}"/>
              </a:ext>
            </a:extLst>
          </p:cNvPr>
          <p:cNvSpPr>
            <a:spLocks noGrp="1"/>
          </p:cNvSpPr>
          <p:nvPr>
            <p:ph type="ctrTitle"/>
          </p:nvPr>
        </p:nvSpPr>
        <p:spPr>
          <a:xfrm>
            <a:off x="483916" y="3776779"/>
            <a:ext cx="11224168" cy="646332"/>
          </a:xfrm>
        </p:spPr>
        <p:txBody>
          <a:bodyPr>
            <a:normAutofit/>
          </a:bodyPr>
          <a:lstStyle/>
          <a:p>
            <a:pPr algn="l">
              <a:lnSpc>
                <a:spcPct val="100000"/>
              </a:lnSpc>
            </a:pPr>
            <a:r>
              <a:rPr lang="en-US" sz="1800" dirty="0" err="1">
                <a:solidFill>
                  <a:schemeClr val="bg2">
                    <a:lumMod val="25000"/>
                  </a:schemeClr>
                </a:solidFill>
                <a:latin typeface="Optima" panose="02000503060000020004" pitchFamily="2" charset="0"/>
                <a:ea typeface="Microsoft YaHei UI" panose="020B0503020204020204" pitchFamily="34" charset="-122"/>
                <a:cs typeface="Linux Libertine O" panose="02000503000000000000" pitchFamily="2" charset="0"/>
              </a:rPr>
              <a:t>sBerti</a:t>
            </a:r>
            <a:r>
              <a:rPr lang="en-US" sz="1800" dirty="0">
                <a:solidFill>
                  <a:schemeClr val="bg2">
                    <a:lumMod val="25000"/>
                  </a:schemeClr>
                </a:solidFill>
                <a:latin typeface="Optima" panose="02000503060000020004" pitchFamily="2" charset="0"/>
                <a:ea typeface="Microsoft YaHei UI" panose="020B0503020204020204" pitchFamily="34" charset="-122"/>
                <a:cs typeface="Linux Libertine O" panose="02000503000000000000" pitchFamily="2" charset="0"/>
              </a:rPr>
              <a:t>: Enhancing Berti with a Smart Stride Prefetcher for Better Coverage</a:t>
            </a:r>
            <a:br>
              <a:rPr lang="en-US" sz="1800" dirty="0">
                <a:solidFill>
                  <a:schemeClr val="bg2">
                    <a:lumMod val="25000"/>
                  </a:schemeClr>
                </a:solidFill>
                <a:latin typeface="Optima" panose="02000503060000020004" pitchFamily="2" charset="0"/>
                <a:ea typeface="Microsoft YaHei UI" panose="020B0503020204020204" pitchFamily="34" charset="-122"/>
                <a:cs typeface="Linux Libertine O" panose="02000503000000000000" pitchFamily="2" charset="0"/>
              </a:rPr>
            </a:br>
            <a:r>
              <a:rPr lang="en-US" sz="1800" dirty="0" err="1">
                <a:solidFill>
                  <a:schemeClr val="bg2">
                    <a:lumMod val="25000"/>
                  </a:schemeClr>
                </a:solidFill>
                <a:latin typeface="Optima" panose="02000503060000020004" pitchFamily="2" charset="0"/>
                <a:ea typeface="Microsoft YaHei UI" panose="020B0503020204020204" pitchFamily="34" charset="-122"/>
                <a:cs typeface="Linux Libertine O" panose="02000503000000000000" pitchFamily="2" charset="0"/>
              </a:rPr>
              <a:t>Jiapeng</a:t>
            </a:r>
            <a:r>
              <a:rPr lang="en-US" sz="1800" dirty="0">
                <a:solidFill>
                  <a:schemeClr val="bg2">
                    <a:lumMod val="25000"/>
                  </a:schemeClr>
                </a:solidFill>
                <a:latin typeface="Optima" panose="02000503060000020004" pitchFamily="2" charset="0"/>
                <a:ea typeface="Microsoft YaHei UI" panose="020B0503020204020204" pitchFamily="34" charset="-122"/>
                <a:cs typeface="Linux Libertine O" panose="02000503000000000000" pitchFamily="2" charset="0"/>
              </a:rPr>
              <a:t> Zhou, Ben Chen, </a:t>
            </a:r>
            <a:r>
              <a:rPr lang="en-US" sz="1800" dirty="0" err="1">
                <a:solidFill>
                  <a:schemeClr val="bg2">
                    <a:lumMod val="25000"/>
                  </a:schemeClr>
                </a:solidFill>
                <a:latin typeface="Optima" panose="02000503060000020004" pitchFamily="2" charset="0"/>
                <a:ea typeface="Microsoft YaHei UI" panose="020B0503020204020204" pitchFamily="34" charset="-122"/>
                <a:cs typeface="Linux Libertine O" panose="02000503000000000000" pitchFamily="2" charset="0"/>
              </a:rPr>
              <a:t>Kunlin</a:t>
            </a:r>
            <a:r>
              <a:rPr lang="en-US" sz="1800" dirty="0">
                <a:solidFill>
                  <a:schemeClr val="bg2">
                    <a:lumMod val="25000"/>
                  </a:schemeClr>
                </a:solidFill>
                <a:latin typeface="Optima" panose="02000503060000020004" pitchFamily="2" charset="0"/>
                <a:ea typeface="Microsoft YaHei UI" panose="020B0503020204020204" pitchFamily="34" charset="-122"/>
                <a:cs typeface="Linux Libertine O" panose="02000503000000000000" pitchFamily="2" charset="0"/>
              </a:rPr>
              <a:t> Li and Yun Chen. DPC4.</a:t>
            </a:r>
          </a:p>
        </p:txBody>
      </p:sp>
      <p:pic>
        <p:nvPicPr>
          <p:cNvPr id="5" name="Picture 4" descr="Blue text on a black background&#10;&#10;AI-generated content may be incorrect.">
            <a:extLst>
              <a:ext uri="{FF2B5EF4-FFF2-40B4-BE49-F238E27FC236}">
                <a16:creationId xmlns:a16="http://schemas.microsoft.com/office/drawing/2014/main" id="{72184AF8-BC2C-0B04-D762-5B738EE555BF}"/>
              </a:ext>
            </a:extLst>
          </p:cNvPr>
          <p:cNvPicPr>
            <a:picLocks noChangeAspect="1"/>
          </p:cNvPicPr>
          <p:nvPr/>
        </p:nvPicPr>
        <p:blipFill>
          <a:blip r:embed="rId3"/>
          <a:stretch>
            <a:fillRect/>
          </a:stretch>
        </p:blipFill>
        <p:spPr>
          <a:xfrm>
            <a:off x="480152" y="4784932"/>
            <a:ext cx="4660295" cy="1302238"/>
          </a:xfrm>
          <a:prstGeom prst="rect">
            <a:avLst/>
          </a:prstGeom>
        </p:spPr>
      </p:pic>
      <p:sp>
        <p:nvSpPr>
          <p:cNvPr id="12" name="Title 4">
            <a:extLst>
              <a:ext uri="{FF2B5EF4-FFF2-40B4-BE49-F238E27FC236}">
                <a16:creationId xmlns:a16="http://schemas.microsoft.com/office/drawing/2014/main" id="{7DAA13D2-5021-A550-3A49-D5B44B5A505A}"/>
              </a:ext>
            </a:extLst>
          </p:cNvPr>
          <p:cNvSpPr txBox="1">
            <a:spLocks/>
          </p:cNvSpPr>
          <p:nvPr/>
        </p:nvSpPr>
        <p:spPr>
          <a:xfrm>
            <a:off x="480152" y="1824283"/>
            <a:ext cx="9475378" cy="1590675"/>
          </a:xfrm>
          <a:prstGeom prst="rect">
            <a:avLst/>
          </a:prstGeom>
          <a:ln>
            <a:solidFill>
              <a:schemeClr val="bg1"/>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dirty="0">
                <a:latin typeface="Optima" panose="02000503060000020004" pitchFamily="2" charset="0"/>
              </a:rPr>
              <a:t>Thanks for your attention!</a:t>
            </a:r>
            <a:br>
              <a:rPr lang="en-US" dirty="0">
                <a:latin typeface="Optima" panose="02000503060000020004" pitchFamily="2" charset="0"/>
              </a:rPr>
            </a:br>
            <a:r>
              <a:rPr lang="en-US" sz="4400" dirty="0">
                <a:latin typeface="Optima" panose="02000503060000020004" pitchFamily="2" charset="0"/>
              </a:rPr>
              <a:t>Questions?</a:t>
            </a:r>
            <a:endParaRPr lang="en-US" dirty="0">
              <a:latin typeface="Optima" panose="02000503060000020004" pitchFamily="2" charset="0"/>
            </a:endParaRPr>
          </a:p>
        </p:txBody>
      </p:sp>
      <p:sp>
        <p:nvSpPr>
          <p:cNvPr id="3" name="Date Placeholder 3">
            <a:extLst>
              <a:ext uri="{FF2B5EF4-FFF2-40B4-BE49-F238E27FC236}">
                <a16:creationId xmlns:a16="http://schemas.microsoft.com/office/drawing/2014/main" id="{D893361B-D81E-16FC-DCCE-6DB3249D1C5B}"/>
              </a:ext>
            </a:extLst>
          </p:cNvPr>
          <p:cNvSpPr>
            <a:spLocks noGrp="1"/>
          </p:cNvSpPr>
          <p:nvPr>
            <p:ph type="dt" sz="half" idx="10"/>
          </p:nvPr>
        </p:nvSpPr>
        <p:spPr>
          <a:xfrm>
            <a:off x="838200" y="6356350"/>
            <a:ext cx="2743200" cy="365125"/>
          </a:xfrm>
        </p:spPr>
        <p:txBody>
          <a:bodyPr/>
          <a:lstStyle/>
          <a:p>
            <a:r>
              <a:rPr lang="en-US" altLang="zh-CN">
                <a:latin typeface="Optima" panose="02000503060000020004" pitchFamily="2" charset="0"/>
              </a:rPr>
              <a:t>February 1, 2026</a:t>
            </a:r>
            <a:endParaRPr lang="en-US" dirty="0">
              <a:latin typeface="Optima" panose="02000503060000020004" pitchFamily="2" charset="0"/>
            </a:endParaRPr>
          </a:p>
        </p:txBody>
      </p:sp>
      <p:sp>
        <p:nvSpPr>
          <p:cNvPr id="6" name="灯片编号占位符 5">
            <a:extLst>
              <a:ext uri="{FF2B5EF4-FFF2-40B4-BE49-F238E27FC236}">
                <a16:creationId xmlns:a16="http://schemas.microsoft.com/office/drawing/2014/main" id="{4C13C628-B691-E0C8-ED1D-C711610D52D0}"/>
              </a:ext>
            </a:extLst>
          </p:cNvPr>
          <p:cNvSpPr>
            <a:spLocks noGrp="1"/>
          </p:cNvSpPr>
          <p:nvPr>
            <p:ph type="sldNum" sz="quarter" idx="12"/>
          </p:nvPr>
        </p:nvSpPr>
        <p:spPr/>
        <p:txBody>
          <a:bodyPr/>
          <a:lstStyle/>
          <a:p>
            <a:fld id="{316D01FC-19EB-7E40-9630-B05DD31B9AAA}" type="slidenum">
              <a:rPr kumimoji="1" lang="zh-CN" altLang="en-US" smtClean="0"/>
              <a:t>15</a:t>
            </a:fld>
            <a:endParaRPr kumimoji="1" lang="zh-CN" altLang="en-US"/>
          </a:p>
        </p:txBody>
      </p:sp>
    </p:spTree>
    <p:extLst>
      <p:ext uri="{BB962C8B-B14F-4D97-AF65-F5344CB8AC3E}">
        <p14:creationId xmlns:p14="http://schemas.microsoft.com/office/powerpoint/2010/main" val="264092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2C232103-7B65-AAC6-5C8D-EEC58DCCD967}"/>
              </a:ext>
            </a:extLst>
          </p:cNvPr>
          <p:cNvSpPr>
            <a:spLocks noGrp="1"/>
          </p:cNvSpPr>
          <p:nvPr>
            <p:ph type="dt" sz="half" idx="10"/>
          </p:nvPr>
        </p:nvSpPr>
        <p:spPr/>
        <p:txBody>
          <a:bodyPr/>
          <a:lstStyle/>
          <a:p>
            <a:r>
              <a:rPr kumimoji="1" lang="en-US" altLang="zh-CN"/>
              <a:t>February 1, 2026</a:t>
            </a:r>
            <a:endParaRPr kumimoji="1" lang="zh-CN" altLang="en-US"/>
          </a:p>
        </p:txBody>
      </p:sp>
      <p:sp>
        <p:nvSpPr>
          <p:cNvPr id="5" name="灯片编号占位符 4">
            <a:extLst>
              <a:ext uri="{FF2B5EF4-FFF2-40B4-BE49-F238E27FC236}">
                <a16:creationId xmlns:a16="http://schemas.microsoft.com/office/drawing/2014/main" id="{822221CB-C869-9C2F-BB84-19083FDDBDC3}"/>
              </a:ext>
            </a:extLst>
          </p:cNvPr>
          <p:cNvSpPr>
            <a:spLocks noGrp="1"/>
          </p:cNvSpPr>
          <p:nvPr>
            <p:ph type="sldNum" sz="quarter" idx="12"/>
          </p:nvPr>
        </p:nvSpPr>
        <p:spPr/>
        <p:txBody>
          <a:bodyPr/>
          <a:lstStyle/>
          <a:p>
            <a:fld id="{316D01FC-19EB-7E40-9630-B05DD31B9AAA}" type="slidenum">
              <a:rPr kumimoji="1" lang="zh-CN" altLang="en-US" smtClean="0"/>
              <a:t>16</a:t>
            </a:fld>
            <a:endParaRPr kumimoji="1" lang="zh-CN" altLang="en-US"/>
          </a:p>
        </p:txBody>
      </p:sp>
      <p:pic>
        <p:nvPicPr>
          <p:cNvPr id="6" name="图片 5">
            <a:extLst>
              <a:ext uri="{FF2B5EF4-FFF2-40B4-BE49-F238E27FC236}">
                <a16:creationId xmlns:a16="http://schemas.microsoft.com/office/drawing/2014/main" id="{9D7024B4-A165-C4B3-E7F9-C0F5AE5FCC1A}"/>
              </a:ext>
            </a:extLst>
          </p:cNvPr>
          <p:cNvPicPr>
            <a:picLocks noChangeAspect="1"/>
          </p:cNvPicPr>
          <p:nvPr/>
        </p:nvPicPr>
        <p:blipFill>
          <a:blip r:embed="rId2"/>
          <a:stretch>
            <a:fillRect/>
          </a:stretch>
        </p:blipFill>
        <p:spPr>
          <a:xfrm>
            <a:off x="724248" y="2429638"/>
            <a:ext cx="7772400" cy="3750976"/>
          </a:xfrm>
          <a:prstGeom prst="rect">
            <a:avLst/>
          </a:prstGeom>
        </p:spPr>
      </p:pic>
      <p:sp>
        <p:nvSpPr>
          <p:cNvPr id="7" name="Title 1">
            <a:extLst>
              <a:ext uri="{FF2B5EF4-FFF2-40B4-BE49-F238E27FC236}">
                <a16:creationId xmlns:a16="http://schemas.microsoft.com/office/drawing/2014/main" id="{B328E1BD-6C41-C67F-AD9A-40BB83DA8523}"/>
              </a:ext>
            </a:extLst>
          </p:cNvPr>
          <p:cNvSpPr>
            <a:spLocks noGrp="1"/>
          </p:cNvSpPr>
          <p:nvPr>
            <p:ph type="title"/>
          </p:nvPr>
        </p:nvSpPr>
        <p:spPr>
          <a:xfrm>
            <a:off x="838200" y="365125"/>
            <a:ext cx="10515600" cy="1325563"/>
          </a:xfrm>
        </p:spPr>
        <p:txBody>
          <a:bodyPr>
            <a:normAutofit/>
          </a:bodyPr>
          <a:lstStyle/>
          <a:p>
            <a:r>
              <a:rPr lang="en-US" altLang="zh-CN" dirty="0">
                <a:latin typeface="Optima" panose="02000503060000020004" pitchFamily="2" charset="0"/>
              </a:rPr>
              <a:t>Debug</a:t>
            </a:r>
            <a:r>
              <a:rPr lang="zh-CN" altLang="en-US" dirty="0">
                <a:latin typeface="Optima" panose="02000503060000020004" pitchFamily="2" charset="0"/>
              </a:rPr>
              <a:t> </a:t>
            </a:r>
            <a:r>
              <a:rPr lang="en-US" altLang="zh-CN" dirty="0">
                <a:latin typeface="Optima" panose="02000503060000020004" pitchFamily="2" charset="0"/>
              </a:rPr>
              <a:t>log of </a:t>
            </a:r>
            <a:r>
              <a:rPr lang="en-US" altLang="zh-CN" dirty="0" err="1">
                <a:latin typeface="Optima" panose="02000503060000020004" pitchFamily="2" charset="0"/>
              </a:rPr>
              <a:t>vBerti</a:t>
            </a:r>
            <a:endParaRPr lang="en-US" dirty="0">
              <a:latin typeface="Optima" panose="02000503060000020004" pitchFamily="2" charset="0"/>
            </a:endParaRPr>
          </a:p>
        </p:txBody>
      </p:sp>
      <p:sp>
        <p:nvSpPr>
          <p:cNvPr id="2" name="矩形 1">
            <a:extLst>
              <a:ext uri="{FF2B5EF4-FFF2-40B4-BE49-F238E27FC236}">
                <a16:creationId xmlns:a16="http://schemas.microsoft.com/office/drawing/2014/main" id="{0E04E1F5-44B3-0585-485D-1FCCA3281A56}"/>
              </a:ext>
            </a:extLst>
          </p:cNvPr>
          <p:cNvSpPr/>
          <p:nvPr/>
        </p:nvSpPr>
        <p:spPr>
          <a:xfrm>
            <a:off x="1631950" y="4634002"/>
            <a:ext cx="1085850" cy="133499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矩形 2">
            <a:extLst>
              <a:ext uri="{FF2B5EF4-FFF2-40B4-BE49-F238E27FC236}">
                <a16:creationId xmlns:a16="http://schemas.microsoft.com/office/drawing/2014/main" id="{85EEF015-B5CD-7517-A0BE-22B18778C6F1}"/>
              </a:ext>
            </a:extLst>
          </p:cNvPr>
          <p:cNvSpPr/>
          <p:nvPr/>
        </p:nvSpPr>
        <p:spPr>
          <a:xfrm>
            <a:off x="8077200" y="4634001"/>
            <a:ext cx="381348" cy="133499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a:extLst>
              <a:ext uri="{FF2B5EF4-FFF2-40B4-BE49-F238E27FC236}">
                <a16:creationId xmlns:a16="http://schemas.microsoft.com/office/drawing/2014/main" id="{C42500CF-A984-4644-6067-CFD7D7723A42}"/>
              </a:ext>
            </a:extLst>
          </p:cNvPr>
          <p:cNvSpPr/>
          <p:nvPr/>
        </p:nvSpPr>
        <p:spPr>
          <a:xfrm>
            <a:off x="1263302" y="2826222"/>
            <a:ext cx="1467198" cy="133499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右箭头 8">
            <a:extLst>
              <a:ext uri="{FF2B5EF4-FFF2-40B4-BE49-F238E27FC236}">
                <a16:creationId xmlns:a16="http://schemas.microsoft.com/office/drawing/2014/main" id="{B35F5E92-26A1-FB63-5B36-B77EBC58B919}"/>
              </a:ext>
            </a:extLst>
          </p:cNvPr>
          <p:cNvSpPr/>
          <p:nvPr/>
        </p:nvSpPr>
        <p:spPr>
          <a:xfrm rot="1984628">
            <a:off x="2746179" y="4010503"/>
            <a:ext cx="698500" cy="225869"/>
          </a:xfrm>
          <a:prstGeom prst="rightArrow">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640800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6BAA1EA9-0B1B-A66C-FFCF-2DB735811222}"/>
              </a:ext>
            </a:extLst>
          </p:cNvPr>
          <p:cNvSpPr>
            <a:spLocks noGrp="1"/>
          </p:cNvSpPr>
          <p:nvPr>
            <p:ph type="dt" sz="half" idx="10"/>
          </p:nvPr>
        </p:nvSpPr>
        <p:spPr/>
        <p:txBody>
          <a:bodyPr/>
          <a:lstStyle/>
          <a:p>
            <a:r>
              <a:rPr kumimoji="1" lang="en-US" altLang="zh-CN"/>
              <a:t>February 1, 2026</a:t>
            </a:r>
            <a:endParaRPr kumimoji="1" lang="zh-CN" altLang="en-US"/>
          </a:p>
        </p:txBody>
      </p:sp>
      <p:sp>
        <p:nvSpPr>
          <p:cNvPr id="5" name="灯片编号占位符 4">
            <a:extLst>
              <a:ext uri="{FF2B5EF4-FFF2-40B4-BE49-F238E27FC236}">
                <a16:creationId xmlns:a16="http://schemas.microsoft.com/office/drawing/2014/main" id="{0A171D4A-ADC4-BED3-7D26-C50A23F80462}"/>
              </a:ext>
            </a:extLst>
          </p:cNvPr>
          <p:cNvSpPr>
            <a:spLocks noGrp="1"/>
          </p:cNvSpPr>
          <p:nvPr>
            <p:ph type="sldNum" sz="quarter" idx="12"/>
          </p:nvPr>
        </p:nvSpPr>
        <p:spPr/>
        <p:txBody>
          <a:bodyPr/>
          <a:lstStyle/>
          <a:p>
            <a:fld id="{316D01FC-19EB-7E40-9630-B05DD31B9AAA}" type="slidenum">
              <a:rPr kumimoji="1" lang="zh-CN" altLang="en-US" smtClean="0"/>
              <a:t>17</a:t>
            </a:fld>
            <a:endParaRPr kumimoji="1" lang="zh-CN" altLang="en-US"/>
          </a:p>
        </p:txBody>
      </p:sp>
      <p:pic>
        <p:nvPicPr>
          <p:cNvPr id="6" name="图片 5">
            <a:extLst>
              <a:ext uri="{FF2B5EF4-FFF2-40B4-BE49-F238E27FC236}">
                <a16:creationId xmlns:a16="http://schemas.microsoft.com/office/drawing/2014/main" id="{9A7D9B64-FAB9-3B5A-38AA-FFB3F19209DF}"/>
              </a:ext>
            </a:extLst>
          </p:cNvPr>
          <p:cNvPicPr>
            <a:picLocks noChangeAspect="1"/>
          </p:cNvPicPr>
          <p:nvPr/>
        </p:nvPicPr>
        <p:blipFill>
          <a:blip r:embed="rId2"/>
          <a:stretch>
            <a:fillRect/>
          </a:stretch>
        </p:blipFill>
        <p:spPr>
          <a:xfrm>
            <a:off x="731728" y="2248373"/>
            <a:ext cx="7772400" cy="3914483"/>
          </a:xfrm>
          <a:prstGeom prst="rect">
            <a:avLst/>
          </a:prstGeom>
        </p:spPr>
      </p:pic>
      <p:sp>
        <p:nvSpPr>
          <p:cNvPr id="7" name="Title 1">
            <a:extLst>
              <a:ext uri="{FF2B5EF4-FFF2-40B4-BE49-F238E27FC236}">
                <a16:creationId xmlns:a16="http://schemas.microsoft.com/office/drawing/2014/main" id="{BDE0FE4D-03CD-BEB7-7F6F-A1385900B0D6}"/>
              </a:ext>
            </a:extLst>
          </p:cNvPr>
          <p:cNvSpPr>
            <a:spLocks noGrp="1"/>
          </p:cNvSpPr>
          <p:nvPr>
            <p:ph type="title"/>
          </p:nvPr>
        </p:nvSpPr>
        <p:spPr>
          <a:xfrm>
            <a:off x="838200" y="365125"/>
            <a:ext cx="10515600" cy="1325563"/>
          </a:xfrm>
        </p:spPr>
        <p:txBody>
          <a:bodyPr>
            <a:normAutofit/>
          </a:bodyPr>
          <a:lstStyle/>
          <a:p>
            <a:r>
              <a:rPr lang="en-US" altLang="zh-CN" dirty="0">
                <a:latin typeface="Optima" panose="02000503060000020004" pitchFamily="2" charset="0"/>
              </a:rPr>
              <a:t>Debug</a:t>
            </a:r>
            <a:r>
              <a:rPr lang="zh-CN" altLang="en-US" dirty="0">
                <a:latin typeface="Optima" panose="02000503060000020004" pitchFamily="2" charset="0"/>
              </a:rPr>
              <a:t> </a:t>
            </a:r>
            <a:r>
              <a:rPr lang="en-US" altLang="zh-CN" dirty="0">
                <a:latin typeface="Optima" panose="02000503060000020004" pitchFamily="2" charset="0"/>
              </a:rPr>
              <a:t>log of </a:t>
            </a:r>
            <a:r>
              <a:rPr lang="en-US" altLang="zh-CN" dirty="0" err="1">
                <a:latin typeface="Optima" panose="02000503060000020004" pitchFamily="2" charset="0"/>
              </a:rPr>
              <a:t>vBerti</a:t>
            </a:r>
            <a:endParaRPr lang="en-US" dirty="0">
              <a:latin typeface="Optima" panose="02000503060000020004" pitchFamily="2" charset="0"/>
            </a:endParaRPr>
          </a:p>
        </p:txBody>
      </p:sp>
      <p:sp>
        <p:nvSpPr>
          <p:cNvPr id="2" name="矩形 1">
            <a:extLst>
              <a:ext uri="{FF2B5EF4-FFF2-40B4-BE49-F238E27FC236}">
                <a16:creationId xmlns:a16="http://schemas.microsoft.com/office/drawing/2014/main" id="{B9A8E6B2-61C8-7689-D96C-3EAFF7F8A7B5}"/>
              </a:ext>
            </a:extLst>
          </p:cNvPr>
          <p:cNvSpPr/>
          <p:nvPr/>
        </p:nvSpPr>
        <p:spPr>
          <a:xfrm>
            <a:off x="4724400" y="5688103"/>
            <a:ext cx="1892300" cy="381000"/>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23895262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10995</TotalTime>
  <Words>2056</Words>
  <Application>Microsoft Macintosh PowerPoint</Application>
  <PresentationFormat>宽屏</PresentationFormat>
  <Paragraphs>153</Paragraphs>
  <Slides>17</Slides>
  <Notes>15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17</vt:i4>
      </vt:variant>
    </vt:vector>
  </HeadingPairs>
  <TitlesOfParts>
    <vt:vector size="23" baseType="lpstr">
      <vt:lpstr>等线</vt:lpstr>
      <vt:lpstr>等线 Light</vt:lpstr>
      <vt:lpstr>Google Sans Flex</vt:lpstr>
      <vt:lpstr>Arial</vt:lpstr>
      <vt:lpstr>Optima</vt:lpstr>
      <vt:lpstr>Office 主题​​</vt:lpstr>
      <vt:lpstr>sBerti: Enhancing Berti with a Smart Stride Prefetcher for Better Coverage</vt:lpstr>
      <vt:lpstr>Challenges &amp; Opportunities</vt:lpstr>
      <vt:lpstr>Profiling the baseline (L1 Berti + L2 Pythia)</vt:lpstr>
      <vt:lpstr>Profiling the baseline (L1 Berti + L2 Pythia)</vt:lpstr>
      <vt:lpstr>Dive into the DPC3 Berti used in baseline</vt:lpstr>
      <vt:lpstr>Smart Stride Prefetcher</vt:lpstr>
      <vt:lpstr>sBerti = Berti + Smart Stride Prefetcher</vt:lpstr>
      <vt:lpstr>Can vBerti cover the cross-page pattern?</vt:lpstr>
      <vt:lpstr>sBerti Storage Overhead</vt:lpstr>
      <vt:lpstr>sBerti Coverage in FullBW</vt:lpstr>
      <vt:lpstr>sBerti Accuracy in FullBW</vt:lpstr>
      <vt:lpstr>sBerti Speedup over Berti</vt:lpstr>
      <vt:lpstr>Speedup over baseline (Berti + Pythia)</vt:lpstr>
      <vt:lpstr>Conclusion</vt:lpstr>
      <vt:lpstr>sBerti: Enhancing Berti with a Smart Stride Prefetcher for Better Coverage Jiapeng Zhou, Ben Chen, Kunlin Li and Yun Chen. DPC4.</vt:lpstr>
      <vt:lpstr>Debug log of vBerti</vt:lpstr>
      <vt:lpstr>Debug log of vBerti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嘉鹏 周</dc:creator>
  <cp:lastModifiedBy>嘉鹏 周</cp:lastModifiedBy>
  <cp:revision>1</cp:revision>
  <dcterms:created xsi:type="dcterms:W3CDTF">2026-01-24T09:00:30Z</dcterms:created>
  <dcterms:modified xsi:type="dcterms:W3CDTF">2026-02-01T00:16:21Z</dcterms:modified>
</cp:coreProperties>
</file>