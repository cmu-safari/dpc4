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1104">
          <p15:clr>
            <a:srgbClr val="747775"/>
          </p15:clr>
        </p15:guide>
        <p15:guide id="3" pos="230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CEBF9E-C40A-4499-BFC6-E9B8EEB65CE8}">
  <a:tblStyle styleId="{D6CEBF9E-C40A-4499-BFC6-E9B8EEB65C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104"/>
        <p:guide pos="230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slide" Target="slides/slide42.xml"/><Relationship Id="rId25" Type="http://schemas.openxmlformats.org/officeDocument/2006/relationships/slide" Target="slides/slide19.xml"/><Relationship Id="rId47" Type="http://schemas.openxmlformats.org/officeDocument/2006/relationships/slide" Target="slides/slide41.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I’m Gil from the University of Toronto, and I’m here to present our DPC4 entry, Global Berti: Simultaneous Streaming and Spatial Prefetching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90a7cd6b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90a7cd6b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point of this work is that we can expand our prefetcher coverage from the streaming patterns covered by Berti to also collect Spatial patterns, and we can do this for almost 0 additional cost.  We achieve this by accessing Berti’s history table vertically, reading columns where Berti read rows.  Our Global Berti is up to 1.89X faster than DPC3 Berti </a:t>
            </a:r>
            <a:r>
              <a:rPr lang="en"/>
              <a:t>without</a:t>
            </a:r>
            <a:r>
              <a:rPr lang="en"/>
              <a:t> any other prefetchers, and still up to 1.49X faster when Pythia is present at the L2.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90a7cd6bc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90a7cd6bc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I will explain what is the difference between streaming and spatial access patterns.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2b1b1687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2b1b1687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 the simple example code on the right.  This code iterates through an array of linked lists and sums up their data, which includes both streaming and spatial access patterns. </a:t>
            </a:r>
            <a:endParaRPr/>
          </a:p>
          <a:p>
            <a:pPr indent="0" lvl="0" marL="0" rtl="0" algn="l">
              <a:spcBef>
                <a:spcPts val="0"/>
              </a:spcBef>
              <a:spcAft>
                <a:spcPts val="0"/>
              </a:spcAft>
              <a:buNone/>
            </a:pPr>
            <a:r>
              <a:rPr lang="en"/>
              <a:t>[C] Here we have an example of a streaming access pattern in red.  On each access, this line of code will access a memory location a </a:t>
            </a:r>
            <a:r>
              <a:rPr lang="en"/>
              <a:t>consistent</a:t>
            </a:r>
            <a:r>
              <a:rPr lang="en"/>
              <a:t> delta from the previous instance of that line, making its accesses predictable far into the future.</a:t>
            </a:r>
            <a:endParaRPr/>
          </a:p>
          <a:p>
            <a:pPr indent="0" lvl="0" marL="0" rtl="0" algn="l">
              <a:spcBef>
                <a:spcPts val="0"/>
              </a:spcBef>
              <a:spcAft>
                <a:spcPts val="0"/>
              </a:spcAft>
              <a:buNone/>
            </a:pPr>
            <a:r>
              <a:rPr lang="en"/>
              <a:t>[C] On the other hand, in green we have a Spatial access pattern.  Here, the list nodes are distributed randomly through memory, so the accesses to h-&gt;data are not predictable without an expensive markov prefetcher or a content-directed prefetcher.  However, the access to the h-&gt;next is predictable once we’ve seen the access to h-&gt;data.  The accesses after the first in the spatial pattern are a consistent delta from the first access.  Prefetching for a spatial pattern will miss on the first access, but can then hide some of the miss latency for future accesses within the miss for the first access.</a:t>
            </a:r>
            <a:endParaRPr/>
          </a:p>
          <a:p>
            <a:pPr indent="0" lvl="0" marL="0" rtl="0" algn="l">
              <a:spcBef>
                <a:spcPts val="0"/>
              </a:spcBef>
              <a:spcAft>
                <a:spcPts val="0"/>
              </a:spcAft>
              <a:buNone/>
            </a:pPr>
            <a:r>
              <a:rPr lang="en"/>
              <a:t>[C] Finally, in blue, we have a line with both a streaming pattern and a spatial pattern.  The access to the list tails is a streaming pattern just like the heads, but it is also a constant delta from the prior access to the heads.  These dual patterns happen whenever we have multiple streaming patterns with the same delta.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90a7cd6b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90a7cd6b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a:t>
            </a:r>
            <a:r>
              <a:rPr lang="en"/>
              <a:t> lets go over some background on how the Berti Streaming prefetcher works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90a7cd6bc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90a7cd6bc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Berti uses 2 tables to detect and prefetch streaming access patterns.  There is some additional storage to calculate the fill latencies for cache misses, but we will skip that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Berti uses the instruction pointer to index into a local history table that also stores the cycle when the access was demanded as a timestamp.  When fill latencies become available, Berti uses the information in the history table to calculate timely deltas, which it stores in a delta table.  On each demand access, Berti uses the access instruction pointer and address to generate prefetch addresses from the delta table.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2b1b16877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2b1b16877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Berti issues prefetches for streaming patterns by checking each load against its delta table.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Berti Delta table maps Instruction Pointers to delta-coverage pairs tracking how often a delta is timely.  The counter for each row is incremented every time that row is demanded.  When the counter overflows, deltas which were timely more than a threshold are activated for prefetching.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 On each demand access, Berti checks the Delta table for a row with a matching instruction pointer, and if it finds one it uses the high-coverage deltas from that row for prefetching, by adding their deltas to the access address to generate prefetch addresses.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 Each timely delta gets its own coverage counter in the row, and each time timely deltas are found their coverage fields are incremented.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Where do these timely deltas come from?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90a7cd6b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90a7cd6bc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Berti finds timely deltas using its history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contents of the berti history table for each instruction pointer is a FIFO queue storing address/timestamp pairs.  For instance, let’s suppose that the first access to the heads array from our previous code example loads </a:t>
            </a:r>
            <a:r>
              <a:rPr lang="en"/>
              <a:t>address</a:t>
            </a:r>
            <a:r>
              <a:rPr lang="en"/>
              <a:t> 0x100 at timestamp 5.  That </a:t>
            </a:r>
            <a:r>
              <a:rPr lang="en"/>
              <a:t>access</a:t>
            </a:r>
            <a:r>
              <a:rPr lang="en"/>
              <a:t> would be placed in the FIFO queue.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90a7cd6bc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90a7cd6bc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if the next access loads address 0x108 at timestamp 15, that would also go into the queue behind 0x100.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90a7cd6bc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90a7cd6bc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if the third access loads address 0x110 at timestamp 35, the queue now looks like this. </a:t>
            </a:r>
            <a:endParaRPr/>
          </a:p>
          <a:p>
            <a:pPr indent="0" lvl="0" marL="0" rtl="0" algn="l">
              <a:spcBef>
                <a:spcPts val="0"/>
              </a:spcBef>
              <a:spcAft>
                <a:spcPts val="0"/>
              </a:spcAft>
              <a:buNone/>
            </a:pPr>
            <a:r>
              <a:rPr lang="en"/>
              <a:t>[C] Now, lets suppose that the left access takes 25 cycles to be filled into the L1.  In that case, Berti will subtract that 25 cycle fill latency from the access timestamp to get 10 as the maximum cycle for timely prefetching.  Berti will compare that maximum cycle with the timestamps of every earlier access in the FIFO, and find that the middle access at cycle 15 is too late, but the right access at cycle 5 is in time.  If Berti had prefetched address 0x110 when address 0x100 was demanded, it would have been in time to hide all the memory latency.  </a:t>
            </a:r>
            <a:endParaRPr/>
          </a:p>
          <a:p>
            <a:pPr indent="0" lvl="0" marL="0" rtl="0" algn="l">
              <a:spcBef>
                <a:spcPts val="0"/>
              </a:spcBef>
              <a:spcAft>
                <a:spcPts val="0"/>
              </a:spcAft>
              <a:buNone/>
            </a:pPr>
            <a:r>
              <a:rPr lang="en"/>
              <a:t>[C] So Berti subtracts the right address from the left address to get the timely delta for this instruction.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e3a149df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be3a149df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talk about how Berti could be better.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e3a149df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be3a149df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previously showed one FIFO for the Berti history table, but it’s actually a collection of FIFOs, once for each instruction pointer.  But this is a very abstract diagram, </a:t>
            </a:r>
            <a:r>
              <a:rPr lang="en"/>
              <a:t>laid</a:t>
            </a:r>
            <a:r>
              <a:rPr lang="en"/>
              <a:t> out in an actual table it would look more like this: [C]</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2b1b16877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2b1b16877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contents here are the same as the previous slide, with the addition of instruction pointer tags to disambiguate aliasing instructions.  New accesses shift in from the left, and the oldest accesses exit the FIFOs from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Whenever Berti searches for timely deltas, it accesses one FIFO, or one row of the table, reading it horizontally.  </a:t>
            </a:r>
            <a:endParaRPr/>
          </a:p>
          <a:p>
            <a:pPr indent="0" lvl="0" marL="0" rtl="0" algn="l">
              <a:spcBef>
                <a:spcPts val="0"/>
              </a:spcBef>
              <a:spcAft>
                <a:spcPts val="0"/>
              </a:spcAft>
              <a:buNone/>
            </a:pPr>
            <a:r>
              <a:rPr lang="en"/>
              <a:t>[C] By doing so, Berti finds streaming patterns, because those deltas exist between accesses in the same 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Spatial patterns, on the other hand, appear as deltas between accesses in different rows.  </a:t>
            </a:r>
            <a:endParaRPr/>
          </a:p>
          <a:p>
            <a:pPr indent="0" lvl="0" marL="0" rtl="0" algn="l">
              <a:spcBef>
                <a:spcPts val="0"/>
              </a:spcBef>
              <a:spcAft>
                <a:spcPts val="0"/>
              </a:spcAft>
              <a:buNone/>
            </a:pPr>
            <a:r>
              <a:rPr lang="en"/>
              <a:t>[C] As a result, </a:t>
            </a:r>
            <a:r>
              <a:rPr lang="en"/>
              <a:t>while</a:t>
            </a:r>
            <a:r>
              <a:rPr lang="en"/>
              <a:t> Berti finds streaming patterns by reading a row horizontally, it cannot find spatial patterns that cross rows.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b2b1b16877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b2b1b16877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spatial patterns are still in the table though.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If we look at just the first column of the Berti history table, we can see that it forms a useful subset of the global history of all accesses.  </a:t>
            </a:r>
            <a:endParaRPr/>
          </a:p>
          <a:p>
            <a:pPr indent="0" lvl="0" marL="0" rtl="0" algn="l">
              <a:spcBef>
                <a:spcPts val="0"/>
              </a:spcBef>
              <a:spcAft>
                <a:spcPts val="0"/>
              </a:spcAft>
              <a:buNone/>
            </a:pPr>
            <a:r>
              <a:rPr lang="en"/>
              <a:t>[C] In fact, the first column of the Berti history table is storing the most recent access by each instruction pointer.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Just what we need if we want to identify spatial patterns.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By accessing the first column of Berti’s history table, reading vertically can allow us to find deltas for spatial access patterns.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90a7cd6bc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b90a7cd6b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lets see how we design our Global Berti.</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b58ee64e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bb58ee64e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tables in our global berti look the same as Berti’s from the outside.  We have a history table and a delta table.  The difference is in how we access our history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latency information becomes available, we access the history table horizontally, just like Berti, producing a set of streaming deltas for a single instruction pointer.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each demand access, we instead </a:t>
            </a:r>
            <a:r>
              <a:rPr lang="en"/>
              <a:t>search</a:t>
            </a:r>
            <a:r>
              <a:rPr lang="en"/>
              <a:t> the first column of the history table, accessing it vertically to produce one spatial delta for each instruction pointer in the first column.  All of these deltas go into the delta table rows for their instruction pointers, and are used to produce prefetch addresses on each demand access if they have high coverage.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simple an naive approach is almost everything we need to prefetch spatial patterns.  It just has one problem, which is that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6b396731567a78a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6b396731567a78a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too many spatial deltas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now return to our example code and memory layout.  Here, I showed a few streaming and spatial deltas, but there are actually many more.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For instance, streaming access patterns have a valid delta for each multiple of their stride.  This is a good thing, and Berti takes advantage of this when it finds timely deltas.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Spatial patterns don’t give the same options to choose from, because we can only start predicting from the first access, but the same delta could show up multiple times.  This isn’t a problem in a consistent spatial pattern, but if there isn’t a consistent pattern, it could saturate our coverage too quickly.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about accesses with both streaming and spatial patterns?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Here, we see a excessive number of deltas between the two streams.  This is a problem, because it could fill our delta table with redundant spatial deltas, leaving no storage for the streaming deltas.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As a consequence, when both streaming and spatial deltas are present, we need to ignore the spatial deltas.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2b1b16877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b2b1b16877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limit the spatial deltas we add some additional bits to the delta table.  The increment bit controls whether coverage can increment.  We set it on each demand access to that delta table row, and reset when we increment the coverage.  This enforces at most one coverage increment per demand access.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if a horizontal row access to the history table results in a high coverage streaming delta, we set the stream bit in a row.  When the stream bit is set, we block adding spatial deltas to or from that instruction pointer, because if a streaming pattern is present, then any spatial patterns will also have their own streaming patterns, and streaming patterns take priority over spatial 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additional bits, 1 per row and 1 per delta, are the entire overheads of our global berti over the original berti.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e3a149df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be3a149df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90a7cd6bc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b90a7cd6bc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b2b1b16877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b2b1b16877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bc2b12e3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bc2b12e3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find is that our global Berti outperforms the DPC3 implementation of Berti by a wide margin.  In this plot, each black bar is the gmean </a:t>
            </a:r>
            <a:r>
              <a:rPr lang="en"/>
              <a:t>speedup</a:t>
            </a:r>
            <a:r>
              <a:rPr lang="en"/>
              <a:t> of Global Berti over berti for a category of benchmark traces.  The green bars represent the range of speedups stretching from the worst to the best.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First off, we see our largest speedup on SPEC17, with up to an 1.89X improvement.  On SPEC traces, replacing Berti with our Global Berti results in a gmean 12% IPC </a:t>
            </a:r>
            <a:r>
              <a:rPr lang="en"/>
              <a:t>improvement</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Graph benchmarks also see a large improvement, with a gmean 11% speedup and no traces with a slowdown.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traces see a smaller </a:t>
            </a:r>
            <a:r>
              <a:rPr lang="en"/>
              <a:t>improvement</a:t>
            </a:r>
            <a:r>
              <a:rPr lang="en"/>
              <a:t>, which is driven by the llama models that see large </a:t>
            </a:r>
            <a:r>
              <a:rPr lang="en"/>
              <a:t>improvements</a:t>
            </a:r>
            <a:r>
              <a:rPr lang="en"/>
              <a:t>.  The other AI traces are largely a wash.  The AI gmean speedup is 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Google’s traces see a small but relatively consistent speedup, except for the Charlie workloads that see a small slowdown.  The gmean for them is also 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Overall, our Global Berti  outperforms DPC3 berti by a gmean of 8%, with a range of -8% to 89%.</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b94fab495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b94fab495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 course, be baseline configuration for DPC4 does not just use Berti.  It also has Pythia at the L2.  Pythia is a Reinforcement Learning based prefetcher.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RL agent takes in the instruction pointer, the last 4 deltas between any accesses, and the current bandwidth utilization, and outputs whether or not to prefetch, and which delta to apply to the current address for prefetching.  Whether or not the prefetch was useful gets fed back as a reward to guide the agent’s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As an L2 prefetcher, Pythia can only prefetch within a page, and it also produces at most 1 prefetch per memory access, which limits its ability to hide latency from spatial patterns with </a:t>
            </a:r>
            <a:r>
              <a:rPr lang="en"/>
              <a:t>multiple</a:t>
            </a:r>
            <a:r>
              <a:rPr lang="en"/>
              <a:t> accesses.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bc2b12e35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bc2b12e35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plot, we normalize to the full DPC3 baseline, with Berti at the L1 and Pythia at the L2.  The first 2 bars are Berti and Global Berti on their own, showing the benefits of adding Pythia to the system, while the </a:t>
            </a:r>
            <a:r>
              <a:rPr lang="en"/>
              <a:t>third</a:t>
            </a:r>
            <a:r>
              <a:rPr lang="en"/>
              <a:t> bar is Global Berti with Pythia at the L2.  Here, the different trace categories bethave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Spec17 and Google workloads see no particular change in the speedup from replacing Berti with Global Berti when we add Pythia at the L2.  Here, the benefits from Global Berti are orthogonal to the benefits from Pythia, so we get the same speedup from replacing Berti with Global Berti regardless of whether or not Pythia is present.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On the other hand, for graph benchmarks the result is completely different.  For graph benchmarks, we first see that our Global Berti alone already outperforms Berti+Pythia by about 2%.  However, The speedup of GLobal Berti + Pythia over Berti+Pythia is only about 5%, half what it was before without Pythia.  For graph algorithms, Global Berti and Pythia are finding many of the same prefetches, so the benefit of Global Berti over Berti is much smaller, since Pythia was already bringing much of this information to the L2.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For AI traces, we actually see a larger gmean speedup from our Global Berti over Berti when Pythia is present.  This is mostly driven by the rwkv traces, where neither Pythia nor our Global Berti provide a large speedup on their own, but when Global Bertia nd Pythia are used together we suddenly see a large speedup.  What we think is happening here is that Global Berti’s prefetches are providing useful hints to Pythia’s reinforcement learning agent.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Overall, when Pythia is at the L2, our Global Berti outperforms Berti by gmean 6%, ranging from -6% to 49% across all public traces.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b2b1b16877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b2b1b16877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b2b1b1687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b2b1b1687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b94fab49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b94fab49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bb58ee64e2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bb58ee64e2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bac25b732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bac25b732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b90a7cd6b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b90a7cd6b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bac25b732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bac25b732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90a7cd6b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b90a7cd6b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b90a7cd6b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b90a7cd6b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b90a7cd6b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b90a7cd6b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bc0271d4a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bc0271d4a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bb58ee64e2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bb58ee64e2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b72097f6e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b72097f6e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b72097f6e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b72097f6e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b72097f6e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b72097f6e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b2b1b16877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b2b1b16877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bac25b732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bac25b732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bc2b12e35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bc2b12e35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Global Berti: Simultaneous Streaming and Spatial Prefetching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dk1"/>
                </a:solidFill>
              </a:rPr>
              <a:t>Gilead Posluns 			</a:t>
            </a:r>
            <a:r>
              <a:rPr lang="en">
                <a:solidFill>
                  <a:schemeClr val="dk1"/>
                </a:solidFill>
              </a:rPr>
              <a:t>Mark C Jeffrey</a:t>
            </a:r>
            <a:endParaRPr>
              <a:solidFill>
                <a:schemeClr val="dk1"/>
              </a:solidFill>
            </a:endParaRPr>
          </a:p>
        </p:txBody>
      </p:sp>
      <p:pic>
        <p:nvPicPr>
          <p:cNvPr id="56" name="Google Shape;56;p13"/>
          <p:cNvPicPr preferRelativeResize="0"/>
          <p:nvPr/>
        </p:nvPicPr>
        <p:blipFill>
          <a:blip r:embed="rId3">
            <a:alphaModFix/>
          </a:blip>
          <a:stretch>
            <a:fillRect/>
          </a:stretch>
        </p:blipFill>
        <p:spPr>
          <a:xfrm>
            <a:off x="5709113" y="3523075"/>
            <a:ext cx="1585025" cy="1187400"/>
          </a:xfrm>
          <a:prstGeom prst="rect">
            <a:avLst/>
          </a:prstGeom>
          <a:noFill/>
          <a:ln>
            <a:noFill/>
          </a:ln>
        </p:spPr>
      </p:pic>
      <p:sp>
        <p:nvSpPr>
          <p:cNvPr id="57" name="Google Shape;5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 name="Google Shape;58;p13"/>
          <p:cNvSpPr txBox="1"/>
          <p:nvPr/>
        </p:nvSpPr>
        <p:spPr>
          <a:xfrm>
            <a:off x="1178850" y="3747325"/>
            <a:ext cx="3793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Data Prefetching Championship 4</a:t>
            </a:r>
            <a:endParaRPr sz="1800">
              <a:solidFill>
                <a:schemeClr val="dk2"/>
              </a:solidFill>
            </a:endParaRPr>
          </a:p>
          <a:p>
            <a:pPr indent="0" lvl="0" marL="0" rtl="0" algn="l">
              <a:spcBef>
                <a:spcPts val="0"/>
              </a:spcBef>
              <a:spcAft>
                <a:spcPts val="0"/>
              </a:spcAft>
              <a:buNone/>
            </a:pPr>
            <a:r>
              <a:rPr lang="en" sz="1800">
                <a:solidFill>
                  <a:schemeClr val="dk2"/>
                </a:solidFill>
              </a:rPr>
              <a:t>Feb 1 2026</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Expanding prefetcher coverage for (almost) free</a:t>
            </a:r>
            <a:endParaRPr/>
          </a:p>
        </p:txBody>
      </p:sp>
      <p:sp>
        <p:nvSpPr>
          <p:cNvPr id="64" name="Google Shape;64;p14"/>
          <p:cNvSpPr txBox="1"/>
          <p:nvPr>
            <p:ph idx="1" type="body"/>
          </p:nvPr>
        </p:nvSpPr>
        <p:spPr>
          <a:xfrm>
            <a:off x="61350" y="1132275"/>
            <a:ext cx="902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Streaming prefetchers like </a:t>
            </a:r>
            <a:r>
              <a:rPr lang="en">
                <a:solidFill>
                  <a:schemeClr val="dk1"/>
                </a:solidFill>
              </a:rPr>
              <a:t>Berti collect </a:t>
            </a:r>
            <a:r>
              <a:rPr i="1" lang="en">
                <a:solidFill>
                  <a:schemeClr val="dk1"/>
                </a:solidFill>
              </a:rPr>
              <a:t>local </a:t>
            </a:r>
            <a:r>
              <a:rPr lang="en">
                <a:solidFill>
                  <a:schemeClr val="dk1"/>
                </a:solidFill>
              </a:rPr>
              <a:t>deltas</a:t>
            </a:r>
            <a:r>
              <a:rPr lang="en" sz="1000"/>
              <a:t>[Navarro-Torres et al. MICRO’22]</a:t>
            </a:r>
            <a:endParaRPr/>
          </a:p>
          <a:p>
            <a:pPr indent="0" lvl="0" marL="0" rtl="0" algn="l">
              <a:spcBef>
                <a:spcPts val="1200"/>
              </a:spcBef>
              <a:spcAft>
                <a:spcPts val="0"/>
              </a:spcAft>
              <a:buNone/>
            </a:pPr>
            <a:r>
              <a:rPr lang="en">
                <a:solidFill>
                  <a:schemeClr val="dk1"/>
                </a:solidFill>
              </a:rPr>
              <a:t>It prefetches only streaming access patterns </a:t>
            </a:r>
            <a:endParaRPr>
              <a:solidFill>
                <a:schemeClr val="dk1"/>
              </a:solidFill>
            </a:endParaRPr>
          </a:p>
          <a:p>
            <a:pPr indent="0" lvl="0" marL="0" rtl="0" algn="l">
              <a:spcBef>
                <a:spcPts val="1200"/>
              </a:spcBef>
              <a:spcAft>
                <a:spcPts val="0"/>
              </a:spcAft>
              <a:buNone/>
            </a:pPr>
            <a:r>
              <a:rPr lang="en">
                <a:solidFill>
                  <a:schemeClr val="dk1"/>
                </a:solidFill>
              </a:rPr>
              <a:t>By accessing Berti’s history table in a new orientation, we collect “global” deltas</a:t>
            </a:r>
            <a:endParaRPr>
              <a:solidFill>
                <a:schemeClr val="dk1"/>
              </a:solidFill>
            </a:endParaRPr>
          </a:p>
          <a:p>
            <a:pPr indent="0" lvl="0" marL="0" rtl="0" algn="l">
              <a:spcBef>
                <a:spcPts val="1200"/>
              </a:spcBef>
              <a:spcAft>
                <a:spcPts val="0"/>
              </a:spcAft>
              <a:buNone/>
            </a:pPr>
            <a:r>
              <a:rPr lang="en">
                <a:solidFill>
                  <a:schemeClr val="dk1"/>
                </a:solidFill>
              </a:rPr>
              <a:t>Our Global Berti prefetches Spatial access patterns too, for ~0 additional cost</a:t>
            </a:r>
            <a:endParaRPr>
              <a:solidFill>
                <a:schemeClr val="dk1"/>
              </a:solidFill>
            </a:endParaRPr>
          </a:p>
          <a:p>
            <a:pPr indent="0" lvl="0" marL="0" rtl="0" algn="l">
              <a:spcBef>
                <a:spcPts val="1200"/>
              </a:spcBef>
              <a:spcAft>
                <a:spcPts val="0"/>
              </a:spcAft>
              <a:buNone/>
            </a:pPr>
            <a:r>
              <a:rPr lang="en">
                <a:solidFill>
                  <a:schemeClr val="dk1"/>
                </a:solidFill>
              </a:rPr>
              <a:t>Global Berti is up to 1.89X (gmean 1.08X) faster than Berti (1.49X/1.06X with Pythia)</a:t>
            </a:r>
            <a:endParaRPr>
              <a:solidFill>
                <a:schemeClr val="dk1"/>
              </a:solidFill>
            </a:endParaRPr>
          </a:p>
          <a:p>
            <a:pPr indent="0" lvl="0" marL="0" rtl="0" algn="l">
              <a:spcBef>
                <a:spcPts val="1200"/>
              </a:spcBef>
              <a:spcAft>
                <a:spcPts val="1200"/>
              </a:spcAft>
              <a:buNone/>
            </a:pPr>
            <a:r>
              <a:t/>
            </a:r>
            <a:endParaRPr>
              <a:solidFill>
                <a:srgbClr val="38761D"/>
              </a:solidFill>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Streaming and Spatial Access Patterns</a:t>
            </a:r>
            <a:endParaRPr/>
          </a:p>
        </p:txBody>
      </p:sp>
      <p:sp>
        <p:nvSpPr>
          <p:cNvPr id="71" name="Google Shape;7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Streaming and Spatial access patterns</a:t>
            </a:r>
            <a:endParaRPr/>
          </a:p>
        </p:txBody>
      </p:sp>
      <p:sp>
        <p:nvSpPr>
          <p:cNvPr id="77" name="Google Shape;77;p16"/>
          <p:cNvSpPr txBox="1"/>
          <p:nvPr/>
        </p:nvSpPr>
        <p:spPr>
          <a:xfrm>
            <a:off x="4449400" y="1838825"/>
            <a:ext cx="5202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int sum = 0;</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for (int i = 0; i &lt; N_LISTS ; i++) {</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ListNode * h = heads[i];</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ListNode * t = tails[i];</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while (h != t) {</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sum += h-&gt;data;</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h = h-&gt;next;</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f(sum);</a:t>
            </a:r>
            <a:endParaRPr sz="1800">
              <a:solidFill>
                <a:schemeClr val="dk1"/>
              </a:solidFill>
              <a:latin typeface="Consolas"/>
              <a:ea typeface="Consolas"/>
              <a:cs typeface="Consolas"/>
              <a:sym typeface="Consolas"/>
            </a:endParaRPr>
          </a:p>
        </p:txBody>
      </p:sp>
      <p:sp>
        <p:nvSpPr>
          <p:cNvPr id="78" name="Google Shape;78;p16"/>
          <p:cNvSpPr/>
          <p:nvPr/>
        </p:nvSpPr>
        <p:spPr>
          <a:xfrm>
            <a:off x="4530425" y="2462675"/>
            <a:ext cx="3224700" cy="276900"/>
          </a:xfrm>
          <a:prstGeom prst="rect">
            <a:avLst/>
          </a:prstGeom>
          <a:solidFill>
            <a:srgbClr val="FF0000">
              <a:alpha val="25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p:nvPr/>
        </p:nvSpPr>
        <p:spPr>
          <a:xfrm>
            <a:off x="4684475" y="3331610"/>
            <a:ext cx="1948800" cy="528300"/>
          </a:xfrm>
          <a:prstGeom prst="rect">
            <a:avLst/>
          </a:prstGeom>
          <a:solidFill>
            <a:srgbClr val="00FF00">
              <a:alpha val="5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p:nvPr/>
        </p:nvSpPr>
        <p:spPr>
          <a:xfrm>
            <a:off x="4530425" y="2770250"/>
            <a:ext cx="3115800" cy="251400"/>
          </a:xfrm>
          <a:prstGeom prst="rect">
            <a:avLst/>
          </a:prstGeom>
          <a:solidFill>
            <a:srgbClr val="4285F4">
              <a:alpha val="5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6"/>
          <p:cNvSpPr txBox="1"/>
          <p:nvPr/>
        </p:nvSpPr>
        <p:spPr>
          <a:xfrm>
            <a:off x="7814350" y="2370275"/>
            <a:ext cx="1245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highlight>
                  <a:srgbClr val="FF0000"/>
                </a:highlight>
              </a:rPr>
              <a:t>S</a:t>
            </a:r>
            <a:r>
              <a:rPr lang="en" sz="1800">
                <a:solidFill>
                  <a:schemeClr val="dk1"/>
                </a:solidFill>
                <a:highlight>
                  <a:srgbClr val="FF0000"/>
                </a:highlight>
              </a:rPr>
              <a:t>treaming </a:t>
            </a:r>
            <a:endParaRPr sz="1800">
              <a:solidFill>
                <a:schemeClr val="dk2"/>
              </a:solidFill>
            </a:endParaRPr>
          </a:p>
        </p:txBody>
      </p:sp>
      <p:sp>
        <p:nvSpPr>
          <p:cNvPr id="82" name="Google Shape;82;p16"/>
          <p:cNvSpPr txBox="1"/>
          <p:nvPr/>
        </p:nvSpPr>
        <p:spPr>
          <a:xfrm>
            <a:off x="6627600" y="3269110"/>
            <a:ext cx="2621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highlight>
                  <a:srgbClr val="00FF00"/>
                </a:highlight>
              </a:rPr>
              <a:t>S</a:t>
            </a:r>
            <a:r>
              <a:rPr lang="en" sz="1800">
                <a:solidFill>
                  <a:schemeClr val="dk1"/>
                </a:solidFill>
                <a:highlight>
                  <a:srgbClr val="00FF00"/>
                </a:highlight>
              </a:rPr>
              <a:t>patial</a:t>
            </a:r>
            <a:endParaRPr sz="1800">
              <a:solidFill>
                <a:schemeClr val="dk2"/>
              </a:solidFill>
            </a:endParaRPr>
          </a:p>
        </p:txBody>
      </p:sp>
      <p:sp>
        <p:nvSpPr>
          <p:cNvPr id="83" name="Google Shape;83;p16"/>
          <p:cNvSpPr txBox="1"/>
          <p:nvPr/>
        </p:nvSpPr>
        <p:spPr>
          <a:xfrm>
            <a:off x="7705675" y="2665100"/>
            <a:ext cx="731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highlight>
                  <a:schemeClr val="accent1"/>
                </a:highlight>
              </a:rPr>
              <a:t>Both</a:t>
            </a:r>
            <a:endParaRPr sz="1800">
              <a:solidFill>
                <a:schemeClr val="dk2"/>
              </a:solidFill>
              <a:highlight>
                <a:schemeClr val="accent1"/>
              </a:highlight>
            </a:endParaRPr>
          </a:p>
        </p:txBody>
      </p:sp>
      <p:grpSp>
        <p:nvGrpSpPr>
          <p:cNvPr id="84" name="Google Shape;84;p16"/>
          <p:cNvGrpSpPr/>
          <p:nvPr/>
        </p:nvGrpSpPr>
        <p:grpSpPr>
          <a:xfrm>
            <a:off x="596555" y="1655825"/>
            <a:ext cx="3840600" cy="183000"/>
            <a:chOff x="182880" y="1359075"/>
            <a:chExt cx="3840600" cy="183000"/>
          </a:xfrm>
        </p:grpSpPr>
        <p:sp>
          <p:nvSpPr>
            <p:cNvPr id="85" name="Google Shape;85;p16"/>
            <p:cNvSpPr/>
            <p:nvPr/>
          </p:nvSpPr>
          <p:spPr>
            <a:xfrm>
              <a:off x="182880"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6"/>
            <p:cNvSpPr/>
            <p:nvPr/>
          </p:nvSpPr>
          <p:spPr>
            <a:xfrm>
              <a:off x="375385"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p:nvPr/>
          </p:nvSpPr>
          <p:spPr>
            <a:xfrm>
              <a:off x="567891"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6"/>
            <p:cNvSpPr/>
            <p:nvPr/>
          </p:nvSpPr>
          <p:spPr>
            <a:xfrm>
              <a:off x="760396"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6"/>
            <p:cNvSpPr/>
            <p:nvPr/>
          </p:nvSpPr>
          <p:spPr>
            <a:xfrm>
              <a:off x="952901"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p:nvPr/>
          </p:nvSpPr>
          <p:spPr>
            <a:xfrm>
              <a:off x="1145406"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6"/>
            <p:cNvSpPr/>
            <p:nvPr/>
          </p:nvSpPr>
          <p:spPr>
            <a:xfrm>
              <a:off x="1337912"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p:nvPr/>
          </p:nvSpPr>
          <p:spPr>
            <a:xfrm>
              <a:off x="1530417"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6"/>
            <p:cNvSpPr/>
            <p:nvPr/>
          </p:nvSpPr>
          <p:spPr>
            <a:xfrm>
              <a:off x="1722922"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6"/>
            <p:cNvSpPr/>
            <p:nvPr/>
          </p:nvSpPr>
          <p:spPr>
            <a:xfrm>
              <a:off x="1915427"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6"/>
            <p:cNvSpPr/>
            <p:nvPr/>
          </p:nvSpPr>
          <p:spPr>
            <a:xfrm>
              <a:off x="2107933"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6"/>
            <p:cNvSpPr/>
            <p:nvPr/>
          </p:nvSpPr>
          <p:spPr>
            <a:xfrm>
              <a:off x="2300438"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6"/>
            <p:cNvSpPr/>
            <p:nvPr/>
          </p:nvSpPr>
          <p:spPr>
            <a:xfrm>
              <a:off x="2492943"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6"/>
            <p:cNvSpPr/>
            <p:nvPr/>
          </p:nvSpPr>
          <p:spPr>
            <a:xfrm>
              <a:off x="2685448"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6"/>
            <p:cNvSpPr/>
            <p:nvPr/>
          </p:nvSpPr>
          <p:spPr>
            <a:xfrm>
              <a:off x="2877954"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6"/>
            <p:cNvSpPr/>
            <p:nvPr/>
          </p:nvSpPr>
          <p:spPr>
            <a:xfrm>
              <a:off x="3070459"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3262964"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p:nvPr/>
          </p:nvSpPr>
          <p:spPr>
            <a:xfrm>
              <a:off x="3455469"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6"/>
            <p:cNvSpPr/>
            <p:nvPr/>
          </p:nvSpPr>
          <p:spPr>
            <a:xfrm>
              <a:off x="3647975"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6"/>
            <p:cNvSpPr/>
            <p:nvPr/>
          </p:nvSpPr>
          <p:spPr>
            <a:xfrm>
              <a:off x="3840480"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 name="Google Shape;105;p16"/>
          <p:cNvSpPr txBox="1"/>
          <p:nvPr/>
        </p:nvSpPr>
        <p:spPr>
          <a:xfrm>
            <a:off x="1992600" y="1105925"/>
            <a:ext cx="104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Memory</a:t>
            </a:r>
            <a:endParaRPr sz="1800">
              <a:solidFill>
                <a:schemeClr val="dk1"/>
              </a:solidFill>
            </a:endParaRPr>
          </a:p>
        </p:txBody>
      </p:sp>
      <p:sp>
        <p:nvSpPr>
          <p:cNvPr id="106" name="Google Shape;106;p16"/>
          <p:cNvSpPr txBox="1"/>
          <p:nvPr/>
        </p:nvSpPr>
        <p:spPr>
          <a:xfrm rot="-5400000">
            <a:off x="-809400" y="2232075"/>
            <a:ext cx="208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Time</a:t>
            </a:r>
            <a:endParaRPr sz="1800">
              <a:solidFill>
                <a:schemeClr val="dk1"/>
              </a:solidFill>
            </a:endParaRPr>
          </a:p>
        </p:txBody>
      </p:sp>
      <p:cxnSp>
        <p:nvCxnSpPr>
          <p:cNvPr id="107" name="Google Shape;107;p16"/>
          <p:cNvCxnSpPr/>
          <p:nvPr/>
        </p:nvCxnSpPr>
        <p:spPr>
          <a:xfrm flipH="1">
            <a:off x="496525" y="2002000"/>
            <a:ext cx="19800" cy="2799300"/>
          </a:xfrm>
          <a:prstGeom prst="straightConnector1">
            <a:avLst/>
          </a:prstGeom>
          <a:noFill/>
          <a:ln cap="flat" cmpd="sng" w="38100">
            <a:solidFill>
              <a:schemeClr val="dk1"/>
            </a:solidFill>
            <a:prstDash val="solid"/>
            <a:round/>
            <a:headEnd len="med" w="med" type="none"/>
            <a:tailEnd len="med" w="med" type="triangle"/>
          </a:ln>
        </p:spPr>
      </p:cxnSp>
      <p:grpSp>
        <p:nvGrpSpPr>
          <p:cNvPr id="108" name="Google Shape;108;p16"/>
          <p:cNvGrpSpPr/>
          <p:nvPr/>
        </p:nvGrpSpPr>
        <p:grpSpPr>
          <a:xfrm>
            <a:off x="596550" y="2011680"/>
            <a:ext cx="732000" cy="2377560"/>
            <a:chOff x="596550" y="2011680"/>
            <a:chExt cx="732000" cy="2377560"/>
          </a:xfrm>
        </p:grpSpPr>
        <p:sp>
          <p:nvSpPr>
            <p:cNvPr id="109" name="Google Shape;109;p16"/>
            <p:cNvSpPr/>
            <p:nvPr/>
          </p:nvSpPr>
          <p:spPr>
            <a:xfrm>
              <a:off x="596550" y="201168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6"/>
            <p:cNvSpPr/>
            <p:nvPr/>
          </p:nvSpPr>
          <p:spPr>
            <a:xfrm>
              <a:off x="779550" y="274320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6"/>
            <p:cNvSpPr/>
            <p:nvPr/>
          </p:nvSpPr>
          <p:spPr>
            <a:xfrm>
              <a:off x="962550" y="347472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6"/>
            <p:cNvSpPr/>
            <p:nvPr/>
          </p:nvSpPr>
          <p:spPr>
            <a:xfrm>
              <a:off x="1145550" y="420624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3" name="Google Shape;113;p16"/>
          <p:cNvGrpSpPr/>
          <p:nvPr/>
        </p:nvGrpSpPr>
        <p:grpSpPr>
          <a:xfrm>
            <a:off x="1737360" y="2194560"/>
            <a:ext cx="731640" cy="2377560"/>
            <a:chOff x="1737360" y="2194560"/>
            <a:chExt cx="731640" cy="2377560"/>
          </a:xfrm>
        </p:grpSpPr>
        <p:sp>
          <p:nvSpPr>
            <p:cNvPr id="114" name="Google Shape;114;p16"/>
            <p:cNvSpPr/>
            <p:nvPr/>
          </p:nvSpPr>
          <p:spPr>
            <a:xfrm>
              <a:off x="1737360" y="219456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6"/>
            <p:cNvSpPr/>
            <p:nvPr/>
          </p:nvSpPr>
          <p:spPr>
            <a:xfrm>
              <a:off x="1920240" y="292608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6"/>
            <p:cNvSpPr/>
            <p:nvPr/>
          </p:nvSpPr>
          <p:spPr>
            <a:xfrm>
              <a:off x="2103120" y="365760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6"/>
            <p:cNvSpPr/>
            <p:nvPr/>
          </p:nvSpPr>
          <p:spPr>
            <a:xfrm>
              <a:off x="2286000" y="438912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8" name="Google Shape;118;p16"/>
          <p:cNvGrpSpPr/>
          <p:nvPr/>
        </p:nvGrpSpPr>
        <p:grpSpPr>
          <a:xfrm>
            <a:off x="2926080" y="2377440"/>
            <a:ext cx="1511070" cy="2560440"/>
            <a:chOff x="2926080" y="2377440"/>
            <a:chExt cx="1511070" cy="2560440"/>
          </a:xfrm>
        </p:grpSpPr>
        <p:grpSp>
          <p:nvGrpSpPr>
            <p:cNvPr id="119" name="Google Shape;119;p16"/>
            <p:cNvGrpSpPr/>
            <p:nvPr/>
          </p:nvGrpSpPr>
          <p:grpSpPr>
            <a:xfrm>
              <a:off x="2926080" y="2377440"/>
              <a:ext cx="366000" cy="365880"/>
              <a:chOff x="2919050" y="2377440"/>
              <a:chExt cx="366000" cy="365880"/>
            </a:xfrm>
          </p:grpSpPr>
          <p:sp>
            <p:nvSpPr>
              <p:cNvPr id="120" name="Google Shape;120;p16"/>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6"/>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2" name="Google Shape;122;p16"/>
            <p:cNvGrpSpPr/>
            <p:nvPr/>
          </p:nvGrpSpPr>
          <p:grpSpPr>
            <a:xfrm>
              <a:off x="4071150" y="3108960"/>
              <a:ext cx="366000" cy="365880"/>
              <a:chOff x="2919050" y="2377440"/>
              <a:chExt cx="366000" cy="365880"/>
            </a:xfrm>
          </p:grpSpPr>
          <p:sp>
            <p:nvSpPr>
              <p:cNvPr id="123" name="Google Shape;123;p16"/>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6"/>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5" name="Google Shape;125;p16"/>
            <p:cNvGrpSpPr/>
            <p:nvPr/>
          </p:nvGrpSpPr>
          <p:grpSpPr>
            <a:xfrm>
              <a:off x="3291840" y="3840480"/>
              <a:ext cx="366000" cy="365880"/>
              <a:chOff x="2919050" y="2377440"/>
              <a:chExt cx="366000" cy="365880"/>
            </a:xfrm>
          </p:grpSpPr>
          <p:sp>
            <p:nvSpPr>
              <p:cNvPr id="126" name="Google Shape;126;p16"/>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6"/>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8" name="Google Shape;128;p16"/>
            <p:cNvGrpSpPr/>
            <p:nvPr/>
          </p:nvGrpSpPr>
          <p:grpSpPr>
            <a:xfrm>
              <a:off x="3657600" y="4572000"/>
              <a:ext cx="366000" cy="365880"/>
              <a:chOff x="2919050" y="2377440"/>
              <a:chExt cx="366000" cy="365880"/>
            </a:xfrm>
          </p:grpSpPr>
          <p:sp>
            <p:nvSpPr>
              <p:cNvPr id="129" name="Google Shape;129;p16"/>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6"/>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31" name="Google Shape;131;p16"/>
          <p:cNvSpPr txBox="1"/>
          <p:nvPr/>
        </p:nvSpPr>
        <p:spPr>
          <a:xfrm>
            <a:off x="3082281" y="2232075"/>
            <a:ext cx="4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rgbClr val="00FF00"/>
                </a:solidFill>
              </a:rPr>
              <a:t>Δ</a:t>
            </a:r>
            <a:r>
              <a:rPr baseline="-25000" lang="en" sz="1800">
                <a:solidFill>
                  <a:srgbClr val="00FF00"/>
                </a:solidFill>
              </a:rPr>
              <a:t>3</a:t>
            </a:r>
            <a:r>
              <a:rPr lang="en" sz="1800">
                <a:solidFill>
                  <a:srgbClr val="00FF00"/>
                </a:solidFill>
              </a:rPr>
              <a:t> </a:t>
            </a:r>
            <a:endParaRPr sz="1800">
              <a:solidFill>
                <a:srgbClr val="00FF00"/>
              </a:solidFill>
            </a:endParaRPr>
          </a:p>
        </p:txBody>
      </p:sp>
      <p:cxnSp>
        <p:nvCxnSpPr>
          <p:cNvPr id="132" name="Google Shape;132;p16"/>
          <p:cNvCxnSpPr>
            <a:stCxn id="109" idx="4"/>
            <a:endCxn id="110" idx="0"/>
          </p:cNvCxnSpPr>
          <p:nvPr/>
        </p:nvCxnSpPr>
        <p:spPr>
          <a:xfrm>
            <a:off x="688050" y="2194680"/>
            <a:ext cx="183000" cy="54840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p16"/>
          <p:cNvCxnSpPr>
            <a:stCxn id="120" idx="7"/>
            <a:endCxn id="121" idx="1"/>
          </p:cNvCxnSpPr>
          <p:nvPr/>
        </p:nvCxnSpPr>
        <p:spPr>
          <a:xfrm>
            <a:off x="3082280" y="2404240"/>
            <a:ext cx="53700" cy="18300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16"/>
          <p:cNvSpPr txBox="1"/>
          <p:nvPr/>
        </p:nvSpPr>
        <p:spPr>
          <a:xfrm>
            <a:off x="750175" y="2232075"/>
            <a:ext cx="51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Δ</a:t>
            </a:r>
            <a:r>
              <a:rPr baseline="-25000" lang="en" sz="1800">
                <a:solidFill>
                  <a:srgbClr val="FF0000"/>
                </a:solidFill>
              </a:rPr>
              <a:t>1</a:t>
            </a:r>
            <a:r>
              <a:rPr lang="en" sz="1800">
                <a:solidFill>
                  <a:schemeClr val="dk2"/>
                </a:solidFill>
              </a:rPr>
              <a:t> </a:t>
            </a:r>
            <a:endParaRPr sz="1800">
              <a:solidFill>
                <a:schemeClr val="dk2"/>
              </a:solidFill>
            </a:endParaRPr>
          </a:p>
        </p:txBody>
      </p:sp>
      <p:cxnSp>
        <p:nvCxnSpPr>
          <p:cNvPr id="135" name="Google Shape;135;p16"/>
          <p:cNvCxnSpPr>
            <a:stCxn id="110" idx="5"/>
            <a:endCxn id="115" idx="3"/>
          </p:cNvCxnSpPr>
          <p:nvPr/>
        </p:nvCxnSpPr>
        <p:spPr>
          <a:xfrm>
            <a:off x="935750" y="2899400"/>
            <a:ext cx="1011300" cy="183000"/>
          </a:xfrm>
          <a:prstGeom prst="straightConnector1">
            <a:avLst/>
          </a:prstGeom>
          <a:noFill/>
          <a:ln cap="flat" cmpd="sng" w="9525">
            <a:solidFill>
              <a:schemeClr val="dk2"/>
            </a:solidFill>
            <a:prstDash val="solid"/>
            <a:round/>
            <a:headEnd len="med" w="med" type="none"/>
            <a:tailEnd len="med" w="med" type="triangle"/>
          </a:ln>
        </p:spPr>
      </p:cxnSp>
      <p:cxnSp>
        <p:nvCxnSpPr>
          <p:cNvPr id="136" name="Google Shape;136;p16"/>
          <p:cNvCxnSpPr>
            <a:stCxn id="114" idx="4"/>
            <a:endCxn id="115" idx="0"/>
          </p:cNvCxnSpPr>
          <p:nvPr/>
        </p:nvCxnSpPr>
        <p:spPr>
          <a:xfrm>
            <a:off x="1828860" y="2377560"/>
            <a:ext cx="183000" cy="548400"/>
          </a:xfrm>
          <a:prstGeom prst="straightConnector1">
            <a:avLst/>
          </a:prstGeom>
          <a:noFill/>
          <a:ln cap="flat" cmpd="sng" w="9525">
            <a:solidFill>
              <a:schemeClr val="dk2"/>
            </a:solidFill>
            <a:prstDash val="solid"/>
            <a:round/>
            <a:headEnd len="med" w="med" type="none"/>
            <a:tailEnd len="med" w="med" type="triangle"/>
          </a:ln>
        </p:spPr>
      </p:cxnSp>
      <p:sp>
        <p:nvSpPr>
          <p:cNvPr id="137" name="Google Shape;137;p16"/>
          <p:cNvSpPr txBox="1"/>
          <p:nvPr/>
        </p:nvSpPr>
        <p:spPr>
          <a:xfrm>
            <a:off x="1505409" y="2645325"/>
            <a:ext cx="51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Δ</a:t>
            </a:r>
            <a:r>
              <a:rPr baseline="-25000" lang="en" sz="1800">
                <a:solidFill>
                  <a:schemeClr val="accent1"/>
                </a:solidFill>
              </a:rPr>
              <a:t>4</a:t>
            </a:r>
            <a:r>
              <a:rPr lang="en" sz="1800">
                <a:solidFill>
                  <a:srgbClr val="00FF00"/>
                </a:solidFill>
              </a:rPr>
              <a:t> </a:t>
            </a:r>
            <a:endParaRPr sz="1800">
              <a:solidFill>
                <a:srgbClr val="00FF00"/>
              </a:solidFill>
            </a:endParaRPr>
          </a:p>
        </p:txBody>
      </p:sp>
      <p:sp>
        <p:nvSpPr>
          <p:cNvPr id="138" name="Google Shape;138;p16"/>
          <p:cNvSpPr txBox="1"/>
          <p:nvPr/>
        </p:nvSpPr>
        <p:spPr>
          <a:xfrm>
            <a:off x="1916225" y="2264900"/>
            <a:ext cx="4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Δ</a:t>
            </a:r>
            <a:r>
              <a:rPr baseline="-25000" lang="en" sz="1800">
                <a:solidFill>
                  <a:schemeClr val="accent1"/>
                </a:solidFill>
              </a:rPr>
              <a:t>2</a:t>
            </a:r>
            <a:r>
              <a:rPr lang="en" sz="1800">
                <a:solidFill>
                  <a:srgbClr val="FFFF00"/>
                </a:solidFill>
              </a:rPr>
              <a:t> </a:t>
            </a:r>
            <a:endParaRPr sz="1800">
              <a:solidFill>
                <a:srgbClr val="FFFF00"/>
              </a:solidFill>
            </a:endParaRPr>
          </a:p>
        </p:txBody>
      </p:sp>
      <p:sp>
        <p:nvSpPr>
          <p:cNvPr id="139" name="Google Shape;13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Background</a:t>
            </a:r>
            <a:r>
              <a:rPr lang="en"/>
              <a:t>: Berti Design</a:t>
            </a:r>
            <a:r>
              <a:rPr lang="en" sz="1000">
                <a:solidFill>
                  <a:srgbClr val="CCCCCC"/>
                </a:solidFill>
              </a:rPr>
              <a:t>[Navarro-Torres et al. MICRO’22]</a:t>
            </a:r>
            <a:endParaRPr/>
          </a:p>
        </p:txBody>
      </p:sp>
      <p:sp>
        <p:nvSpPr>
          <p:cNvPr id="145" name="Google Shape;14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Berti Overview</a:t>
            </a:r>
            <a:endParaRPr/>
          </a:p>
        </p:txBody>
      </p:sp>
      <p:sp>
        <p:nvSpPr>
          <p:cNvPr id="151" name="Google Shape;151;p18"/>
          <p:cNvSpPr/>
          <p:nvPr/>
        </p:nvSpPr>
        <p:spPr>
          <a:xfrm>
            <a:off x="4195900" y="1220600"/>
            <a:ext cx="1681500" cy="94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History Table</a:t>
            </a:r>
            <a:endParaRPr/>
          </a:p>
        </p:txBody>
      </p:sp>
      <p:sp>
        <p:nvSpPr>
          <p:cNvPr id="152" name="Google Shape;152;p18"/>
          <p:cNvSpPr/>
          <p:nvPr/>
        </p:nvSpPr>
        <p:spPr>
          <a:xfrm>
            <a:off x="4195900" y="3005000"/>
            <a:ext cx="1681500" cy="94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Delta Table</a:t>
            </a:r>
            <a:endParaRPr/>
          </a:p>
        </p:txBody>
      </p:sp>
      <p:sp>
        <p:nvSpPr>
          <p:cNvPr id="153" name="Google Shape;153;p18"/>
          <p:cNvSpPr txBox="1"/>
          <p:nvPr/>
        </p:nvSpPr>
        <p:spPr>
          <a:xfrm>
            <a:off x="585575" y="2340900"/>
            <a:ext cx="2720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Instruction Pointer (IP),</a:t>
            </a:r>
            <a:endParaRPr sz="1800">
              <a:solidFill>
                <a:schemeClr val="dk1"/>
              </a:solidFill>
            </a:endParaRPr>
          </a:p>
          <a:p>
            <a:pPr indent="0" lvl="0" marL="0" rtl="0" algn="l">
              <a:spcBef>
                <a:spcPts val="0"/>
              </a:spcBef>
              <a:spcAft>
                <a:spcPts val="0"/>
              </a:spcAft>
              <a:buNone/>
            </a:pPr>
            <a:r>
              <a:rPr lang="en" sz="1800">
                <a:solidFill>
                  <a:schemeClr val="dk1"/>
                </a:solidFill>
              </a:rPr>
              <a:t>Access Address,</a:t>
            </a:r>
            <a:endParaRPr sz="1800">
              <a:solidFill>
                <a:schemeClr val="dk1"/>
              </a:solidFill>
            </a:endParaRPr>
          </a:p>
          <a:p>
            <a:pPr indent="0" lvl="0" marL="0" rtl="0" algn="l">
              <a:spcBef>
                <a:spcPts val="0"/>
              </a:spcBef>
              <a:spcAft>
                <a:spcPts val="0"/>
              </a:spcAft>
              <a:buNone/>
            </a:pPr>
            <a:r>
              <a:rPr lang="en" sz="1800">
                <a:solidFill>
                  <a:schemeClr val="dk1"/>
                </a:solidFill>
              </a:rPr>
              <a:t>Cycle</a:t>
            </a:r>
            <a:endParaRPr sz="1800">
              <a:solidFill>
                <a:schemeClr val="dk1"/>
              </a:solidFill>
            </a:endParaRPr>
          </a:p>
        </p:txBody>
      </p:sp>
      <p:cxnSp>
        <p:nvCxnSpPr>
          <p:cNvPr id="154" name="Google Shape;154;p18"/>
          <p:cNvCxnSpPr>
            <a:stCxn id="153" idx="0"/>
            <a:endCxn id="151" idx="1"/>
          </p:cNvCxnSpPr>
          <p:nvPr/>
        </p:nvCxnSpPr>
        <p:spPr>
          <a:xfrm rot="-5400000">
            <a:off x="2747975" y="892950"/>
            <a:ext cx="645600" cy="2250300"/>
          </a:xfrm>
          <a:prstGeom prst="bentConnector2">
            <a:avLst/>
          </a:prstGeom>
          <a:noFill/>
          <a:ln cap="flat" cmpd="sng" w="38100">
            <a:solidFill>
              <a:schemeClr val="dk1"/>
            </a:solidFill>
            <a:prstDash val="solid"/>
            <a:round/>
            <a:headEnd len="med" w="med" type="none"/>
            <a:tailEnd len="med" w="med" type="stealth"/>
          </a:ln>
        </p:spPr>
      </p:cxnSp>
      <p:cxnSp>
        <p:nvCxnSpPr>
          <p:cNvPr id="155" name="Google Shape;155;p18"/>
          <p:cNvCxnSpPr>
            <a:stCxn id="151" idx="2"/>
            <a:endCxn id="152" idx="0"/>
          </p:cNvCxnSpPr>
          <p:nvPr/>
        </p:nvCxnSpPr>
        <p:spPr>
          <a:xfrm>
            <a:off x="5036650" y="2170100"/>
            <a:ext cx="0" cy="834900"/>
          </a:xfrm>
          <a:prstGeom prst="straightConnector1">
            <a:avLst/>
          </a:prstGeom>
          <a:noFill/>
          <a:ln cap="flat" cmpd="sng" w="38100">
            <a:solidFill>
              <a:schemeClr val="dk1"/>
            </a:solidFill>
            <a:prstDash val="solid"/>
            <a:round/>
            <a:headEnd len="med" w="med" type="none"/>
            <a:tailEnd len="med" w="med" type="triangle"/>
          </a:ln>
        </p:spPr>
      </p:cxnSp>
      <p:cxnSp>
        <p:nvCxnSpPr>
          <p:cNvPr id="156" name="Google Shape;156;p18"/>
          <p:cNvCxnSpPr>
            <a:stCxn id="153" idx="2"/>
            <a:endCxn id="152" idx="1"/>
          </p:cNvCxnSpPr>
          <p:nvPr/>
        </p:nvCxnSpPr>
        <p:spPr>
          <a:xfrm flipH="1" rot="-5400000">
            <a:off x="3009275" y="2293050"/>
            <a:ext cx="123000" cy="2250300"/>
          </a:xfrm>
          <a:prstGeom prst="bentConnector2">
            <a:avLst/>
          </a:prstGeom>
          <a:noFill/>
          <a:ln cap="flat" cmpd="sng" w="38100">
            <a:solidFill>
              <a:schemeClr val="dk1"/>
            </a:solidFill>
            <a:prstDash val="solid"/>
            <a:round/>
            <a:headEnd len="med" w="med" type="none"/>
            <a:tailEnd len="med" w="med" type="stealth"/>
          </a:ln>
        </p:spPr>
      </p:cxnSp>
      <p:sp>
        <p:nvSpPr>
          <p:cNvPr id="157" name="Google Shape;157;p18"/>
          <p:cNvSpPr txBox="1"/>
          <p:nvPr/>
        </p:nvSpPr>
        <p:spPr>
          <a:xfrm>
            <a:off x="6480825" y="3248900"/>
            <a:ext cx="294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Prefetch Addresses</a:t>
            </a:r>
            <a:endParaRPr sz="1800">
              <a:solidFill>
                <a:schemeClr val="dk1"/>
              </a:solidFill>
            </a:endParaRPr>
          </a:p>
        </p:txBody>
      </p:sp>
      <p:cxnSp>
        <p:nvCxnSpPr>
          <p:cNvPr id="158" name="Google Shape;158;p18"/>
          <p:cNvCxnSpPr>
            <a:stCxn id="152" idx="3"/>
            <a:endCxn id="157" idx="1"/>
          </p:cNvCxnSpPr>
          <p:nvPr/>
        </p:nvCxnSpPr>
        <p:spPr>
          <a:xfrm>
            <a:off x="5877400" y="3479750"/>
            <a:ext cx="603300" cy="0"/>
          </a:xfrm>
          <a:prstGeom prst="straightConnector1">
            <a:avLst/>
          </a:prstGeom>
          <a:noFill/>
          <a:ln cap="flat" cmpd="sng" w="38100">
            <a:solidFill>
              <a:schemeClr val="dk1"/>
            </a:solidFill>
            <a:prstDash val="solid"/>
            <a:round/>
            <a:headEnd len="med" w="med" type="none"/>
            <a:tailEnd len="med" w="med" type="triangle"/>
          </a:ln>
        </p:spPr>
      </p:cxnSp>
      <p:sp>
        <p:nvSpPr>
          <p:cNvPr id="159" name="Google Shape;159;p18"/>
          <p:cNvSpPr txBox="1"/>
          <p:nvPr/>
        </p:nvSpPr>
        <p:spPr>
          <a:xfrm>
            <a:off x="5036650" y="2356700"/>
            <a:ext cx="398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Timely Deltas</a:t>
            </a:r>
            <a:endParaRPr sz="1800">
              <a:solidFill>
                <a:schemeClr val="dk1"/>
              </a:solidFill>
            </a:endParaRPr>
          </a:p>
        </p:txBody>
      </p:sp>
      <p:sp>
        <p:nvSpPr>
          <p:cNvPr id="160" name="Google Shape;160;p18"/>
          <p:cNvSpPr txBox="1"/>
          <p:nvPr/>
        </p:nvSpPr>
        <p:spPr>
          <a:xfrm>
            <a:off x="6480825" y="1456363"/>
            <a:ext cx="261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Fill Latencies</a:t>
            </a:r>
            <a:endParaRPr sz="1800">
              <a:solidFill>
                <a:schemeClr val="dk1"/>
              </a:solidFill>
            </a:endParaRPr>
          </a:p>
        </p:txBody>
      </p:sp>
      <p:cxnSp>
        <p:nvCxnSpPr>
          <p:cNvPr id="161" name="Google Shape;161;p18"/>
          <p:cNvCxnSpPr>
            <a:stCxn id="160" idx="1"/>
            <a:endCxn id="151" idx="3"/>
          </p:cNvCxnSpPr>
          <p:nvPr/>
        </p:nvCxnSpPr>
        <p:spPr>
          <a:xfrm flipH="1">
            <a:off x="5877525" y="1687213"/>
            <a:ext cx="603300" cy="8100"/>
          </a:xfrm>
          <a:prstGeom prst="straightConnector1">
            <a:avLst/>
          </a:prstGeom>
          <a:noFill/>
          <a:ln cap="flat" cmpd="sng" w="38100">
            <a:solidFill>
              <a:schemeClr val="dk1"/>
            </a:solidFill>
            <a:prstDash val="solid"/>
            <a:round/>
            <a:headEnd len="med" w="med" type="none"/>
            <a:tailEnd len="med" w="med" type="triangle"/>
          </a:ln>
        </p:spPr>
      </p:cxnSp>
      <p:sp>
        <p:nvSpPr>
          <p:cNvPr id="162" name="Google Shape;16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graphicFrame>
        <p:nvGraphicFramePr>
          <p:cNvPr id="167" name="Google Shape;167;p19"/>
          <p:cNvGraphicFramePr/>
          <p:nvPr/>
        </p:nvGraphicFramePr>
        <p:xfrm>
          <a:off x="1075200" y="3006025"/>
          <a:ext cx="3000000" cy="3000000"/>
        </p:xfrm>
        <a:graphic>
          <a:graphicData uri="http://schemas.openxmlformats.org/drawingml/2006/table">
            <a:tbl>
              <a:tblPr>
                <a:noFill/>
                <a:tableStyleId>{D6CEBF9E-C40A-4499-BFC6-E9B8EEB65CE8}</a:tableStyleId>
              </a:tblPr>
              <a:tblGrid>
                <a:gridCol w="1155675"/>
                <a:gridCol w="957825"/>
                <a:gridCol w="1056750"/>
                <a:gridCol w="1056750"/>
                <a:gridCol w="1056750"/>
                <a:gridCol w="1056750"/>
                <a:gridCol w="1056750"/>
              </a:tblGrid>
              <a:tr h="3810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Counter</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Delta</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Coverage</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Delta</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Coverage</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LD heads[i]</a:t>
                      </a:r>
                      <a:endParaRPr/>
                    </a:p>
                  </a:txBody>
                  <a:tcPr marT="91425" marB="91425" marR="91425" marL="91425"/>
                </a:tc>
                <a:tc>
                  <a:txBody>
                    <a:bodyPr/>
                    <a:lstStyle/>
                    <a:p>
                      <a:pPr indent="0" lvl="0" marL="0" rtl="0" algn="l">
                        <a:spcBef>
                          <a:spcPts val="0"/>
                        </a:spcBef>
                        <a:spcAft>
                          <a:spcPts val="0"/>
                        </a:spcAft>
                        <a:buNone/>
                      </a:pPr>
                      <a:r>
                        <a:rPr lang="en"/>
                        <a:t>5</a:t>
                      </a:r>
                      <a:r>
                        <a:rPr lang="en">
                          <a:solidFill>
                            <a:srgbClr val="FF0000"/>
                          </a:solidFill>
                        </a:rPr>
                        <a:t>+1</a:t>
                      </a:r>
                      <a:endParaRPr>
                        <a:solidFill>
                          <a:srgbClr val="FF0000"/>
                        </a:solidFill>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0x10</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3</a:t>
                      </a:r>
                      <a:r>
                        <a:rPr lang="en">
                          <a:solidFill>
                            <a:srgbClr val="FF0000"/>
                          </a:solidFill>
                        </a:rPr>
                        <a:t>+1</a:t>
                      </a:r>
                      <a:endParaRPr>
                        <a:solidFill>
                          <a:srgbClr val="FF0000"/>
                        </a:solidFill>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0x20</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1</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r>
            </a:tbl>
          </a:graphicData>
        </a:graphic>
      </p:graphicFrame>
      <p:sp>
        <p:nvSpPr>
          <p:cNvPr id="168" name="Google Shape;168;p19"/>
          <p:cNvSpPr/>
          <p:nvPr/>
        </p:nvSpPr>
        <p:spPr>
          <a:xfrm>
            <a:off x="4467025" y="3449503"/>
            <a:ext cx="548100" cy="28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Berti prefetches with timely deltas</a:t>
            </a:r>
            <a:endParaRPr/>
          </a:p>
        </p:txBody>
      </p:sp>
      <p:sp>
        <p:nvSpPr>
          <p:cNvPr id="170" name="Google Shape;170;p19"/>
          <p:cNvSpPr txBox="1"/>
          <p:nvPr/>
        </p:nvSpPr>
        <p:spPr>
          <a:xfrm>
            <a:off x="3405200" y="2116350"/>
            <a:ext cx="205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Timely Δ=0x10</a:t>
            </a:r>
            <a:endParaRPr sz="1800">
              <a:solidFill>
                <a:srgbClr val="FF0000"/>
              </a:solidFill>
            </a:endParaRPr>
          </a:p>
        </p:txBody>
      </p:sp>
      <p:cxnSp>
        <p:nvCxnSpPr>
          <p:cNvPr id="171" name="Google Shape;171;p19"/>
          <p:cNvCxnSpPr>
            <a:stCxn id="170" idx="2"/>
          </p:cNvCxnSpPr>
          <p:nvPr/>
        </p:nvCxnSpPr>
        <p:spPr>
          <a:xfrm flipH="1">
            <a:off x="4425050" y="2578050"/>
            <a:ext cx="9300" cy="449100"/>
          </a:xfrm>
          <a:prstGeom prst="straightConnector1">
            <a:avLst/>
          </a:prstGeom>
          <a:noFill/>
          <a:ln cap="flat" cmpd="sng" w="38100">
            <a:solidFill>
              <a:schemeClr val="dk1"/>
            </a:solidFill>
            <a:prstDash val="solid"/>
            <a:round/>
            <a:headEnd len="med" w="med" type="none"/>
            <a:tailEnd len="med" w="med" type="triangle"/>
          </a:ln>
        </p:spPr>
      </p:cxnSp>
      <p:sp>
        <p:nvSpPr>
          <p:cNvPr id="172" name="Google Shape;172;p19"/>
          <p:cNvSpPr txBox="1"/>
          <p:nvPr/>
        </p:nvSpPr>
        <p:spPr>
          <a:xfrm>
            <a:off x="457200" y="2476325"/>
            <a:ext cx="144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LD 0x120</a:t>
            </a:r>
            <a:endParaRPr sz="1800">
              <a:solidFill>
                <a:schemeClr val="dk1"/>
              </a:solidFill>
            </a:endParaRPr>
          </a:p>
        </p:txBody>
      </p:sp>
      <p:cxnSp>
        <p:nvCxnSpPr>
          <p:cNvPr id="173" name="Google Shape;173;p19"/>
          <p:cNvCxnSpPr/>
          <p:nvPr/>
        </p:nvCxnSpPr>
        <p:spPr>
          <a:xfrm flipH="1" rot="5400000">
            <a:off x="436575" y="3024625"/>
            <a:ext cx="806700" cy="496500"/>
          </a:xfrm>
          <a:prstGeom prst="bentConnector3">
            <a:avLst>
              <a:gd fmla="val 0" name="adj1"/>
            </a:avLst>
          </a:prstGeom>
          <a:noFill/>
          <a:ln cap="flat" cmpd="sng" w="38100">
            <a:solidFill>
              <a:schemeClr val="dk1"/>
            </a:solidFill>
            <a:prstDash val="solid"/>
            <a:round/>
            <a:headEnd len="med" w="med" type="triangle"/>
            <a:tailEnd len="med" w="med" type="none"/>
          </a:ln>
        </p:spPr>
      </p:cxnSp>
      <p:sp>
        <p:nvSpPr>
          <p:cNvPr id="174" name="Google Shape;174;p19"/>
          <p:cNvSpPr txBox="1"/>
          <p:nvPr/>
        </p:nvSpPr>
        <p:spPr>
          <a:xfrm>
            <a:off x="5764200" y="4388125"/>
            <a:ext cx="405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Prefetch 0x120+0x10=0x130</a:t>
            </a:r>
            <a:endParaRPr sz="1800">
              <a:solidFill>
                <a:schemeClr val="dk1"/>
              </a:solidFill>
            </a:endParaRPr>
          </a:p>
        </p:txBody>
      </p:sp>
      <p:cxnSp>
        <p:nvCxnSpPr>
          <p:cNvPr id="175" name="Google Shape;175;p19"/>
          <p:cNvCxnSpPr/>
          <p:nvPr/>
        </p:nvCxnSpPr>
        <p:spPr>
          <a:xfrm flipH="1" rot="-5400000">
            <a:off x="8184075" y="3852075"/>
            <a:ext cx="858600" cy="279300"/>
          </a:xfrm>
          <a:prstGeom prst="bentConnector3">
            <a:avLst>
              <a:gd fmla="val 3616" name="adj1"/>
            </a:avLst>
          </a:prstGeom>
          <a:noFill/>
          <a:ln cap="flat" cmpd="sng" w="38100">
            <a:solidFill>
              <a:schemeClr val="dk1"/>
            </a:solidFill>
            <a:prstDash val="solid"/>
            <a:round/>
            <a:headEnd len="med" w="med" type="none"/>
            <a:tailEnd len="med" w="med" type="stealth"/>
          </a:ln>
        </p:spPr>
      </p:cxnSp>
      <p:sp>
        <p:nvSpPr>
          <p:cNvPr id="176" name="Google Shape;176;p19"/>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177" name="Google Shape;177;p19"/>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178" name="Google Shape;178;p19"/>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179" name="Google Shape;179;p19"/>
          <p:cNvCxnSpPr>
            <a:stCxn id="178" idx="0"/>
            <a:endCxn id="176"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180" name="Google Shape;180;p19"/>
          <p:cNvCxnSpPr>
            <a:stCxn id="176" idx="2"/>
            <a:endCxn id="177"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181" name="Google Shape;181;p19"/>
          <p:cNvCxnSpPr>
            <a:stCxn id="178" idx="2"/>
            <a:endCxn id="177"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182" name="Google Shape;182;p19"/>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183" name="Google Shape;183;p19"/>
          <p:cNvCxnSpPr>
            <a:stCxn id="177" idx="3"/>
            <a:endCxn id="182"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184" name="Google Shape;184;p19"/>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185" name="Google Shape;185;p19"/>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186" name="Google Shape;186;p19"/>
          <p:cNvCxnSpPr>
            <a:stCxn id="185" idx="1"/>
            <a:endCxn id="176"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187" name="Google Shape;187;p19"/>
          <p:cNvSpPr/>
          <p:nvPr/>
        </p:nvSpPr>
        <p:spPr>
          <a:xfrm>
            <a:off x="7896925" y="44502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19"/>
          <p:cNvSpPr/>
          <p:nvPr/>
        </p:nvSpPr>
        <p:spPr>
          <a:xfrm>
            <a:off x="2445125" y="3472350"/>
            <a:ext cx="279300" cy="231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How Berti finds timely deltas for streaming patterns</a:t>
            </a:r>
            <a:endParaRPr/>
          </a:p>
          <a:p>
            <a:pPr indent="0" lvl="0" marL="0" rtl="0" algn="l">
              <a:spcBef>
                <a:spcPts val="0"/>
              </a:spcBef>
              <a:spcAft>
                <a:spcPts val="0"/>
              </a:spcAft>
              <a:buNone/>
            </a:pPr>
            <a:r>
              <a:t/>
            </a:r>
            <a:endParaRPr/>
          </a:p>
        </p:txBody>
      </p:sp>
      <p:sp>
        <p:nvSpPr>
          <p:cNvPr id="195" name="Google Shape;195;p20"/>
          <p:cNvSpPr txBox="1"/>
          <p:nvPr/>
        </p:nvSpPr>
        <p:spPr>
          <a:xfrm>
            <a:off x="1822275" y="1017725"/>
            <a:ext cx="569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h = heads[0]</a:t>
            </a:r>
            <a:r>
              <a:rPr lang="en" sz="1800">
                <a:solidFill>
                  <a:schemeClr val="dk1"/>
                </a:solidFill>
              </a:rPr>
              <a:t> Loads Addr 0x100 at timestamp 5</a:t>
            </a:r>
            <a:endParaRPr sz="1800">
              <a:solidFill>
                <a:schemeClr val="dk1"/>
              </a:solidFill>
            </a:endParaRPr>
          </a:p>
        </p:txBody>
      </p:sp>
      <p:sp>
        <p:nvSpPr>
          <p:cNvPr id="196" name="Google Shape;196;p20"/>
          <p:cNvSpPr/>
          <p:nvPr/>
        </p:nvSpPr>
        <p:spPr>
          <a:xfrm>
            <a:off x="2021752" y="2039800"/>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0x100 @ 5</a:t>
            </a:r>
            <a:endParaRPr/>
          </a:p>
        </p:txBody>
      </p:sp>
      <p:cxnSp>
        <p:nvCxnSpPr>
          <p:cNvPr id="197" name="Google Shape;197;p20"/>
          <p:cNvCxnSpPr>
            <a:endCxn id="196" idx="1"/>
          </p:cNvCxnSpPr>
          <p:nvPr/>
        </p:nvCxnSpPr>
        <p:spPr>
          <a:xfrm flipH="1" rot="10800000">
            <a:off x="1248352" y="2326150"/>
            <a:ext cx="773400" cy="2400"/>
          </a:xfrm>
          <a:prstGeom prst="straightConnector1">
            <a:avLst/>
          </a:prstGeom>
          <a:noFill/>
          <a:ln cap="flat" cmpd="sng" w="38100">
            <a:solidFill>
              <a:schemeClr val="dk1"/>
            </a:solidFill>
            <a:prstDash val="solid"/>
            <a:round/>
            <a:headEnd len="med" w="med" type="none"/>
            <a:tailEnd len="med" w="med" type="triangle"/>
          </a:ln>
        </p:spPr>
      </p:cxnSp>
      <p:sp>
        <p:nvSpPr>
          <p:cNvPr id="198" name="Google Shape;198;p20"/>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199" name="Google Shape;199;p20"/>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200" name="Google Shape;200;p20"/>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201" name="Google Shape;201;p20"/>
          <p:cNvCxnSpPr>
            <a:stCxn id="200" idx="0"/>
            <a:endCxn id="198"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202" name="Google Shape;202;p20"/>
          <p:cNvCxnSpPr>
            <a:stCxn id="198" idx="2"/>
            <a:endCxn id="199"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203" name="Google Shape;203;p20"/>
          <p:cNvCxnSpPr>
            <a:stCxn id="200" idx="2"/>
            <a:endCxn id="199"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204" name="Google Shape;204;p20"/>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205" name="Google Shape;205;p20"/>
          <p:cNvCxnSpPr>
            <a:stCxn id="199" idx="3"/>
            <a:endCxn id="204"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206" name="Google Shape;206;p20"/>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207" name="Google Shape;207;p20"/>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208" name="Google Shape;208;p20"/>
          <p:cNvCxnSpPr>
            <a:stCxn id="207" idx="1"/>
            <a:endCxn id="198"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209" name="Google Shape;209;p20"/>
          <p:cNvSpPr/>
          <p:nvPr/>
        </p:nvSpPr>
        <p:spPr>
          <a:xfrm>
            <a:off x="7896900" y="4797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How Berti finds timely deltas for streaming patterns</a:t>
            </a:r>
            <a:endParaRPr/>
          </a:p>
          <a:p>
            <a:pPr indent="0" lvl="0" marL="0" rtl="0" algn="l">
              <a:spcBef>
                <a:spcPts val="0"/>
              </a:spcBef>
              <a:spcAft>
                <a:spcPts val="0"/>
              </a:spcAft>
              <a:buNone/>
            </a:pPr>
            <a:r>
              <a:t/>
            </a:r>
            <a:endParaRPr/>
          </a:p>
        </p:txBody>
      </p:sp>
      <p:sp>
        <p:nvSpPr>
          <p:cNvPr id="216" name="Google Shape;216;p21"/>
          <p:cNvSpPr txBox="1"/>
          <p:nvPr/>
        </p:nvSpPr>
        <p:spPr>
          <a:xfrm>
            <a:off x="1822275" y="1017725"/>
            <a:ext cx="569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h = heads[1]</a:t>
            </a:r>
            <a:r>
              <a:rPr lang="en" sz="1800">
                <a:solidFill>
                  <a:schemeClr val="dk1"/>
                </a:solidFill>
              </a:rPr>
              <a:t> Loads Addr 0x108 at timestamp 15</a:t>
            </a:r>
            <a:endParaRPr sz="1800">
              <a:solidFill>
                <a:schemeClr val="dk1"/>
              </a:solidFill>
            </a:endParaRPr>
          </a:p>
        </p:txBody>
      </p:sp>
      <p:cxnSp>
        <p:nvCxnSpPr>
          <p:cNvPr id="217" name="Google Shape;217;p21"/>
          <p:cNvCxnSpPr/>
          <p:nvPr/>
        </p:nvCxnSpPr>
        <p:spPr>
          <a:xfrm>
            <a:off x="2699352" y="2138625"/>
            <a:ext cx="0" cy="455100"/>
          </a:xfrm>
          <a:prstGeom prst="straightConnector1">
            <a:avLst/>
          </a:prstGeom>
          <a:noFill/>
          <a:ln cap="flat" cmpd="sng" w="38100">
            <a:solidFill>
              <a:schemeClr val="dk1"/>
            </a:solidFill>
            <a:prstDash val="solid"/>
            <a:round/>
            <a:headEnd len="med" w="med" type="none"/>
            <a:tailEnd len="med" w="med" type="triangle"/>
          </a:ln>
        </p:spPr>
      </p:cxnSp>
      <p:sp>
        <p:nvSpPr>
          <p:cNvPr id="218" name="Google Shape;218;p21"/>
          <p:cNvSpPr/>
          <p:nvPr/>
        </p:nvSpPr>
        <p:spPr>
          <a:xfrm>
            <a:off x="2021752" y="2039800"/>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0x108 @ 15</a:t>
            </a:r>
            <a:endParaRPr/>
          </a:p>
        </p:txBody>
      </p:sp>
      <p:cxnSp>
        <p:nvCxnSpPr>
          <p:cNvPr id="219" name="Google Shape;219;p21"/>
          <p:cNvCxnSpPr>
            <a:endCxn id="218" idx="1"/>
          </p:cNvCxnSpPr>
          <p:nvPr/>
        </p:nvCxnSpPr>
        <p:spPr>
          <a:xfrm flipH="1" rot="10800000">
            <a:off x="1248352" y="2326150"/>
            <a:ext cx="773400" cy="2400"/>
          </a:xfrm>
          <a:prstGeom prst="straightConnector1">
            <a:avLst/>
          </a:prstGeom>
          <a:noFill/>
          <a:ln cap="flat" cmpd="sng" w="38100">
            <a:solidFill>
              <a:schemeClr val="dk1"/>
            </a:solidFill>
            <a:prstDash val="solid"/>
            <a:round/>
            <a:headEnd len="med" w="med" type="none"/>
            <a:tailEnd len="med" w="med" type="triangle"/>
          </a:ln>
        </p:spPr>
      </p:cxnSp>
      <p:cxnSp>
        <p:nvCxnSpPr>
          <p:cNvPr id="220" name="Google Shape;220;p21"/>
          <p:cNvCxnSpPr/>
          <p:nvPr/>
        </p:nvCxnSpPr>
        <p:spPr>
          <a:xfrm>
            <a:off x="4704252" y="2139825"/>
            <a:ext cx="0" cy="455100"/>
          </a:xfrm>
          <a:prstGeom prst="straightConnector1">
            <a:avLst/>
          </a:prstGeom>
          <a:noFill/>
          <a:ln cap="flat" cmpd="sng" w="38100">
            <a:solidFill>
              <a:schemeClr val="dk1"/>
            </a:solidFill>
            <a:prstDash val="solid"/>
            <a:round/>
            <a:headEnd len="med" w="med" type="none"/>
            <a:tailEnd len="med" w="med" type="triangle"/>
          </a:ln>
        </p:spPr>
      </p:cxnSp>
      <p:sp>
        <p:nvSpPr>
          <p:cNvPr id="221" name="Google Shape;221;p21"/>
          <p:cNvSpPr/>
          <p:nvPr/>
        </p:nvSpPr>
        <p:spPr>
          <a:xfrm>
            <a:off x="4026652" y="2041000"/>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0x100 @ 5</a:t>
            </a:r>
            <a:endParaRPr/>
          </a:p>
        </p:txBody>
      </p:sp>
      <p:cxnSp>
        <p:nvCxnSpPr>
          <p:cNvPr id="222" name="Google Shape;222;p21"/>
          <p:cNvCxnSpPr>
            <a:endCxn id="221" idx="1"/>
          </p:cNvCxnSpPr>
          <p:nvPr/>
        </p:nvCxnSpPr>
        <p:spPr>
          <a:xfrm flipH="1" rot="10800000">
            <a:off x="3253252" y="2327350"/>
            <a:ext cx="773400" cy="2400"/>
          </a:xfrm>
          <a:prstGeom prst="straightConnector1">
            <a:avLst/>
          </a:prstGeom>
          <a:noFill/>
          <a:ln cap="flat" cmpd="sng" w="38100">
            <a:solidFill>
              <a:schemeClr val="dk1"/>
            </a:solidFill>
            <a:prstDash val="solid"/>
            <a:round/>
            <a:headEnd len="med" w="med" type="none"/>
            <a:tailEnd len="med" w="med" type="triangle"/>
          </a:ln>
        </p:spPr>
      </p:cxnSp>
      <p:sp>
        <p:nvSpPr>
          <p:cNvPr id="223" name="Google Shape;223;p21"/>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224" name="Google Shape;224;p21"/>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225" name="Google Shape;225;p21"/>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226" name="Google Shape;226;p21"/>
          <p:cNvCxnSpPr>
            <a:stCxn id="225" idx="0"/>
            <a:endCxn id="223"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227" name="Google Shape;227;p21"/>
          <p:cNvCxnSpPr>
            <a:stCxn id="223" idx="2"/>
            <a:endCxn id="224"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228" name="Google Shape;228;p21"/>
          <p:cNvCxnSpPr>
            <a:stCxn id="225" idx="2"/>
            <a:endCxn id="224"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229" name="Google Shape;229;p21"/>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230" name="Google Shape;230;p21"/>
          <p:cNvCxnSpPr>
            <a:stCxn id="224" idx="3"/>
            <a:endCxn id="229"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231" name="Google Shape;231;p21"/>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232" name="Google Shape;232;p21"/>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233" name="Google Shape;233;p21"/>
          <p:cNvCxnSpPr>
            <a:stCxn id="232" idx="1"/>
            <a:endCxn id="223"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234" name="Google Shape;234;p21"/>
          <p:cNvSpPr/>
          <p:nvPr/>
        </p:nvSpPr>
        <p:spPr>
          <a:xfrm>
            <a:off x="7896900" y="4797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How Berti finds timely deltas for streaming patterns</a:t>
            </a:r>
            <a:endParaRPr/>
          </a:p>
          <a:p>
            <a:pPr indent="0" lvl="0" marL="0" rtl="0" algn="l">
              <a:spcBef>
                <a:spcPts val="0"/>
              </a:spcBef>
              <a:spcAft>
                <a:spcPts val="0"/>
              </a:spcAft>
              <a:buNone/>
            </a:pPr>
            <a:r>
              <a:t/>
            </a:r>
            <a:endParaRPr/>
          </a:p>
        </p:txBody>
      </p:sp>
      <p:sp>
        <p:nvSpPr>
          <p:cNvPr id="241" name="Google Shape;241;p22"/>
          <p:cNvSpPr txBox="1"/>
          <p:nvPr/>
        </p:nvSpPr>
        <p:spPr>
          <a:xfrm>
            <a:off x="1822275" y="1017725"/>
            <a:ext cx="569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h = heads[2]</a:t>
            </a:r>
            <a:r>
              <a:rPr lang="en" sz="1800">
                <a:solidFill>
                  <a:schemeClr val="dk1"/>
                </a:solidFill>
              </a:rPr>
              <a:t> Loads Addr 0x110 at timestamp 35</a:t>
            </a:r>
            <a:endParaRPr sz="1800">
              <a:solidFill>
                <a:schemeClr val="dk1"/>
              </a:solidFill>
            </a:endParaRPr>
          </a:p>
        </p:txBody>
      </p:sp>
      <p:sp>
        <p:nvSpPr>
          <p:cNvPr id="242" name="Google Shape;242;p22"/>
          <p:cNvSpPr txBox="1"/>
          <p:nvPr/>
        </p:nvSpPr>
        <p:spPr>
          <a:xfrm>
            <a:off x="0" y="2936200"/>
            <a:ext cx="182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25 Cycles to fill</a:t>
            </a:r>
            <a:endParaRPr sz="1800">
              <a:solidFill>
                <a:schemeClr val="dk1"/>
              </a:solidFill>
            </a:endParaRPr>
          </a:p>
        </p:txBody>
      </p:sp>
      <p:sp>
        <p:nvSpPr>
          <p:cNvPr id="243" name="Google Shape;243;p22"/>
          <p:cNvSpPr/>
          <p:nvPr/>
        </p:nvSpPr>
        <p:spPr>
          <a:xfrm>
            <a:off x="2226952" y="2939500"/>
            <a:ext cx="821100" cy="4551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chemeClr val="lt1"/>
                </a:solidFill>
              </a:rPr>
              <a:t>-</a:t>
            </a:r>
            <a:endParaRPr b="1" sz="3200">
              <a:solidFill>
                <a:schemeClr val="lt1"/>
              </a:solidFill>
            </a:endParaRPr>
          </a:p>
        </p:txBody>
      </p:sp>
      <p:sp>
        <p:nvSpPr>
          <p:cNvPr id="244" name="Google Shape;244;p22"/>
          <p:cNvSpPr/>
          <p:nvPr/>
        </p:nvSpPr>
        <p:spPr>
          <a:xfrm>
            <a:off x="4234341" y="2938488"/>
            <a:ext cx="821100" cy="4551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3200">
                <a:solidFill>
                  <a:schemeClr val="lt1"/>
                </a:solidFill>
              </a:rPr>
              <a:t>&lt;=</a:t>
            </a:r>
            <a:endParaRPr/>
          </a:p>
        </p:txBody>
      </p:sp>
      <p:sp>
        <p:nvSpPr>
          <p:cNvPr id="245" name="Google Shape;245;p22"/>
          <p:cNvSpPr/>
          <p:nvPr/>
        </p:nvSpPr>
        <p:spPr>
          <a:xfrm>
            <a:off x="6236752" y="2938490"/>
            <a:ext cx="821100" cy="4551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3200">
                <a:solidFill>
                  <a:schemeClr val="lt1"/>
                </a:solidFill>
              </a:rPr>
              <a:t>&lt;</a:t>
            </a:r>
            <a:r>
              <a:rPr b="1" lang="en" sz="3200">
                <a:solidFill>
                  <a:schemeClr val="lt1"/>
                </a:solidFill>
              </a:rPr>
              <a:t>=</a:t>
            </a:r>
            <a:endParaRPr/>
          </a:p>
        </p:txBody>
      </p:sp>
      <p:cxnSp>
        <p:nvCxnSpPr>
          <p:cNvPr id="246" name="Google Shape;246;p22"/>
          <p:cNvCxnSpPr>
            <a:stCxn id="247" idx="2"/>
            <a:endCxn id="243" idx="0"/>
          </p:cNvCxnSpPr>
          <p:nvPr/>
        </p:nvCxnSpPr>
        <p:spPr>
          <a:xfrm>
            <a:off x="2637502" y="2612500"/>
            <a:ext cx="0" cy="327000"/>
          </a:xfrm>
          <a:prstGeom prst="straightConnector1">
            <a:avLst/>
          </a:prstGeom>
          <a:noFill/>
          <a:ln cap="flat" cmpd="sng" w="28575">
            <a:solidFill>
              <a:srgbClr val="000000"/>
            </a:solidFill>
            <a:prstDash val="solid"/>
            <a:round/>
            <a:headEnd len="med" w="med" type="none"/>
            <a:tailEnd len="med" w="med" type="triangle"/>
          </a:ln>
        </p:spPr>
      </p:cxnSp>
      <p:cxnSp>
        <p:nvCxnSpPr>
          <p:cNvPr id="248" name="Google Shape;248;p22"/>
          <p:cNvCxnSpPr>
            <a:stCxn id="242" idx="3"/>
            <a:endCxn id="243" idx="1"/>
          </p:cNvCxnSpPr>
          <p:nvPr/>
        </p:nvCxnSpPr>
        <p:spPr>
          <a:xfrm>
            <a:off x="1822200" y="3167050"/>
            <a:ext cx="404700" cy="0"/>
          </a:xfrm>
          <a:prstGeom prst="straightConnector1">
            <a:avLst/>
          </a:prstGeom>
          <a:noFill/>
          <a:ln cap="flat" cmpd="sng" w="28575">
            <a:solidFill>
              <a:srgbClr val="000000"/>
            </a:solidFill>
            <a:prstDash val="solid"/>
            <a:round/>
            <a:headEnd len="med" w="med" type="none"/>
            <a:tailEnd len="med" w="med" type="triangle"/>
          </a:ln>
        </p:spPr>
      </p:cxnSp>
      <p:cxnSp>
        <p:nvCxnSpPr>
          <p:cNvPr id="249" name="Google Shape;249;p22"/>
          <p:cNvCxnSpPr>
            <a:stCxn id="244" idx="3"/>
            <a:endCxn id="245" idx="1"/>
          </p:cNvCxnSpPr>
          <p:nvPr/>
        </p:nvCxnSpPr>
        <p:spPr>
          <a:xfrm>
            <a:off x="5055441" y="3166038"/>
            <a:ext cx="1181400" cy="0"/>
          </a:xfrm>
          <a:prstGeom prst="straightConnector1">
            <a:avLst/>
          </a:prstGeom>
          <a:noFill/>
          <a:ln cap="flat" cmpd="sng" w="28575">
            <a:solidFill>
              <a:srgbClr val="000000"/>
            </a:solidFill>
            <a:prstDash val="solid"/>
            <a:round/>
            <a:headEnd len="med" w="med" type="none"/>
            <a:tailEnd len="med" w="med" type="triangle"/>
          </a:ln>
        </p:spPr>
      </p:cxnSp>
      <p:cxnSp>
        <p:nvCxnSpPr>
          <p:cNvPr id="250" name="Google Shape;250;p22"/>
          <p:cNvCxnSpPr>
            <a:stCxn id="243" idx="3"/>
            <a:endCxn id="244" idx="1"/>
          </p:cNvCxnSpPr>
          <p:nvPr/>
        </p:nvCxnSpPr>
        <p:spPr>
          <a:xfrm flipH="1" rot="10800000">
            <a:off x="3048052" y="3166150"/>
            <a:ext cx="1186200" cy="900"/>
          </a:xfrm>
          <a:prstGeom prst="straightConnector1">
            <a:avLst/>
          </a:prstGeom>
          <a:noFill/>
          <a:ln cap="flat" cmpd="sng" w="28575">
            <a:solidFill>
              <a:srgbClr val="000000"/>
            </a:solidFill>
            <a:prstDash val="solid"/>
            <a:round/>
            <a:headEnd len="med" w="med" type="none"/>
            <a:tailEnd len="med" w="med" type="triangle"/>
          </a:ln>
        </p:spPr>
      </p:cxnSp>
      <p:sp>
        <p:nvSpPr>
          <p:cNvPr id="251" name="Google Shape;251;p22"/>
          <p:cNvSpPr txBox="1"/>
          <p:nvPr/>
        </p:nvSpPr>
        <p:spPr>
          <a:xfrm>
            <a:off x="2699338" y="2545150"/>
            <a:ext cx="59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35</a:t>
            </a:r>
            <a:endParaRPr sz="1800">
              <a:solidFill>
                <a:schemeClr val="dk1"/>
              </a:solidFill>
            </a:endParaRPr>
          </a:p>
        </p:txBody>
      </p:sp>
      <p:cxnSp>
        <p:nvCxnSpPr>
          <p:cNvPr id="252" name="Google Shape;252;p22"/>
          <p:cNvCxnSpPr/>
          <p:nvPr/>
        </p:nvCxnSpPr>
        <p:spPr>
          <a:xfrm>
            <a:off x="2699352" y="2138625"/>
            <a:ext cx="0" cy="455100"/>
          </a:xfrm>
          <a:prstGeom prst="straightConnector1">
            <a:avLst/>
          </a:prstGeom>
          <a:noFill/>
          <a:ln cap="flat" cmpd="sng" w="38100">
            <a:solidFill>
              <a:schemeClr val="dk1"/>
            </a:solidFill>
            <a:prstDash val="solid"/>
            <a:round/>
            <a:headEnd len="med" w="med" type="none"/>
            <a:tailEnd len="med" w="med" type="triangle"/>
          </a:ln>
        </p:spPr>
      </p:cxnSp>
      <p:sp>
        <p:nvSpPr>
          <p:cNvPr id="247" name="Google Shape;247;p22"/>
          <p:cNvSpPr/>
          <p:nvPr/>
        </p:nvSpPr>
        <p:spPr>
          <a:xfrm>
            <a:off x="2021752" y="2039800"/>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0x110 @ 35</a:t>
            </a:r>
            <a:endParaRPr/>
          </a:p>
        </p:txBody>
      </p:sp>
      <p:cxnSp>
        <p:nvCxnSpPr>
          <p:cNvPr id="253" name="Google Shape;253;p22"/>
          <p:cNvCxnSpPr>
            <a:endCxn id="247" idx="1"/>
          </p:cNvCxnSpPr>
          <p:nvPr/>
        </p:nvCxnSpPr>
        <p:spPr>
          <a:xfrm flipH="1" rot="10800000">
            <a:off x="1248352" y="2326150"/>
            <a:ext cx="773400" cy="2400"/>
          </a:xfrm>
          <a:prstGeom prst="straightConnector1">
            <a:avLst/>
          </a:prstGeom>
          <a:noFill/>
          <a:ln cap="flat" cmpd="sng" w="38100">
            <a:solidFill>
              <a:schemeClr val="dk2"/>
            </a:solidFill>
            <a:prstDash val="solid"/>
            <a:round/>
            <a:headEnd len="med" w="med" type="none"/>
            <a:tailEnd len="med" w="med" type="triangle"/>
          </a:ln>
        </p:spPr>
      </p:cxnSp>
      <p:cxnSp>
        <p:nvCxnSpPr>
          <p:cNvPr id="254" name="Google Shape;254;p22"/>
          <p:cNvCxnSpPr/>
          <p:nvPr/>
        </p:nvCxnSpPr>
        <p:spPr>
          <a:xfrm>
            <a:off x="4704252" y="2139825"/>
            <a:ext cx="0" cy="455100"/>
          </a:xfrm>
          <a:prstGeom prst="straightConnector1">
            <a:avLst/>
          </a:prstGeom>
          <a:noFill/>
          <a:ln cap="flat" cmpd="sng" w="38100">
            <a:solidFill>
              <a:schemeClr val="dk1"/>
            </a:solidFill>
            <a:prstDash val="solid"/>
            <a:round/>
            <a:headEnd len="med" w="med" type="none"/>
            <a:tailEnd len="med" w="med" type="triangle"/>
          </a:ln>
        </p:spPr>
      </p:cxnSp>
      <p:sp>
        <p:nvSpPr>
          <p:cNvPr id="255" name="Google Shape;255;p22"/>
          <p:cNvSpPr/>
          <p:nvPr/>
        </p:nvSpPr>
        <p:spPr>
          <a:xfrm>
            <a:off x="4026652" y="2041000"/>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0x108 @ 15</a:t>
            </a:r>
            <a:endParaRPr/>
          </a:p>
        </p:txBody>
      </p:sp>
      <p:cxnSp>
        <p:nvCxnSpPr>
          <p:cNvPr id="256" name="Google Shape;256;p22"/>
          <p:cNvCxnSpPr>
            <a:endCxn id="255" idx="1"/>
          </p:cNvCxnSpPr>
          <p:nvPr/>
        </p:nvCxnSpPr>
        <p:spPr>
          <a:xfrm flipH="1" rot="10800000">
            <a:off x="3253252" y="2327350"/>
            <a:ext cx="773400" cy="2400"/>
          </a:xfrm>
          <a:prstGeom prst="straightConnector1">
            <a:avLst/>
          </a:prstGeom>
          <a:noFill/>
          <a:ln cap="flat" cmpd="sng" w="38100">
            <a:solidFill>
              <a:schemeClr val="dk2"/>
            </a:solidFill>
            <a:prstDash val="solid"/>
            <a:round/>
            <a:headEnd len="med" w="med" type="none"/>
            <a:tailEnd len="med" w="med" type="triangle"/>
          </a:ln>
        </p:spPr>
      </p:cxnSp>
      <p:cxnSp>
        <p:nvCxnSpPr>
          <p:cNvPr id="257" name="Google Shape;257;p22"/>
          <p:cNvCxnSpPr/>
          <p:nvPr/>
        </p:nvCxnSpPr>
        <p:spPr>
          <a:xfrm>
            <a:off x="6709152" y="2121275"/>
            <a:ext cx="0" cy="455100"/>
          </a:xfrm>
          <a:prstGeom prst="straightConnector1">
            <a:avLst/>
          </a:prstGeom>
          <a:noFill/>
          <a:ln cap="flat" cmpd="sng" w="38100">
            <a:solidFill>
              <a:schemeClr val="dk1"/>
            </a:solidFill>
            <a:prstDash val="solid"/>
            <a:round/>
            <a:headEnd len="med" w="med" type="none"/>
            <a:tailEnd len="med" w="med" type="triangle"/>
          </a:ln>
        </p:spPr>
      </p:cxnSp>
      <p:sp>
        <p:nvSpPr>
          <p:cNvPr id="258" name="Google Shape;258;p22"/>
          <p:cNvSpPr/>
          <p:nvPr/>
        </p:nvSpPr>
        <p:spPr>
          <a:xfrm>
            <a:off x="6031552" y="2022450"/>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0x100 @ 5</a:t>
            </a:r>
            <a:endParaRPr/>
          </a:p>
        </p:txBody>
      </p:sp>
      <p:cxnSp>
        <p:nvCxnSpPr>
          <p:cNvPr id="259" name="Google Shape;259;p22"/>
          <p:cNvCxnSpPr>
            <a:endCxn id="258" idx="1"/>
          </p:cNvCxnSpPr>
          <p:nvPr/>
        </p:nvCxnSpPr>
        <p:spPr>
          <a:xfrm flipH="1" rot="10800000">
            <a:off x="5258152" y="2308800"/>
            <a:ext cx="773400" cy="2400"/>
          </a:xfrm>
          <a:prstGeom prst="straightConnector1">
            <a:avLst/>
          </a:prstGeom>
          <a:noFill/>
          <a:ln cap="flat" cmpd="sng" w="38100">
            <a:solidFill>
              <a:schemeClr val="dk2"/>
            </a:solidFill>
            <a:prstDash val="solid"/>
            <a:round/>
            <a:headEnd len="med" w="med" type="none"/>
            <a:tailEnd len="med" w="med" type="triangle"/>
          </a:ln>
        </p:spPr>
      </p:cxnSp>
      <p:cxnSp>
        <p:nvCxnSpPr>
          <p:cNvPr id="260" name="Google Shape;260;p22"/>
          <p:cNvCxnSpPr>
            <a:stCxn id="255" idx="2"/>
            <a:endCxn id="244" idx="0"/>
          </p:cNvCxnSpPr>
          <p:nvPr/>
        </p:nvCxnSpPr>
        <p:spPr>
          <a:xfrm>
            <a:off x="4642402" y="2613700"/>
            <a:ext cx="2400" cy="324900"/>
          </a:xfrm>
          <a:prstGeom prst="straightConnector1">
            <a:avLst/>
          </a:prstGeom>
          <a:noFill/>
          <a:ln cap="flat" cmpd="sng" w="28575">
            <a:solidFill>
              <a:schemeClr val="dk1"/>
            </a:solidFill>
            <a:prstDash val="solid"/>
            <a:round/>
            <a:headEnd len="med" w="med" type="none"/>
            <a:tailEnd len="med" w="med" type="triangle"/>
          </a:ln>
        </p:spPr>
      </p:cxnSp>
      <p:cxnSp>
        <p:nvCxnSpPr>
          <p:cNvPr id="261" name="Google Shape;261;p22"/>
          <p:cNvCxnSpPr>
            <a:stCxn id="258" idx="2"/>
            <a:endCxn id="245" idx="0"/>
          </p:cNvCxnSpPr>
          <p:nvPr/>
        </p:nvCxnSpPr>
        <p:spPr>
          <a:xfrm>
            <a:off x="6647302" y="2595150"/>
            <a:ext cx="0" cy="343200"/>
          </a:xfrm>
          <a:prstGeom prst="straightConnector1">
            <a:avLst/>
          </a:prstGeom>
          <a:noFill/>
          <a:ln cap="flat" cmpd="sng" w="28575">
            <a:solidFill>
              <a:schemeClr val="dk1"/>
            </a:solidFill>
            <a:prstDash val="solid"/>
            <a:round/>
            <a:headEnd len="med" w="med" type="none"/>
            <a:tailEnd len="med" w="med" type="triangle"/>
          </a:ln>
        </p:spPr>
      </p:cxnSp>
      <p:sp>
        <p:nvSpPr>
          <p:cNvPr id="262" name="Google Shape;262;p22"/>
          <p:cNvSpPr txBox="1"/>
          <p:nvPr/>
        </p:nvSpPr>
        <p:spPr>
          <a:xfrm>
            <a:off x="3323868" y="2768858"/>
            <a:ext cx="47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10</a:t>
            </a:r>
            <a:endParaRPr sz="1800">
              <a:solidFill>
                <a:schemeClr val="dk1"/>
              </a:solidFill>
            </a:endParaRPr>
          </a:p>
        </p:txBody>
      </p:sp>
      <p:sp>
        <p:nvSpPr>
          <p:cNvPr id="263" name="Google Shape;263;p22"/>
          <p:cNvSpPr txBox="1"/>
          <p:nvPr/>
        </p:nvSpPr>
        <p:spPr>
          <a:xfrm>
            <a:off x="4883050" y="2613700"/>
            <a:ext cx="47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15</a:t>
            </a:r>
            <a:endParaRPr sz="1800">
              <a:solidFill>
                <a:schemeClr val="dk1"/>
              </a:solidFill>
            </a:endParaRPr>
          </a:p>
        </p:txBody>
      </p:sp>
      <p:sp>
        <p:nvSpPr>
          <p:cNvPr id="264" name="Google Shape;264;p22"/>
          <p:cNvSpPr txBox="1"/>
          <p:nvPr/>
        </p:nvSpPr>
        <p:spPr>
          <a:xfrm>
            <a:off x="6948850" y="2613700"/>
            <a:ext cx="47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5</a:t>
            </a:r>
            <a:endParaRPr sz="1800">
              <a:solidFill>
                <a:schemeClr val="dk1"/>
              </a:solidFill>
            </a:endParaRPr>
          </a:p>
        </p:txBody>
      </p:sp>
      <p:sp>
        <p:nvSpPr>
          <p:cNvPr id="265" name="Google Shape;265;p22"/>
          <p:cNvSpPr/>
          <p:nvPr/>
        </p:nvSpPr>
        <p:spPr>
          <a:xfrm>
            <a:off x="6236752" y="3940100"/>
            <a:ext cx="821100" cy="4551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chemeClr val="lt1"/>
                </a:solidFill>
              </a:rPr>
              <a:t>-</a:t>
            </a:r>
            <a:endParaRPr b="1" sz="3200">
              <a:solidFill>
                <a:schemeClr val="lt1"/>
              </a:solidFill>
            </a:endParaRPr>
          </a:p>
        </p:txBody>
      </p:sp>
      <p:cxnSp>
        <p:nvCxnSpPr>
          <p:cNvPr id="266" name="Google Shape;266;p22"/>
          <p:cNvCxnSpPr>
            <a:stCxn id="245" idx="2"/>
            <a:endCxn id="265" idx="0"/>
          </p:cNvCxnSpPr>
          <p:nvPr/>
        </p:nvCxnSpPr>
        <p:spPr>
          <a:xfrm>
            <a:off x="6647302" y="3393590"/>
            <a:ext cx="0" cy="546600"/>
          </a:xfrm>
          <a:prstGeom prst="straightConnector1">
            <a:avLst/>
          </a:prstGeom>
          <a:noFill/>
          <a:ln cap="flat" cmpd="sng" w="28575">
            <a:solidFill>
              <a:schemeClr val="dk1"/>
            </a:solidFill>
            <a:prstDash val="solid"/>
            <a:round/>
            <a:headEnd len="med" w="med" type="none"/>
            <a:tailEnd len="med" w="med" type="triangle"/>
          </a:ln>
        </p:spPr>
      </p:cxnSp>
      <p:sp>
        <p:nvSpPr>
          <p:cNvPr id="267" name="Google Shape;267;p22"/>
          <p:cNvSpPr txBox="1"/>
          <p:nvPr/>
        </p:nvSpPr>
        <p:spPr>
          <a:xfrm>
            <a:off x="2699348" y="3669650"/>
            <a:ext cx="118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0x110</a:t>
            </a:r>
            <a:endParaRPr sz="1800">
              <a:solidFill>
                <a:schemeClr val="dk1"/>
              </a:solidFill>
            </a:endParaRPr>
          </a:p>
        </p:txBody>
      </p:sp>
      <p:sp>
        <p:nvSpPr>
          <p:cNvPr id="268" name="Google Shape;268;p22"/>
          <p:cNvSpPr txBox="1"/>
          <p:nvPr/>
        </p:nvSpPr>
        <p:spPr>
          <a:xfrm>
            <a:off x="6647324" y="3393600"/>
            <a:ext cx="118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0x100</a:t>
            </a:r>
            <a:endParaRPr sz="1800">
              <a:solidFill>
                <a:schemeClr val="dk1"/>
              </a:solidFill>
            </a:endParaRPr>
          </a:p>
        </p:txBody>
      </p:sp>
      <p:sp>
        <p:nvSpPr>
          <p:cNvPr id="269" name="Google Shape;269;p22"/>
          <p:cNvSpPr txBox="1"/>
          <p:nvPr/>
        </p:nvSpPr>
        <p:spPr>
          <a:xfrm>
            <a:off x="7263050" y="3936800"/>
            <a:ext cx="190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0x10 = Timely Δ </a:t>
            </a:r>
            <a:endParaRPr b="1" sz="1800">
              <a:solidFill>
                <a:schemeClr val="dk1"/>
              </a:solidFill>
            </a:endParaRPr>
          </a:p>
        </p:txBody>
      </p:sp>
      <p:cxnSp>
        <p:nvCxnSpPr>
          <p:cNvPr id="270" name="Google Shape;270;p22"/>
          <p:cNvCxnSpPr>
            <a:stCxn id="265" idx="3"/>
            <a:endCxn id="269" idx="1"/>
          </p:cNvCxnSpPr>
          <p:nvPr/>
        </p:nvCxnSpPr>
        <p:spPr>
          <a:xfrm>
            <a:off x="7057852" y="4167650"/>
            <a:ext cx="205200" cy="0"/>
          </a:xfrm>
          <a:prstGeom prst="straightConnector1">
            <a:avLst/>
          </a:prstGeom>
          <a:noFill/>
          <a:ln cap="flat" cmpd="sng" w="28575">
            <a:solidFill>
              <a:schemeClr val="dk1"/>
            </a:solidFill>
            <a:prstDash val="solid"/>
            <a:round/>
            <a:headEnd len="med" w="med" type="none"/>
            <a:tailEnd len="med" w="med" type="triangle"/>
          </a:ln>
        </p:spPr>
      </p:cxnSp>
      <p:sp>
        <p:nvSpPr>
          <p:cNvPr id="271" name="Google Shape;271;p22"/>
          <p:cNvSpPr/>
          <p:nvPr/>
        </p:nvSpPr>
        <p:spPr>
          <a:xfrm>
            <a:off x="4231852" y="3940100"/>
            <a:ext cx="821100" cy="4551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chemeClr val="lt1"/>
                </a:solidFill>
              </a:rPr>
              <a:t>-</a:t>
            </a:r>
            <a:endParaRPr b="1" sz="3200">
              <a:solidFill>
                <a:schemeClr val="lt1"/>
              </a:solidFill>
            </a:endParaRPr>
          </a:p>
        </p:txBody>
      </p:sp>
      <p:cxnSp>
        <p:nvCxnSpPr>
          <p:cNvPr id="272" name="Google Shape;272;p22"/>
          <p:cNvCxnSpPr>
            <a:stCxn id="244" idx="2"/>
            <a:endCxn id="271" idx="0"/>
          </p:cNvCxnSpPr>
          <p:nvPr/>
        </p:nvCxnSpPr>
        <p:spPr>
          <a:xfrm flipH="1">
            <a:off x="4642491" y="3393588"/>
            <a:ext cx="2400" cy="546600"/>
          </a:xfrm>
          <a:prstGeom prst="straightConnector1">
            <a:avLst/>
          </a:prstGeom>
          <a:noFill/>
          <a:ln cap="flat" cmpd="sng" w="28575">
            <a:solidFill>
              <a:schemeClr val="dk1"/>
            </a:solidFill>
            <a:prstDash val="solid"/>
            <a:round/>
            <a:headEnd len="med" w="med" type="none"/>
            <a:tailEnd len="med" w="med" type="triangle"/>
          </a:ln>
        </p:spPr>
      </p:cxnSp>
      <p:cxnSp>
        <p:nvCxnSpPr>
          <p:cNvPr id="273" name="Google Shape;273;p22"/>
          <p:cNvCxnSpPr>
            <a:stCxn id="271" idx="3"/>
            <a:endCxn id="265" idx="1"/>
          </p:cNvCxnSpPr>
          <p:nvPr/>
        </p:nvCxnSpPr>
        <p:spPr>
          <a:xfrm>
            <a:off x="5052952" y="4167650"/>
            <a:ext cx="1183800" cy="0"/>
          </a:xfrm>
          <a:prstGeom prst="straightConnector1">
            <a:avLst/>
          </a:prstGeom>
          <a:noFill/>
          <a:ln cap="flat" cmpd="sng" w="28575">
            <a:solidFill>
              <a:schemeClr val="dk1"/>
            </a:solidFill>
            <a:prstDash val="solid"/>
            <a:round/>
            <a:headEnd len="med" w="med" type="none"/>
            <a:tailEnd len="med" w="med" type="triangle"/>
          </a:ln>
        </p:spPr>
      </p:cxnSp>
      <p:cxnSp>
        <p:nvCxnSpPr>
          <p:cNvPr id="274" name="Google Shape;274;p22"/>
          <p:cNvCxnSpPr>
            <a:stCxn id="243" idx="2"/>
            <a:endCxn id="271" idx="1"/>
          </p:cNvCxnSpPr>
          <p:nvPr/>
        </p:nvCxnSpPr>
        <p:spPr>
          <a:xfrm flipH="1" rot="-5400000">
            <a:off x="3048202" y="2983900"/>
            <a:ext cx="773100" cy="1594500"/>
          </a:xfrm>
          <a:prstGeom prst="bentConnector2">
            <a:avLst/>
          </a:prstGeom>
          <a:noFill/>
          <a:ln cap="flat" cmpd="sng" w="28575">
            <a:solidFill>
              <a:schemeClr val="dk1"/>
            </a:solidFill>
            <a:prstDash val="solid"/>
            <a:round/>
            <a:headEnd len="med" w="med" type="none"/>
            <a:tailEnd len="med" w="med" type="triangle"/>
          </a:ln>
        </p:spPr>
      </p:cxnSp>
      <p:sp>
        <p:nvSpPr>
          <p:cNvPr id="275" name="Google Shape;275;p22"/>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276" name="Google Shape;276;p22"/>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277" name="Google Shape;277;p22"/>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278" name="Google Shape;278;p22"/>
          <p:cNvCxnSpPr>
            <a:stCxn id="277" idx="0"/>
            <a:endCxn id="275"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279" name="Google Shape;279;p22"/>
          <p:cNvCxnSpPr>
            <a:stCxn id="275" idx="2"/>
            <a:endCxn id="276"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280" name="Google Shape;280;p22"/>
          <p:cNvCxnSpPr>
            <a:stCxn id="277" idx="2"/>
            <a:endCxn id="276"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281" name="Google Shape;281;p22"/>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282" name="Google Shape;282;p22"/>
          <p:cNvCxnSpPr>
            <a:stCxn id="276" idx="3"/>
            <a:endCxn id="281"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283" name="Google Shape;283;p22"/>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284" name="Google Shape;284;p22"/>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285" name="Google Shape;285;p22"/>
          <p:cNvCxnSpPr>
            <a:stCxn id="284" idx="1"/>
            <a:endCxn id="275"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286" name="Google Shape;286;p22"/>
          <p:cNvSpPr/>
          <p:nvPr/>
        </p:nvSpPr>
        <p:spPr>
          <a:xfrm>
            <a:off x="7896900" y="4797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Motivation</a:t>
            </a:r>
            <a:endParaRPr/>
          </a:p>
        </p:txBody>
      </p:sp>
      <p:sp>
        <p:nvSpPr>
          <p:cNvPr id="293" name="Google Shape;29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The Berti History table is a collection of FIFOs</a:t>
            </a:r>
            <a:endParaRPr/>
          </a:p>
          <a:p>
            <a:pPr indent="0" lvl="0" marL="0" rtl="0" algn="l">
              <a:spcBef>
                <a:spcPts val="0"/>
              </a:spcBef>
              <a:spcAft>
                <a:spcPts val="0"/>
              </a:spcAft>
              <a:buNone/>
            </a:pPr>
            <a:r>
              <a:t/>
            </a:r>
            <a:endParaRPr/>
          </a:p>
        </p:txBody>
      </p:sp>
      <p:sp>
        <p:nvSpPr>
          <p:cNvPr id="299" name="Google Shape;299;p24"/>
          <p:cNvSpPr/>
          <p:nvPr/>
        </p:nvSpPr>
        <p:spPr>
          <a:xfrm rot="-5400000">
            <a:off x="502000" y="2525875"/>
            <a:ext cx="3060300" cy="39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Index by IP</a:t>
            </a:r>
            <a:endParaRPr/>
          </a:p>
        </p:txBody>
      </p:sp>
      <p:sp>
        <p:nvSpPr>
          <p:cNvPr id="300" name="Google Shape;300;p24"/>
          <p:cNvSpPr txBox="1"/>
          <p:nvPr/>
        </p:nvSpPr>
        <p:spPr>
          <a:xfrm>
            <a:off x="64855" y="1499730"/>
            <a:ext cx="189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LD heads[i]</a:t>
            </a:r>
            <a:endParaRPr/>
          </a:p>
        </p:txBody>
      </p:sp>
      <p:sp>
        <p:nvSpPr>
          <p:cNvPr id="301" name="Google Shape;301;p24"/>
          <p:cNvSpPr txBox="1"/>
          <p:nvPr/>
        </p:nvSpPr>
        <p:spPr>
          <a:xfrm>
            <a:off x="64855" y="2176047"/>
            <a:ext cx="189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LD tails[i]</a:t>
            </a:r>
            <a:endParaRPr/>
          </a:p>
        </p:txBody>
      </p:sp>
      <p:sp>
        <p:nvSpPr>
          <p:cNvPr id="302" name="Google Shape;302;p24"/>
          <p:cNvSpPr txBox="1"/>
          <p:nvPr/>
        </p:nvSpPr>
        <p:spPr>
          <a:xfrm>
            <a:off x="64855" y="2852363"/>
            <a:ext cx="189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LD h-&gt;data</a:t>
            </a:r>
            <a:endParaRPr/>
          </a:p>
        </p:txBody>
      </p:sp>
      <p:sp>
        <p:nvSpPr>
          <p:cNvPr id="303" name="Google Shape;303;p24"/>
          <p:cNvSpPr txBox="1"/>
          <p:nvPr/>
        </p:nvSpPr>
        <p:spPr>
          <a:xfrm>
            <a:off x="64855" y="3528680"/>
            <a:ext cx="189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LD h-&gt;next</a:t>
            </a:r>
            <a:endParaRPr/>
          </a:p>
        </p:txBody>
      </p:sp>
      <p:grpSp>
        <p:nvGrpSpPr>
          <p:cNvPr id="304" name="Google Shape;304;p24"/>
          <p:cNvGrpSpPr/>
          <p:nvPr/>
        </p:nvGrpSpPr>
        <p:grpSpPr>
          <a:xfrm>
            <a:off x="2758534" y="3639728"/>
            <a:ext cx="4966883" cy="572700"/>
            <a:chOff x="2830747" y="1192678"/>
            <a:chExt cx="4966883" cy="572700"/>
          </a:xfrm>
        </p:grpSpPr>
        <p:sp>
          <p:nvSpPr>
            <p:cNvPr id="305" name="Google Shape;305;p24"/>
            <p:cNvSpPr/>
            <p:nvPr/>
          </p:nvSpPr>
          <p:spPr>
            <a:xfrm>
              <a:off x="2830747" y="119267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0x308, 30</a:t>
              </a:r>
              <a:endParaRPr/>
            </a:p>
          </p:txBody>
        </p:sp>
        <p:sp>
          <p:nvSpPr>
            <p:cNvPr id="306" name="Google Shape;306;p24"/>
            <p:cNvSpPr/>
            <p:nvPr/>
          </p:nvSpPr>
          <p:spPr>
            <a:xfrm>
              <a:off x="6566130" y="119267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0x398, 8</a:t>
              </a:r>
              <a:endParaRPr/>
            </a:p>
          </p:txBody>
        </p:sp>
        <p:sp>
          <p:nvSpPr>
            <p:cNvPr id="307" name="Google Shape;307;p24"/>
            <p:cNvSpPr/>
            <p:nvPr/>
          </p:nvSpPr>
          <p:spPr>
            <a:xfrm>
              <a:off x="4698438" y="119267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0x338, 23</a:t>
              </a:r>
              <a:endParaRPr/>
            </a:p>
          </p:txBody>
        </p:sp>
        <p:cxnSp>
          <p:nvCxnSpPr>
            <p:cNvPr id="308" name="Google Shape;308;p24"/>
            <p:cNvCxnSpPr>
              <a:stCxn id="305" idx="3"/>
              <a:endCxn id="307" idx="1"/>
            </p:cNvCxnSpPr>
            <p:nvPr/>
          </p:nvCxnSpPr>
          <p:spPr>
            <a:xfrm>
              <a:off x="4062247" y="1479028"/>
              <a:ext cx="636300" cy="0"/>
            </a:xfrm>
            <a:prstGeom prst="straightConnector1">
              <a:avLst/>
            </a:prstGeom>
            <a:noFill/>
            <a:ln cap="flat" cmpd="sng" w="28575">
              <a:solidFill>
                <a:schemeClr val="dk1"/>
              </a:solidFill>
              <a:prstDash val="solid"/>
              <a:round/>
              <a:headEnd len="med" w="med" type="none"/>
              <a:tailEnd len="med" w="med" type="triangle"/>
            </a:ln>
          </p:spPr>
        </p:cxnSp>
        <p:cxnSp>
          <p:nvCxnSpPr>
            <p:cNvPr id="309" name="Google Shape;309;p24"/>
            <p:cNvCxnSpPr>
              <a:stCxn id="307" idx="3"/>
              <a:endCxn id="306" idx="1"/>
            </p:cNvCxnSpPr>
            <p:nvPr/>
          </p:nvCxnSpPr>
          <p:spPr>
            <a:xfrm>
              <a:off x="5929938" y="1479028"/>
              <a:ext cx="636300" cy="0"/>
            </a:xfrm>
            <a:prstGeom prst="straightConnector1">
              <a:avLst/>
            </a:prstGeom>
            <a:noFill/>
            <a:ln cap="flat" cmpd="sng" w="28575">
              <a:solidFill>
                <a:schemeClr val="dk1"/>
              </a:solidFill>
              <a:prstDash val="solid"/>
              <a:round/>
              <a:headEnd len="med" w="med" type="none"/>
              <a:tailEnd len="med" w="med" type="triangle"/>
            </a:ln>
          </p:spPr>
        </p:cxnSp>
      </p:grpSp>
      <p:grpSp>
        <p:nvGrpSpPr>
          <p:cNvPr id="310" name="Google Shape;310;p24"/>
          <p:cNvGrpSpPr/>
          <p:nvPr/>
        </p:nvGrpSpPr>
        <p:grpSpPr>
          <a:xfrm>
            <a:off x="2755555" y="2862672"/>
            <a:ext cx="4972850" cy="572700"/>
            <a:chOff x="2824780" y="1940328"/>
            <a:chExt cx="4972850" cy="572700"/>
          </a:xfrm>
        </p:grpSpPr>
        <p:sp>
          <p:nvSpPr>
            <p:cNvPr id="311" name="Google Shape;311;p24"/>
            <p:cNvSpPr/>
            <p:nvPr/>
          </p:nvSpPr>
          <p:spPr>
            <a:xfrm>
              <a:off x="2824780" y="194032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0x300, 25</a:t>
              </a:r>
              <a:endParaRPr/>
            </a:p>
          </p:txBody>
        </p:sp>
        <p:sp>
          <p:nvSpPr>
            <p:cNvPr id="312" name="Google Shape;312;p24"/>
            <p:cNvSpPr/>
            <p:nvPr/>
          </p:nvSpPr>
          <p:spPr>
            <a:xfrm>
              <a:off x="6566130" y="194032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0x390, 7</a:t>
              </a:r>
              <a:endParaRPr/>
            </a:p>
          </p:txBody>
        </p:sp>
        <p:sp>
          <p:nvSpPr>
            <p:cNvPr id="313" name="Google Shape;313;p24"/>
            <p:cNvSpPr/>
            <p:nvPr/>
          </p:nvSpPr>
          <p:spPr>
            <a:xfrm>
              <a:off x="4695455" y="194032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0x330, 22</a:t>
              </a:r>
              <a:endParaRPr/>
            </a:p>
          </p:txBody>
        </p:sp>
        <p:cxnSp>
          <p:nvCxnSpPr>
            <p:cNvPr id="314" name="Google Shape;314;p24"/>
            <p:cNvCxnSpPr>
              <a:stCxn id="311" idx="3"/>
              <a:endCxn id="313" idx="1"/>
            </p:cNvCxnSpPr>
            <p:nvPr/>
          </p:nvCxnSpPr>
          <p:spPr>
            <a:xfrm>
              <a:off x="4056280" y="2226678"/>
              <a:ext cx="639300" cy="0"/>
            </a:xfrm>
            <a:prstGeom prst="straightConnector1">
              <a:avLst/>
            </a:prstGeom>
            <a:noFill/>
            <a:ln cap="flat" cmpd="sng" w="28575">
              <a:solidFill>
                <a:schemeClr val="dk1"/>
              </a:solidFill>
              <a:prstDash val="solid"/>
              <a:round/>
              <a:headEnd len="med" w="med" type="none"/>
              <a:tailEnd len="med" w="med" type="triangle"/>
            </a:ln>
          </p:spPr>
        </p:cxnSp>
        <p:cxnSp>
          <p:nvCxnSpPr>
            <p:cNvPr id="315" name="Google Shape;315;p24"/>
            <p:cNvCxnSpPr>
              <a:stCxn id="313" idx="3"/>
              <a:endCxn id="312" idx="1"/>
            </p:cNvCxnSpPr>
            <p:nvPr/>
          </p:nvCxnSpPr>
          <p:spPr>
            <a:xfrm>
              <a:off x="5926955" y="2226678"/>
              <a:ext cx="639300" cy="0"/>
            </a:xfrm>
            <a:prstGeom prst="straightConnector1">
              <a:avLst/>
            </a:prstGeom>
            <a:noFill/>
            <a:ln cap="flat" cmpd="sng" w="28575">
              <a:solidFill>
                <a:schemeClr val="dk1"/>
              </a:solidFill>
              <a:prstDash val="solid"/>
              <a:round/>
              <a:headEnd len="med" w="med" type="none"/>
              <a:tailEnd len="med" w="med" type="triangle"/>
            </a:ln>
          </p:spPr>
        </p:cxnSp>
      </p:grpSp>
      <p:grpSp>
        <p:nvGrpSpPr>
          <p:cNvPr id="316" name="Google Shape;316;p24"/>
          <p:cNvGrpSpPr/>
          <p:nvPr/>
        </p:nvGrpSpPr>
        <p:grpSpPr>
          <a:xfrm>
            <a:off x="2755555" y="2085615"/>
            <a:ext cx="3105175" cy="572700"/>
            <a:chOff x="2824780" y="2792428"/>
            <a:chExt cx="3105175" cy="572700"/>
          </a:xfrm>
        </p:grpSpPr>
        <p:sp>
          <p:nvSpPr>
            <p:cNvPr id="317" name="Google Shape;317;p24"/>
            <p:cNvSpPr/>
            <p:nvPr/>
          </p:nvSpPr>
          <p:spPr>
            <a:xfrm>
              <a:off x="2824780" y="279242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0x208, 20</a:t>
              </a:r>
              <a:endParaRPr/>
            </a:p>
          </p:txBody>
        </p:sp>
        <p:sp>
          <p:nvSpPr>
            <p:cNvPr id="318" name="Google Shape;318;p24"/>
            <p:cNvSpPr/>
            <p:nvPr/>
          </p:nvSpPr>
          <p:spPr>
            <a:xfrm>
              <a:off x="4698455" y="2792428"/>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0x208, 10</a:t>
              </a:r>
              <a:endParaRPr/>
            </a:p>
          </p:txBody>
        </p:sp>
        <p:cxnSp>
          <p:nvCxnSpPr>
            <p:cNvPr id="319" name="Google Shape;319;p24"/>
            <p:cNvCxnSpPr>
              <a:stCxn id="317" idx="3"/>
              <a:endCxn id="318" idx="1"/>
            </p:cNvCxnSpPr>
            <p:nvPr/>
          </p:nvCxnSpPr>
          <p:spPr>
            <a:xfrm>
              <a:off x="4056280" y="3078778"/>
              <a:ext cx="642300" cy="0"/>
            </a:xfrm>
            <a:prstGeom prst="straightConnector1">
              <a:avLst/>
            </a:prstGeom>
            <a:noFill/>
            <a:ln cap="flat" cmpd="sng" w="28575">
              <a:solidFill>
                <a:schemeClr val="dk1"/>
              </a:solidFill>
              <a:prstDash val="solid"/>
              <a:round/>
              <a:headEnd len="med" w="med" type="none"/>
              <a:tailEnd len="med" w="med" type="triangle"/>
            </a:ln>
          </p:spPr>
        </p:cxnSp>
      </p:grpSp>
      <p:grpSp>
        <p:nvGrpSpPr>
          <p:cNvPr id="320" name="Google Shape;320;p24"/>
          <p:cNvGrpSpPr/>
          <p:nvPr/>
        </p:nvGrpSpPr>
        <p:grpSpPr>
          <a:xfrm>
            <a:off x="2755555" y="1308559"/>
            <a:ext cx="4972850" cy="572700"/>
            <a:chOff x="2824780" y="3644521"/>
            <a:chExt cx="4972850" cy="572700"/>
          </a:xfrm>
        </p:grpSpPr>
        <p:sp>
          <p:nvSpPr>
            <p:cNvPr id="321" name="Google Shape;321;p24"/>
            <p:cNvSpPr/>
            <p:nvPr/>
          </p:nvSpPr>
          <p:spPr>
            <a:xfrm>
              <a:off x="2824780" y="3644521"/>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0x110, 35</a:t>
              </a:r>
              <a:endParaRPr/>
            </a:p>
          </p:txBody>
        </p:sp>
        <p:sp>
          <p:nvSpPr>
            <p:cNvPr id="322" name="Google Shape;322;p24"/>
            <p:cNvSpPr/>
            <p:nvPr/>
          </p:nvSpPr>
          <p:spPr>
            <a:xfrm>
              <a:off x="6566130" y="3644521"/>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0x100, 5</a:t>
              </a:r>
              <a:endParaRPr/>
            </a:p>
          </p:txBody>
        </p:sp>
        <p:sp>
          <p:nvSpPr>
            <p:cNvPr id="323" name="Google Shape;323;p24"/>
            <p:cNvSpPr/>
            <p:nvPr/>
          </p:nvSpPr>
          <p:spPr>
            <a:xfrm>
              <a:off x="4695455" y="3644521"/>
              <a:ext cx="1231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0x108, 15</a:t>
              </a:r>
              <a:endParaRPr/>
            </a:p>
          </p:txBody>
        </p:sp>
        <p:cxnSp>
          <p:nvCxnSpPr>
            <p:cNvPr id="324" name="Google Shape;324;p24"/>
            <p:cNvCxnSpPr>
              <a:stCxn id="321" idx="3"/>
              <a:endCxn id="323" idx="1"/>
            </p:cNvCxnSpPr>
            <p:nvPr/>
          </p:nvCxnSpPr>
          <p:spPr>
            <a:xfrm>
              <a:off x="4056280" y="3930871"/>
              <a:ext cx="639300" cy="0"/>
            </a:xfrm>
            <a:prstGeom prst="straightConnector1">
              <a:avLst/>
            </a:prstGeom>
            <a:noFill/>
            <a:ln cap="flat" cmpd="sng" w="28575">
              <a:solidFill>
                <a:schemeClr val="dk1"/>
              </a:solidFill>
              <a:prstDash val="solid"/>
              <a:round/>
              <a:headEnd len="med" w="med" type="none"/>
              <a:tailEnd len="med" w="med" type="triangle"/>
            </a:ln>
          </p:spPr>
        </p:cxnSp>
        <p:cxnSp>
          <p:nvCxnSpPr>
            <p:cNvPr id="325" name="Google Shape;325;p24"/>
            <p:cNvCxnSpPr>
              <a:stCxn id="323" idx="3"/>
              <a:endCxn id="322" idx="1"/>
            </p:cNvCxnSpPr>
            <p:nvPr/>
          </p:nvCxnSpPr>
          <p:spPr>
            <a:xfrm>
              <a:off x="5926955" y="3930871"/>
              <a:ext cx="639300" cy="0"/>
            </a:xfrm>
            <a:prstGeom prst="straightConnector1">
              <a:avLst/>
            </a:prstGeom>
            <a:noFill/>
            <a:ln cap="flat" cmpd="sng" w="28575">
              <a:solidFill>
                <a:schemeClr val="dk1"/>
              </a:solidFill>
              <a:prstDash val="solid"/>
              <a:round/>
              <a:headEnd len="med" w="med" type="none"/>
              <a:tailEnd len="med" w="med" type="triangle"/>
            </a:ln>
          </p:spPr>
        </p:cxnSp>
      </p:grpSp>
      <p:cxnSp>
        <p:nvCxnSpPr>
          <p:cNvPr id="326" name="Google Shape;326;p24"/>
          <p:cNvCxnSpPr/>
          <p:nvPr/>
        </p:nvCxnSpPr>
        <p:spPr>
          <a:xfrm flipH="1" rot="-10677275">
            <a:off x="2385520" y="1595052"/>
            <a:ext cx="369836" cy="7500"/>
          </a:xfrm>
          <a:prstGeom prst="straightConnector1">
            <a:avLst/>
          </a:prstGeom>
          <a:noFill/>
          <a:ln cap="flat" cmpd="sng" w="28575">
            <a:solidFill>
              <a:schemeClr val="dk1"/>
            </a:solidFill>
            <a:prstDash val="solid"/>
            <a:round/>
            <a:headEnd len="med" w="med" type="none"/>
            <a:tailEnd len="med" w="med" type="triangle"/>
          </a:ln>
        </p:spPr>
      </p:cxnSp>
      <p:cxnSp>
        <p:nvCxnSpPr>
          <p:cNvPr id="327" name="Google Shape;327;p24"/>
          <p:cNvCxnSpPr/>
          <p:nvPr/>
        </p:nvCxnSpPr>
        <p:spPr>
          <a:xfrm flipH="1" rot="-10677275">
            <a:off x="2385520" y="2368377"/>
            <a:ext cx="369836" cy="7500"/>
          </a:xfrm>
          <a:prstGeom prst="straightConnector1">
            <a:avLst/>
          </a:prstGeom>
          <a:noFill/>
          <a:ln cap="flat" cmpd="sng" w="28575">
            <a:solidFill>
              <a:schemeClr val="dk1"/>
            </a:solidFill>
            <a:prstDash val="solid"/>
            <a:round/>
            <a:headEnd len="med" w="med" type="none"/>
            <a:tailEnd len="med" w="med" type="triangle"/>
          </a:ln>
        </p:spPr>
      </p:cxnSp>
      <p:cxnSp>
        <p:nvCxnSpPr>
          <p:cNvPr id="328" name="Google Shape;328;p24"/>
          <p:cNvCxnSpPr/>
          <p:nvPr/>
        </p:nvCxnSpPr>
        <p:spPr>
          <a:xfrm flipH="1" rot="-10677275">
            <a:off x="2385520" y="3145427"/>
            <a:ext cx="369836" cy="7500"/>
          </a:xfrm>
          <a:prstGeom prst="straightConnector1">
            <a:avLst/>
          </a:prstGeom>
          <a:noFill/>
          <a:ln cap="flat" cmpd="sng" w="28575">
            <a:solidFill>
              <a:schemeClr val="dk1"/>
            </a:solidFill>
            <a:prstDash val="solid"/>
            <a:round/>
            <a:headEnd len="med" w="med" type="none"/>
            <a:tailEnd len="med" w="med" type="triangle"/>
          </a:ln>
        </p:spPr>
      </p:cxnSp>
      <p:cxnSp>
        <p:nvCxnSpPr>
          <p:cNvPr id="329" name="Google Shape;329;p24"/>
          <p:cNvCxnSpPr/>
          <p:nvPr/>
        </p:nvCxnSpPr>
        <p:spPr>
          <a:xfrm flipH="1" rot="-10677275">
            <a:off x="2385508" y="3922477"/>
            <a:ext cx="369836" cy="7500"/>
          </a:xfrm>
          <a:prstGeom prst="straightConnector1">
            <a:avLst/>
          </a:prstGeom>
          <a:noFill/>
          <a:ln cap="flat" cmpd="sng" w="28575">
            <a:solidFill>
              <a:schemeClr val="dk1"/>
            </a:solidFill>
            <a:prstDash val="solid"/>
            <a:round/>
            <a:headEnd len="med" w="med" type="none"/>
            <a:tailEnd len="med" w="med" type="triangle"/>
          </a:ln>
        </p:spPr>
      </p:cxnSp>
      <p:sp>
        <p:nvSpPr>
          <p:cNvPr id="330" name="Google Shape;33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24"/>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332" name="Google Shape;332;p24"/>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333" name="Google Shape;333;p24"/>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334" name="Google Shape;334;p24"/>
          <p:cNvCxnSpPr>
            <a:stCxn id="333" idx="0"/>
            <a:endCxn id="331"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335" name="Google Shape;335;p24"/>
          <p:cNvCxnSpPr>
            <a:stCxn id="331" idx="2"/>
            <a:endCxn id="332"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336" name="Google Shape;336;p24"/>
          <p:cNvCxnSpPr>
            <a:stCxn id="333" idx="2"/>
            <a:endCxn id="332"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337" name="Google Shape;337;p24"/>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338" name="Google Shape;338;p24"/>
          <p:cNvCxnSpPr>
            <a:stCxn id="332" idx="3"/>
            <a:endCxn id="337"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339" name="Google Shape;339;p24"/>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340" name="Google Shape;340;p24"/>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341" name="Google Shape;341;p24"/>
          <p:cNvCxnSpPr>
            <a:stCxn id="340" idx="1"/>
            <a:endCxn id="331"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342" name="Google Shape;342;p24"/>
          <p:cNvSpPr/>
          <p:nvPr/>
        </p:nvSpPr>
        <p:spPr>
          <a:xfrm>
            <a:off x="7896900" y="4797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graphicFrame>
        <p:nvGraphicFramePr>
          <p:cNvPr id="348" name="Google Shape;348;p25"/>
          <p:cNvGraphicFramePr/>
          <p:nvPr/>
        </p:nvGraphicFramePr>
        <p:xfrm>
          <a:off x="1037950" y="1484600"/>
          <a:ext cx="3000000" cy="3000000"/>
        </p:xfrm>
        <a:graphic>
          <a:graphicData uri="http://schemas.openxmlformats.org/drawingml/2006/table">
            <a:tbl>
              <a:tblPr>
                <a:noFill/>
                <a:tableStyleId>{D6CEBF9E-C40A-4499-BFC6-E9B8EEB65CE8}</a:tableStyleId>
              </a:tblPr>
              <a:tblGrid>
                <a:gridCol w="729075"/>
                <a:gridCol w="829950"/>
                <a:gridCol w="660075"/>
                <a:gridCol w="695300"/>
                <a:gridCol w="902525"/>
                <a:gridCol w="729125"/>
                <a:gridCol w="855925"/>
                <a:gridCol w="1002675"/>
                <a:gridCol w="663425"/>
              </a:tblGrid>
              <a:tr h="619900">
                <a:tc>
                  <a:txBody>
                    <a:bodyPr/>
                    <a:lstStyle/>
                    <a:p>
                      <a:pPr indent="0" lvl="0" marL="0" rtl="0" algn="l">
                        <a:spcBef>
                          <a:spcPts val="0"/>
                        </a:spcBef>
                        <a:spcAft>
                          <a:spcPts val="0"/>
                        </a:spcAft>
                        <a:buNone/>
                      </a:pPr>
                      <a:r>
                        <a:rPr lang="en"/>
                        <a:t>IP tag</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Addr</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Cycle</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IP tag</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Addr</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Cycle</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IP tag</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Addr</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Cycle</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0x552</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0x110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35</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0x552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0x108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15</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0x552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0x100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0x554</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0x200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10</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0x554</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0x208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20</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0x560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0x300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25</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0x560</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0x330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22</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0x560</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0x390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0x562</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0x308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30</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a:t>
                      </a:r>
                      <a:r>
                        <a:rPr lang="en">
                          <a:solidFill>
                            <a:schemeClr val="dk1"/>
                          </a:solidFill>
                        </a:rPr>
                        <a:t>x338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23</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a:t>
                      </a:r>
                      <a:r>
                        <a:rPr lang="en">
                          <a:solidFill>
                            <a:schemeClr val="dk1"/>
                          </a:solidFill>
                        </a:rPr>
                        <a:t>x398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49" name="Google Shape;3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One FIFO is one row</a:t>
            </a:r>
            <a:endParaRPr/>
          </a:p>
          <a:p>
            <a:pPr indent="0" lvl="0" marL="0" rtl="0" algn="l">
              <a:spcBef>
                <a:spcPts val="0"/>
              </a:spcBef>
              <a:spcAft>
                <a:spcPts val="0"/>
              </a:spcAft>
              <a:buNone/>
            </a:pPr>
            <a:r>
              <a:t/>
            </a:r>
            <a:endParaRPr/>
          </a:p>
        </p:txBody>
      </p:sp>
      <p:sp>
        <p:nvSpPr>
          <p:cNvPr id="350" name="Google Shape;350;p25"/>
          <p:cNvSpPr/>
          <p:nvPr/>
        </p:nvSpPr>
        <p:spPr>
          <a:xfrm>
            <a:off x="2215650" y="2010848"/>
            <a:ext cx="4789225" cy="227583"/>
          </a:xfrm>
          <a:custGeom>
            <a:rect b="b" l="l" r="r" t="t"/>
            <a:pathLst>
              <a:path extrusionOk="0" h="12016" w="191569">
                <a:moveTo>
                  <a:pt x="191569" y="12016"/>
                </a:moveTo>
                <a:cubicBezTo>
                  <a:pt x="174191" y="10016"/>
                  <a:pt x="119231" y="155"/>
                  <a:pt x="87303" y="17"/>
                </a:cubicBezTo>
                <a:cubicBezTo>
                  <a:pt x="55375" y="-121"/>
                  <a:pt x="14551" y="9326"/>
                  <a:pt x="0" y="11188"/>
                </a:cubicBezTo>
              </a:path>
            </a:pathLst>
          </a:custGeom>
          <a:noFill/>
          <a:ln cap="flat" cmpd="sng" w="38100">
            <a:solidFill>
              <a:srgbClr val="FF0000"/>
            </a:solidFill>
            <a:prstDash val="solid"/>
            <a:round/>
            <a:headEnd len="med" w="med" type="none"/>
            <a:tailEnd len="med" w="med" type="stealth"/>
          </a:ln>
        </p:spPr>
      </p:sp>
      <p:sp>
        <p:nvSpPr>
          <p:cNvPr id="351" name="Google Shape;351;p25"/>
          <p:cNvSpPr/>
          <p:nvPr/>
        </p:nvSpPr>
        <p:spPr>
          <a:xfrm>
            <a:off x="2064675" y="2497195"/>
            <a:ext cx="2790202" cy="179519"/>
          </a:xfrm>
          <a:custGeom>
            <a:rect b="b" l="l" r="r" t="t"/>
            <a:pathLst>
              <a:path extrusionOk="0" h="12016" w="191569">
                <a:moveTo>
                  <a:pt x="191569" y="12016"/>
                </a:moveTo>
                <a:cubicBezTo>
                  <a:pt x="174191" y="10016"/>
                  <a:pt x="119231" y="155"/>
                  <a:pt x="87303" y="17"/>
                </a:cubicBezTo>
                <a:cubicBezTo>
                  <a:pt x="55375" y="-121"/>
                  <a:pt x="14551" y="9326"/>
                  <a:pt x="0" y="11188"/>
                </a:cubicBezTo>
              </a:path>
            </a:pathLst>
          </a:custGeom>
          <a:noFill/>
          <a:ln cap="flat" cmpd="sng" w="38100">
            <a:solidFill>
              <a:srgbClr val="FF0000"/>
            </a:solidFill>
            <a:prstDash val="solid"/>
            <a:round/>
            <a:headEnd len="med" w="med" type="none"/>
            <a:tailEnd len="med" w="med" type="stealth"/>
          </a:ln>
        </p:spPr>
      </p:sp>
      <p:sp>
        <p:nvSpPr>
          <p:cNvPr id="352" name="Google Shape;352;p25"/>
          <p:cNvSpPr/>
          <p:nvPr/>
        </p:nvSpPr>
        <p:spPr>
          <a:xfrm>
            <a:off x="7088479" y="3125150"/>
            <a:ext cx="269375" cy="403425"/>
          </a:xfrm>
          <a:custGeom>
            <a:rect b="b" l="l" r="r" t="t"/>
            <a:pathLst>
              <a:path extrusionOk="0" h="16137" w="10775">
                <a:moveTo>
                  <a:pt x="0" y="16137"/>
                </a:moveTo>
                <a:cubicBezTo>
                  <a:pt x="1793" y="14551"/>
                  <a:pt x="10689" y="9310"/>
                  <a:pt x="10758" y="6620"/>
                </a:cubicBezTo>
                <a:cubicBezTo>
                  <a:pt x="10827" y="3931"/>
                  <a:pt x="2138" y="1103"/>
                  <a:pt x="414" y="0"/>
                </a:cubicBezTo>
              </a:path>
            </a:pathLst>
          </a:custGeom>
          <a:noFill/>
          <a:ln cap="flat" cmpd="sng" w="38100">
            <a:solidFill>
              <a:srgbClr val="00FF00"/>
            </a:solidFill>
            <a:prstDash val="solid"/>
            <a:round/>
            <a:headEnd len="med" w="med" type="stealth"/>
            <a:tailEnd len="med" w="med" type="none"/>
          </a:ln>
        </p:spPr>
      </p:sp>
      <p:sp>
        <p:nvSpPr>
          <p:cNvPr id="353" name="Google Shape;353;p25"/>
          <p:cNvSpPr/>
          <p:nvPr/>
        </p:nvSpPr>
        <p:spPr>
          <a:xfrm>
            <a:off x="150" y="4156175"/>
            <a:ext cx="9144000" cy="507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Berti finds streaming patterns by reading a row, but not spatial patterns that cross rows</a:t>
            </a:r>
            <a:endParaRPr>
              <a:solidFill>
                <a:schemeClr val="lt1"/>
              </a:solidFill>
            </a:endParaRPr>
          </a:p>
        </p:txBody>
      </p:sp>
      <p:sp>
        <p:nvSpPr>
          <p:cNvPr id="354" name="Google Shape;354;p25"/>
          <p:cNvSpPr/>
          <p:nvPr/>
        </p:nvSpPr>
        <p:spPr>
          <a:xfrm>
            <a:off x="2403885" y="3107300"/>
            <a:ext cx="269375" cy="403425"/>
          </a:xfrm>
          <a:custGeom>
            <a:rect b="b" l="l" r="r" t="t"/>
            <a:pathLst>
              <a:path extrusionOk="0" h="16137" w="10775">
                <a:moveTo>
                  <a:pt x="0" y="16137"/>
                </a:moveTo>
                <a:cubicBezTo>
                  <a:pt x="1793" y="14551"/>
                  <a:pt x="10689" y="9310"/>
                  <a:pt x="10758" y="6620"/>
                </a:cubicBezTo>
                <a:cubicBezTo>
                  <a:pt x="10827" y="3931"/>
                  <a:pt x="2138" y="1103"/>
                  <a:pt x="414" y="0"/>
                </a:cubicBezTo>
              </a:path>
            </a:pathLst>
          </a:custGeom>
          <a:noFill/>
          <a:ln cap="flat" cmpd="sng" w="38100">
            <a:solidFill>
              <a:srgbClr val="00FF00"/>
            </a:solidFill>
            <a:prstDash val="solid"/>
            <a:round/>
            <a:headEnd len="med" w="med" type="stealth"/>
            <a:tailEnd len="med" w="med" type="none"/>
          </a:ln>
        </p:spPr>
      </p:sp>
      <p:sp>
        <p:nvSpPr>
          <p:cNvPr id="355" name="Google Shape;355;p25"/>
          <p:cNvSpPr/>
          <p:nvPr/>
        </p:nvSpPr>
        <p:spPr>
          <a:xfrm>
            <a:off x="4585495" y="3125150"/>
            <a:ext cx="269375" cy="403425"/>
          </a:xfrm>
          <a:custGeom>
            <a:rect b="b" l="l" r="r" t="t"/>
            <a:pathLst>
              <a:path extrusionOk="0" h="16137" w="10775">
                <a:moveTo>
                  <a:pt x="0" y="16137"/>
                </a:moveTo>
                <a:cubicBezTo>
                  <a:pt x="1793" y="14551"/>
                  <a:pt x="10689" y="9310"/>
                  <a:pt x="10758" y="6620"/>
                </a:cubicBezTo>
                <a:cubicBezTo>
                  <a:pt x="10827" y="3931"/>
                  <a:pt x="2138" y="1103"/>
                  <a:pt x="414" y="0"/>
                </a:cubicBezTo>
              </a:path>
            </a:pathLst>
          </a:custGeom>
          <a:noFill/>
          <a:ln cap="flat" cmpd="sng" w="38100">
            <a:solidFill>
              <a:srgbClr val="00FF00"/>
            </a:solidFill>
            <a:prstDash val="solid"/>
            <a:round/>
            <a:headEnd len="med" w="med" type="stealth"/>
            <a:tailEnd len="med" w="med" type="none"/>
          </a:ln>
        </p:spPr>
      </p:sp>
      <p:sp>
        <p:nvSpPr>
          <p:cNvPr id="356" name="Google Shape;356;p25"/>
          <p:cNvSpPr/>
          <p:nvPr/>
        </p:nvSpPr>
        <p:spPr>
          <a:xfrm>
            <a:off x="829575" y="2103950"/>
            <a:ext cx="7406100" cy="393600"/>
          </a:xfrm>
          <a:prstGeom prst="rect">
            <a:avLst/>
          </a:prstGeom>
          <a:noFill/>
          <a:ln cap="flat" cmpd="sng" w="3810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57" name="Google Shape;357;p25"/>
          <p:cNvCxnSpPr/>
          <p:nvPr/>
        </p:nvCxnSpPr>
        <p:spPr>
          <a:xfrm flipH="1" rot="10800000">
            <a:off x="311700" y="2807200"/>
            <a:ext cx="682800" cy="10500"/>
          </a:xfrm>
          <a:prstGeom prst="straightConnector1">
            <a:avLst/>
          </a:prstGeom>
          <a:noFill/>
          <a:ln cap="flat" cmpd="sng" w="38100">
            <a:solidFill>
              <a:schemeClr val="dk1"/>
            </a:solidFill>
            <a:prstDash val="solid"/>
            <a:round/>
            <a:headEnd len="med" w="med" type="none"/>
            <a:tailEnd len="med" w="med" type="triangle"/>
          </a:ln>
        </p:spPr>
      </p:cxnSp>
      <p:sp>
        <p:nvSpPr>
          <p:cNvPr id="358" name="Google Shape;358;p25"/>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359" name="Google Shape;359;p25"/>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360" name="Google Shape;360;p25"/>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361" name="Google Shape;361;p25"/>
          <p:cNvCxnSpPr>
            <a:stCxn id="360" idx="0"/>
            <a:endCxn id="358"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362" name="Google Shape;362;p25"/>
          <p:cNvCxnSpPr>
            <a:stCxn id="358" idx="2"/>
            <a:endCxn id="359"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363" name="Google Shape;363;p25"/>
          <p:cNvCxnSpPr>
            <a:stCxn id="360" idx="2"/>
            <a:endCxn id="359"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364" name="Google Shape;364;p25"/>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365" name="Google Shape;365;p25"/>
          <p:cNvCxnSpPr>
            <a:stCxn id="359" idx="3"/>
            <a:endCxn id="364"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366" name="Google Shape;366;p25"/>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367" name="Google Shape;367;p25"/>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368" name="Google Shape;368;p25"/>
          <p:cNvCxnSpPr>
            <a:stCxn id="367" idx="1"/>
            <a:endCxn id="358"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369" name="Google Shape;369;p25"/>
          <p:cNvSpPr/>
          <p:nvPr/>
        </p:nvSpPr>
        <p:spPr>
          <a:xfrm>
            <a:off x="7896900" y="4797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graphicFrame>
        <p:nvGraphicFramePr>
          <p:cNvPr id="375" name="Google Shape;375;p26"/>
          <p:cNvGraphicFramePr/>
          <p:nvPr/>
        </p:nvGraphicFramePr>
        <p:xfrm>
          <a:off x="1037950" y="1484600"/>
          <a:ext cx="3000000" cy="3000000"/>
        </p:xfrm>
        <a:graphic>
          <a:graphicData uri="http://schemas.openxmlformats.org/drawingml/2006/table">
            <a:tbl>
              <a:tblPr>
                <a:noFill/>
                <a:tableStyleId>{D6CEBF9E-C40A-4499-BFC6-E9B8EEB65CE8}</a:tableStyleId>
              </a:tblPr>
              <a:tblGrid>
                <a:gridCol w="729075"/>
                <a:gridCol w="829950"/>
                <a:gridCol w="660075"/>
                <a:gridCol w="695300"/>
                <a:gridCol w="902525"/>
                <a:gridCol w="729125"/>
                <a:gridCol w="855925"/>
                <a:gridCol w="1002675"/>
                <a:gridCol w="663425"/>
              </a:tblGrid>
              <a:tr h="619900">
                <a:tc>
                  <a:txBody>
                    <a:bodyPr/>
                    <a:lstStyle/>
                    <a:p>
                      <a:pPr indent="0" lvl="0" marL="0" rtl="0" algn="l">
                        <a:spcBef>
                          <a:spcPts val="0"/>
                        </a:spcBef>
                        <a:spcAft>
                          <a:spcPts val="0"/>
                        </a:spcAft>
                        <a:buNone/>
                      </a:pPr>
                      <a:r>
                        <a:rPr lang="en"/>
                        <a:t>IP tag</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Addr</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Cycle</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IP tag</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Addr</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Cycle</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IP tag</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Addr</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Cycle</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0x552</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0x110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35</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0x552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0x108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15</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0x552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0x100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0x554</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0x200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10</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0x554</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0x208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20</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0x560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0x300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25</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0x560</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0x330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22</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0x560</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0x390</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0x562</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0x308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30</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0x338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23</a:t>
                      </a:r>
                      <a:endParaRPr/>
                    </a:p>
                  </a:txBody>
                  <a:tcPr marT="91425" marB="91425" marR="91425" marL="91425">
                    <a:lnL cap="flat" cmpd="sng" w="28575">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0x562</a:t>
                      </a:r>
                      <a:endParaRPr/>
                    </a:p>
                  </a:txBody>
                  <a:tcPr marT="91425" marB="91425" marR="91425" marL="91425">
                    <a:lnL cap="flat" cmpd="sng" w="762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0x398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76" name="Google Shape;37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first column is a global history</a:t>
            </a:r>
            <a:endParaRPr/>
          </a:p>
          <a:p>
            <a:pPr indent="0" lvl="0" marL="0" rtl="0" algn="l">
              <a:spcBef>
                <a:spcPts val="0"/>
              </a:spcBef>
              <a:spcAft>
                <a:spcPts val="0"/>
              </a:spcAft>
              <a:buNone/>
            </a:pPr>
            <a:r>
              <a:t/>
            </a:r>
            <a:endParaRPr/>
          </a:p>
        </p:txBody>
      </p:sp>
      <p:sp>
        <p:nvSpPr>
          <p:cNvPr id="377" name="Google Shape;377;p26"/>
          <p:cNvSpPr/>
          <p:nvPr/>
        </p:nvSpPr>
        <p:spPr>
          <a:xfrm>
            <a:off x="2399675" y="3125150"/>
            <a:ext cx="269375" cy="403425"/>
          </a:xfrm>
          <a:custGeom>
            <a:rect b="b" l="l" r="r" t="t"/>
            <a:pathLst>
              <a:path extrusionOk="0" h="16137" w="10775">
                <a:moveTo>
                  <a:pt x="0" y="16137"/>
                </a:moveTo>
                <a:cubicBezTo>
                  <a:pt x="1793" y="14551"/>
                  <a:pt x="10689" y="9310"/>
                  <a:pt x="10758" y="6620"/>
                </a:cubicBezTo>
                <a:cubicBezTo>
                  <a:pt x="10827" y="3931"/>
                  <a:pt x="2138" y="1103"/>
                  <a:pt x="414" y="0"/>
                </a:cubicBezTo>
              </a:path>
            </a:pathLst>
          </a:custGeom>
          <a:noFill/>
          <a:ln cap="flat" cmpd="sng" w="38100">
            <a:solidFill>
              <a:srgbClr val="00FF00"/>
            </a:solidFill>
            <a:prstDash val="solid"/>
            <a:round/>
            <a:headEnd len="med" w="med" type="stealth"/>
            <a:tailEnd len="med" w="med" type="none"/>
          </a:ln>
        </p:spPr>
      </p:sp>
      <p:sp>
        <p:nvSpPr>
          <p:cNvPr id="378" name="Google Shape;378;p26"/>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Accessing the first </a:t>
            </a:r>
            <a:r>
              <a:rPr b="1" lang="en" sz="1800">
                <a:solidFill>
                  <a:schemeClr val="lt1"/>
                </a:solidFill>
              </a:rPr>
              <a:t>column</a:t>
            </a:r>
            <a:r>
              <a:rPr lang="en" sz="1800">
                <a:solidFill>
                  <a:schemeClr val="lt1"/>
                </a:solidFill>
              </a:rPr>
              <a:t> of Berti’s history table finds deltas for spatial patterns</a:t>
            </a:r>
            <a:endParaRPr>
              <a:solidFill>
                <a:schemeClr val="lt1"/>
              </a:solidFill>
            </a:endParaRPr>
          </a:p>
        </p:txBody>
      </p:sp>
      <p:sp>
        <p:nvSpPr>
          <p:cNvPr id="379" name="Google Shape;379;p26"/>
          <p:cNvSpPr/>
          <p:nvPr/>
        </p:nvSpPr>
        <p:spPr>
          <a:xfrm>
            <a:off x="1037950" y="1361300"/>
            <a:ext cx="1631100" cy="2451300"/>
          </a:xfrm>
          <a:prstGeom prst="rect">
            <a:avLst/>
          </a:prstGeom>
          <a:noFill/>
          <a:ln cap="flat" cmpd="sng" w="38100">
            <a:solidFill>
              <a:srgbClr val="00FF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26"/>
          <p:cNvSpPr txBox="1"/>
          <p:nvPr/>
        </p:nvSpPr>
        <p:spPr>
          <a:xfrm>
            <a:off x="311700" y="904050"/>
            <a:ext cx="830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The first column of the history table stores the </a:t>
            </a:r>
            <a:r>
              <a:rPr b="1" lang="en" sz="1800">
                <a:solidFill>
                  <a:schemeClr val="dk1"/>
                </a:solidFill>
              </a:rPr>
              <a:t>most recent </a:t>
            </a:r>
            <a:r>
              <a:rPr lang="en" sz="1800">
                <a:solidFill>
                  <a:schemeClr val="dk1"/>
                </a:solidFill>
              </a:rPr>
              <a:t>access by each IP</a:t>
            </a:r>
            <a:endParaRPr sz="1800">
              <a:solidFill>
                <a:schemeClr val="dk1"/>
              </a:solidFill>
            </a:endParaRPr>
          </a:p>
        </p:txBody>
      </p:sp>
      <p:cxnSp>
        <p:nvCxnSpPr>
          <p:cNvPr id="381" name="Google Shape;381;p26"/>
          <p:cNvCxnSpPr/>
          <p:nvPr/>
        </p:nvCxnSpPr>
        <p:spPr>
          <a:xfrm flipH="1">
            <a:off x="444550" y="2896900"/>
            <a:ext cx="593400" cy="9900"/>
          </a:xfrm>
          <a:prstGeom prst="straightConnector1">
            <a:avLst/>
          </a:prstGeom>
          <a:noFill/>
          <a:ln cap="flat" cmpd="sng" w="38100">
            <a:solidFill>
              <a:schemeClr val="dk1"/>
            </a:solidFill>
            <a:prstDash val="solid"/>
            <a:round/>
            <a:headEnd len="med" w="med" type="stealth"/>
            <a:tailEnd len="med" w="med" type="none"/>
          </a:ln>
        </p:spPr>
      </p:cxnSp>
      <p:sp>
        <p:nvSpPr>
          <p:cNvPr id="382" name="Google Shape;382;p26"/>
          <p:cNvSpPr/>
          <p:nvPr/>
        </p:nvSpPr>
        <p:spPr>
          <a:xfrm>
            <a:off x="829575" y="2103950"/>
            <a:ext cx="7406100" cy="393600"/>
          </a:xfrm>
          <a:prstGeom prst="rect">
            <a:avLst/>
          </a:prstGeom>
          <a:noFill/>
          <a:ln cap="flat" cmpd="sng" w="3810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26"/>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384" name="Google Shape;384;p26"/>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385" name="Google Shape;385;p26"/>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386" name="Google Shape;386;p26"/>
          <p:cNvCxnSpPr>
            <a:stCxn id="385" idx="0"/>
            <a:endCxn id="383"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387" name="Google Shape;387;p26"/>
          <p:cNvCxnSpPr>
            <a:stCxn id="383" idx="2"/>
            <a:endCxn id="384"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388" name="Google Shape;388;p26"/>
          <p:cNvCxnSpPr>
            <a:stCxn id="385" idx="2"/>
            <a:endCxn id="384"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389" name="Google Shape;389;p26"/>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390" name="Google Shape;390;p26"/>
          <p:cNvCxnSpPr>
            <a:stCxn id="384" idx="3"/>
            <a:endCxn id="389"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391" name="Google Shape;391;p26"/>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392" name="Google Shape;392;p26"/>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393" name="Google Shape;393;p26"/>
          <p:cNvCxnSpPr>
            <a:stCxn id="392" idx="1"/>
            <a:endCxn id="383"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394" name="Google Shape;394;p26"/>
          <p:cNvSpPr/>
          <p:nvPr/>
        </p:nvSpPr>
        <p:spPr>
          <a:xfrm>
            <a:off x="7896900" y="47975"/>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Global Berti Design</a:t>
            </a:r>
            <a:endParaRPr/>
          </a:p>
        </p:txBody>
      </p:sp>
      <p:sp>
        <p:nvSpPr>
          <p:cNvPr id="401" name="Google Shape;40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Global Berti Overview</a:t>
            </a:r>
            <a:endParaRPr/>
          </a:p>
          <a:p>
            <a:pPr indent="0" lvl="0" marL="0" rtl="0" algn="l">
              <a:spcBef>
                <a:spcPts val="0"/>
              </a:spcBef>
              <a:spcAft>
                <a:spcPts val="0"/>
              </a:spcAft>
              <a:buNone/>
            </a:pPr>
            <a:r>
              <a:t/>
            </a:r>
            <a:endParaRPr/>
          </a:p>
        </p:txBody>
      </p:sp>
      <p:sp>
        <p:nvSpPr>
          <p:cNvPr id="407" name="Google Shape;40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08" name="Google Shape;408;p28"/>
          <p:cNvSpPr/>
          <p:nvPr/>
        </p:nvSpPr>
        <p:spPr>
          <a:xfrm>
            <a:off x="4195900" y="1220600"/>
            <a:ext cx="1681500" cy="94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History Table</a:t>
            </a:r>
            <a:endParaRPr/>
          </a:p>
        </p:txBody>
      </p:sp>
      <p:sp>
        <p:nvSpPr>
          <p:cNvPr id="409" name="Google Shape;409;p28"/>
          <p:cNvSpPr/>
          <p:nvPr/>
        </p:nvSpPr>
        <p:spPr>
          <a:xfrm>
            <a:off x="4195900" y="3005000"/>
            <a:ext cx="1681500" cy="94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Delta Table</a:t>
            </a:r>
            <a:endParaRPr/>
          </a:p>
        </p:txBody>
      </p:sp>
      <p:sp>
        <p:nvSpPr>
          <p:cNvPr id="410" name="Google Shape;410;p28"/>
          <p:cNvSpPr txBox="1"/>
          <p:nvPr/>
        </p:nvSpPr>
        <p:spPr>
          <a:xfrm>
            <a:off x="409375" y="2340900"/>
            <a:ext cx="2619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Instruction Pointer (IP),</a:t>
            </a:r>
            <a:endParaRPr sz="1800">
              <a:solidFill>
                <a:schemeClr val="dk1"/>
              </a:solidFill>
            </a:endParaRPr>
          </a:p>
          <a:p>
            <a:pPr indent="0" lvl="0" marL="0" rtl="0" algn="l">
              <a:spcBef>
                <a:spcPts val="0"/>
              </a:spcBef>
              <a:spcAft>
                <a:spcPts val="0"/>
              </a:spcAft>
              <a:buNone/>
            </a:pPr>
            <a:r>
              <a:rPr lang="en" sz="1800">
                <a:solidFill>
                  <a:schemeClr val="dk1"/>
                </a:solidFill>
              </a:rPr>
              <a:t>Access Address,</a:t>
            </a:r>
            <a:endParaRPr sz="1800">
              <a:solidFill>
                <a:schemeClr val="dk1"/>
              </a:solidFill>
            </a:endParaRPr>
          </a:p>
          <a:p>
            <a:pPr indent="0" lvl="0" marL="0" rtl="0" algn="l">
              <a:spcBef>
                <a:spcPts val="0"/>
              </a:spcBef>
              <a:spcAft>
                <a:spcPts val="0"/>
              </a:spcAft>
              <a:buNone/>
            </a:pPr>
            <a:r>
              <a:rPr lang="en" sz="1800">
                <a:solidFill>
                  <a:schemeClr val="dk1"/>
                </a:solidFill>
              </a:rPr>
              <a:t>Cycle</a:t>
            </a:r>
            <a:endParaRPr sz="1800">
              <a:solidFill>
                <a:schemeClr val="dk1"/>
              </a:solidFill>
            </a:endParaRPr>
          </a:p>
        </p:txBody>
      </p:sp>
      <p:cxnSp>
        <p:nvCxnSpPr>
          <p:cNvPr id="411" name="Google Shape;411;p28"/>
          <p:cNvCxnSpPr>
            <a:stCxn id="410" idx="0"/>
            <a:endCxn id="408" idx="1"/>
          </p:cNvCxnSpPr>
          <p:nvPr/>
        </p:nvCxnSpPr>
        <p:spPr>
          <a:xfrm rot="-5400000">
            <a:off x="2634625" y="779700"/>
            <a:ext cx="645600" cy="2476800"/>
          </a:xfrm>
          <a:prstGeom prst="bentConnector2">
            <a:avLst/>
          </a:prstGeom>
          <a:noFill/>
          <a:ln cap="flat" cmpd="sng" w="38100">
            <a:solidFill>
              <a:schemeClr val="dk1"/>
            </a:solidFill>
            <a:prstDash val="solid"/>
            <a:round/>
            <a:headEnd len="med" w="med" type="none"/>
            <a:tailEnd len="med" w="med" type="triangle"/>
          </a:ln>
        </p:spPr>
      </p:cxnSp>
      <p:cxnSp>
        <p:nvCxnSpPr>
          <p:cNvPr id="412" name="Google Shape;412;p28"/>
          <p:cNvCxnSpPr>
            <a:stCxn id="408" idx="2"/>
            <a:endCxn id="409" idx="0"/>
          </p:cNvCxnSpPr>
          <p:nvPr/>
        </p:nvCxnSpPr>
        <p:spPr>
          <a:xfrm>
            <a:off x="5036650" y="2170100"/>
            <a:ext cx="0" cy="834900"/>
          </a:xfrm>
          <a:prstGeom prst="straightConnector1">
            <a:avLst/>
          </a:prstGeom>
          <a:noFill/>
          <a:ln cap="flat" cmpd="sng" w="38100">
            <a:solidFill>
              <a:schemeClr val="dk1"/>
            </a:solidFill>
            <a:prstDash val="solid"/>
            <a:round/>
            <a:headEnd len="med" w="med" type="none"/>
            <a:tailEnd len="med" w="med" type="triangle"/>
          </a:ln>
        </p:spPr>
      </p:cxnSp>
      <p:cxnSp>
        <p:nvCxnSpPr>
          <p:cNvPr id="413" name="Google Shape;413;p28"/>
          <p:cNvCxnSpPr>
            <a:stCxn id="410" idx="2"/>
            <a:endCxn id="409" idx="1"/>
          </p:cNvCxnSpPr>
          <p:nvPr/>
        </p:nvCxnSpPr>
        <p:spPr>
          <a:xfrm flipH="1" rot="-5400000">
            <a:off x="2895925" y="2179800"/>
            <a:ext cx="123000" cy="2476800"/>
          </a:xfrm>
          <a:prstGeom prst="bentConnector2">
            <a:avLst/>
          </a:prstGeom>
          <a:noFill/>
          <a:ln cap="flat" cmpd="sng" w="38100">
            <a:solidFill>
              <a:schemeClr val="dk1"/>
            </a:solidFill>
            <a:prstDash val="solid"/>
            <a:round/>
            <a:headEnd len="med" w="med" type="none"/>
            <a:tailEnd len="med" w="med" type="triangle"/>
          </a:ln>
        </p:spPr>
      </p:cxnSp>
      <p:sp>
        <p:nvSpPr>
          <p:cNvPr id="414" name="Google Shape;414;p28"/>
          <p:cNvSpPr txBox="1"/>
          <p:nvPr/>
        </p:nvSpPr>
        <p:spPr>
          <a:xfrm>
            <a:off x="6480825" y="3248900"/>
            <a:ext cx="294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Prefetch Addresses</a:t>
            </a:r>
            <a:endParaRPr sz="1800">
              <a:solidFill>
                <a:schemeClr val="dk1"/>
              </a:solidFill>
            </a:endParaRPr>
          </a:p>
        </p:txBody>
      </p:sp>
      <p:cxnSp>
        <p:nvCxnSpPr>
          <p:cNvPr id="415" name="Google Shape;415;p28"/>
          <p:cNvCxnSpPr>
            <a:stCxn id="409" idx="3"/>
            <a:endCxn id="414" idx="1"/>
          </p:cNvCxnSpPr>
          <p:nvPr/>
        </p:nvCxnSpPr>
        <p:spPr>
          <a:xfrm>
            <a:off x="5877400" y="3479750"/>
            <a:ext cx="603300" cy="0"/>
          </a:xfrm>
          <a:prstGeom prst="straightConnector1">
            <a:avLst/>
          </a:prstGeom>
          <a:noFill/>
          <a:ln cap="flat" cmpd="sng" w="38100">
            <a:solidFill>
              <a:schemeClr val="dk1"/>
            </a:solidFill>
            <a:prstDash val="solid"/>
            <a:round/>
            <a:headEnd len="med" w="med" type="none"/>
            <a:tailEnd len="med" w="med" type="triangle"/>
          </a:ln>
        </p:spPr>
      </p:cxnSp>
      <p:sp>
        <p:nvSpPr>
          <p:cNvPr id="416" name="Google Shape;416;p28"/>
          <p:cNvSpPr txBox="1"/>
          <p:nvPr/>
        </p:nvSpPr>
        <p:spPr>
          <a:xfrm>
            <a:off x="5036650" y="2356700"/>
            <a:ext cx="398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(IPs, </a:t>
            </a:r>
            <a:r>
              <a:rPr lang="en" sz="1800">
                <a:solidFill>
                  <a:schemeClr val="dk1"/>
                </a:solidFill>
              </a:rPr>
              <a:t>Deltas)</a:t>
            </a:r>
            <a:endParaRPr sz="1800">
              <a:solidFill>
                <a:schemeClr val="dk1"/>
              </a:solidFill>
            </a:endParaRPr>
          </a:p>
        </p:txBody>
      </p:sp>
      <p:sp>
        <p:nvSpPr>
          <p:cNvPr id="417" name="Google Shape;417;p28"/>
          <p:cNvSpPr txBox="1"/>
          <p:nvPr/>
        </p:nvSpPr>
        <p:spPr>
          <a:xfrm>
            <a:off x="6480825" y="1456363"/>
            <a:ext cx="261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Fill Latencies</a:t>
            </a:r>
            <a:endParaRPr sz="1800">
              <a:solidFill>
                <a:schemeClr val="dk1"/>
              </a:solidFill>
            </a:endParaRPr>
          </a:p>
        </p:txBody>
      </p:sp>
      <p:cxnSp>
        <p:nvCxnSpPr>
          <p:cNvPr id="418" name="Google Shape;418;p28"/>
          <p:cNvCxnSpPr>
            <a:stCxn id="417" idx="1"/>
            <a:endCxn id="408" idx="3"/>
          </p:cNvCxnSpPr>
          <p:nvPr/>
        </p:nvCxnSpPr>
        <p:spPr>
          <a:xfrm flipH="1">
            <a:off x="5877525" y="1687213"/>
            <a:ext cx="603300" cy="8100"/>
          </a:xfrm>
          <a:prstGeom prst="straightConnector1">
            <a:avLst/>
          </a:prstGeom>
          <a:noFill/>
          <a:ln cap="flat" cmpd="sng" w="38100">
            <a:solidFill>
              <a:schemeClr val="dk1"/>
            </a:solidFill>
            <a:prstDash val="solid"/>
            <a:round/>
            <a:headEnd len="med" w="med" type="none"/>
            <a:tailEnd len="med" w="med" type="triangle"/>
          </a:ln>
        </p:spPr>
      </p:cxnSp>
      <p:sp>
        <p:nvSpPr>
          <p:cNvPr id="419" name="Google Shape;419;p28"/>
          <p:cNvSpPr/>
          <p:nvPr/>
        </p:nvSpPr>
        <p:spPr>
          <a:xfrm>
            <a:off x="6016275" y="1226175"/>
            <a:ext cx="1681500" cy="252600"/>
          </a:xfrm>
          <a:prstGeom prst="rect">
            <a:avLst/>
          </a:prstGeom>
          <a:noFill/>
          <a:ln cap="flat" cmpd="sng" w="3810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28"/>
          <p:cNvSpPr/>
          <p:nvPr/>
        </p:nvSpPr>
        <p:spPr>
          <a:xfrm>
            <a:off x="3756900" y="1192250"/>
            <a:ext cx="171600" cy="1006200"/>
          </a:xfrm>
          <a:prstGeom prst="rect">
            <a:avLst/>
          </a:prstGeom>
          <a:noFill/>
          <a:ln cap="flat" cmpd="sng" w="38100">
            <a:solidFill>
              <a:srgbClr val="00FF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9"/>
          <p:cNvSpPr txBox="1"/>
          <p:nvPr/>
        </p:nvSpPr>
        <p:spPr>
          <a:xfrm>
            <a:off x="2627843" y="2420900"/>
            <a:ext cx="4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rgbClr val="00FF00"/>
                </a:solidFill>
              </a:rPr>
              <a:t>Δ</a:t>
            </a:r>
            <a:r>
              <a:rPr baseline="-25000" lang="en" sz="1800">
                <a:solidFill>
                  <a:srgbClr val="00FF00"/>
                </a:solidFill>
              </a:rPr>
              <a:t>3</a:t>
            </a:r>
            <a:r>
              <a:rPr lang="en" sz="1800">
                <a:solidFill>
                  <a:srgbClr val="00FF00"/>
                </a:solidFill>
              </a:rPr>
              <a:t> </a:t>
            </a:r>
            <a:endParaRPr sz="1800">
              <a:solidFill>
                <a:srgbClr val="00FF00"/>
              </a:solidFill>
            </a:endParaRPr>
          </a:p>
        </p:txBody>
      </p:sp>
      <p:sp>
        <p:nvSpPr>
          <p:cNvPr id="427" name="Google Shape;427;p29"/>
          <p:cNvSpPr txBox="1"/>
          <p:nvPr/>
        </p:nvSpPr>
        <p:spPr>
          <a:xfrm>
            <a:off x="2658118" y="2784675"/>
            <a:ext cx="4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rgbClr val="00FF00"/>
                </a:solidFill>
              </a:rPr>
              <a:t>Δ</a:t>
            </a:r>
            <a:r>
              <a:rPr baseline="-25000" lang="en" sz="1800">
                <a:solidFill>
                  <a:srgbClr val="00FF00"/>
                </a:solidFill>
              </a:rPr>
              <a:t>3</a:t>
            </a:r>
            <a:r>
              <a:rPr lang="en" sz="1800">
                <a:solidFill>
                  <a:srgbClr val="00FF00"/>
                </a:solidFill>
              </a:rPr>
              <a:t> </a:t>
            </a:r>
            <a:endParaRPr sz="1800">
              <a:solidFill>
                <a:srgbClr val="00FF00"/>
              </a:solidFill>
            </a:endParaRPr>
          </a:p>
        </p:txBody>
      </p:sp>
      <p:sp>
        <p:nvSpPr>
          <p:cNvPr id="428" name="Google Shape;42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There are too many spatial deltas</a:t>
            </a:r>
            <a:endParaRPr/>
          </a:p>
        </p:txBody>
      </p:sp>
      <p:sp>
        <p:nvSpPr>
          <p:cNvPr id="429" name="Google Shape;429;p29"/>
          <p:cNvSpPr txBox="1"/>
          <p:nvPr/>
        </p:nvSpPr>
        <p:spPr>
          <a:xfrm>
            <a:off x="4449400" y="1838825"/>
            <a:ext cx="5202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int sum = 0;</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for (int i = 0; i &lt; N_LISTS ; i++) {</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 ListNode * h = heads[i];</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 ListNode * t = tails[i];</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 while (h != t) {</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  sum += h-&gt;data;</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  h = h-&gt;next;</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 }</a:t>
            </a:r>
            <a:endParaRPr sz="18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2"/>
                </a:solidFill>
                <a:latin typeface="Consolas"/>
                <a:ea typeface="Consolas"/>
                <a:cs typeface="Consolas"/>
                <a:sym typeface="Consolas"/>
              </a:rPr>
              <a:t>}</a:t>
            </a:r>
            <a:endParaRPr sz="1800">
              <a:solidFill>
                <a:schemeClr val="dk2"/>
              </a:solidFill>
              <a:latin typeface="Consolas"/>
              <a:ea typeface="Consolas"/>
              <a:cs typeface="Consolas"/>
              <a:sym typeface="Consolas"/>
            </a:endParaRPr>
          </a:p>
          <a:p>
            <a:pPr indent="0" lvl="0" marL="0" rtl="0" algn="l">
              <a:spcBef>
                <a:spcPts val="0"/>
              </a:spcBef>
              <a:spcAft>
                <a:spcPts val="0"/>
              </a:spcAft>
              <a:buNone/>
            </a:pPr>
            <a:r>
              <a:rPr lang="en" sz="1800">
                <a:solidFill>
                  <a:schemeClr val="dk2"/>
                </a:solidFill>
                <a:latin typeface="Consolas"/>
                <a:ea typeface="Consolas"/>
                <a:cs typeface="Consolas"/>
                <a:sym typeface="Consolas"/>
              </a:rPr>
              <a:t>f(sum);</a:t>
            </a:r>
            <a:endParaRPr sz="1800">
              <a:solidFill>
                <a:schemeClr val="dk2"/>
              </a:solidFill>
              <a:latin typeface="Consolas"/>
              <a:ea typeface="Consolas"/>
              <a:cs typeface="Consolas"/>
              <a:sym typeface="Consolas"/>
            </a:endParaRPr>
          </a:p>
        </p:txBody>
      </p:sp>
      <p:sp>
        <p:nvSpPr>
          <p:cNvPr id="430" name="Google Shape;430;p29"/>
          <p:cNvSpPr/>
          <p:nvPr/>
        </p:nvSpPr>
        <p:spPr>
          <a:xfrm>
            <a:off x="4530425" y="2462675"/>
            <a:ext cx="3224700" cy="276900"/>
          </a:xfrm>
          <a:prstGeom prst="rect">
            <a:avLst/>
          </a:prstGeom>
          <a:solidFill>
            <a:srgbClr val="FF0000">
              <a:alpha val="5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29"/>
          <p:cNvSpPr/>
          <p:nvPr/>
        </p:nvSpPr>
        <p:spPr>
          <a:xfrm>
            <a:off x="4684475" y="3331610"/>
            <a:ext cx="1948800" cy="528300"/>
          </a:xfrm>
          <a:prstGeom prst="rect">
            <a:avLst/>
          </a:prstGeom>
          <a:solidFill>
            <a:srgbClr val="00FF00">
              <a:alpha val="5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29"/>
          <p:cNvSpPr/>
          <p:nvPr/>
        </p:nvSpPr>
        <p:spPr>
          <a:xfrm>
            <a:off x="4530425" y="2770250"/>
            <a:ext cx="3115800" cy="251400"/>
          </a:xfrm>
          <a:prstGeom prst="rect">
            <a:avLst/>
          </a:prstGeom>
          <a:solidFill>
            <a:srgbClr val="4285F4">
              <a:alpha val="5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29"/>
          <p:cNvSpPr txBox="1"/>
          <p:nvPr/>
        </p:nvSpPr>
        <p:spPr>
          <a:xfrm>
            <a:off x="7814350" y="2370275"/>
            <a:ext cx="1245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highlight>
                  <a:srgbClr val="FF0000"/>
                </a:highlight>
              </a:rPr>
              <a:t>Streaming </a:t>
            </a:r>
            <a:endParaRPr sz="1800">
              <a:solidFill>
                <a:schemeClr val="dk2"/>
              </a:solidFill>
            </a:endParaRPr>
          </a:p>
        </p:txBody>
      </p:sp>
      <p:sp>
        <p:nvSpPr>
          <p:cNvPr id="434" name="Google Shape;434;p29"/>
          <p:cNvSpPr txBox="1"/>
          <p:nvPr/>
        </p:nvSpPr>
        <p:spPr>
          <a:xfrm>
            <a:off x="6627600" y="3269110"/>
            <a:ext cx="2621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highlight>
                  <a:srgbClr val="00FF00"/>
                </a:highlight>
              </a:rPr>
              <a:t>Spatial</a:t>
            </a:r>
            <a:endParaRPr sz="1800">
              <a:solidFill>
                <a:schemeClr val="dk2"/>
              </a:solidFill>
            </a:endParaRPr>
          </a:p>
        </p:txBody>
      </p:sp>
      <p:sp>
        <p:nvSpPr>
          <p:cNvPr id="435" name="Google Shape;435;p29"/>
          <p:cNvSpPr txBox="1"/>
          <p:nvPr/>
        </p:nvSpPr>
        <p:spPr>
          <a:xfrm>
            <a:off x="7705675" y="2665100"/>
            <a:ext cx="731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highlight>
                  <a:schemeClr val="accent1"/>
                </a:highlight>
              </a:rPr>
              <a:t>Both</a:t>
            </a:r>
            <a:endParaRPr sz="1800">
              <a:solidFill>
                <a:schemeClr val="dk2"/>
              </a:solidFill>
              <a:highlight>
                <a:schemeClr val="accent1"/>
              </a:highlight>
            </a:endParaRPr>
          </a:p>
        </p:txBody>
      </p:sp>
      <p:grpSp>
        <p:nvGrpSpPr>
          <p:cNvPr id="436" name="Google Shape;436;p29"/>
          <p:cNvGrpSpPr/>
          <p:nvPr/>
        </p:nvGrpSpPr>
        <p:grpSpPr>
          <a:xfrm>
            <a:off x="596555" y="1655825"/>
            <a:ext cx="3840600" cy="183000"/>
            <a:chOff x="182880" y="1359075"/>
            <a:chExt cx="3840600" cy="183000"/>
          </a:xfrm>
        </p:grpSpPr>
        <p:sp>
          <p:nvSpPr>
            <p:cNvPr id="437" name="Google Shape;437;p29"/>
            <p:cNvSpPr/>
            <p:nvPr/>
          </p:nvSpPr>
          <p:spPr>
            <a:xfrm>
              <a:off x="182880"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29"/>
            <p:cNvSpPr/>
            <p:nvPr/>
          </p:nvSpPr>
          <p:spPr>
            <a:xfrm>
              <a:off x="375385"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29"/>
            <p:cNvSpPr/>
            <p:nvPr/>
          </p:nvSpPr>
          <p:spPr>
            <a:xfrm>
              <a:off x="567891"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29"/>
            <p:cNvSpPr/>
            <p:nvPr/>
          </p:nvSpPr>
          <p:spPr>
            <a:xfrm>
              <a:off x="760396"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29"/>
            <p:cNvSpPr/>
            <p:nvPr/>
          </p:nvSpPr>
          <p:spPr>
            <a:xfrm>
              <a:off x="952901"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29"/>
            <p:cNvSpPr/>
            <p:nvPr/>
          </p:nvSpPr>
          <p:spPr>
            <a:xfrm>
              <a:off x="1145406" y="1359075"/>
              <a:ext cx="183000" cy="183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29"/>
            <p:cNvSpPr/>
            <p:nvPr/>
          </p:nvSpPr>
          <p:spPr>
            <a:xfrm>
              <a:off x="1337912"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29"/>
            <p:cNvSpPr/>
            <p:nvPr/>
          </p:nvSpPr>
          <p:spPr>
            <a:xfrm>
              <a:off x="1530417"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29"/>
            <p:cNvSpPr/>
            <p:nvPr/>
          </p:nvSpPr>
          <p:spPr>
            <a:xfrm>
              <a:off x="1722922"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9"/>
            <p:cNvSpPr/>
            <p:nvPr/>
          </p:nvSpPr>
          <p:spPr>
            <a:xfrm>
              <a:off x="1915427"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9"/>
            <p:cNvSpPr/>
            <p:nvPr/>
          </p:nvSpPr>
          <p:spPr>
            <a:xfrm>
              <a:off x="2107933"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29"/>
            <p:cNvSpPr/>
            <p:nvPr/>
          </p:nvSpPr>
          <p:spPr>
            <a:xfrm>
              <a:off x="2300438" y="1359075"/>
              <a:ext cx="183000" cy="183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29"/>
            <p:cNvSpPr/>
            <p:nvPr/>
          </p:nvSpPr>
          <p:spPr>
            <a:xfrm>
              <a:off x="2492943"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29"/>
            <p:cNvSpPr/>
            <p:nvPr/>
          </p:nvSpPr>
          <p:spPr>
            <a:xfrm>
              <a:off x="2685448"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29"/>
            <p:cNvSpPr/>
            <p:nvPr/>
          </p:nvSpPr>
          <p:spPr>
            <a:xfrm>
              <a:off x="2877954"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29"/>
            <p:cNvSpPr/>
            <p:nvPr/>
          </p:nvSpPr>
          <p:spPr>
            <a:xfrm>
              <a:off x="3070459"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29"/>
            <p:cNvSpPr/>
            <p:nvPr/>
          </p:nvSpPr>
          <p:spPr>
            <a:xfrm>
              <a:off x="3262964"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29"/>
            <p:cNvSpPr/>
            <p:nvPr/>
          </p:nvSpPr>
          <p:spPr>
            <a:xfrm>
              <a:off x="3455469"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29"/>
            <p:cNvSpPr/>
            <p:nvPr/>
          </p:nvSpPr>
          <p:spPr>
            <a:xfrm>
              <a:off x="3647975"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29"/>
            <p:cNvSpPr/>
            <p:nvPr/>
          </p:nvSpPr>
          <p:spPr>
            <a:xfrm>
              <a:off x="3840480"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7" name="Google Shape;457;p29"/>
          <p:cNvSpPr txBox="1"/>
          <p:nvPr/>
        </p:nvSpPr>
        <p:spPr>
          <a:xfrm>
            <a:off x="1992600" y="1105925"/>
            <a:ext cx="104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Memory</a:t>
            </a:r>
            <a:endParaRPr sz="1800">
              <a:solidFill>
                <a:schemeClr val="dk1"/>
              </a:solidFill>
            </a:endParaRPr>
          </a:p>
        </p:txBody>
      </p:sp>
      <p:sp>
        <p:nvSpPr>
          <p:cNvPr id="458" name="Google Shape;458;p29"/>
          <p:cNvSpPr txBox="1"/>
          <p:nvPr/>
        </p:nvSpPr>
        <p:spPr>
          <a:xfrm rot="-5400000">
            <a:off x="-809400" y="2232075"/>
            <a:ext cx="208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Time</a:t>
            </a:r>
            <a:endParaRPr sz="1800">
              <a:solidFill>
                <a:schemeClr val="dk1"/>
              </a:solidFill>
            </a:endParaRPr>
          </a:p>
        </p:txBody>
      </p:sp>
      <p:cxnSp>
        <p:nvCxnSpPr>
          <p:cNvPr id="459" name="Google Shape;459;p29"/>
          <p:cNvCxnSpPr/>
          <p:nvPr/>
        </p:nvCxnSpPr>
        <p:spPr>
          <a:xfrm flipH="1">
            <a:off x="496525" y="2002000"/>
            <a:ext cx="19800" cy="2799300"/>
          </a:xfrm>
          <a:prstGeom prst="straightConnector1">
            <a:avLst/>
          </a:prstGeom>
          <a:noFill/>
          <a:ln cap="flat" cmpd="sng" w="38100">
            <a:solidFill>
              <a:schemeClr val="dk1"/>
            </a:solidFill>
            <a:prstDash val="solid"/>
            <a:round/>
            <a:headEnd len="med" w="med" type="none"/>
            <a:tailEnd len="med" w="med" type="triangle"/>
          </a:ln>
        </p:spPr>
      </p:cxnSp>
      <p:grpSp>
        <p:nvGrpSpPr>
          <p:cNvPr id="460" name="Google Shape;460;p29"/>
          <p:cNvGrpSpPr/>
          <p:nvPr/>
        </p:nvGrpSpPr>
        <p:grpSpPr>
          <a:xfrm>
            <a:off x="596550" y="2011680"/>
            <a:ext cx="732000" cy="2377560"/>
            <a:chOff x="596550" y="2011680"/>
            <a:chExt cx="732000" cy="2377560"/>
          </a:xfrm>
        </p:grpSpPr>
        <p:sp>
          <p:nvSpPr>
            <p:cNvPr id="461" name="Google Shape;461;p29"/>
            <p:cNvSpPr/>
            <p:nvPr/>
          </p:nvSpPr>
          <p:spPr>
            <a:xfrm>
              <a:off x="596550" y="201168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29"/>
            <p:cNvSpPr/>
            <p:nvPr/>
          </p:nvSpPr>
          <p:spPr>
            <a:xfrm>
              <a:off x="779550" y="274320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29"/>
            <p:cNvSpPr/>
            <p:nvPr/>
          </p:nvSpPr>
          <p:spPr>
            <a:xfrm>
              <a:off x="962550" y="347472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29"/>
            <p:cNvSpPr/>
            <p:nvPr/>
          </p:nvSpPr>
          <p:spPr>
            <a:xfrm>
              <a:off x="1145550" y="4206240"/>
              <a:ext cx="183000" cy="18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65" name="Google Shape;465;p29"/>
          <p:cNvGrpSpPr/>
          <p:nvPr/>
        </p:nvGrpSpPr>
        <p:grpSpPr>
          <a:xfrm>
            <a:off x="1737360" y="2194560"/>
            <a:ext cx="731640" cy="2377560"/>
            <a:chOff x="1737360" y="2194560"/>
            <a:chExt cx="731640" cy="2377560"/>
          </a:xfrm>
        </p:grpSpPr>
        <p:sp>
          <p:nvSpPr>
            <p:cNvPr id="466" name="Google Shape;466;p29"/>
            <p:cNvSpPr/>
            <p:nvPr/>
          </p:nvSpPr>
          <p:spPr>
            <a:xfrm>
              <a:off x="1737360" y="219456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29"/>
            <p:cNvSpPr/>
            <p:nvPr/>
          </p:nvSpPr>
          <p:spPr>
            <a:xfrm>
              <a:off x="1920240" y="292608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p29"/>
            <p:cNvSpPr/>
            <p:nvPr/>
          </p:nvSpPr>
          <p:spPr>
            <a:xfrm>
              <a:off x="2103120" y="365760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29"/>
            <p:cNvSpPr/>
            <p:nvPr/>
          </p:nvSpPr>
          <p:spPr>
            <a:xfrm>
              <a:off x="2286000" y="4389120"/>
              <a:ext cx="183000" cy="183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70" name="Google Shape;470;p29"/>
          <p:cNvGrpSpPr/>
          <p:nvPr/>
        </p:nvGrpSpPr>
        <p:grpSpPr>
          <a:xfrm>
            <a:off x="2926080" y="2377440"/>
            <a:ext cx="1511070" cy="2560440"/>
            <a:chOff x="2926080" y="2377440"/>
            <a:chExt cx="1511070" cy="2560440"/>
          </a:xfrm>
        </p:grpSpPr>
        <p:grpSp>
          <p:nvGrpSpPr>
            <p:cNvPr id="471" name="Google Shape;471;p29"/>
            <p:cNvGrpSpPr/>
            <p:nvPr/>
          </p:nvGrpSpPr>
          <p:grpSpPr>
            <a:xfrm>
              <a:off x="2926080" y="2377440"/>
              <a:ext cx="366000" cy="365880"/>
              <a:chOff x="2919050" y="2377440"/>
              <a:chExt cx="366000" cy="365880"/>
            </a:xfrm>
          </p:grpSpPr>
          <p:sp>
            <p:nvSpPr>
              <p:cNvPr id="472" name="Google Shape;472;p29"/>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29"/>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74" name="Google Shape;474;p29"/>
            <p:cNvGrpSpPr/>
            <p:nvPr/>
          </p:nvGrpSpPr>
          <p:grpSpPr>
            <a:xfrm>
              <a:off x="4071150" y="3108960"/>
              <a:ext cx="366000" cy="365880"/>
              <a:chOff x="2919050" y="2377440"/>
              <a:chExt cx="366000" cy="365880"/>
            </a:xfrm>
          </p:grpSpPr>
          <p:sp>
            <p:nvSpPr>
              <p:cNvPr id="475" name="Google Shape;475;p29"/>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29"/>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77" name="Google Shape;477;p29"/>
            <p:cNvGrpSpPr/>
            <p:nvPr/>
          </p:nvGrpSpPr>
          <p:grpSpPr>
            <a:xfrm>
              <a:off x="3291840" y="3840480"/>
              <a:ext cx="366000" cy="365880"/>
              <a:chOff x="2919050" y="2377440"/>
              <a:chExt cx="366000" cy="365880"/>
            </a:xfrm>
          </p:grpSpPr>
          <p:sp>
            <p:nvSpPr>
              <p:cNvPr id="478" name="Google Shape;478;p29"/>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29"/>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80" name="Google Shape;480;p29"/>
            <p:cNvGrpSpPr/>
            <p:nvPr/>
          </p:nvGrpSpPr>
          <p:grpSpPr>
            <a:xfrm>
              <a:off x="3657600" y="4572000"/>
              <a:ext cx="366000" cy="365880"/>
              <a:chOff x="2919050" y="2377440"/>
              <a:chExt cx="366000" cy="365880"/>
            </a:xfrm>
          </p:grpSpPr>
          <p:sp>
            <p:nvSpPr>
              <p:cNvPr id="481" name="Google Shape;481;p29"/>
              <p:cNvSpPr/>
              <p:nvPr/>
            </p:nvSpPr>
            <p:spPr>
              <a:xfrm>
                <a:off x="2919050" y="237744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29"/>
              <p:cNvSpPr/>
              <p:nvPr/>
            </p:nvSpPr>
            <p:spPr>
              <a:xfrm>
                <a:off x="3102050" y="2560320"/>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483" name="Google Shape;483;p29"/>
          <p:cNvSpPr txBox="1"/>
          <p:nvPr/>
        </p:nvSpPr>
        <p:spPr>
          <a:xfrm>
            <a:off x="3082281" y="2232075"/>
            <a:ext cx="4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rgbClr val="00FF00"/>
                </a:solidFill>
              </a:rPr>
              <a:t>Δ</a:t>
            </a:r>
            <a:r>
              <a:rPr baseline="-25000" lang="en" sz="1800">
                <a:solidFill>
                  <a:srgbClr val="00FF00"/>
                </a:solidFill>
              </a:rPr>
              <a:t>3</a:t>
            </a:r>
            <a:r>
              <a:rPr lang="en" sz="1800">
                <a:solidFill>
                  <a:srgbClr val="00FF00"/>
                </a:solidFill>
              </a:rPr>
              <a:t> </a:t>
            </a:r>
            <a:endParaRPr sz="1800">
              <a:solidFill>
                <a:srgbClr val="00FF00"/>
              </a:solidFill>
            </a:endParaRPr>
          </a:p>
        </p:txBody>
      </p:sp>
      <p:cxnSp>
        <p:nvCxnSpPr>
          <p:cNvPr id="484" name="Google Shape;484;p29"/>
          <p:cNvCxnSpPr>
            <a:stCxn id="461" idx="4"/>
            <a:endCxn id="462" idx="0"/>
          </p:cNvCxnSpPr>
          <p:nvPr/>
        </p:nvCxnSpPr>
        <p:spPr>
          <a:xfrm>
            <a:off x="688050" y="2194680"/>
            <a:ext cx="183000" cy="548400"/>
          </a:xfrm>
          <a:prstGeom prst="straightConnector1">
            <a:avLst/>
          </a:prstGeom>
          <a:noFill/>
          <a:ln cap="flat" cmpd="sng" w="9525">
            <a:solidFill>
              <a:schemeClr val="dk2"/>
            </a:solidFill>
            <a:prstDash val="solid"/>
            <a:round/>
            <a:headEnd len="med" w="med" type="none"/>
            <a:tailEnd len="med" w="med" type="triangle"/>
          </a:ln>
        </p:spPr>
      </p:cxnSp>
      <p:cxnSp>
        <p:nvCxnSpPr>
          <p:cNvPr id="485" name="Google Shape;485;p29"/>
          <p:cNvCxnSpPr>
            <a:stCxn id="472" idx="7"/>
            <a:endCxn id="473" idx="1"/>
          </p:cNvCxnSpPr>
          <p:nvPr/>
        </p:nvCxnSpPr>
        <p:spPr>
          <a:xfrm>
            <a:off x="3082280" y="2404240"/>
            <a:ext cx="53700" cy="183000"/>
          </a:xfrm>
          <a:prstGeom prst="straightConnector1">
            <a:avLst/>
          </a:prstGeom>
          <a:noFill/>
          <a:ln cap="flat" cmpd="sng" w="9525">
            <a:solidFill>
              <a:schemeClr val="dk2"/>
            </a:solidFill>
            <a:prstDash val="solid"/>
            <a:round/>
            <a:headEnd len="med" w="med" type="none"/>
            <a:tailEnd len="med" w="med" type="triangle"/>
          </a:ln>
        </p:spPr>
      </p:cxnSp>
      <p:sp>
        <p:nvSpPr>
          <p:cNvPr id="486" name="Google Shape;486;p29"/>
          <p:cNvSpPr txBox="1"/>
          <p:nvPr/>
        </p:nvSpPr>
        <p:spPr>
          <a:xfrm>
            <a:off x="750175" y="2232075"/>
            <a:ext cx="51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Δ</a:t>
            </a:r>
            <a:r>
              <a:rPr baseline="-25000" lang="en" sz="1800">
                <a:solidFill>
                  <a:srgbClr val="FF0000"/>
                </a:solidFill>
              </a:rPr>
              <a:t>1</a:t>
            </a:r>
            <a:r>
              <a:rPr lang="en" sz="1800">
                <a:solidFill>
                  <a:schemeClr val="dk2"/>
                </a:solidFill>
              </a:rPr>
              <a:t> </a:t>
            </a:r>
            <a:endParaRPr sz="1800">
              <a:solidFill>
                <a:schemeClr val="dk2"/>
              </a:solidFill>
            </a:endParaRPr>
          </a:p>
        </p:txBody>
      </p:sp>
      <p:cxnSp>
        <p:nvCxnSpPr>
          <p:cNvPr id="487" name="Google Shape;487;p29"/>
          <p:cNvCxnSpPr>
            <a:stCxn id="462" idx="5"/>
            <a:endCxn id="467" idx="3"/>
          </p:cNvCxnSpPr>
          <p:nvPr/>
        </p:nvCxnSpPr>
        <p:spPr>
          <a:xfrm>
            <a:off x="935750" y="2899400"/>
            <a:ext cx="1011300" cy="183000"/>
          </a:xfrm>
          <a:prstGeom prst="straightConnector1">
            <a:avLst/>
          </a:prstGeom>
          <a:noFill/>
          <a:ln cap="flat" cmpd="sng" w="9525">
            <a:solidFill>
              <a:schemeClr val="dk2"/>
            </a:solidFill>
            <a:prstDash val="solid"/>
            <a:round/>
            <a:headEnd len="med" w="med" type="none"/>
            <a:tailEnd len="med" w="med" type="triangle"/>
          </a:ln>
        </p:spPr>
      </p:cxnSp>
      <p:cxnSp>
        <p:nvCxnSpPr>
          <p:cNvPr id="488" name="Google Shape;488;p29"/>
          <p:cNvCxnSpPr>
            <a:stCxn id="466" idx="4"/>
            <a:endCxn id="467" idx="0"/>
          </p:cNvCxnSpPr>
          <p:nvPr/>
        </p:nvCxnSpPr>
        <p:spPr>
          <a:xfrm>
            <a:off x="1828860" y="2377560"/>
            <a:ext cx="183000" cy="548400"/>
          </a:xfrm>
          <a:prstGeom prst="straightConnector1">
            <a:avLst/>
          </a:prstGeom>
          <a:noFill/>
          <a:ln cap="flat" cmpd="sng" w="9525">
            <a:solidFill>
              <a:schemeClr val="dk2"/>
            </a:solidFill>
            <a:prstDash val="solid"/>
            <a:round/>
            <a:headEnd len="med" w="med" type="none"/>
            <a:tailEnd len="med" w="med" type="triangle"/>
          </a:ln>
        </p:spPr>
      </p:cxnSp>
      <p:sp>
        <p:nvSpPr>
          <p:cNvPr id="489" name="Google Shape;489;p29"/>
          <p:cNvSpPr txBox="1"/>
          <p:nvPr/>
        </p:nvSpPr>
        <p:spPr>
          <a:xfrm>
            <a:off x="1505409" y="2645325"/>
            <a:ext cx="51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Δ</a:t>
            </a:r>
            <a:r>
              <a:rPr baseline="-25000" lang="en" sz="1800">
                <a:solidFill>
                  <a:schemeClr val="accent1"/>
                </a:solidFill>
              </a:rPr>
              <a:t>4</a:t>
            </a:r>
            <a:r>
              <a:rPr lang="en" sz="1800">
                <a:solidFill>
                  <a:srgbClr val="00FF00"/>
                </a:solidFill>
              </a:rPr>
              <a:t> </a:t>
            </a:r>
            <a:endParaRPr sz="1800">
              <a:solidFill>
                <a:srgbClr val="00FF00"/>
              </a:solidFill>
            </a:endParaRPr>
          </a:p>
        </p:txBody>
      </p:sp>
      <p:sp>
        <p:nvSpPr>
          <p:cNvPr id="490" name="Google Shape;490;p29"/>
          <p:cNvSpPr txBox="1"/>
          <p:nvPr/>
        </p:nvSpPr>
        <p:spPr>
          <a:xfrm>
            <a:off x="1916225" y="2264900"/>
            <a:ext cx="4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Δ</a:t>
            </a:r>
            <a:r>
              <a:rPr baseline="-25000" lang="en" sz="1800">
                <a:solidFill>
                  <a:schemeClr val="accent1"/>
                </a:solidFill>
              </a:rPr>
              <a:t>2</a:t>
            </a:r>
            <a:r>
              <a:rPr lang="en" sz="1800">
                <a:solidFill>
                  <a:srgbClr val="FFFF00"/>
                </a:solidFill>
              </a:rPr>
              <a:t> </a:t>
            </a:r>
            <a:endParaRPr sz="1800">
              <a:solidFill>
                <a:srgbClr val="FFFF00"/>
              </a:solidFill>
            </a:endParaRPr>
          </a:p>
        </p:txBody>
      </p:sp>
      <p:cxnSp>
        <p:nvCxnSpPr>
          <p:cNvPr id="491" name="Google Shape;491;p29"/>
          <p:cNvCxnSpPr>
            <a:stCxn id="461" idx="3"/>
            <a:endCxn id="463" idx="2"/>
          </p:cNvCxnSpPr>
          <p:nvPr/>
        </p:nvCxnSpPr>
        <p:spPr>
          <a:xfrm flipH="1" rot="-5400000">
            <a:off x="93850" y="2697380"/>
            <a:ext cx="1398300" cy="339300"/>
          </a:xfrm>
          <a:prstGeom prst="curvedConnector2">
            <a:avLst/>
          </a:prstGeom>
          <a:noFill/>
          <a:ln cap="flat" cmpd="sng" w="9525">
            <a:solidFill>
              <a:schemeClr val="dk2"/>
            </a:solidFill>
            <a:prstDash val="solid"/>
            <a:round/>
            <a:headEnd len="med" w="med" type="none"/>
            <a:tailEnd len="med" w="med" type="triangle"/>
          </a:ln>
        </p:spPr>
      </p:cxnSp>
      <p:cxnSp>
        <p:nvCxnSpPr>
          <p:cNvPr id="492" name="Google Shape;492;p29"/>
          <p:cNvCxnSpPr>
            <a:stCxn id="464" idx="2"/>
          </p:cNvCxnSpPr>
          <p:nvPr/>
        </p:nvCxnSpPr>
        <p:spPr>
          <a:xfrm rot="10800000">
            <a:off x="630150" y="2304240"/>
            <a:ext cx="515400" cy="1993500"/>
          </a:xfrm>
          <a:prstGeom prst="curvedConnector2">
            <a:avLst/>
          </a:prstGeom>
          <a:noFill/>
          <a:ln cap="flat" cmpd="sng" w="9525">
            <a:solidFill>
              <a:schemeClr val="dk2"/>
            </a:solidFill>
            <a:prstDash val="solid"/>
            <a:round/>
            <a:headEnd len="med" w="med" type="triangle"/>
            <a:tailEnd len="med" w="med" type="none"/>
          </a:ln>
        </p:spPr>
      </p:cxnSp>
      <p:sp>
        <p:nvSpPr>
          <p:cNvPr id="493" name="Google Shape;493;p29"/>
          <p:cNvSpPr txBox="1"/>
          <p:nvPr/>
        </p:nvSpPr>
        <p:spPr>
          <a:xfrm>
            <a:off x="751950" y="2899400"/>
            <a:ext cx="51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Δ</a:t>
            </a:r>
            <a:r>
              <a:rPr baseline="-25000" lang="en" sz="1800">
                <a:solidFill>
                  <a:srgbClr val="FF0000"/>
                </a:solidFill>
              </a:rPr>
              <a:t>5</a:t>
            </a:r>
            <a:r>
              <a:rPr lang="en" sz="1800">
                <a:solidFill>
                  <a:schemeClr val="dk2"/>
                </a:solidFill>
              </a:rPr>
              <a:t> </a:t>
            </a:r>
            <a:endParaRPr sz="1800">
              <a:solidFill>
                <a:schemeClr val="dk2"/>
              </a:solidFill>
            </a:endParaRPr>
          </a:p>
        </p:txBody>
      </p:sp>
      <p:sp>
        <p:nvSpPr>
          <p:cNvPr id="494" name="Google Shape;494;p29"/>
          <p:cNvSpPr txBox="1"/>
          <p:nvPr/>
        </p:nvSpPr>
        <p:spPr>
          <a:xfrm>
            <a:off x="867938" y="3658775"/>
            <a:ext cx="51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Δ</a:t>
            </a:r>
            <a:r>
              <a:rPr baseline="-25000" lang="en" sz="1800">
                <a:solidFill>
                  <a:srgbClr val="FF0000"/>
                </a:solidFill>
              </a:rPr>
              <a:t>6</a:t>
            </a:r>
            <a:r>
              <a:rPr lang="en" sz="1800">
                <a:solidFill>
                  <a:schemeClr val="dk2"/>
                </a:solidFill>
              </a:rPr>
              <a:t> </a:t>
            </a:r>
            <a:endParaRPr sz="1800">
              <a:solidFill>
                <a:schemeClr val="dk2"/>
              </a:solidFill>
            </a:endParaRPr>
          </a:p>
        </p:txBody>
      </p:sp>
      <p:cxnSp>
        <p:nvCxnSpPr>
          <p:cNvPr id="495" name="Google Shape;495;p29"/>
          <p:cNvCxnSpPr>
            <a:endCxn id="489" idx="3"/>
          </p:cNvCxnSpPr>
          <p:nvPr/>
        </p:nvCxnSpPr>
        <p:spPr>
          <a:xfrm>
            <a:off x="779409" y="2103075"/>
            <a:ext cx="1243800" cy="773100"/>
          </a:xfrm>
          <a:prstGeom prst="straightConnector1">
            <a:avLst/>
          </a:prstGeom>
          <a:noFill/>
          <a:ln cap="flat" cmpd="sng" w="9525">
            <a:solidFill>
              <a:schemeClr val="dk2"/>
            </a:solidFill>
            <a:prstDash val="solid"/>
            <a:round/>
            <a:headEnd len="med" w="med" type="none"/>
            <a:tailEnd len="med" w="med" type="triangle"/>
          </a:ln>
        </p:spPr>
      </p:cxnSp>
      <p:cxnSp>
        <p:nvCxnSpPr>
          <p:cNvPr id="496" name="Google Shape;496;p29"/>
          <p:cNvCxnSpPr>
            <a:endCxn id="468" idx="2"/>
          </p:cNvCxnSpPr>
          <p:nvPr/>
        </p:nvCxnSpPr>
        <p:spPr>
          <a:xfrm>
            <a:off x="779520" y="2103300"/>
            <a:ext cx="1323600" cy="1645800"/>
          </a:xfrm>
          <a:prstGeom prst="straightConnector1">
            <a:avLst/>
          </a:prstGeom>
          <a:noFill/>
          <a:ln cap="flat" cmpd="sng" w="9525">
            <a:solidFill>
              <a:schemeClr val="dk2"/>
            </a:solidFill>
            <a:prstDash val="solid"/>
            <a:round/>
            <a:headEnd len="med" w="med" type="none"/>
            <a:tailEnd len="med" w="med" type="triangle"/>
          </a:ln>
        </p:spPr>
      </p:cxnSp>
      <p:cxnSp>
        <p:nvCxnSpPr>
          <p:cNvPr id="497" name="Google Shape;497;p29"/>
          <p:cNvCxnSpPr>
            <a:stCxn id="461" idx="6"/>
            <a:endCxn id="466" idx="2"/>
          </p:cNvCxnSpPr>
          <p:nvPr/>
        </p:nvCxnSpPr>
        <p:spPr>
          <a:xfrm>
            <a:off x="779550" y="2103180"/>
            <a:ext cx="957900" cy="183000"/>
          </a:xfrm>
          <a:prstGeom prst="straightConnector1">
            <a:avLst/>
          </a:prstGeom>
          <a:noFill/>
          <a:ln cap="flat" cmpd="sng" w="9525">
            <a:solidFill>
              <a:schemeClr val="dk2"/>
            </a:solidFill>
            <a:prstDash val="solid"/>
            <a:round/>
            <a:headEnd len="med" w="med" type="none"/>
            <a:tailEnd len="med" w="med" type="triangle"/>
          </a:ln>
        </p:spPr>
      </p:cxnSp>
      <p:cxnSp>
        <p:nvCxnSpPr>
          <p:cNvPr id="498" name="Google Shape;498;p29"/>
          <p:cNvCxnSpPr>
            <a:stCxn id="461" idx="6"/>
            <a:endCxn id="469" idx="1"/>
          </p:cNvCxnSpPr>
          <p:nvPr/>
        </p:nvCxnSpPr>
        <p:spPr>
          <a:xfrm>
            <a:off x="779550" y="2103180"/>
            <a:ext cx="1533300" cy="2312700"/>
          </a:xfrm>
          <a:prstGeom prst="straightConnector1">
            <a:avLst/>
          </a:prstGeom>
          <a:noFill/>
          <a:ln cap="flat" cmpd="sng" w="9525">
            <a:solidFill>
              <a:schemeClr val="dk2"/>
            </a:solidFill>
            <a:prstDash val="solid"/>
            <a:round/>
            <a:headEnd len="med" w="med" type="none"/>
            <a:tailEnd len="med" w="med" type="triangle"/>
          </a:ln>
        </p:spPr>
      </p:cxnSp>
      <p:sp>
        <p:nvSpPr>
          <p:cNvPr id="499" name="Google Shape;499;p29"/>
          <p:cNvSpPr/>
          <p:nvPr/>
        </p:nvSpPr>
        <p:spPr>
          <a:xfrm>
            <a:off x="3106725" y="2784685"/>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29"/>
          <p:cNvSpPr/>
          <p:nvPr/>
        </p:nvSpPr>
        <p:spPr>
          <a:xfrm>
            <a:off x="3106725" y="3058585"/>
            <a:ext cx="183000" cy="183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01" name="Google Shape;501;p29"/>
          <p:cNvCxnSpPr>
            <a:stCxn id="483" idx="1"/>
            <a:endCxn id="500" idx="2"/>
          </p:cNvCxnSpPr>
          <p:nvPr/>
        </p:nvCxnSpPr>
        <p:spPr>
          <a:xfrm>
            <a:off x="3082281" y="2462925"/>
            <a:ext cx="24300" cy="687300"/>
          </a:xfrm>
          <a:prstGeom prst="straightConnector1">
            <a:avLst/>
          </a:prstGeom>
          <a:noFill/>
          <a:ln cap="flat" cmpd="sng" w="9525">
            <a:solidFill>
              <a:schemeClr val="dk2"/>
            </a:solidFill>
            <a:prstDash val="solid"/>
            <a:round/>
            <a:headEnd len="med" w="med" type="none"/>
            <a:tailEnd len="med" w="med" type="triangle"/>
          </a:ln>
        </p:spPr>
      </p:cxnSp>
      <p:cxnSp>
        <p:nvCxnSpPr>
          <p:cNvPr id="502" name="Google Shape;502;p29"/>
          <p:cNvCxnSpPr>
            <a:stCxn id="483" idx="1"/>
            <a:endCxn id="499" idx="2"/>
          </p:cNvCxnSpPr>
          <p:nvPr/>
        </p:nvCxnSpPr>
        <p:spPr>
          <a:xfrm>
            <a:off x="3082281" y="2462925"/>
            <a:ext cx="24300" cy="413400"/>
          </a:xfrm>
          <a:prstGeom prst="straightConnector1">
            <a:avLst/>
          </a:prstGeom>
          <a:noFill/>
          <a:ln cap="flat" cmpd="sng" w="9525">
            <a:solidFill>
              <a:schemeClr val="dk2"/>
            </a:solidFill>
            <a:prstDash val="solid"/>
            <a:round/>
            <a:headEnd len="med" w="med" type="none"/>
            <a:tailEnd len="med" w="med" type="triangle"/>
          </a:ln>
        </p:spPr>
      </p:cxnSp>
      <p:cxnSp>
        <p:nvCxnSpPr>
          <p:cNvPr id="503" name="Google Shape;503;p29"/>
          <p:cNvCxnSpPr>
            <a:stCxn id="466" idx="4"/>
            <a:endCxn id="493" idx="0"/>
          </p:cNvCxnSpPr>
          <p:nvPr/>
        </p:nvCxnSpPr>
        <p:spPr>
          <a:xfrm flipH="1">
            <a:off x="1010760" y="2377560"/>
            <a:ext cx="818100" cy="521700"/>
          </a:xfrm>
          <a:prstGeom prst="straightConnector1">
            <a:avLst/>
          </a:prstGeom>
          <a:noFill/>
          <a:ln cap="flat" cmpd="sng" w="9525">
            <a:solidFill>
              <a:schemeClr val="dk2"/>
            </a:solidFill>
            <a:prstDash val="solid"/>
            <a:round/>
            <a:headEnd len="med" w="med" type="none"/>
            <a:tailEnd len="med" w="med" type="triangle"/>
          </a:ln>
        </p:spPr>
      </p:cxnSp>
      <p:cxnSp>
        <p:nvCxnSpPr>
          <p:cNvPr id="504" name="Google Shape;504;p29"/>
          <p:cNvCxnSpPr>
            <a:stCxn id="466" idx="4"/>
            <a:endCxn id="463" idx="6"/>
          </p:cNvCxnSpPr>
          <p:nvPr/>
        </p:nvCxnSpPr>
        <p:spPr>
          <a:xfrm flipH="1">
            <a:off x="1145460" y="2377560"/>
            <a:ext cx="683400" cy="1188600"/>
          </a:xfrm>
          <a:prstGeom prst="straightConnector1">
            <a:avLst/>
          </a:prstGeom>
          <a:noFill/>
          <a:ln cap="flat" cmpd="sng" w="9525">
            <a:solidFill>
              <a:schemeClr val="dk2"/>
            </a:solidFill>
            <a:prstDash val="solid"/>
            <a:round/>
            <a:headEnd len="med" w="med" type="none"/>
            <a:tailEnd len="med" w="med" type="triangle"/>
          </a:ln>
        </p:spPr>
      </p:cxnSp>
      <p:cxnSp>
        <p:nvCxnSpPr>
          <p:cNvPr id="505" name="Google Shape;505;p29"/>
          <p:cNvCxnSpPr>
            <a:stCxn id="466" idx="3"/>
            <a:endCxn id="464" idx="6"/>
          </p:cNvCxnSpPr>
          <p:nvPr/>
        </p:nvCxnSpPr>
        <p:spPr>
          <a:xfrm flipH="1">
            <a:off x="1328560" y="2350760"/>
            <a:ext cx="435600" cy="1947000"/>
          </a:xfrm>
          <a:prstGeom prst="straightConnector1">
            <a:avLst/>
          </a:prstGeom>
          <a:noFill/>
          <a:ln cap="flat" cmpd="sng" w="9525">
            <a:solidFill>
              <a:schemeClr val="dk2"/>
            </a:solidFill>
            <a:prstDash val="solid"/>
            <a:round/>
            <a:headEnd len="med" w="med" type="none"/>
            <a:tailEnd len="med" w="med" type="triangle"/>
          </a:ln>
        </p:spPr>
      </p:cxnSp>
      <p:sp>
        <p:nvSpPr>
          <p:cNvPr id="506" name="Google Shape;506;p29"/>
          <p:cNvSpPr/>
          <p:nvPr/>
        </p:nvSpPr>
        <p:spPr>
          <a:xfrm>
            <a:off x="150" y="4156175"/>
            <a:ext cx="9144000" cy="507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When both streaming and spatial deltas are present, we must ignore the spatial</a:t>
            </a:r>
            <a:endParaRPr>
              <a:solidFill>
                <a:schemeClr val="lt1"/>
              </a:solidFill>
            </a:endParaRPr>
          </a:p>
        </p:txBody>
      </p:sp>
      <p:sp>
        <p:nvSpPr>
          <p:cNvPr id="507" name="Google Shape;507;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Rate-limiting spatial deltas</a:t>
            </a:r>
            <a:endParaRPr/>
          </a:p>
        </p:txBody>
      </p:sp>
      <p:sp>
        <p:nvSpPr>
          <p:cNvPr id="513" name="Google Shape;51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C</a:t>
            </a:r>
            <a:r>
              <a:rPr lang="en">
                <a:solidFill>
                  <a:schemeClr val="dk1"/>
                </a:solidFill>
              </a:rPr>
              <a:t>overage is incremented at most once per counter increment</a:t>
            </a:r>
            <a:endParaRPr>
              <a:solidFill>
                <a:schemeClr val="dk1"/>
              </a:solidFill>
            </a:endParaRPr>
          </a:p>
          <a:p>
            <a:pPr indent="0" lvl="0" marL="0" rtl="0" algn="l">
              <a:spcBef>
                <a:spcPts val="1200"/>
              </a:spcBef>
              <a:spcAft>
                <a:spcPts val="1200"/>
              </a:spcAft>
              <a:buNone/>
            </a:pPr>
            <a:r>
              <a:rPr lang="en">
                <a:solidFill>
                  <a:schemeClr val="dk1"/>
                </a:solidFill>
              </a:rPr>
              <a:t>Global deltas are not added to/from rows with a streaming pattern</a:t>
            </a:r>
            <a:endParaRPr>
              <a:solidFill>
                <a:schemeClr val="dk1"/>
              </a:solidFill>
            </a:endParaRPr>
          </a:p>
        </p:txBody>
      </p:sp>
      <p:graphicFrame>
        <p:nvGraphicFramePr>
          <p:cNvPr id="514" name="Google Shape;514;p30"/>
          <p:cNvGraphicFramePr/>
          <p:nvPr/>
        </p:nvGraphicFramePr>
        <p:xfrm>
          <a:off x="521775" y="2370800"/>
          <a:ext cx="3000000" cy="3000000"/>
        </p:xfrm>
        <a:graphic>
          <a:graphicData uri="http://schemas.openxmlformats.org/drawingml/2006/table">
            <a:tbl>
              <a:tblPr>
                <a:noFill/>
                <a:tableStyleId>{D6CEBF9E-C40A-4499-BFC6-E9B8EEB65CE8}</a:tableStyleId>
              </a:tblPr>
              <a:tblGrid>
                <a:gridCol w="808725"/>
                <a:gridCol w="850100"/>
                <a:gridCol w="870800"/>
                <a:gridCol w="705275"/>
                <a:gridCol w="604475"/>
                <a:gridCol w="1013000"/>
                <a:gridCol w="808725"/>
                <a:gridCol w="474425"/>
                <a:gridCol w="1143050"/>
                <a:gridCol w="808725"/>
              </a:tblGrid>
              <a:tr h="3810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Counter</a:t>
                      </a:r>
                      <a:endParaRPr/>
                    </a:p>
                  </a:txBody>
                  <a:tcPr marT="91425" marB="91425" marR="91425" marL="91425"/>
                </a:tc>
                <a:tc>
                  <a:txBody>
                    <a:bodyPr/>
                    <a:lstStyle/>
                    <a:p>
                      <a:pPr indent="0" lvl="0" marL="0" rtl="0" algn="l">
                        <a:spcBef>
                          <a:spcPts val="0"/>
                        </a:spcBef>
                        <a:spcAft>
                          <a:spcPts val="0"/>
                        </a:spcAft>
                        <a:buNone/>
                      </a:pPr>
                      <a:r>
                        <a:rPr lang="en"/>
                        <a:t>Stream?</a:t>
                      </a:r>
                      <a:endParaRPr/>
                    </a:p>
                  </a:txBody>
                  <a:tcPr marT="91425" marB="91425" marR="91425" marL="91425">
                    <a:lnR cap="flat" cmpd="sng" w="28575">
                      <a:solidFill>
                        <a:srgbClr val="9E9E9E"/>
                      </a:solidFill>
                      <a:prstDash val="solid"/>
                      <a:round/>
                      <a:headEnd len="sm" w="sm" type="none"/>
                      <a:tailEnd len="sm" w="sm" type="none"/>
                    </a:lnR>
                    <a:solidFill>
                      <a:srgbClr val="00FF00"/>
                    </a:solidFill>
                  </a:tcPr>
                </a:tc>
                <a:tc>
                  <a:txBody>
                    <a:bodyPr/>
                    <a:lstStyle/>
                    <a:p>
                      <a:pPr indent="0" lvl="0" marL="0" rtl="0" algn="l">
                        <a:spcBef>
                          <a:spcPts val="0"/>
                        </a:spcBef>
                        <a:spcAft>
                          <a:spcPts val="0"/>
                        </a:spcAft>
                        <a:buNone/>
                      </a:pPr>
                      <a:r>
                        <a:rPr lang="en"/>
                        <a:t>Delta</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inc</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Coverage</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Delta</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inc</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Coverage</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0x552</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lnR cap="flat" cmpd="sng" w="28575">
                      <a:solidFill>
                        <a:srgbClr val="9E9E9E"/>
                      </a:solidFill>
                      <a:prstDash val="solid"/>
                      <a:round/>
                      <a:headEnd len="sm" w="sm" type="none"/>
                      <a:tailEnd len="sm" w="sm" type="none"/>
                    </a:lnR>
                    <a:solidFill>
                      <a:srgbClr val="00FF00"/>
                    </a:solidFill>
                  </a:tcPr>
                </a:tc>
                <a:tc>
                  <a:txBody>
                    <a:bodyPr/>
                    <a:lstStyle/>
                    <a:p>
                      <a:pPr indent="0" lvl="0" marL="0" rtl="0" algn="l">
                        <a:spcBef>
                          <a:spcPts val="0"/>
                        </a:spcBef>
                        <a:spcAft>
                          <a:spcPts val="0"/>
                        </a:spcAft>
                        <a:buNone/>
                      </a:pPr>
                      <a:r>
                        <a:rPr lang="en"/>
                        <a:t>0xC</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0</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1</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1</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solidFill>
                      <a:srgbClr val="00FF00"/>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solidFill>
                      <a:srgbClr val="00FF00"/>
                    </a:solidFill>
                  </a:tcPr>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solidFill>
                      <a:srgbClr val="00FF00"/>
                    </a:solidFill>
                  </a:tcPr>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solidFill>
                      <a:srgbClr val="00FF00"/>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solidFill>
                      <a:srgbClr val="00FF00"/>
                    </a:solidFill>
                  </a:tcPr>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solidFill>
                      <a:srgbClr val="00FF00"/>
                    </a:solidFill>
                  </a:tcPr>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solidFill>
                      <a:srgbClr val="00FF00"/>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solidFill>
                      <a:srgbClr val="00FF00"/>
                    </a:solidFill>
                  </a:tcPr>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solidFill>
                      <a:srgbClr val="00FF00"/>
                    </a:solidFill>
                  </a:tcPr>
                </a:tc>
                <a:tc>
                  <a:txBody>
                    <a:bodyPr/>
                    <a:lstStyle/>
                    <a:p>
                      <a:pPr indent="0" lvl="0" marL="0" rtl="0" algn="l">
                        <a:spcBef>
                          <a:spcPts val="0"/>
                        </a:spcBef>
                        <a:spcAft>
                          <a:spcPts val="0"/>
                        </a:spcAft>
                        <a:buNone/>
                      </a:pPr>
                      <a:r>
                        <a:t/>
                      </a:r>
                      <a:endParaRPr/>
                    </a:p>
                  </a:txBody>
                  <a:tcPr marT="91425" marB="91425" marR="91425" marL="91425">
                    <a:lnR cap="flat" cmpd="sng" w="2857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tcPr>
                </a:tc>
              </a:tr>
            </a:tbl>
          </a:graphicData>
        </a:graphic>
      </p:graphicFrame>
      <p:sp>
        <p:nvSpPr>
          <p:cNvPr id="515" name="Google Shape;515;p30"/>
          <p:cNvSpPr/>
          <p:nvPr/>
        </p:nvSpPr>
        <p:spPr>
          <a:xfrm>
            <a:off x="7870219" y="75725"/>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845"/>
              <a:t>History</a:t>
            </a:r>
            <a:endParaRPr sz="845"/>
          </a:p>
        </p:txBody>
      </p:sp>
      <p:sp>
        <p:nvSpPr>
          <p:cNvPr id="516" name="Google Shape;516;p30"/>
          <p:cNvSpPr/>
          <p:nvPr/>
        </p:nvSpPr>
        <p:spPr>
          <a:xfrm>
            <a:off x="7870219" y="510316"/>
            <a:ext cx="409500" cy="231300"/>
          </a:xfrm>
          <a:prstGeom prst="rect">
            <a:avLst/>
          </a:prstGeom>
          <a:solidFill>
            <a:schemeClr val="lt2"/>
          </a:solidFill>
          <a:ln cap="flat" cmpd="sng" w="2325">
            <a:solidFill>
              <a:schemeClr val="dk2"/>
            </a:solidFill>
            <a:prstDash val="solid"/>
            <a:round/>
            <a:headEnd len="sm" w="sm" type="none"/>
            <a:tailEnd len="sm" w="sm" type="none"/>
          </a:ln>
        </p:spPr>
        <p:txBody>
          <a:bodyPr anchorCtr="0" anchor="ctr" bIns="22275" lIns="22275" spcFirstLastPara="1" rIns="22275" wrap="square" tIns="22275">
            <a:noAutofit/>
          </a:bodyPr>
          <a:lstStyle/>
          <a:p>
            <a:pPr indent="0" lvl="0" marL="0" rtl="0" algn="ctr">
              <a:spcBef>
                <a:spcPts val="0"/>
              </a:spcBef>
              <a:spcAft>
                <a:spcPts val="0"/>
              </a:spcAft>
              <a:buNone/>
            </a:pPr>
            <a:r>
              <a:rPr lang="en" sz="923"/>
              <a:t>Delta</a:t>
            </a:r>
            <a:endParaRPr sz="923"/>
          </a:p>
        </p:txBody>
      </p:sp>
      <p:sp>
        <p:nvSpPr>
          <p:cNvPr id="517" name="Google Shape;517;p30"/>
          <p:cNvSpPr txBox="1"/>
          <p:nvPr/>
        </p:nvSpPr>
        <p:spPr>
          <a:xfrm>
            <a:off x="6990928" y="348575"/>
            <a:ext cx="662400" cy="247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Instruction Pointer (IP),</a:t>
            </a:r>
            <a:endParaRPr sz="438">
              <a:solidFill>
                <a:schemeClr val="dk1"/>
              </a:solidFill>
            </a:endParaRPr>
          </a:p>
          <a:p>
            <a:pPr indent="0" lvl="0" marL="0" rtl="0" algn="l">
              <a:spcBef>
                <a:spcPts val="0"/>
              </a:spcBef>
              <a:spcAft>
                <a:spcPts val="0"/>
              </a:spcAft>
              <a:buNone/>
            </a:pPr>
            <a:r>
              <a:rPr lang="en" sz="438">
                <a:solidFill>
                  <a:schemeClr val="dk1"/>
                </a:solidFill>
              </a:rPr>
              <a:t>Access Address,</a:t>
            </a:r>
            <a:endParaRPr sz="438">
              <a:solidFill>
                <a:schemeClr val="dk1"/>
              </a:solidFill>
            </a:endParaRPr>
          </a:p>
          <a:p>
            <a:pPr indent="0" lvl="0" marL="0" rtl="0" algn="l">
              <a:spcBef>
                <a:spcPts val="0"/>
              </a:spcBef>
              <a:spcAft>
                <a:spcPts val="0"/>
              </a:spcAft>
              <a:buNone/>
            </a:pPr>
            <a:r>
              <a:rPr lang="en" sz="438">
                <a:solidFill>
                  <a:schemeClr val="dk1"/>
                </a:solidFill>
              </a:rPr>
              <a:t>Cycle</a:t>
            </a:r>
            <a:endParaRPr sz="438">
              <a:solidFill>
                <a:schemeClr val="dk1"/>
              </a:solidFill>
            </a:endParaRPr>
          </a:p>
        </p:txBody>
      </p:sp>
      <p:cxnSp>
        <p:nvCxnSpPr>
          <p:cNvPr id="518" name="Google Shape;518;p30"/>
          <p:cNvCxnSpPr>
            <a:stCxn id="517" idx="0"/>
            <a:endCxn id="515" idx="1"/>
          </p:cNvCxnSpPr>
          <p:nvPr/>
        </p:nvCxnSpPr>
        <p:spPr>
          <a:xfrm rot="-5400000">
            <a:off x="7517578" y="-4075"/>
            <a:ext cx="157200" cy="548100"/>
          </a:xfrm>
          <a:prstGeom prst="bentConnector2">
            <a:avLst/>
          </a:prstGeom>
          <a:noFill/>
          <a:ln cap="flat" cmpd="sng" w="9275">
            <a:solidFill>
              <a:schemeClr val="dk1"/>
            </a:solidFill>
            <a:prstDash val="solid"/>
            <a:round/>
            <a:headEnd len="med" w="med" type="none"/>
            <a:tailEnd len="med" w="med" type="stealth"/>
          </a:ln>
        </p:spPr>
      </p:cxnSp>
      <p:cxnSp>
        <p:nvCxnSpPr>
          <p:cNvPr id="519" name="Google Shape;519;p30"/>
          <p:cNvCxnSpPr>
            <a:stCxn id="515" idx="2"/>
            <a:endCxn id="516" idx="0"/>
          </p:cNvCxnSpPr>
          <p:nvPr/>
        </p:nvCxnSpPr>
        <p:spPr>
          <a:xfrm>
            <a:off x="8074969" y="307025"/>
            <a:ext cx="0" cy="203400"/>
          </a:xfrm>
          <a:prstGeom prst="straightConnector1">
            <a:avLst/>
          </a:prstGeom>
          <a:noFill/>
          <a:ln cap="flat" cmpd="sng" w="14800">
            <a:solidFill>
              <a:schemeClr val="dk1"/>
            </a:solidFill>
            <a:prstDash val="solid"/>
            <a:round/>
            <a:headEnd len="med" w="med" type="none"/>
            <a:tailEnd len="med" w="med" type="triangle"/>
          </a:ln>
        </p:spPr>
      </p:cxnSp>
      <p:cxnSp>
        <p:nvCxnSpPr>
          <p:cNvPr id="520" name="Google Shape;520;p30"/>
          <p:cNvCxnSpPr>
            <a:stCxn id="517" idx="2"/>
            <a:endCxn id="516" idx="1"/>
          </p:cNvCxnSpPr>
          <p:nvPr/>
        </p:nvCxnSpPr>
        <p:spPr>
          <a:xfrm flipH="1" rot="-5400000">
            <a:off x="7581178" y="337025"/>
            <a:ext cx="30000" cy="548100"/>
          </a:xfrm>
          <a:prstGeom prst="bentConnector2">
            <a:avLst/>
          </a:prstGeom>
          <a:noFill/>
          <a:ln cap="flat" cmpd="sng" w="9275">
            <a:solidFill>
              <a:schemeClr val="dk1"/>
            </a:solidFill>
            <a:prstDash val="solid"/>
            <a:round/>
            <a:headEnd len="med" w="med" type="none"/>
            <a:tailEnd len="med" w="med" type="stealth"/>
          </a:ln>
        </p:spPr>
      </p:cxnSp>
      <p:sp>
        <p:nvSpPr>
          <p:cNvPr id="521" name="Google Shape;521;p30"/>
          <p:cNvSpPr txBox="1"/>
          <p:nvPr/>
        </p:nvSpPr>
        <p:spPr>
          <a:xfrm>
            <a:off x="8426711" y="569718"/>
            <a:ext cx="7173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Prefetch Addresses</a:t>
            </a:r>
            <a:endParaRPr sz="438">
              <a:solidFill>
                <a:schemeClr val="dk1"/>
              </a:solidFill>
            </a:endParaRPr>
          </a:p>
        </p:txBody>
      </p:sp>
      <p:cxnSp>
        <p:nvCxnSpPr>
          <p:cNvPr id="522" name="Google Shape;522;p30"/>
          <p:cNvCxnSpPr>
            <a:stCxn id="516" idx="3"/>
            <a:endCxn id="521" idx="1"/>
          </p:cNvCxnSpPr>
          <p:nvPr/>
        </p:nvCxnSpPr>
        <p:spPr>
          <a:xfrm>
            <a:off x="8279719" y="625966"/>
            <a:ext cx="147000" cy="0"/>
          </a:xfrm>
          <a:prstGeom prst="straightConnector1">
            <a:avLst/>
          </a:prstGeom>
          <a:noFill/>
          <a:ln cap="flat" cmpd="sng" w="14800">
            <a:solidFill>
              <a:schemeClr val="dk1"/>
            </a:solidFill>
            <a:prstDash val="solid"/>
            <a:round/>
            <a:headEnd len="med" w="med" type="none"/>
            <a:tailEnd len="med" w="med" type="triangle"/>
          </a:ln>
        </p:spPr>
      </p:cxnSp>
      <p:sp>
        <p:nvSpPr>
          <p:cNvPr id="523" name="Google Shape;523;p30"/>
          <p:cNvSpPr txBox="1"/>
          <p:nvPr/>
        </p:nvSpPr>
        <p:spPr>
          <a:xfrm>
            <a:off x="8074983" y="352423"/>
            <a:ext cx="9705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Timely Deltas</a:t>
            </a:r>
            <a:endParaRPr sz="438">
              <a:solidFill>
                <a:schemeClr val="dk1"/>
              </a:solidFill>
            </a:endParaRPr>
          </a:p>
        </p:txBody>
      </p:sp>
      <p:sp>
        <p:nvSpPr>
          <p:cNvPr id="524" name="Google Shape;524;p30"/>
          <p:cNvSpPr txBox="1"/>
          <p:nvPr/>
        </p:nvSpPr>
        <p:spPr>
          <a:xfrm>
            <a:off x="8426711" y="133145"/>
            <a:ext cx="637800" cy="112500"/>
          </a:xfrm>
          <a:prstGeom prst="rect">
            <a:avLst/>
          </a:prstGeom>
          <a:noFill/>
          <a:ln>
            <a:noFill/>
          </a:ln>
        </p:spPr>
        <p:txBody>
          <a:bodyPr anchorCtr="0" anchor="t" bIns="22275" lIns="22275" spcFirstLastPara="1" rIns="22275" wrap="square" tIns="22275">
            <a:spAutoFit/>
          </a:bodyPr>
          <a:lstStyle/>
          <a:p>
            <a:pPr indent="0" lvl="0" marL="0" rtl="0" algn="l">
              <a:spcBef>
                <a:spcPts val="0"/>
              </a:spcBef>
              <a:spcAft>
                <a:spcPts val="0"/>
              </a:spcAft>
              <a:buNone/>
            </a:pPr>
            <a:r>
              <a:rPr lang="en" sz="438">
                <a:solidFill>
                  <a:schemeClr val="dk1"/>
                </a:solidFill>
              </a:rPr>
              <a:t>Fill Latencies</a:t>
            </a:r>
            <a:endParaRPr sz="438">
              <a:solidFill>
                <a:schemeClr val="dk1"/>
              </a:solidFill>
            </a:endParaRPr>
          </a:p>
        </p:txBody>
      </p:sp>
      <p:cxnSp>
        <p:nvCxnSpPr>
          <p:cNvPr id="525" name="Google Shape;525;p30"/>
          <p:cNvCxnSpPr>
            <a:stCxn id="524" idx="1"/>
            <a:endCxn id="515" idx="3"/>
          </p:cNvCxnSpPr>
          <p:nvPr/>
        </p:nvCxnSpPr>
        <p:spPr>
          <a:xfrm flipH="1">
            <a:off x="8279711" y="189395"/>
            <a:ext cx="147000" cy="2100"/>
          </a:xfrm>
          <a:prstGeom prst="straightConnector1">
            <a:avLst/>
          </a:prstGeom>
          <a:noFill/>
          <a:ln cap="flat" cmpd="sng" w="9275">
            <a:solidFill>
              <a:schemeClr val="dk1"/>
            </a:solidFill>
            <a:prstDash val="solid"/>
            <a:round/>
            <a:headEnd len="med" w="med" type="none"/>
            <a:tailEnd len="med" w="med" type="triangle"/>
          </a:ln>
        </p:spPr>
      </p:cxnSp>
      <p:sp>
        <p:nvSpPr>
          <p:cNvPr id="526" name="Google Shape;526;p30"/>
          <p:cNvSpPr/>
          <p:nvPr/>
        </p:nvSpPr>
        <p:spPr>
          <a:xfrm>
            <a:off x="7908498" y="502567"/>
            <a:ext cx="356100" cy="286800"/>
          </a:xfrm>
          <a:prstGeom prst="rect">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Costs (almost) the same as Berti</a:t>
            </a:r>
            <a:endParaRPr/>
          </a:p>
        </p:txBody>
      </p:sp>
      <p:graphicFrame>
        <p:nvGraphicFramePr>
          <p:cNvPr id="533" name="Google Shape;533;p31"/>
          <p:cNvGraphicFramePr/>
          <p:nvPr/>
        </p:nvGraphicFramePr>
        <p:xfrm>
          <a:off x="764575" y="2951575"/>
          <a:ext cx="3000000" cy="3000000"/>
        </p:xfrm>
        <a:graphic>
          <a:graphicData uri="http://schemas.openxmlformats.org/drawingml/2006/table">
            <a:tbl>
              <a:tblPr>
                <a:noFill/>
                <a:tableStyleId>{D6CEBF9E-C40A-4499-BFC6-E9B8EEB65CE8}</a:tableStyleId>
              </a:tblPr>
              <a:tblGrid>
                <a:gridCol w="1809750"/>
                <a:gridCol w="1809750"/>
                <a:gridCol w="1809750"/>
                <a:gridCol w="1809750"/>
              </a:tblGrid>
              <a:tr h="353375">
                <a:tc>
                  <a:txBody>
                    <a:bodyPr/>
                    <a:lstStyle/>
                    <a:p>
                      <a:pPr indent="0" lvl="0" marL="0" rtl="0" algn="l">
                        <a:spcBef>
                          <a:spcPts val="0"/>
                        </a:spcBef>
                        <a:spcAft>
                          <a:spcPts val="0"/>
                        </a:spcAft>
                        <a:buNone/>
                      </a:pPr>
                      <a:r>
                        <a:rPr lang="en" sz="1000"/>
                        <a:t>Global Berti</a:t>
                      </a:r>
                      <a:endParaRPr sz="1000"/>
                    </a:p>
                  </a:txBody>
                  <a:tcPr marT="91425" marB="91425" marR="91425" marL="91425"/>
                </a:tc>
                <a:tc>
                  <a:txBody>
                    <a:bodyPr/>
                    <a:lstStyle/>
                    <a:p>
                      <a:pPr indent="0" lvl="0" marL="0" rtl="0" algn="l">
                        <a:spcBef>
                          <a:spcPts val="0"/>
                        </a:spcBef>
                        <a:spcAft>
                          <a:spcPts val="0"/>
                        </a:spcAft>
                        <a:buNone/>
                      </a:pPr>
                      <a:r>
                        <a:rPr lang="en" sz="1000"/>
                        <a:t>Entries</a:t>
                      </a:r>
                      <a:endParaRPr sz="1000"/>
                    </a:p>
                  </a:txBody>
                  <a:tcPr marT="91425" marB="91425" marR="91425" marL="91425"/>
                </a:tc>
                <a:tc>
                  <a:txBody>
                    <a:bodyPr/>
                    <a:lstStyle/>
                    <a:p>
                      <a:pPr indent="0" lvl="0" marL="0" rtl="0" algn="l">
                        <a:spcBef>
                          <a:spcPts val="0"/>
                        </a:spcBef>
                        <a:spcAft>
                          <a:spcPts val="0"/>
                        </a:spcAft>
                        <a:buNone/>
                      </a:pPr>
                      <a:r>
                        <a:rPr lang="en" sz="1000"/>
                        <a:t>Entry Size (b)</a:t>
                      </a:r>
                      <a:endParaRPr sz="1000"/>
                    </a:p>
                  </a:txBody>
                  <a:tcPr marT="91425" marB="91425" marR="91425" marL="91425"/>
                </a:tc>
                <a:tc>
                  <a:txBody>
                    <a:bodyPr/>
                    <a:lstStyle/>
                    <a:p>
                      <a:pPr indent="0" lvl="0" marL="0" rtl="0" algn="l">
                        <a:spcBef>
                          <a:spcPts val="0"/>
                        </a:spcBef>
                        <a:spcAft>
                          <a:spcPts val="0"/>
                        </a:spcAft>
                        <a:buNone/>
                      </a:pPr>
                      <a:r>
                        <a:rPr lang="en" sz="1000"/>
                        <a:t>Total Size (B)</a:t>
                      </a:r>
                      <a:endParaRPr sz="1000"/>
                    </a:p>
                  </a:txBody>
                  <a:tcPr marT="91425" marB="91425" marR="91425" marL="91425"/>
                </a:tc>
              </a:tr>
              <a:tr h="353375">
                <a:tc>
                  <a:txBody>
                    <a:bodyPr/>
                    <a:lstStyle/>
                    <a:p>
                      <a:pPr indent="0" lvl="0" marL="0" rtl="0" algn="l">
                        <a:spcBef>
                          <a:spcPts val="0"/>
                        </a:spcBef>
                        <a:spcAft>
                          <a:spcPts val="0"/>
                        </a:spcAft>
                        <a:buNone/>
                      </a:pPr>
                      <a:r>
                        <a:rPr lang="en" sz="1000"/>
                        <a:t>History Table</a:t>
                      </a:r>
                      <a:endParaRPr sz="1000"/>
                    </a:p>
                  </a:txBody>
                  <a:tcPr marT="91425" marB="91425" marR="91425" marL="91425"/>
                </a:tc>
                <a:tc>
                  <a:txBody>
                    <a:bodyPr/>
                    <a:lstStyle/>
                    <a:p>
                      <a:pPr indent="0" lvl="0" marL="0" rtl="0" algn="l">
                        <a:spcBef>
                          <a:spcPts val="0"/>
                        </a:spcBef>
                        <a:spcAft>
                          <a:spcPts val="0"/>
                        </a:spcAft>
                        <a:buNone/>
                      </a:pPr>
                      <a:r>
                        <a:rPr lang="en" sz="1000"/>
                        <a:t>64 X 16</a:t>
                      </a:r>
                      <a:endParaRPr sz="1000"/>
                    </a:p>
                  </a:txBody>
                  <a:tcPr marT="91425" marB="91425" marR="91425" marL="91425"/>
                </a:tc>
                <a:tc>
                  <a:txBody>
                    <a:bodyPr/>
                    <a:lstStyle/>
                    <a:p>
                      <a:pPr indent="0" lvl="0" marL="0" rtl="0" algn="l">
                        <a:spcBef>
                          <a:spcPts val="0"/>
                        </a:spcBef>
                        <a:spcAft>
                          <a:spcPts val="0"/>
                        </a:spcAft>
                        <a:buNone/>
                      </a:pPr>
                      <a:r>
                        <a:rPr lang="en" sz="1000"/>
                        <a:t>47</a:t>
                      </a:r>
                      <a:endParaRPr sz="1000"/>
                    </a:p>
                  </a:txBody>
                  <a:tcPr marT="91425" marB="91425" marR="91425" marL="91425"/>
                </a:tc>
                <a:tc>
                  <a:txBody>
                    <a:bodyPr/>
                    <a:lstStyle/>
                    <a:p>
                      <a:pPr indent="0" lvl="0" marL="0" rtl="0" algn="l">
                        <a:spcBef>
                          <a:spcPts val="0"/>
                        </a:spcBef>
                        <a:spcAft>
                          <a:spcPts val="0"/>
                        </a:spcAft>
                        <a:buNone/>
                      </a:pPr>
                      <a:r>
                        <a:rPr lang="en" sz="1000"/>
                        <a:t>6016</a:t>
                      </a:r>
                      <a:endParaRPr sz="1000"/>
                    </a:p>
                  </a:txBody>
                  <a:tcPr marT="91425" marB="91425" marR="91425" marL="91425"/>
                </a:tc>
              </a:tr>
              <a:tr h="353375">
                <a:tc>
                  <a:txBody>
                    <a:bodyPr/>
                    <a:lstStyle/>
                    <a:p>
                      <a:pPr indent="0" lvl="0" marL="0" rtl="0" algn="l">
                        <a:spcBef>
                          <a:spcPts val="0"/>
                        </a:spcBef>
                        <a:spcAft>
                          <a:spcPts val="0"/>
                        </a:spcAft>
                        <a:buNone/>
                      </a:pPr>
                      <a:r>
                        <a:rPr lang="en" sz="1000"/>
                        <a:t>Delta Table</a:t>
                      </a:r>
                      <a:endParaRPr sz="1000"/>
                    </a:p>
                  </a:txBody>
                  <a:tcPr marT="91425" marB="91425" marR="91425" marL="91425"/>
                </a:tc>
                <a:tc>
                  <a:txBody>
                    <a:bodyPr/>
                    <a:lstStyle/>
                    <a:p>
                      <a:pPr indent="0" lvl="0" marL="0" rtl="0" algn="l">
                        <a:spcBef>
                          <a:spcPts val="0"/>
                        </a:spcBef>
                        <a:spcAft>
                          <a:spcPts val="0"/>
                        </a:spcAft>
                        <a:buNone/>
                      </a:pPr>
                      <a:r>
                        <a:rPr lang="en" sz="1000"/>
                        <a:t>64</a:t>
                      </a:r>
                      <a:endParaRPr sz="1000"/>
                    </a:p>
                  </a:txBody>
                  <a:tcPr marT="91425" marB="91425" marR="91425" marL="91425"/>
                </a:tc>
                <a:tc>
                  <a:txBody>
                    <a:bodyPr/>
                    <a:lstStyle/>
                    <a:p>
                      <a:pPr indent="0" lvl="0" marL="0" rtl="0" algn="l">
                        <a:spcBef>
                          <a:spcPts val="0"/>
                        </a:spcBef>
                        <a:spcAft>
                          <a:spcPts val="0"/>
                        </a:spcAft>
                        <a:buNone/>
                      </a:pPr>
                      <a:r>
                        <a:rPr lang="en" sz="1000"/>
                        <a:t>18 + 32 X 20</a:t>
                      </a:r>
                      <a:endParaRPr sz="1000"/>
                    </a:p>
                  </a:txBody>
                  <a:tcPr marT="91425" marB="91425" marR="91425" marL="91425"/>
                </a:tc>
                <a:tc>
                  <a:txBody>
                    <a:bodyPr/>
                    <a:lstStyle/>
                    <a:p>
                      <a:pPr indent="0" lvl="0" marL="0" rtl="0" algn="l">
                        <a:spcBef>
                          <a:spcPts val="0"/>
                        </a:spcBef>
                        <a:spcAft>
                          <a:spcPts val="0"/>
                        </a:spcAft>
                        <a:buNone/>
                      </a:pPr>
                      <a:r>
                        <a:rPr lang="en" sz="1000"/>
                        <a:t>5264</a:t>
                      </a:r>
                      <a:endParaRPr sz="1000"/>
                    </a:p>
                  </a:txBody>
                  <a:tcPr marT="91425" marB="91425" marR="91425" marL="91425"/>
                </a:tc>
              </a:tr>
              <a:tr h="353375">
                <a:tc>
                  <a:txBody>
                    <a:bodyPr/>
                    <a:lstStyle/>
                    <a:p>
                      <a:pPr indent="0" lvl="0" marL="0" rtl="0" algn="l">
                        <a:spcBef>
                          <a:spcPts val="0"/>
                        </a:spcBef>
                        <a:spcAft>
                          <a:spcPts val="0"/>
                        </a:spcAft>
                        <a:buNone/>
                      </a:pPr>
                      <a:r>
                        <a:rPr lang="en" sz="1000"/>
                        <a:t>MSHR Timestamps</a:t>
                      </a:r>
                      <a:endParaRPr sz="1000"/>
                    </a:p>
                  </a:txBody>
                  <a:tcPr marT="91425" marB="91425" marR="91425" marL="91425"/>
                </a:tc>
                <a:tc>
                  <a:txBody>
                    <a:bodyPr/>
                    <a:lstStyle/>
                    <a:p>
                      <a:pPr indent="0" lvl="0" marL="0" rtl="0" algn="l">
                        <a:spcBef>
                          <a:spcPts val="0"/>
                        </a:spcBef>
                        <a:spcAft>
                          <a:spcPts val="0"/>
                        </a:spcAft>
                        <a:buNone/>
                      </a:pPr>
                      <a:r>
                        <a:rPr lang="en" sz="1000"/>
                        <a:t>16</a:t>
                      </a:r>
                      <a:endParaRPr sz="1000"/>
                    </a:p>
                  </a:txBody>
                  <a:tcPr marT="91425" marB="91425" marR="91425" marL="91425"/>
                </a:tc>
                <a:tc>
                  <a:txBody>
                    <a:bodyPr/>
                    <a:lstStyle/>
                    <a:p>
                      <a:pPr indent="0" lvl="0" marL="0" rtl="0" algn="l">
                        <a:spcBef>
                          <a:spcPts val="0"/>
                        </a:spcBef>
                        <a:spcAft>
                          <a:spcPts val="0"/>
                        </a:spcAft>
                        <a:buNone/>
                      </a:pPr>
                      <a:r>
                        <a:rPr lang="en" sz="1000"/>
                        <a:t>16</a:t>
                      </a:r>
                      <a:endParaRPr sz="1000"/>
                    </a:p>
                  </a:txBody>
                  <a:tcPr marT="91425" marB="91425" marR="91425" marL="91425"/>
                </a:tc>
                <a:tc>
                  <a:txBody>
                    <a:bodyPr/>
                    <a:lstStyle/>
                    <a:p>
                      <a:pPr indent="0" lvl="0" marL="0" rtl="0" algn="l">
                        <a:spcBef>
                          <a:spcPts val="0"/>
                        </a:spcBef>
                        <a:spcAft>
                          <a:spcPts val="0"/>
                        </a:spcAft>
                        <a:buNone/>
                      </a:pPr>
                      <a:r>
                        <a:rPr lang="en" sz="1000"/>
                        <a:t>32</a:t>
                      </a:r>
                      <a:endParaRPr sz="1000"/>
                    </a:p>
                  </a:txBody>
                  <a:tcPr marT="91425" marB="91425" marR="91425" marL="91425"/>
                </a:tc>
              </a:tr>
              <a:tr h="353375">
                <a:tc>
                  <a:txBody>
                    <a:bodyPr/>
                    <a:lstStyle/>
                    <a:p>
                      <a:pPr indent="0" lvl="0" marL="0" rtl="0" algn="l">
                        <a:spcBef>
                          <a:spcPts val="0"/>
                        </a:spcBef>
                        <a:spcAft>
                          <a:spcPts val="0"/>
                        </a:spcAft>
                        <a:buNone/>
                      </a:pPr>
                      <a:r>
                        <a:rPr lang="en" sz="1000"/>
                        <a:t>L1 Latencies</a:t>
                      </a:r>
                      <a:endParaRPr sz="1000"/>
                    </a:p>
                  </a:txBody>
                  <a:tcPr marT="91425" marB="91425" marR="91425" marL="91425"/>
                </a:tc>
                <a:tc>
                  <a:txBody>
                    <a:bodyPr/>
                    <a:lstStyle/>
                    <a:p>
                      <a:pPr indent="0" lvl="0" marL="0" rtl="0" algn="l">
                        <a:spcBef>
                          <a:spcPts val="0"/>
                        </a:spcBef>
                        <a:spcAft>
                          <a:spcPts val="0"/>
                        </a:spcAft>
                        <a:buNone/>
                      </a:pPr>
                      <a:r>
                        <a:rPr lang="en" sz="1000"/>
                        <a:t>768</a:t>
                      </a:r>
                      <a:endParaRPr sz="1000"/>
                    </a:p>
                  </a:txBody>
                  <a:tcPr marT="91425" marB="91425" marR="91425" marL="91425"/>
                </a:tc>
                <a:tc>
                  <a:txBody>
                    <a:bodyPr/>
                    <a:lstStyle/>
                    <a:p>
                      <a:pPr indent="0" lvl="0" marL="0" rtl="0" algn="l">
                        <a:spcBef>
                          <a:spcPts val="0"/>
                        </a:spcBef>
                        <a:spcAft>
                          <a:spcPts val="0"/>
                        </a:spcAft>
                        <a:buNone/>
                      </a:pPr>
                      <a:r>
                        <a:rPr lang="en" sz="1000"/>
                        <a:t>12</a:t>
                      </a:r>
                      <a:endParaRPr sz="1000"/>
                    </a:p>
                  </a:txBody>
                  <a:tcPr marT="91425" marB="91425" marR="91425" marL="91425"/>
                </a:tc>
                <a:tc>
                  <a:txBody>
                    <a:bodyPr/>
                    <a:lstStyle/>
                    <a:p>
                      <a:pPr indent="0" lvl="0" marL="0" rtl="0" algn="l">
                        <a:spcBef>
                          <a:spcPts val="0"/>
                        </a:spcBef>
                        <a:spcAft>
                          <a:spcPts val="0"/>
                        </a:spcAft>
                        <a:buNone/>
                      </a:pPr>
                      <a:r>
                        <a:rPr lang="en" sz="1000"/>
                        <a:t>1152</a:t>
                      </a:r>
                      <a:endParaRPr sz="1000"/>
                    </a:p>
                  </a:txBody>
                  <a:tcPr marT="91425" marB="91425" marR="91425" marL="91425"/>
                </a:tc>
              </a:tr>
              <a:tr h="353375">
                <a:tc>
                  <a:txBody>
                    <a:bodyPr/>
                    <a:lstStyle/>
                    <a:p>
                      <a:pPr indent="0" lvl="0" marL="0" rtl="0" algn="l">
                        <a:spcBef>
                          <a:spcPts val="0"/>
                        </a:spcBef>
                        <a:spcAft>
                          <a:spcPts val="0"/>
                        </a:spcAft>
                        <a:buNone/>
                      </a:pPr>
                      <a:r>
                        <a:rPr lang="en" sz="1000"/>
                        <a:t>Total</a:t>
                      </a:r>
                      <a:endParaRPr sz="1000"/>
                    </a:p>
                  </a:txBody>
                  <a:tcPr marT="91425" marB="91425" marR="91425" marL="91425"/>
                </a:tc>
                <a:tc>
                  <a:txBody>
                    <a:bodyPr/>
                    <a:lstStyle/>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lang="en" sz="1000"/>
                        <a:t>12464</a:t>
                      </a:r>
                      <a:endParaRPr sz="1000"/>
                    </a:p>
                  </a:txBody>
                  <a:tcPr marT="91425" marB="91425" marR="91425" marL="91425"/>
                </a:tc>
              </a:tr>
            </a:tbl>
          </a:graphicData>
        </a:graphic>
      </p:graphicFrame>
      <p:sp>
        <p:nvSpPr>
          <p:cNvPr id="534" name="Google Shape;534;p31"/>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Berti’s overheads over Berti are negligible </a:t>
            </a:r>
            <a:endParaRPr>
              <a:solidFill>
                <a:schemeClr val="lt1"/>
              </a:solidFill>
            </a:endParaRPr>
          </a:p>
        </p:txBody>
      </p:sp>
      <p:graphicFrame>
        <p:nvGraphicFramePr>
          <p:cNvPr id="535" name="Google Shape;535;p31"/>
          <p:cNvGraphicFramePr/>
          <p:nvPr/>
        </p:nvGraphicFramePr>
        <p:xfrm>
          <a:off x="764575" y="876513"/>
          <a:ext cx="3000000" cy="3000000"/>
        </p:xfrm>
        <a:graphic>
          <a:graphicData uri="http://schemas.openxmlformats.org/drawingml/2006/table">
            <a:tbl>
              <a:tblPr>
                <a:noFill/>
                <a:tableStyleId>{D6CEBF9E-C40A-4499-BFC6-E9B8EEB65CE8}</a:tableStyleId>
              </a:tblPr>
              <a:tblGrid>
                <a:gridCol w="1809750"/>
                <a:gridCol w="1809750"/>
                <a:gridCol w="1809750"/>
                <a:gridCol w="1809750"/>
              </a:tblGrid>
              <a:tr h="313825">
                <a:tc>
                  <a:txBody>
                    <a:bodyPr/>
                    <a:lstStyle/>
                    <a:p>
                      <a:pPr indent="0" lvl="0" marL="0" rtl="0" algn="l">
                        <a:spcBef>
                          <a:spcPts val="0"/>
                        </a:spcBef>
                        <a:spcAft>
                          <a:spcPts val="0"/>
                        </a:spcAft>
                        <a:buNone/>
                      </a:pPr>
                      <a:r>
                        <a:rPr lang="en" sz="1000"/>
                        <a:t>Berti</a:t>
                      </a:r>
                      <a:endParaRPr sz="1000"/>
                    </a:p>
                  </a:txBody>
                  <a:tcPr marT="91425" marB="91425" marR="91425" marL="91425"/>
                </a:tc>
                <a:tc>
                  <a:txBody>
                    <a:bodyPr/>
                    <a:lstStyle/>
                    <a:p>
                      <a:pPr indent="0" lvl="0" marL="0" rtl="0" algn="l">
                        <a:spcBef>
                          <a:spcPts val="0"/>
                        </a:spcBef>
                        <a:spcAft>
                          <a:spcPts val="0"/>
                        </a:spcAft>
                        <a:buNone/>
                      </a:pPr>
                      <a:r>
                        <a:rPr lang="en" sz="1000"/>
                        <a:t>Entries</a:t>
                      </a:r>
                      <a:endParaRPr sz="1000"/>
                    </a:p>
                  </a:txBody>
                  <a:tcPr marT="91425" marB="91425" marR="91425" marL="91425"/>
                </a:tc>
                <a:tc>
                  <a:txBody>
                    <a:bodyPr/>
                    <a:lstStyle/>
                    <a:p>
                      <a:pPr indent="0" lvl="0" marL="0" rtl="0" algn="l">
                        <a:spcBef>
                          <a:spcPts val="0"/>
                        </a:spcBef>
                        <a:spcAft>
                          <a:spcPts val="0"/>
                        </a:spcAft>
                        <a:buNone/>
                      </a:pPr>
                      <a:r>
                        <a:rPr lang="en" sz="1000"/>
                        <a:t>Entry Size (b)</a:t>
                      </a:r>
                      <a:endParaRPr sz="1000"/>
                    </a:p>
                  </a:txBody>
                  <a:tcPr marT="91425" marB="91425" marR="91425" marL="91425"/>
                </a:tc>
                <a:tc>
                  <a:txBody>
                    <a:bodyPr/>
                    <a:lstStyle/>
                    <a:p>
                      <a:pPr indent="0" lvl="0" marL="0" rtl="0" algn="l">
                        <a:spcBef>
                          <a:spcPts val="0"/>
                        </a:spcBef>
                        <a:spcAft>
                          <a:spcPts val="0"/>
                        </a:spcAft>
                        <a:buNone/>
                      </a:pPr>
                      <a:r>
                        <a:rPr lang="en" sz="1000"/>
                        <a:t>Total Size (B)</a:t>
                      </a:r>
                      <a:endParaRPr sz="1000"/>
                    </a:p>
                  </a:txBody>
                  <a:tcPr marT="91425" marB="91425" marR="91425" marL="91425"/>
                </a:tc>
              </a:tr>
              <a:tr h="313825">
                <a:tc>
                  <a:txBody>
                    <a:bodyPr/>
                    <a:lstStyle/>
                    <a:p>
                      <a:pPr indent="0" lvl="0" marL="0" rtl="0" algn="l">
                        <a:spcBef>
                          <a:spcPts val="0"/>
                        </a:spcBef>
                        <a:spcAft>
                          <a:spcPts val="0"/>
                        </a:spcAft>
                        <a:buNone/>
                      </a:pPr>
                      <a:r>
                        <a:rPr lang="en" sz="1000"/>
                        <a:t>History Table</a:t>
                      </a:r>
                      <a:endParaRPr sz="1000"/>
                    </a:p>
                  </a:txBody>
                  <a:tcPr marT="91425" marB="91425" marR="91425" marL="91425"/>
                </a:tc>
                <a:tc>
                  <a:txBody>
                    <a:bodyPr/>
                    <a:lstStyle/>
                    <a:p>
                      <a:pPr indent="0" lvl="0" marL="0" rtl="0" algn="l">
                        <a:spcBef>
                          <a:spcPts val="0"/>
                        </a:spcBef>
                        <a:spcAft>
                          <a:spcPts val="0"/>
                        </a:spcAft>
                        <a:buNone/>
                      </a:pPr>
                      <a:r>
                        <a:rPr lang="en" sz="1000"/>
                        <a:t>64 X 16</a:t>
                      </a:r>
                      <a:endParaRPr sz="1000"/>
                    </a:p>
                  </a:txBody>
                  <a:tcPr marT="91425" marB="91425" marR="91425" marL="91425"/>
                </a:tc>
                <a:tc>
                  <a:txBody>
                    <a:bodyPr/>
                    <a:lstStyle/>
                    <a:p>
                      <a:pPr indent="0" lvl="0" marL="0" rtl="0" algn="l">
                        <a:spcBef>
                          <a:spcPts val="0"/>
                        </a:spcBef>
                        <a:spcAft>
                          <a:spcPts val="0"/>
                        </a:spcAft>
                        <a:buNone/>
                      </a:pPr>
                      <a:r>
                        <a:rPr lang="en" sz="1000"/>
                        <a:t>47</a:t>
                      </a:r>
                      <a:endParaRPr sz="1000"/>
                    </a:p>
                  </a:txBody>
                  <a:tcPr marT="91425" marB="91425" marR="91425" marL="91425"/>
                </a:tc>
                <a:tc>
                  <a:txBody>
                    <a:bodyPr/>
                    <a:lstStyle/>
                    <a:p>
                      <a:pPr indent="0" lvl="0" marL="0" rtl="0" algn="l">
                        <a:spcBef>
                          <a:spcPts val="0"/>
                        </a:spcBef>
                        <a:spcAft>
                          <a:spcPts val="0"/>
                        </a:spcAft>
                        <a:buNone/>
                      </a:pPr>
                      <a:r>
                        <a:rPr lang="en" sz="1000"/>
                        <a:t>6016</a:t>
                      </a:r>
                      <a:endParaRPr sz="1000"/>
                    </a:p>
                  </a:txBody>
                  <a:tcPr marT="91425" marB="91425" marR="91425" marL="91425"/>
                </a:tc>
              </a:tr>
              <a:tr h="313825">
                <a:tc>
                  <a:txBody>
                    <a:bodyPr/>
                    <a:lstStyle/>
                    <a:p>
                      <a:pPr indent="0" lvl="0" marL="0" rtl="0" algn="l">
                        <a:spcBef>
                          <a:spcPts val="0"/>
                        </a:spcBef>
                        <a:spcAft>
                          <a:spcPts val="0"/>
                        </a:spcAft>
                        <a:buNone/>
                      </a:pPr>
                      <a:r>
                        <a:rPr lang="en" sz="1000"/>
                        <a:t>Delta Table</a:t>
                      </a:r>
                      <a:endParaRPr sz="1000"/>
                    </a:p>
                  </a:txBody>
                  <a:tcPr marT="91425" marB="91425" marR="91425" marL="91425"/>
                </a:tc>
                <a:tc>
                  <a:txBody>
                    <a:bodyPr/>
                    <a:lstStyle/>
                    <a:p>
                      <a:pPr indent="0" lvl="0" marL="0" rtl="0" algn="l">
                        <a:spcBef>
                          <a:spcPts val="0"/>
                        </a:spcBef>
                        <a:spcAft>
                          <a:spcPts val="0"/>
                        </a:spcAft>
                        <a:buNone/>
                      </a:pPr>
                      <a:r>
                        <a:rPr lang="en" sz="1000"/>
                        <a:t>64</a:t>
                      </a:r>
                      <a:endParaRPr sz="1000"/>
                    </a:p>
                  </a:txBody>
                  <a:tcPr marT="91425" marB="91425" marR="91425" marL="91425"/>
                </a:tc>
                <a:tc>
                  <a:txBody>
                    <a:bodyPr/>
                    <a:lstStyle/>
                    <a:p>
                      <a:pPr indent="0" lvl="0" marL="0" rtl="0" algn="l">
                        <a:spcBef>
                          <a:spcPts val="0"/>
                        </a:spcBef>
                        <a:spcAft>
                          <a:spcPts val="0"/>
                        </a:spcAft>
                        <a:buNone/>
                      </a:pPr>
                      <a:r>
                        <a:rPr lang="en" sz="1000"/>
                        <a:t>17 + 32 X 19</a:t>
                      </a:r>
                      <a:endParaRPr sz="1000"/>
                    </a:p>
                  </a:txBody>
                  <a:tcPr marT="91425" marB="91425" marR="91425" marL="91425"/>
                </a:tc>
                <a:tc>
                  <a:txBody>
                    <a:bodyPr/>
                    <a:lstStyle/>
                    <a:p>
                      <a:pPr indent="0" lvl="0" marL="0" rtl="0" algn="l">
                        <a:spcBef>
                          <a:spcPts val="0"/>
                        </a:spcBef>
                        <a:spcAft>
                          <a:spcPts val="0"/>
                        </a:spcAft>
                        <a:buNone/>
                      </a:pPr>
                      <a:r>
                        <a:rPr lang="en" sz="1000"/>
                        <a:t>5000</a:t>
                      </a:r>
                      <a:endParaRPr sz="1000"/>
                    </a:p>
                  </a:txBody>
                  <a:tcPr marT="91425" marB="91425" marR="91425" marL="91425"/>
                </a:tc>
              </a:tr>
              <a:tr h="313825">
                <a:tc>
                  <a:txBody>
                    <a:bodyPr/>
                    <a:lstStyle/>
                    <a:p>
                      <a:pPr indent="0" lvl="0" marL="0" rtl="0" algn="l">
                        <a:spcBef>
                          <a:spcPts val="0"/>
                        </a:spcBef>
                        <a:spcAft>
                          <a:spcPts val="0"/>
                        </a:spcAft>
                        <a:buNone/>
                      </a:pPr>
                      <a:r>
                        <a:rPr lang="en" sz="1000"/>
                        <a:t>MSHR Timestamps</a:t>
                      </a:r>
                      <a:endParaRPr sz="1000"/>
                    </a:p>
                  </a:txBody>
                  <a:tcPr marT="91425" marB="91425" marR="91425" marL="91425"/>
                </a:tc>
                <a:tc>
                  <a:txBody>
                    <a:bodyPr/>
                    <a:lstStyle/>
                    <a:p>
                      <a:pPr indent="0" lvl="0" marL="0" rtl="0" algn="l">
                        <a:spcBef>
                          <a:spcPts val="0"/>
                        </a:spcBef>
                        <a:spcAft>
                          <a:spcPts val="0"/>
                        </a:spcAft>
                        <a:buNone/>
                      </a:pPr>
                      <a:r>
                        <a:rPr lang="en" sz="1000"/>
                        <a:t>16</a:t>
                      </a:r>
                      <a:endParaRPr sz="1000"/>
                    </a:p>
                  </a:txBody>
                  <a:tcPr marT="91425" marB="91425" marR="91425" marL="91425"/>
                </a:tc>
                <a:tc>
                  <a:txBody>
                    <a:bodyPr/>
                    <a:lstStyle/>
                    <a:p>
                      <a:pPr indent="0" lvl="0" marL="0" rtl="0" algn="l">
                        <a:spcBef>
                          <a:spcPts val="0"/>
                        </a:spcBef>
                        <a:spcAft>
                          <a:spcPts val="0"/>
                        </a:spcAft>
                        <a:buNone/>
                      </a:pPr>
                      <a:r>
                        <a:rPr lang="en" sz="1000"/>
                        <a:t>16</a:t>
                      </a:r>
                      <a:endParaRPr sz="1000"/>
                    </a:p>
                  </a:txBody>
                  <a:tcPr marT="91425" marB="91425" marR="91425" marL="91425"/>
                </a:tc>
                <a:tc>
                  <a:txBody>
                    <a:bodyPr/>
                    <a:lstStyle/>
                    <a:p>
                      <a:pPr indent="0" lvl="0" marL="0" rtl="0" algn="l">
                        <a:spcBef>
                          <a:spcPts val="0"/>
                        </a:spcBef>
                        <a:spcAft>
                          <a:spcPts val="0"/>
                        </a:spcAft>
                        <a:buNone/>
                      </a:pPr>
                      <a:r>
                        <a:rPr lang="en" sz="1000"/>
                        <a:t>32</a:t>
                      </a:r>
                      <a:endParaRPr sz="1000"/>
                    </a:p>
                  </a:txBody>
                  <a:tcPr marT="91425" marB="91425" marR="91425" marL="91425"/>
                </a:tc>
              </a:tr>
              <a:tr h="313825">
                <a:tc>
                  <a:txBody>
                    <a:bodyPr/>
                    <a:lstStyle/>
                    <a:p>
                      <a:pPr indent="0" lvl="0" marL="0" rtl="0" algn="l">
                        <a:spcBef>
                          <a:spcPts val="0"/>
                        </a:spcBef>
                        <a:spcAft>
                          <a:spcPts val="0"/>
                        </a:spcAft>
                        <a:buNone/>
                      </a:pPr>
                      <a:r>
                        <a:rPr lang="en" sz="1000"/>
                        <a:t>L1 Latencies</a:t>
                      </a:r>
                      <a:endParaRPr sz="1000"/>
                    </a:p>
                  </a:txBody>
                  <a:tcPr marT="91425" marB="91425" marR="91425" marL="91425"/>
                </a:tc>
                <a:tc>
                  <a:txBody>
                    <a:bodyPr/>
                    <a:lstStyle/>
                    <a:p>
                      <a:pPr indent="0" lvl="0" marL="0" rtl="0" algn="l">
                        <a:spcBef>
                          <a:spcPts val="0"/>
                        </a:spcBef>
                        <a:spcAft>
                          <a:spcPts val="0"/>
                        </a:spcAft>
                        <a:buNone/>
                      </a:pPr>
                      <a:r>
                        <a:rPr lang="en" sz="1000"/>
                        <a:t>768</a:t>
                      </a:r>
                      <a:endParaRPr sz="1000"/>
                    </a:p>
                  </a:txBody>
                  <a:tcPr marT="91425" marB="91425" marR="91425" marL="91425"/>
                </a:tc>
                <a:tc>
                  <a:txBody>
                    <a:bodyPr/>
                    <a:lstStyle/>
                    <a:p>
                      <a:pPr indent="0" lvl="0" marL="0" rtl="0" algn="l">
                        <a:spcBef>
                          <a:spcPts val="0"/>
                        </a:spcBef>
                        <a:spcAft>
                          <a:spcPts val="0"/>
                        </a:spcAft>
                        <a:buNone/>
                      </a:pPr>
                      <a:r>
                        <a:rPr lang="en" sz="1000"/>
                        <a:t>12</a:t>
                      </a:r>
                      <a:endParaRPr sz="1000"/>
                    </a:p>
                  </a:txBody>
                  <a:tcPr marT="91425" marB="91425" marR="91425" marL="91425"/>
                </a:tc>
                <a:tc>
                  <a:txBody>
                    <a:bodyPr/>
                    <a:lstStyle/>
                    <a:p>
                      <a:pPr indent="0" lvl="0" marL="0" rtl="0" algn="l">
                        <a:spcBef>
                          <a:spcPts val="0"/>
                        </a:spcBef>
                        <a:spcAft>
                          <a:spcPts val="0"/>
                        </a:spcAft>
                        <a:buNone/>
                      </a:pPr>
                      <a:r>
                        <a:rPr lang="en" sz="1000"/>
                        <a:t>1152</a:t>
                      </a:r>
                      <a:endParaRPr sz="1000"/>
                    </a:p>
                  </a:txBody>
                  <a:tcPr marT="91425" marB="91425" marR="91425" marL="91425"/>
                </a:tc>
              </a:tr>
              <a:tr h="313825">
                <a:tc>
                  <a:txBody>
                    <a:bodyPr/>
                    <a:lstStyle/>
                    <a:p>
                      <a:pPr indent="0" lvl="0" marL="0" rtl="0" algn="l">
                        <a:spcBef>
                          <a:spcPts val="0"/>
                        </a:spcBef>
                        <a:spcAft>
                          <a:spcPts val="0"/>
                        </a:spcAft>
                        <a:buNone/>
                      </a:pPr>
                      <a:r>
                        <a:rPr lang="en" sz="1000"/>
                        <a:t>Total</a:t>
                      </a:r>
                      <a:endParaRPr sz="1000"/>
                    </a:p>
                  </a:txBody>
                  <a:tcPr marT="91425" marB="91425" marR="91425" marL="91425"/>
                </a:tc>
                <a:tc>
                  <a:txBody>
                    <a:bodyPr/>
                    <a:lstStyle/>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lang="en" sz="1000"/>
                        <a:t>12200</a:t>
                      </a:r>
                      <a:endParaRPr sz="1000"/>
                    </a:p>
                  </a:txBody>
                  <a:tcPr marT="91425" marB="91425" marR="91425" marL="91425"/>
                </a:tc>
              </a:tr>
            </a:tbl>
          </a:graphicData>
        </a:graphic>
      </p:graphicFrame>
      <p:sp>
        <p:nvSpPr>
          <p:cNvPr id="536" name="Google Shape;536;p31"/>
          <p:cNvSpPr/>
          <p:nvPr/>
        </p:nvSpPr>
        <p:spPr>
          <a:xfrm>
            <a:off x="6193825" y="1586475"/>
            <a:ext cx="1770000" cy="295800"/>
          </a:xfrm>
          <a:prstGeom prst="rect">
            <a:avLst/>
          </a:prstGeom>
          <a:noFill/>
          <a:ln cap="flat" cmpd="sng" w="28575">
            <a:solidFill>
              <a:srgbClr val="00FF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31"/>
          <p:cNvSpPr/>
          <p:nvPr/>
        </p:nvSpPr>
        <p:spPr>
          <a:xfrm>
            <a:off x="6193825" y="3658325"/>
            <a:ext cx="1770000" cy="295800"/>
          </a:xfrm>
          <a:prstGeom prst="rect">
            <a:avLst/>
          </a:prstGeom>
          <a:noFill/>
          <a:ln cap="flat" cmpd="sng" w="28575">
            <a:solidFill>
              <a:srgbClr val="00FF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Evaluation</a:t>
            </a:r>
            <a:endParaRPr/>
          </a:p>
        </p:txBody>
      </p:sp>
      <p:sp>
        <p:nvSpPr>
          <p:cNvPr id="544" name="Google Shape;54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550" name="Google Shape;55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We use the DPC4 1C full-BW config across all public traces</a:t>
            </a:r>
            <a:endParaRPr b="1">
              <a:solidFill>
                <a:schemeClr val="dk1"/>
              </a:solidFill>
            </a:endParaRPr>
          </a:p>
          <a:p>
            <a:pPr indent="0" lvl="0" marL="0" rtl="0" algn="l">
              <a:spcBef>
                <a:spcPts val="1200"/>
              </a:spcBef>
              <a:spcAft>
                <a:spcPts val="0"/>
              </a:spcAft>
              <a:buNone/>
            </a:pPr>
            <a:r>
              <a:rPr b="1" lang="en">
                <a:solidFill>
                  <a:schemeClr val="dk1"/>
                </a:solidFill>
              </a:rPr>
              <a:t>50M Warmup Cycles, 200M Test Cycles</a:t>
            </a:r>
            <a:endParaRPr b="1">
              <a:solidFill>
                <a:schemeClr val="dk1"/>
              </a:solidFill>
            </a:endParaRPr>
          </a:p>
          <a:p>
            <a:pPr indent="0" lvl="0" marL="0" rtl="0" algn="l">
              <a:spcBef>
                <a:spcPts val="1200"/>
              </a:spcBef>
              <a:spcAft>
                <a:spcPts val="1200"/>
              </a:spcAft>
              <a:buNone/>
            </a:pPr>
            <a:r>
              <a:rPr b="1" lang="en">
                <a:solidFill>
                  <a:schemeClr val="dk1"/>
                </a:solidFill>
              </a:rPr>
              <a:t>We compare to DPC3 Berti at the L1, with and without Pythia at the L2</a:t>
            </a:r>
            <a:endParaRPr b="1">
              <a:solidFill>
                <a:schemeClr val="dk1"/>
              </a:solidFill>
            </a:endParaRPr>
          </a:p>
        </p:txBody>
      </p:sp>
      <p:graphicFrame>
        <p:nvGraphicFramePr>
          <p:cNvPr id="551" name="Google Shape;551;p33"/>
          <p:cNvGraphicFramePr/>
          <p:nvPr/>
        </p:nvGraphicFramePr>
        <p:xfrm>
          <a:off x="507375" y="2502150"/>
          <a:ext cx="3000000" cy="3000000"/>
        </p:xfrm>
        <a:graphic>
          <a:graphicData uri="http://schemas.openxmlformats.org/drawingml/2006/table">
            <a:tbl>
              <a:tblPr>
                <a:noFill/>
                <a:tableStyleId>{D6CEBF9E-C40A-4499-BFC6-E9B8EEB65CE8}</a:tableStyleId>
              </a:tblPr>
              <a:tblGrid>
                <a:gridCol w="880050"/>
                <a:gridCol w="7085025"/>
              </a:tblGrid>
              <a:tr h="381000">
                <a:tc>
                  <a:txBody>
                    <a:bodyPr/>
                    <a:lstStyle/>
                    <a:p>
                      <a:pPr indent="0" lvl="0" marL="0" rtl="0" algn="l">
                        <a:spcBef>
                          <a:spcPts val="0"/>
                        </a:spcBef>
                        <a:spcAft>
                          <a:spcPts val="0"/>
                        </a:spcAft>
                        <a:buNone/>
                      </a:pPr>
                      <a:r>
                        <a:rPr lang="en"/>
                        <a:t>Core</a:t>
                      </a:r>
                      <a:endParaRPr/>
                    </a:p>
                  </a:txBody>
                  <a:tcPr marT="91425" marB="91425" marR="91425" marL="91425"/>
                </a:tc>
                <a:tc>
                  <a:txBody>
                    <a:bodyPr/>
                    <a:lstStyle/>
                    <a:p>
                      <a:pPr indent="0" lvl="0" marL="0" rtl="0" algn="l">
                        <a:spcBef>
                          <a:spcPts val="0"/>
                        </a:spcBef>
                        <a:spcAft>
                          <a:spcPts val="0"/>
                        </a:spcAft>
                        <a:buNone/>
                      </a:pPr>
                      <a:r>
                        <a:rPr lang="en"/>
                        <a:t>8-wide OoO, </a:t>
                      </a:r>
                      <a:r>
                        <a:rPr lang="en"/>
                        <a:t>576-entry ROB, 160 issue slots, 240-entry load queue, 112-entry store queue</a:t>
                      </a:r>
                      <a:endParaRPr/>
                    </a:p>
                  </a:txBody>
                  <a:tcPr marT="91425" marB="91425" marR="91425" marL="91425"/>
                </a:tc>
              </a:tr>
              <a:tr h="381000">
                <a:tc>
                  <a:txBody>
                    <a:bodyPr/>
                    <a:lstStyle/>
                    <a:p>
                      <a:pPr indent="0" lvl="0" marL="0" rtl="0" algn="l">
                        <a:spcBef>
                          <a:spcPts val="0"/>
                        </a:spcBef>
                        <a:spcAft>
                          <a:spcPts val="0"/>
                        </a:spcAft>
                        <a:buNone/>
                      </a:pPr>
                      <a:r>
                        <a:rPr lang="en"/>
                        <a:t>L1D</a:t>
                      </a:r>
                      <a:endParaRPr/>
                    </a:p>
                  </a:txBody>
                  <a:tcPr marT="91425" marB="91425" marR="91425" marL="91425"/>
                </a:tc>
                <a:tc>
                  <a:txBody>
                    <a:bodyPr/>
                    <a:lstStyle/>
                    <a:p>
                      <a:pPr indent="0" lvl="0" marL="0" rtl="0" algn="l">
                        <a:spcBef>
                          <a:spcPts val="0"/>
                        </a:spcBef>
                        <a:spcAft>
                          <a:spcPts val="0"/>
                        </a:spcAft>
                        <a:buNone/>
                      </a:pPr>
                      <a:r>
                        <a:rPr lang="en"/>
                        <a:t>48KB, 12-way, 16 MSHRs, 5-cycle latency, DPC3Berti/Berti/GBerti/</a:t>
                      </a:r>
                      <a:endParaRPr/>
                    </a:p>
                  </a:txBody>
                  <a:tcPr marT="91425" marB="91425" marR="91425" marL="91425"/>
                </a:tc>
              </a:tr>
              <a:tr h="381000">
                <a:tc>
                  <a:txBody>
                    <a:bodyPr/>
                    <a:lstStyle/>
                    <a:p>
                      <a:pPr indent="0" lvl="0" marL="0" rtl="0" algn="l">
                        <a:spcBef>
                          <a:spcPts val="0"/>
                        </a:spcBef>
                        <a:spcAft>
                          <a:spcPts val="0"/>
                        </a:spcAft>
                        <a:buNone/>
                      </a:pPr>
                      <a:r>
                        <a:rPr lang="en"/>
                        <a:t>L2</a:t>
                      </a:r>
                      <a:endParaRPr/>
                    </a:p>
                  </a:txBody>
                  <a:tcPr marT="91425" marB="91425" marR="91425" marL="91425"/>
                </a:tc>
                <a:tc>
                  <a:txBody>
                    <a:bodyPr/>
                    <a:lstStyle/>
                    <a:p>
                      <a:pPr indent="0" lvl="0" marL="0" rtl="0" algn="l">
                        <a:spcBef>
                          <a:spcPts val="0"/>
                        </a:spcBef>
                        <a:spcAft>
                          <a:spcPts val="0"/>
                        </a:spcAft>
                        <a:buNone/>
                      </a:pPr>
                      <a:r>
                        <a:rPr lang="en"/>
                        <a:t>2MB, 16-way, 32 MSHRs, 10-cycle latency, Pythia/No prefetcher</a:t>
                      </a:r>
                      <a:endParaRPr/>
                    </a:p>
                  </a:txBody>
                  <a:tcPr marT="91425" marB="91425" marR="91425" marL="91425"/>
                </a:tc>
              </a:tr>
              <a:tr h="381000">
                <a:tc>
                  <a:txBody>
                    <a:bodyPr/>
                    <a:lstStyle/>
                    <a:p>
                      <a:pPr indent="0" lvl="0" marL="0" rtl="0" algn="l">
                        <a:spcBef>
                          <a:spcPts val="0"/>
                        </a:spcBef>
                        <a:spcAft>
                          <a:spcPts val="0"/>
                        </a:spcAft>
                        <a:buNone/>
                      </a:pPr>
                      <a:r>
                        <a:rPr lang="en"/>
                        <a:t>LLC</a:t>
                      </a:r>
                      <a:endParaRPr/>
                    </a:p>
                  </a:txBody>
                  <a:tcPr marT="91425" marB="91425" marR="91425" marL="91425"/>
                </a:tc>
                <a:tc>
                  <a:txBody>
                    <a:bodyPr/>
                    <a:lstStyle/>
                    <a:p>
                      <a:pPr indent="0" lvl="0" marL="0" rtl="0" algn="l">
                        <a:spcBef>
                          <a:spcPts val="0"/>
                        </a:spcBef>
                        <a:spcAft>
                          <a:spcPts val="0"/>
                        </a:spcAft>
                        <a:buNone/>
                      </a:pPr>
                      <a:r>
                        <a:rPr lang="en"/>
                        <a:t>3MB, 12-way, 64 MSHRs, 35-cycle latency, No prefetcher</a:t>
                      </a:r>
                      <a:endParaRPr/>
                    </a:p>
                  </a:txBody>
                  <a:tcPr marT="91425" marB="91425" marR="91425" marL="91425"/>
                </a:tc>
              </a:tr>
              <a:tr h="381000">
                <a:tc>
                  <a:txBody>
                    <a:bodyPr/>
                    <a:lstStyle/>
                    <a:p>
                      <a:pPr indent="0" lvl="0" marL="0" rtl="0" algn="l">
                        <a:spcBef>
                          <a:spcPts val="0"/>
                        </a:spcBef>
                        <a:spcAft>
                          <a:spcPts val="0"/>
                        </a:spcAft>
                        <a:buNone/>
                      </a:pPr>
                      <a:r>
                        <a:rPr lang="en"/>
                        <a:t>Mem</a:t>
                      </a:r>
                      <a:endParaRPr/>
                    </a:p>
                  </a:txBody>
                  <a:tcPr marT="91425" marB="91425" marR="91425" marL="91425"/>
                </a:tc>
                <a:tc>
                  <a:txBody>
                    <a:bodyPr/>
                    <a:lstStyle/>
                    <a:p>
                      <a:pPr indent="0" lvl="0" marL="0" rtl="0" algn="l">
                        <a:spcBef>
                          <a:spcPts val="0"/>
                        </a:spcBef>
                        <a:spcAft>
                          <a:spcPts val="0"/>
                        </a:spcAft>
                        <a:buNone/>
                      </a:pPr>
                      <a:r>
                        <a:rPr lang="en"/>
                        <a:t>1 channel, 4800 MTPS</a:t>
                      </a:r>
                      <a:endParaRPr/>
                    </a:p>
                  </a:txBody>
                  <a:tcPr marT="91425" marB="91425" marR="91425" marL="91425"/>
                </a:tc>
              </a:tr>
            </a:tbl>
          </a:graphicData>
        </a:graphic>
      </p:graphicFrame>
      <p:sp>
        <p:nvSpPr>
          <p:cNvPr id="552" name="Google Shape;552;p33"/>
          <p:cNvSpPr/>
          <p:nvPr/>
        </p:nvSpPr>
        <p:spPr>
          <a:xfrm>
            <a:off x="7594475" y="200668"/>
            <a:ext cx="424200" cy="213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L1</a:t>
            </a:r>
            <a:endParaRPr/>
          </a:p>
        </p:txBody>
      </p:sp>
      <p:sp>
        <p:nvSpPr>
          <p:cNvPr id="553" name="Google Shape;553;p33"/>
          <p:cNvSpPr/>
          <p:nvPr/>
        </p:nvSpPr>
        <p:spPr>
          <a:xfrm>
            <a:off x="7444475" y="443737"/>
            <a:ext cx="724200" cy="21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L2</a:t>
            </a:r>
            <a:endParaRPr/>
          </a:p>
        </p:txBody>
      </p:sp>
      <p:sp>
        <p:nvSpPr>
          <p:cNvPr id="554" name="Google Shape;554;p33"/>
          <p:cNvSpPr/>
          <p:nvPr/>
        </p:nvSpPr>
        <p:spPr>
          <a:xfrm>
            <a:off x="7272425" y="686806"/>
            <a:ext cx="1068300" cy="15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LLC</a:t>
            </a:r>
            <a:endParaRPr/>
          </a:p>
        </p:txBody>
      </p:sp>
      <p:sp>
        <p:nvSpPr>
          <p:cNvPr id="555" name="Google Shape;555;p33"/>
          <p:cNvSpPr/>
          <p:nvPr/>
        </p:nvSpPr>
        <p:spPr>
          <a:xfrm>
            <a:off x="6873875" y="871675"/>
            <a:ext cx="1865400" cy="15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DRAM</a:t>
            </a:r>
            <a:endParaRPr/>
          </a:p>
        </p:txBody>
      </p:sp>
      <p:sp>
        <p:nvSpPr>
          <p:cNvPr id="556" name="Google Shape;55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outperms DPC3 Berti</a:t>
            </a:r>
            <a:endParaRPr/>
          </a:p>
        </p:txBody>
      </p:sp>
      <p:sp>
        <p:nvSpPr>
          <p:cNvPr id="562" name="Google Shape;56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63" name="Google Shape;5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64" name="Google Shape;564;p34" title="all_berti_gberti-to-Global Berti.png"/>
          <p:cNvPicPr preferRelativeResize="0"/>
          <p:nvPr/>
        </p:nvPicPr>
        <p:blipFill>
          <a:blip r:embed="rId3">
            <a:alphaModFix/>
          </a:blip>
          <a:stretch>
            <a:fillRect/>
          </a:stretch>
        </p:blipFill>
        <p:spPr>
          <a:xfrm>
            <a:off x="0" y="914400"/>
            <a:ext cx="9144003" cy="4116587"/>
          </a:xfrm>
          <a:prstGeom prst="rect">
            <a:avLst/>
          </a:prstGeom>
          <a:noFill/>
          <a:ln>
            <a:noFill/>
          </a:ln>
        </p:spPr>
      </p:pic>
      <p:cxnSp>
        <p:nvCxnSpPr>
          <p:cNvPr id="565" name="Google Shape;565;p34"/>
          <p:cNvCxnSpPr/>
          <p:nvPr/>
        </p:nvCxnSpPr>
        <p:spPr>
          <a:xfrm rot="10800000">
            <a:off x="1250814" y="980600"/>
            <a:ext cx="9000" cy="1913700"/>
          </a:xfrm>
          <a:prstGeom prst="straightConnector1">
            <a:avLst/>
          </a:prstGeom>
          <a:noFill/>
          <a:ln cap="flat" cmpd="sng" w="38100">
            <a:solidFill>
              <a:srgbClr val="38761D"/>
            </a:solidFill>
            <a:prstDash val="solid"/>
            <a:round/>
            <a:headEnd len="med" w="med" type="none"/>
            <a:tailEnd len="med" w="med" type="triangle"/>
          </a:ln>
        </p:spPr>
      </p:cxnSp>
      <p:sp>
        <p:nvSpPr>
          <p:cNvPr id="566" name="Google Shape;566;p34"/>
          <p:cNvSpPr txBox="1"/>
          <p:nvPr/>
        </p:nvSpPr>
        <p:spPr>
          <a:xfrm>
            <a:off x="1330358" y="980575"/>
            <a:ext cx="595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1.89X</a:t>
            </a:r>
            <a:endParaRPr sz="1800">
              <a:solidFill>
                <a:srgbClr val="38761D"/>
              </a:solidFill>
            </a:endParaRPr>
          </a:p>
        </p:txBody>
      </p:sp>
      <p:sp>
        <p:nvSpPr>
          <p:cNvPr id="567" name="Google Shape;567;p34"/>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 outperforms Berti by gmean 8%, ranging from -8% to 89%</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Pythia at the L2</a:t>
            </a:r>
            <a:endParaRPr/>
          </a:p>
        </p:txBody>
      </p:sp>
      <p:sp>
        <p:nvSpPr>
          <p:cNvPr id="573" name="Google Shape;573;p35"/>
          <p:cNvSpPr/>
          <p:nvPr/>
        </p:nvSpPr>
        <p:spPr>
          <a:xfrm>
            <a:off x="3602450" y="1645925"/>
            <a:ext cx="1424400" cy="136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t>RL Agent</a:t>
            </a:r>
            <a:endParaRPr sz="2300"/>
          </a:p>
        </p:txBody>
      </p:sp>
      <p:sp>
        <p:nvSpPr>
          <p:cNvPr id="574" name="Google Shape;574;p35"/>
          <p:cNvSpPr/>
          <p:nvPr/>
        </p:nvSpPr>
        <p:spPr>
          <a:xfrm>
            <a:off x="1248300" y="1131575"/>
            <a:ext cx="1068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IP</a:t>
            </a:r>
            <a:endParaRPr/>
          </a:p>
        </p:txBody>
      </p:sp>
      <p:sp>
        <p:nvSpPr>
          <p:cNvPr id="575" name="Google Shape;575;p35"/>
          <p:cNvSpPr/>
          <p:nvPr/>
        </p:nvSpPr>
        <p:spPr>
          <a:xfrm>
            <a:off x="991125" y="2118750"/>
            <a:ext cx="13155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Last 4 Deltas</a:t>
            </a:r>
            <a:endParaRPr/>
          </a:p>
        </p:txBody>
      </p:sp>
      <p:sp>
        <p:nvSpPr>
          <p:cNvPr id="576" name="Google Shape;576;p35"/>
          <p:cNvSpPr/>
          <p:nvPr/>
        </p:nvSpPr>
        <p:spPr>
          <a:xfrm>
            <a:off x="1248300" y="3105925"/>
            <a:ext cx="13155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BW utilization</a:t>
            </a:r>
            <a:endParaRPr/>
          </a:p>
        </p:txBody>
      </p:sp>
      <p:cxnSp>
        <p:nvCxnSpPr>
          <p:cNvPr id="577" name="Google Shape;577;p35"/>
          <p:cNvCxnSpPr>
            <a:stCxn id="574" idx="3"/>
            <a:endCxn id="573" idx="1"/>
          </p:cNvCxnSpPr>
          <p:nvPr/>
        </p:nvCxnSpPr>
        <p:spPr>
          <a:xfrm>
            <a:off x="2316600" y="1388825"/>
            <a:ext cx="1494300" cy="456900"/>
          </a:xfrm>
          <a:prstGeom prst="straightConnector1">
            <a:avLst/>
          </a:prstGeom>
          <a:noFill/>
          <a:ln cap="flat" cmpd="sng" w="38100">
            <a:solidFill>
              <a:schemeClr val="dk1"/>
            </a:solidFill>
            <a:prstDash val="solid"/>
            <a:round/>
            <a:headEnd len="med" w="med" type="none"/>
            <a:tailEnd len="med" w="med" type="triangle"/>
          </a:ln>
        </p:spPr>
      </p:cxnSp>
      <p:cxnSp>
        <p:nvCxnSpPr>
          <p:cNvPr id="578" name="Google Shape;578;p35"/>
          <p:cNvCxnSpPr>
            <a:stCxn id="575" idx="3"/>
            <a:endCxn id="573" idx="2"/>
          </p:cNvCxnSpPr>
          <p:nvPr/>
        </p:nvCxnSpPr>
        <p:spPr>
          <a:xfrm flipH="1" rot="10800000">
            <a:off x="2306625" y="2328300"/>
            <a:ext cx="1295700" cy="47700"/>
          </a:xfrm>
          <a:prstGeom prst="straightConnector1">
            <a:avLst/>
          </a:prstGeom>
          <a:noFill/>
          <a:ln cap="flat" cmpd="sng" w="38100">
            <a:solidFill>
              <a:schemeClr val="dk1"/>
            </a:solidFill>
            <a:prstDash val="solid"/>
            <a:round/>
            <a:headEnd len="med" w="med" type="none"/>
            <a:tailEnd len="med" w="med" type="triangle"/>
          </a:ln>
        </p:spPr>
      </p:cxnSp>
      <p:cxnSp>
        <p:nvCxnSpPr>
          <p:cNvPr id="579" name="Google Shape;579;p35"/>
          <p:cNvCxnSpPr>
            <a:stCxn id="576" idx="3"/>
            <a:endCxn id="573" idx="3"/>
          </p:cNvCxnSpPr>
          <p:nvPr/>
        </p:nvCxnSpPr>
        <p:spPr>
          <a:xfrm flipH="1" rot="10800000">
            <a:off x="2563800" y="2811175"/>
            <a:ext cx="1247100" cy="552000"/>
          </a:xfrm>
          <a:prstGeom prst="straightConnector1">
            <a:avLst/>
          </a:prstGeom>
          <a:noFill/>
          <a:ln cap="flat" cmpd="sng" w="38100">
            <a:solidFill>
              <a:schemeClr val="dk1"/>
            </a:solidFill>
            <a:prstDash val="solid"/>
            <a:round/>
            <a:headEnd len="med" w="med" type="none"/>
            <a:tailEnd len="med" w="med" type="triangle"/>
          </a:ln>
        </p:spPr>
      </p:cxnSp>
      <p:sp>
        <p:nvSpPr>
          <p:cNvPr id="580" name="Google Shape;580;p35"/>
          <p:cNvSpPr/>
          <p:nvPr/>
        </p:nvSpPr>
        <p:spPr>
          <a:xfrm>
            <a:off x="6124850" y="2025750"/>
            <a:ext cx="1681500" cy="65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Prefetch Delta</a:t>
            </a:r>
            <a:endParaRPr/>
          </a:p>
        </p:txBody>
      </p:sp>
      <p:cxnSp>
        <p:nvCxnSpPr>
          <p:cNvPr id="581" name="Google Shape;581;p35"/>
          <p:cNvCxnSpPr>
            <a:stCxn id="573" idx="6"/>
            <a:endCxn id="580" idx="1"/>
          </p:cNvCxnSpPr>
          <p:nvPr/>
        </p:nvCxnSpPr>
        <p:spPr>
          <a:xfrm>
            <a:off x="5026850" y="2328425"/>
            <a:ext cx="1098000" cy="23700"/>
          </a:xfrm>
          <a:prstGeom prst="straightConnector1">
            <a:avLst/>
          </a:prstGeom>
          <a:noFill/>
          <a:ln cap="flat" cmpd="sng" w="38100">
            <a:solidFill>
              <a:schemeClr val="dk1"/>
            </a:solidFill>
            <a:prstDash val="solid"/>
            <a:round/>
            <a:headEnd len="med" w="med" type="none"/>
            <a:tailEnd len="med" w="med" type="triangle"/>
          </a:ln>
        </p:spPr>
      </p:cxnSp>
      <p:sp>
        <p:nvSpPr>
          <p:cNvPr id="582" name="Google Shape;582;p35"/>
          <p:cNvSpPr/>
          <p:nvPr/>
        </p:nvSpPr>
        <p:spPr>
          <a:xfrm>
            <a:off x="6032900" y="3105925"/>
            <a:ext cx="18654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Prefetch Useful?</a:t>
            </a:r>
            <a:endParaRPr/>
          </a:p>
        </p:txBody>
      </p:sp>
      <p:cxnSp>
        <p:nvCxnSpPr>
          <p:cNvPr id="583" name="Google Shape;583;p35"/>
          <p:cNvCxnSpPr>
            <a:stCxn id="582" idx="1"/>
            <a:endCxn id="573" idx="5"/>
          </p:cNvCxnSpPr>
          <p:nvPr/>
        </p:nvCxnSpPr>
        <p:spPr>
          <a:xfrm rot="10800000">
            <a:off x="4818200" y="2811175"/>
            <a:ext cx="1214700" cy="552000"/>
          </a:xfrm>
          <a:prstGeom prst="straightConnector1">
            <a:avLst/>
          </a:prstGeom>
          <a:noFill/>
          <a:ln cap="flat" cmpd="sng" w="38100">
            <a:solidFill>
              <a:schemeClr val="dk1"/>
            </a:solidFill>
            <a:prstDash val="solid"/>
            <a:round/>
            <a:headEnd len="med" w="med" type="none"/>
            <a:tailEnd len="med" w="med" type="triangle"/>
          </a:ln>
        </p:spPr>
      </p:cxnSp>
      <p:sp>
        <p:nvSpPr>
          <p:cNvPr id="584" name="Google Shape;584;p35"/>
          <p:cNvSpPr txBox="1"/>
          <p:nvPr/>
        </p:nvSpPr>
        <p:spPr>
          <a:xfrm>
            <a:off x="496550" y="3966450"/>
            <a:ext cx="569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585" name="Google Shape;585;p35"/>
          <p:cNvSpPr/>
          <p:nvPr/>
        </p:nvSpPr>
        <p:spPr>
          <a:xfrm>
            <a:off x="150" y="4156175"/>
            <a:ext cx="9144000" cy="507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Pythia can only prefetch within a page, and produces &lt;= 1 prefetch/access</a:t>
            </a:r>
            <a:endParaRPr>
              <a:solidFill>
                <a:schemeClr val="lt1"/>
              </a:solidFill>
            </a:endParaRPr>
          </a:p>
        </p:txBody>
      </p:sp>
      <p:sp>
        <p:nvSpPr>
          <p:cNvPr id="586" name="Google Shape;586;p35"/>
          <p:cNvSpPr/>
          <p:nvPr/>
        </p:nvSpPr>
        <p:spPr>
          <a:xfrm>
            <a:off x="7594475" y="200668"/>
            <a:ext cx="424200" cy="21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L1</a:t>
            </a:r>
            <a:endParaRPr/>
          </a:p>
        </p:txBody>
      </p:sp>
      <p:sp>
        <p:nvSpPr>
          <p:cNvPr id="587" name="Google Shape;587;p35"/>
          <p:cNvSpPr/>
          <p:nvPr/>
        </p:nvSpPr>
        <p:spPr>
          <a:xfrm>
            <a:off x="7444475" y="443737"/>
            <a:ext cx="724200" cy="213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L2</a:t>
            </a:r>
            <a:endParaRPr/>
          </a:p>
        </p:txBody>
      </p:sp>
      <p:sp>
        <p:nvSpPr>
          <p:cNvPr id="588" name="Google Shape;588;p35"/>
          <p:cNvSpPr/>
          <p:nvPr/>
        </p:nvSpPr>
        <p:spPr>
          <a:xfrm>
            <a:off x="7272425" y="686806"/>
            <a:ext cx="1068300" cy="15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LLC</a:t>
            </a:r>
            <a:endParaRPr/>
          </a:p>
        </p:txBody>
      </p:sp>
      <p:sp>
        <p:nvSpPr>
          <p:cNvPr id="589" name="Google Shape;589;p35"/>
          <p:cNvSpPr/>
          <p:nvPr/>
        </p:nvSpPr>
        <p:spPr>
          <a:xfrm>
            <a:off x="6873875" y="871675"/>
            <a:ext cx="1865400" cy="15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DRAM</a:t>
            </a:r>
            <a:endParaRPr/>
          </a:p>
        </p:txBody>
      </p:sp>
      <p:sp>
        <p:nvSpPr>
          <p:cNvPr id="590" name="Google Shape;59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36" title="all_berti_gberti_pythia-to-Global Berti + Pythia.png"/>
          <p:cNvPicPr preferRelativeResize="0"/>
          <p:nvPr/>
        </p:nvPicPr>
        <p:blipFill>
          <a:blip r:embed="rId3">
            <a:alphaModFix/>
          </a:blip>
          <a:stretch>
            <a:fillRect/>
          </a:stretch>
        </p:blipFill>
        <p:spPr>
          <a:xfrm>
            <a:off x="0" y="914400"/>
            <a:ext cx="9144003" cy="4116587"/>
          </a:xfrm>
          <a:prstGeom prst="rect">
            <a:avLst/>
          </a:prstGeom>
          <a:noFill/>
          <a:ln>
            <a:noFill/>
          </a:ln>
        </p:spPr>
      </p:pic>
      <p:sp>
        <p:nvSpPr>
          <p:cNvPr id="596" name="Google Shape;59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sometimes outperforms Berti+Pythia</a:t>
            </a:r>
            <a:endParaRPr/>
          </a:p>
        </p:txBody>
      </p:sp>
      <p:sp>
        <p:nvSpPr>
          <p:cNvPr id="597" name="Google Shape;59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98" name="Google Shape;59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36"/>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With L2 Pythia, Global Berti outperforms Berti by gmean 6%, (-6%-49%)</a:t>
            </a:r>
            <a:endParaRPr>
              <a:solidFill>
                <a:schemeClr val="lt1"/>
              </a:solidFill>
            </a:endParaRPr>
          </a:p>
        </p:txBody>
      </p:sp>
      <p:sp>
        <p:nvSpPr>
          <p:cNvPr id="600" name="Google Shape;600;p36"/>
          <p:cNvSpPr/>
          <p:nvPr/>
        </p:nvSpPr>
        <p:spPr>
          <a:xfrm>
            <a:off x="2255775" y="2369875"/>
            <a:ext cx="1632600" cy="1746600"/>
          </a:xfrm>
          <a:prstGeom prst="rect">
            <a:avLst/>
          </a:prstGeom>
          <a:noFill/>
          <a:ln cap="flat" cmpd="sng" w="285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36"/>
          <p:cNvSpPr/>
          <p:nvPr/>
        </p:nvSpPr>
        <p:spPr>
          <a:xfrm>
            <a:off x="4102200" y="2162425"/>
            <a:ext cx="1632600" cy="1954200"/>
          </a:xfrm>
          <a:prstGeom prst="rect">
            <a:avLst/>
          </a:prstGeom>
          <a:noFill/>
          <a:ln cap="flat" cmpd="sng" w="285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0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60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607" name="Google Shape;60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By reading the last column from the per-IP history table, we enabled the Berti streaming prefetcher to also prefetch spatial patterns, for almost 0 additional cost.</a:t>
            </a:r>
            <a:endParaRPr>
              <a:solidFill>
                <a:schemeClr val="dk1"/>
              </a:solidFill>
            </a:endParaRPr>
          </a:p>
          <a:p>
            <a:pPr indent="0" lvl="0" marL="0" rtl="0" algn="l">
              <a:spcBef>
                <a:spcPts val="1200"/>
              </a:spcBef>
              <a:spcAft>
                <a:spcPts val="0"/>
              </a:spcAft>
              <a:buNone/>
            </a:pPr>
            <a:r>
              <a:rPr lang="en">
                <a:solidFill>
                  <a:schemeClr val="dk1"/>
                </a:solidFill>
              </a:rPr>
              <a:t>We expect that this approach will also work for other prefetchers that use per-IP history structures, meaning that prefetchers no longer need to choose between local or global histories.</a:t>
            </a:r>
            <a:endParaRPr>
              <a:solidFill>
                <a:schemeClr val="dk1"/>
              </a:solidFill>
            </a:endParaRPr>
          </a:p>
          <a:p>
            <a:pPr indent="0" lvl="0" marL="0" rtl="0" algn="l">
              <a:spcBef>
                <a:spcPts val="1200"/>
              </a:spcBef>
              <a:spcAft>
                <a:spcPts val="0"/>
              </a:spcAft>
              <a:buNone/>
            </a:pPr>
            <a:r>
              <a:rPr lang="en">
                <a:solidFill>
                  <a:schemeClr val="dk1"/>
                </a:solidFill>
              </a:rPr>
              <a:t>We can have both, at once, for free.</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608" name="Google Shape;608;p37"/>
          <p:cNvSpPr txBox="1"/>
          <p:nvPr>
            <p:ph idx="4294967295" type="subTitle"/>
          </p:nvPr>
        </p:nvSpPr>
        <p:spPr>
          <a:xfrm>
            <a:off x="2195225" y="34137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chemeClr val="dk1"/>
                </a:solidFill>
              </a:rPr>
              <a:t>Gilead Posluns 			</a:t>
            </a:r>
            <a:r>
              <a:rPr lang="en">
                <a:solidFill>
                  <a:schemeClr val="dk1"/>
                </a:solidFill>
              </a:rPr>
              <a:t>Mark C Jeffrey</a:t>
            </a:r>
            <a:endParaRPr>
              <a:solidFill>
                <a:schemeClr val="dk1"/>
              </a:solidFill>
            </a:endParaRPr>
          </a:p>
        </p:txBody>
      </p:sp>
      <p:pic>
        <p:nvPicPr>
          <p:cNvPr id="609" name="Google Shape;609;p37"/>
          <p:cNvPicPr preferRelativeResize="0"/>
          <p:nvPr/>
        </p:nvPicPr>
        <p:blipFill>
          <a:blip r:embed="rId3">
            <a:alphaModFix/>
          </a:blip>
          <a:stretch>
            <a:fillRect/>
          </a:stretch>
        </p:blipFill>
        <p:spPr>
          <a:xfrm>
            <a:off x="3725163" y="3869425"/>
            <a:ext cx="1585025" cy="1187400"/>
          </a:xfrm>
          <a:prstGeom prst="rect">
            <a:avLst/>
          </a:prstGeom>
          <a:noFill/>
          <a:ln>
            <a:noFill/>
          </a:ln>
        </p:spPr>
      </p:pic>
      <p:sp>
        <p:nvSpPr>
          <p:cNvPr id="610" name="Google Shape;610;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Streaming vs Spatial Prefetching</a:t>
            </a:r>
            <a:endParaRPr/>
          </a:p>
        </p:txBody>
      </p:sp>
      <p:sp>
        <p:nvSpPr>
          <p:cNvPr id="616" name="Google Shape;61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Streaming Prefetching:  If instruction A </a:t>
            </a:r>
            <a:r>
              <a:rPr lang="en">
                <a:solidFill>
                  <a:schemeClr val="dk1"/>
                </a:solidFill>
              </a:rPr>
              <a:t>accesses </a:t>
            </a:r>
            <a:r>
              <a:rPr lang="en">
                <a:solidFill>
                  <a:schemeClr val="dk1"/>
                </a:solidFill>
              </a:rPr>
              <a:t>address B, then </a:t>
            </a:r>
            <a:r>
              <a:rPr i="1" lang="en">
                <a:solidFill>
                  <a:schemeClr val="dk1"/>
                </a:solidFill>
              </a:rPr>
              <a:t>A will access</a:t>
            </a:r>
            <a:r>
              <a:rPr lang="en">
                <a:solidFill>
                  <a:schemeClr val="dk1"/>
                </a:solidFill>
              </a:rPr>
              <a:t> B+Δ in the near future</a:t>
            </a:r>
            <a:endParaRPr>
              <a:solidFill>
                <a:schemeClr val="dk1"/>
              </a:solidFill>
            </a:endParaRPr>
          </a:p>
          <a:p>
            <a:pPr indent="0" lvl="0" marL="0" rtl="0" algn="l">
              <a:spcBef>
                <a:spcPts val="1200"/>
              </a:spcBef>
              <a:spcAft>
                <a:spcPts val="0"/>
              </a:spcAft>
              <a:buNone/>
            </a:pPr>
            <a:r>
              <a:rPr lang="en">
                <a:solidFill>
                  <a:schemeClr val="dk1"/>
                </a:solidFill>
              </a:rPr>
              <a:t>Spatial Prefetching: If instruction A accesses address B, then B+Δ </a:t>
            </a:r>
            <a:r>
              <a:rPr i="1" lang="en">
                <a:solidFill>
                  <a:schemeClr val="dk1"/>
                </a:solidFill>
              </a:rPr>
              <a:t>will be accessed</a:t>
            </a:r>
            <a:r>
              <a:rPr lang="en">
                <a:solidFill>
                  <a:schemeClr val="dk1"/>
                </a:solidFill>
              </a:rPr>
              <a:t> in the near future (by some instruction)</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617" name="Google Shape;61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DPC3 Berti does some spatial prefetching</a:t>
            </a:r>
            <a:endParaRPr/>
          </a:p>
        </p:txBody>
      </p:sp>
      <p:grpSp>
        <p:nvGrpSpPr>
          <p:cNvPr id="623" name="Google Shape;623;p39"/>
          <p:cNvGrpSpPr/>
          <p:nvPr/>
        </p:nvGrpSpPr>
        <p:grpSpPr>
          <a:xfrm>
            <a:off x="4351630" y="1935688"/>
            <a:ext cx="1530537" cy="1465785"/>
            <a:chOff x="3662880" y="1368975"/>
            <a:chExt cx="1530537" cy="1465785"/>
          </a:xfrm>
        </p:grpSpPr>
        <p:grpSp>
          <p:nvGrpSpPr>
            <p:cNvPr id="624" name="Google Shape;624;p39"/>
            <p:cNvGrpSpPr/>
            <p:nvPr/>
          </p:nvGrpSpPr>
          <p:grpSpPr>
            <a:xfrm>
              <a:off x="3662880" y="1368975"/>
              <a:ext cx="1530537" cy="183000"/>
              <a:chOff x="182880" y="1359075"/>
              <a:chExt cx="1530537" cy="183000"/>
            </a:xfrm>
          </p:grpSpPr>
          <p:sp>
            <p:nvSpPr>
              <p:cNvPr id="625" name="Google Shape;625;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39"/>
              <p:cNvSpPr/>
              <p:nvPr/>
            </p:nvSpPr>
            <p:spPr>
              <a:xfrm>
                <a:off x="375385"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39"/>
              <p:cNvSpPr/>
              <p:nvPr/>
            </p:nvSpPr>
            <p:spPr>
              <a:xfrm>
                <a:off x="56789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39"/>
              <p:cNvSpPr/>
              <p:nvPr/>
            </p:nvSpPr>
            <p:spPr>
              <a:xfrm>
                <a:off x="76039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39"/>
              <p:cNvSpPr/>
              <p:nvPr/>
            </p:nvSpPr>
            <p:spPr>
              <a:xfrm>
                <a:off x="95290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1" name="Google Shape;631;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33" name="Google Shape;633;p39"/>
            <p:cNvGrpSpPr/>
            <p:nvPr/>
          </p:nvGrpSpPr>
          <p:grpSpPr>
            <a:xfrm>
              <a:off x="3662880" y="1552230"/>
              <a:ext cx="1530537" cy="183000"/>
              <a:chOff x="182880" y="1359075"/>
              <a:chExt cx="1530537" cy="183000"/>
            </a:xfrm>
          </p:grpSpPr>
          <p:sp>
            <p:nvSpPr>
              <p:cNvPr id="634" name="Google Shape;634;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39"/>
              <p:cNvSpPr/>
              <p:nvPr/>
            </p:nvSpPr>
            <p:spPr>
              <a:xfrm>
                <a:off x="375385"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39"/>
              <p:cNvSpPr/>
              <p:nvPr/>
            </p:nvSpPr>
            <p:spPr>
              <a:xfrm>
                <a:off x="56789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39"/>
              <p:cNvSpPr/>
              <p:nvPr/>
            </p:nvSpPr>
            <p:spPr>
              <a:xfrm>
                <a:off x="76039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39"/>
              <p:cNvSpPr/>
              <p:nvPr/>
            </p:nvSpPr>
            <p:spPr>
              <a:xfrm>
                <a:off x="952901"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42" name="Google Shape;642;p39"/>
            <p:cNvGrpSpPr/>
            <p:nvPr/>
          </p:nvGrpSpPr>
          <p:grpSpPr>
            <a:xfrm>
              <a:off x="3662880" y="1735485"/>
              <a:ext cx="1530537" cy="183000"/>
              <a:chOff x="182880" y="1359075"/>
              <a:chExt cx="1530537" cy="183000"/>
            </a:xfrm>
          </p:grpSpPr>
          <p:sp>
            <p:nvSpPr>
              <p:cNvPr id="643" name="Google Shape;643;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39"/>
              <p:cNvSpPr/>
              <p:nvPr/>
            </p:nvSpPr>
            <p:spPr>
              <a:xfrm>
                <a:off x="375385"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39"/>
              <p:cNvSpPr/>
              <p:nvPr/>
            </p:nvSpPr>
            <p:spPr>
              <a:xfrm>
                <a:off x="56789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39"/>
              <p:cNvSpPr/>
              <p:nvPr/>
            </p:nvSpPr>
            <p:spPr>
              <a:xfrm>
                <a:off x="76039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39"/>
              <p:cNvSpPr/>
              <p:nvPr/>
            </p:nvSpPr>
            <p:spPr>
              <a:xfrm>
                <a:off x="95290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0" name="Google Shape;650;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51" name="Google Shape;651;p39"/>
            <p:cNvGrpSpPr/>
            <p:nvPr/>
          </p:nvGrpSpPr>
          <p:grpSpPr>
            <a:xfrm>
              <a:off x="3662880" y="1918740"/>
              <a:ext cx="1530537" cy="183000"/>
              <a:chOff x="182880" y="1359075"/>
              <a:chExt cx="1530537" cy="183000"/>
            </a:xfrm>
          </p:grpSpPr>
          <p:sp>
            <p:nvSpPr>
              <p:cNvPr id="652" name="Google Shape;652;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39"/>
              <p:cNvSpPr/>
              <p:nvPr/>
            </p:nvSpPr>
            <p:spPr>
              <a:xfrm>
                <a:off x="375385"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39"/>
              <p:cNvSpPr/>
              <p:nvPr/>
            </p:nvSpPr>
            <p:spPr>
              <a:xfrm>
                <a:off x="567891"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39"/>
              <p:cNvSpPr/>
              <p:nvPr/>
            </p:nvSpPr>
            <p:spPr>
              <a:xfrm>
                <a:off x="760396"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39"/>
              <p:cNvSpPr/>
              <p:nvPr/>
            </p:nvSpPr>
            <p:spPr>
              <a:xfrm>
                <a:off x="95290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8" name="Google Shape;658;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60" name="Google Shape;660;p39"/>
            <p:cNvGrpSpPr/>
            <p:nvPr/>
          </p:nvGrpSpPr>
          <p:grpSpPr>
            <a:xfrm>
              <a:off x="3662880" y="2101995"/>
              <a:ext cx="1530537" cy="183000"/>
              <a:chOff x="182880" y="1359075"/>
              <a:chExt cx="1530537" cy="183000"/>
            </a:xfrm>
          </p:grpSpPr>
          <p:sp>
            <p:nvSpPr>
              <p:cNvPr id="661" name="Google Shape;661;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39"/>
              <p:cNvSpPr/>
              <p:nvPr/>
            </p:nvSpPr>
            <p:spPr>
              <a:xfrm>
                <a:off x="375385"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39"/>
              <p:cNvSpPr/>
              <p:nvPr/>
            </p:nvSpPr>
            <p:spPr>
              <a:xfrm>
                <a:off x="56789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39"/>
              <p:cNvSpPr/>
              <p:nvPr/>
            </p:nvSpPr>
            <p:spPr>
              <a:xfrm>
                <a:off x="76039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39"/>
              <p:cNvSpPr/>
              <p:nvPr/>
            </p:nvSpPr>
            <p:spPr>
              <a:xfrm>
                <a:off x="95290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39"/>
              <p:cNvSpPr/>
              <p:nvPr/>
            </p:nvSpPr>
            <p:spPr>
              <a:xfrm>
                <a:off x="1145406"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7" name="Google Shape;667;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8" name="Google Shape;668;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69" name="Google Shape;669;p39"/>
            <p:cNvGrpSpPr/>
            <p:nvPr/>
          </p:nvGrpSpPr>
          <p:grpSpPr>
            <a:xfrm>
              <a:off x="3662880" y="2285250"/>
              <a:ext cx="1530537" cy="183000"/>
              <a:chOff x="182880" y="1359075"/>
              <a:chExt cx="1530537" cy="183000"/>
            </a:xfrm>
          </p:grpSpPr>
          <p:sp>
            <p:nvSpPr>
              <p:cNvPr id="670" name="Google Shape;670;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39"/>
              <p:cNvSpPr/>
              <p:nvPr/>
            </p:nvSpPr>
            <p:spPr>
              <a:xfrm>
                <a:off x="375385"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39"/>
              <p:cNvSpPr/>
              <p:nvPr/>
            </p:nvSpPr>
            <p:spPr>
              <a:xfrm>
                <a:off x="56789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39"/>
              <p:cNvSpPr/>
              <p:nvPr/>
            </p:nvSpPr>
            <p:spPr>
              <a:xfrm>
                <a:off x="76039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4" name="Google Shape;674;p39"/>
              <p:cNvSpPr/>
              <p:nvPr/>
            </p:nvSpPr>
            <p:spPr>
              <a:xfrm>
                <a:off x="95290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5" name="Google Shape;675;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6" name="Google Shape;676;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7" name="Google Shape;677;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78" name="Google Shape;678;p39"/>
            <p:cNvGrpSpPr/>
            <p:nvPr/>
          </p:nvGrpSpPr>
          <p:grpSpPr>
            <a:xfrm>
              <a:off x="3662880" y="2468505"/>
              <a:ext cx="1530537" cy="183000"/>
              <a:chOff x="182880" y="1359075"/>
              <a:chExt cx="1530537" cy="183000"/>
            </a:xfrm>
          </p:grpSpPr>
          <p:sp>
            <p:nvSpPr>
              <p:cNvPr id="679" name="Google Shape;679;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0" name="Google Shape;680;p39"/>
              <p:cNvSpPr/>
              <p:nvPr/>
            </p:nvSpPr>
            <p:spPr>
              <a:xfrm>
                <a:off x="375385"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1" name="Google Shape;681;p39"/>
              <p:cNvSpPr/>
              <p:nvPr/>
            </p:nvSpPr>
            <p:spPr>
              <a:xfrm>
                <a:off x="567891"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2" name="Google Shape;682;p39"/>
              <p:cNvSpPr/>
              <p:nvPr/>
            </p:nvSpPr>
            <p:spPr>
              <a:xfrm>
                <a:off x="760396"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39"/>
              <p:cNvSpPr/>
              <p:nvPr/>
            </p:nvSpPr>
            <p:spPr>
              <a:xfrm>
                <a:off x="952901" y="1359075"/>
                <a:ext cx="183000" cy="183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5" name="Google Shape;685;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6" name="Google Shape;686;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87" name="Google Shape;687;p39"/>
            <p:cNvGrpSpPr/>
            <p:nvPr/>
          </p:nvGrpSpPr>
          <p:grpSpPr>
            <a:xfrm>
              <a:off x="3662880" y="2651760"/>
              <a:ext cx="1530537" cy="183000"/>
              <a:chOff x="182880" y="1359075"/>
              <a:chExt cx="1530537" cy="183000"/>
            </a:xfrm>
          </p:grpSpPr>
          <p:sp>
            <p:nvSpPr>
              <p:cNvPr id="688" name="Google Shape;688;p39"/>
              <p:cNvSpPr/>
              <p:nvPr/>
            </p:nvSpPr>
            <p:spPr>
              <a:xfrm>
                <a:off x="182880"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39"/>
              <p:cNvSpPr/>
              <p:nvPr/>
            </p:nvSpPr>
            <p:spPr>
              <a:xfrm>
                <a:off x="375385"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39"/>
              <p:cNvSpPr/>
              <p:nvPr/>
            </p:nvSpPr>
            <p:spPr>
              <a:xfrm>
                <a:off x="56789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39"/>
              <p:cNvSpPr/>
              <p:nvPr/>
            </p:nvSpPr>
            <p:spPr>
              <a:xfrm>
                <a:off x="76039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39"/>
              <p:cNvSpPr/>
              <p:nvPr/>
            </p:nvSpPr>
            <p:spPr>
              <a:xfrm>
                <a:off x="952901"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3" name="Google Shape;693;p39"/>
              <p:cNvSpPr/>
              <p:nvPr/>
            </p:nvSpPr>
            <p:spPr>
              <a:xfrm>
                <a:off x="1145406"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39"/>
              <p:cNvSpPr/>
              <p:nvPr/>
            </p:nvSpPr>
            <p:spPr>
              <a:xfrm>
                <a:off x="1337912"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39"/>
              <p:cNvSpPr/>
              <p:nvPr/>
            </p:nvSpPr>
            <p:spPr>
              <a:xfrm>
                <a:off x="1530417" y="1359075"/>
                <a:ext cx="183000" cy="1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696" name="Google Shape;696;p39"/>
          <p:cNvSpPr/>
          <p:nvPr/>
        </p:nvSpPr>
        <p:spPr>
          <a:xfrm>
            <a:off x="150" y="4156175"/>
            <a:ext cx="9144000" cy="5070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DPC3 Berti Can prefetch streaming or spatial patterns, but only one at a time</a:t>
            </a:r>
            <a:endParaRPr>
              <a:solidFill>
                <a:schemeClr val="lt1"/>
              </a:solidFill>
            </a:endParaRPr>
          </a:p>
        </p:txBody>
      </p:sp>
      <p:sp>
        <p:nvSpPr>
          <p:cNvPr id="697" name="Google Shape;697;p39"/>
          <p:cNvSpPr/>
          <p:nvPr/>
        </p:nvSpPr>
        <p:spPr>
          <a:xfrm>
            <a:off x="2346225" y="2229500"/>
            <a:ext cx="1263600" cy="88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Recorded Pages Table</a:t>
            </a:r>
            <a:endParaRPr/>
          </a:p>
        </p:txBody>
      </p:sp>
      <p:sp>
        <p:nvSpPr>
          <p:cNvPr id="698" name="Google Shape;698;p39"/>
          <p:cNvSpPr txBox="1"/>
          <p:nvPr/>
        </p:nvSpPr>
        <p:spPr>
          <a:xfrm>
            <a:off x="852625" y="2441750"/>
            <a:ext cx="75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PPN</a:t>
            </a:r>
            <a:endParaRPr sz="1800">
              <a:solidFill>
                <a:schemeClr val="dk1"/>
              </a:solidFill>
            </a:endParaRPr>
          </a:p>
        </p:txBody>
      </p:sp>
      <p:cxnSp>
        <p:nvCxnSpPr>
          <p:cNvPr id="699" name="Google Shape;699;p39"/>
          <p:cNvCxnSpPr>
            <a:stCxn id="698" idx="3"/>
            <a:endCxn id="697" idx="1"/>
          </p:cNvCxnSpPr>
          <p:nvPr/>
        </p:nvCxnSpPr>
        <p:spPr>
          <a:xfrm>
            <a:off x="1604425" y="2672600"/>
            <a:ext cx="741900" cy="0"/>
          </a:xfrm>
          <a:prstGeom prst="straightConnector1">
            <a:avLst/>
          </a:prstGeom>
          <a:noFill/>
          <a:ln cap="flat" cmpd="sng" w="28575">
            <a:solidFill>
              <a:schemeClr val="dk1"/>
            </a:solidFill>
            <a:prstDash val="solid"/>
            <a:round/>
            <a:headEnd len="med" w="med" type="none"/>
            <a:tailEnd len="med" w="med" type="triangle"/>
          </a:ln>
        </p:spPr>
      </p:cxnSp>
      <p:cxnSp>
        <p:nvCxnSpPr>
          <p:cNvPr id="700" name="Google Shape;700;p39"/>
          <p:cNvCxnSpPr>
            <a:stCxn id="697" idx="3"/>
            <a:endCxn id="661" idx="0"/>
          </p:cNvCxnSpPr>
          <p:nvPr/>
        </p:nvCxnSpPr>
        <p:spPr>
          <a:xfrm flipH="1" rot="10800000">
            <a:off x="3609825" y="2668700"/>
            <a:ext cx="833400" cy="3900"/>
          </a:xfrm>
          <a:prstGeom prst="straightConnector1">
            <a:avLst/>
          </a:prstGeom>
          <a:noFill/>
          <a:ln cap="flat" cmpd="sng" w="28575">
            <a:solidFill>
              <a:schemeClr val="dk1"/>
            </a:solidFill>
            <a:prstDash val="solid"/>
            <a:round/>
            <a:headEnd len="med" w="med" type="none"/>
            <a:tailEnd len="med" w="med" type="triangle"/>
          </a:ln>
        </p:spPr>
      </p:cxnSp>
      <p:cxnSp>
        <p:nvCxnSpPr>
          <p:cNvPr id="701" name="Google Shape;701;p39"/>
          <p:cNvCxnSpPr>
            <a:stCxn id="689" idx="0"/>
            <a:endCxn id="691" idx="0"/>
          </p:cNvCxnSpPr>
          <p:nvPr/>
        </p:nvCxnSpPr>
        <p:spPr>
          <a:xfrm flipH="1" rot="-5400000">
            <a:off x="4827785" y="3026323"/>
            <a:ext cx="600" cy="384900"/>
          </a:xfrm>
          <a:prstGeom prst="curvedConnector3">
            <a:avLst>
              <a:gd fmla="val 29029583" name="adj1"/>
            </a:avLst>
          </a:prstGeom>
          <a:noFill/>
          <a:ln cap="flat" cmpd="sng" w="28575">
            <a:solidFill>
              <a:srgbClr val="FF0000"/>
            </a:solidFill>
            <a:prstDash val="solid"/>
            <a:round/>
            <a:headEnd len="med" w="med" type="none"/>
            <a:tailEnd len="med" w="med" type="stealth"/>
          </a:ln>
        </p:spPr>
      </p:cxnSp>
      <p:sp>
        <p:nvSpPr>
          <p:cNvPr id="702" name="Google Shape;702;p39"/>
          <p:cNvSpPr txBox="1"/>
          <p:nvPr/>
        </p:nvSpPr>
        <p:spPr>
          <a:xfrm>
            <a:off x="4679725" y="3343450"/>
            <a:ext cx="61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Δ=2</a:t>
            </a:r>
            <a:r>
              <a:rPr lang="en" sz="1800">
                <a:solidFill>
                  <a:schemeClr val="dk2"/>
                </a:solidFill>
              </a:rPr>
              <a:t> </a:t>
            </a:r>
            <a:endParaRPr sz="1800">
              <a:solidFill>
                <a:schemeClr val="dk2"/>
              </a:solidFill>
            </a:endParaRPr>
          </a:p>
        </p:txBody>
      </p:sp>
      <p:sp>
        <p:nvSpPr>
          <p:cNvPr id="703" name="Google Shape;70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p40" title="spec17_berti_gberti_pythia-to-gberti+pythia.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709" name="Google Shape;70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is Orthogonal to Pythia on Spec17</a:t>
            </a:r>
            <a:endParaRPr/>
          </a:p>
          <a:p>
            <a:pPr indent="0" lvl="0" marL="0" rtl="0" algn="l">
              <a:spcBef>
                <a:spcPts val="0"/>
              </a:spcBef>
              <a:spcAft>
                <a:spcPts val="0"/>
              </a:spcAft>
              <a:buNone/>
            </a:pPr>
            <a:r>
              <a:t/>
            </a:r>
            <a:endParaRPr/>
          </a:p>
        </p:txBody>
      </p:sp>
      <p:sp>
        <p:nvSpPr>
          <p:cNvPr id="710" name="Google Shape;710;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11" name="Google Shape;711;p40"/>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With L2 Pythia, Global Berti outperforms Berti+Bingo by gmean 11%</a:t>
            </a:r>
            <a:endParaRPr>
              <a:solidFill>
                <a:schemeClr val="lt1"/>
              </a:solidFill>
            </a:endParaRPr>
          </a:p>
        </p:txBody>
      </p:sp>
      <p:sp>
        <p:nvSpPr>
          <p:cNvPr id="712" name="Google Shape;71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Overlaps Pythia on Graphs</a:t>
            </a:r>
            <a:endParaRPr/>
          </a:p>
        </p:txBody>
      </p:sp>
      <p:sp>
        <p:nvSpPr>
          <p:cNvPr id="718" name="Google Shape;718;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19" name="Google Shape;719;p41" title="graph_berti_gberti_pythia-to-gberti.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720" name="Google Shape;72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pic>
        <p:nvPicPr>
          <p:cNvPr id="725" name="Google Shape;725;p42" title="graph_berti_gberti_pythia-to-gberti+pythia.png"/>
          <p:cNvPicPr preferRelativeResize="0"/>
          <p:nvPr/>
        </p:nvPicPr>
        <p:blipFill>
          <a:blip r:embed="rId3">
            <a:alphaModFix/>
          </a:blip>
          <a:stretch>
            <a:fillRect/>
          </a:stretch>
        </p:blipFill>
        <p:spPr>
          <a:xfrm>
            <a:off x="0" y="914400"/>
            <a:ext cx="9135478" cy="3956625"/>
          </a:xfrm>
          <a:prstGeom prst="rect">
            <a:avLst/>
          </a:prstGeom>
          <a:noFill/>
          <a:ln>
            <a:noFill/>
          </a:ln>
        </p:spPr>
      </p:pic>
      <p:sp>
        <p:nvSpPr>
          <p:cNvPr id="726" name="Google Shape;72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Global Berti Overlaps Pythia on Graphs</a:t>
            </a:r>
            <a:endParaRPr/>
          </a:p>
          <a:p>
            <a:pPr indent="0" lvl="0" marL="0" rtl="0" algn="l">
              <a:spcBef>
                <a:spcPts val="0"/>
              </a:spcBef>
              <a:spcAft>
                <a:spcPts val="0"/>
              </a:spcAft>
              <a:buNone/>
            </a:pPr>
            <a:r>
              <a:t/>
            </a:r>
            <a:endParaRPr/>
          </a:p>
        </p:txBody>
      </p:sp>
      <p:sp>
        <p:nvSpPr>
          <p:cNvPr id="727" name="Google Shape;727;p42"/>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With L2 Pythia, Global Berti outperforms Berti+Bingo by gmean 6%</a:t>
            </a:r>
            <a:endParaRPr>
              <a:solidFill>
                <a:schemeClr val="lt1"/>
              </a:solidFill>
            </a:endParaRPr>
          </a:p>
        </p:txBody>
      </p:sp>
      <p:sp>
        <p:nvSpPr>
          <p:cNvPr id="728" name="Google Shape;728;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Global Berti is Orthogonal to Pythia on Spec17</a:t>
            </a:r>
            <a:endParaRPr/>
          </a:p>
          <a:p>
            <a:pPr indent="0" lvl="0" marL="0" rtl="0" algn="l">
              <a:spcBef>
                <a:spcPts val="0"/>
              </a:spcBef>
              <a:spcAft>
                <a:spcPts val="0"/>
              </a:spcAft>
              <a:buNone/>
            </a:pPr>
            <a:r>
              <a:t/>
            </a:r>
            <a:endParaRPr/>
          </a:p>
        </p:txBody>
      </p:sp>
      <p:sp>
        <p:nvSpPr>
          <p:cNvPr id="734" name="Google Shape;734;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35" name="Google Shape;735;p43" title="spec17_berti_gberti_pythia-to-gberti.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736" name="Google Shape;73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Synergizes with Pythia on AI</a:t>
            </a:r>
            <a:endParaRPr/>
          </a:p>
        </p:txBody>
      </p:sp>
      <p:sp>
        <p:nvSpPr>
          <p:cNvPr id="742" name="Google Shape;74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43" name="Google Shape;743;p44" title="ai_berti_gberti_pythia-to-gberti.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744" name="Google Shape;74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pic>
        <p:nvPicPr>
          <p:cNvPr id="749" name="Google Shape;749;p45" title="ai_berti_gberti_pythia-to-gberti+pythia.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750" name="Google Shape;75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Global Berti Synergizes with Pythia on AI</a:t>
            </a:r>
            <a:endParaRPr/>
          </a:p>
          <a:p>
            <a:pPr indent="0" lvl="0" marL="0" rtl="0" algn="l">
              <a:spcBef>
                <a:spcPts val="0"/>
              </a:spcBef>
              <a:spcAft>
                <a:spcPts val="0"/>
              </a:spcAft>
              <a:buNone/>
            </a:pPr>
            <a:r>
              <a:t/>
            </a:r>
            <a:endParaRPr/>
          </a:p>
        </p:txBody>
      </p:sp>
      <p:sp>
        <p:nvSpPr>
          <p:cNvPr id="751" name="Google Shape;751;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52" name="Google Shape;752;p45"/>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With L2 Pythia, Global Berti outperforms Berti+Bingo by gmean 7%</a:t>
            </a:r>
            <a:endParaRPr>
              <a:solidFill>
                <a:schemeClr val="lt1"/>
              </a:solidFill>
            </a:endParaRPr>
          </a:p>
        </p:txBody>
      </p:sp>
      <p:sp>
        <p:nvSpPr>
          <p:cNvPr id="753" name="Google Shape;75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id="758" name="Google Shape;758;p46" title="google_berti_gberti_pythia-to-gberti+pythia.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759" name="Google Shape;75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Global Berti is Orthogonal To Berti for Google</a:t>
            </a:r>
            <a:endParaRPr/>
          </a:p>
          <a:p>
            <a:pPr indent="0" lvl="0" marL="0" rtl="0" algn="l">
              <a:spcBef>
                <a:spcPts val="0"/>
              </a:spcBef>
              <a:spcAft>
                <a:spcPts val="0"/>
              </a:spcAft>
              <a:buNone/>
            </a:pPr>
            <a:r>
              <a:t/>
            </a:r>
            <a:endParaRPr/>
          </a:p>
        </p:txBody>
      </p:sp>
      <p:sp>
        <p:nvSpPr>
          <p:cNvPr id="760" name="Google Shape;760;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61" name="Google Shape;761;p46"/>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With L2 Pythia, Global Berti outperforms Berti+Bingo by gmean 5%</a:t>
            </a:r>
            <a:endParaRPr>
              <a:solidFill>
                <a:schemeClr val="lt1"/>
              </a:solidFill>
            </a:endParaRPr>
          </a:p>
        </p:txBody>
      </p:sp>
      <p:sp>
        <p:nvSpPr>
          <p:cNvPr id="762" name="Google Shape;76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sometimes makes Pythia redundant</a:t>
            </a:r>
            <a:endParaRPr/>
          </a:p>
        </p:txBody>
      </p:sp>
      <p:sp>
        <p:nvSpPr>
          <p:cNvPr id="768" name="Google Shape;768;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69" name="Google Shape;769;p47" title="all_berti_gberti_pythia-scurve.png"/>
          <p:cNvPicPr preferRelativeResize="0"/>
          <p:nvPr/>
        </p:nvPicPr>
        <p:blipFill>
          <a:blip r:embed="rId3">
            <a:alphaModFix/>
          </a:blip>
          <a:stretch>
            <a:fillRect/>
          </a:stretch>
        </p:blipFill>
        <p:spPr>
          <a:xfrm>
            <a:off x="0" y="914400"/>
            <a:ext cx="9139789" cy="3960575"/>
          </a:xfrm>
          <a:prstGeom prst="rect">
            <a:avLst/>
          </a:prstGeom>
          <a:noFill/>
          <a:ln>
            <a:noFill/>
          </a:ln>
        </p:spPr>
      </p:pic>
      <p:sp>
        <p:nvSpPr>
          <p:cNvPr id="770" name="Google Shape;770;p47"/>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For the fastest benchmarks, Global Berti IPC is similar with or without Pythia</a:t>
            </a:r>
            <a:endParaRPr>
              <a:solidFill>
                <a:schemeClr val="lt1"/>
              </a:solidFill>
            </a:endParaRPr>
          </a:p>
        </p:txBody>
      </p:sp>
      <p:sp>
        <p:nvSpPr>
          <p:cNvPr id="771" name="Google Shape;77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pic>
        <p:nvPicPr>
          <p:cNvPr id="776" name="Google Shape;776;p48" title="spec17_berti_gberti-to-gberti.png"/>
          <p:cNvPicPr preferRelativeResize="0"/>
          <p:nvPr/>
        </p:nvPicPr>
        <p:blipFill>
          <a:blip r:embed="rId3">
            <a:alphaModFix/>
          </a:blip>
          <a:stretch>
            <a:fillRect/>
          </a:stretch>
        </p:blipFill>
        <p:spPr>
          <a:xfrm>
            <a:off x="0" y="914400"/>
            <a:ext cx="9135478" cy="3956625"/>
          </a:xfrm>
          <a:prstGeom prst="rect">
            <a:avLst/>
          </a:prstGeom>
          <a:noFill/>
          <a:ln>
            <a:noFill/>
          </a:ln>
        </p:spPr>
      </p:pic>
      <p:sp>
        <p:nvSpPr>
          <p:cNvPr id="777" name="Google Shape;77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outperforms Berti: SPEC17</a:t>
            </a:r>
            <a:endParaRPr/>
          </a:p>
        </p:txBody>
      </p:sp>
      <p:cxnSp>
        <p:nvCxnSpPr>
          <p:cNvPr id="778" name="Google Shape;778;p48"/>
          <p:cNvCxnSpPr/>
          <p:nvPr/>
        </p:nvCxnSpPr>
        <p:spPr>
          <a:xfrm rot="10800000">
            <a:off x="2879025" y="1017750"/>
            <a:ext cx="9000" cy="1913700"/>
          </a:xfrm>
          <a:prstGeom prst="straightConnector1">
            <a:avLst/>
          </a:prstGeom>
          <a:noFill/>
          <a:ln cap="flat" cmpd="sng" w="38100">
            <a:solidFill>
              <a:srgbClr val="38761D"/>
            </a:solidFill>
            <a:prstDash val="solid"/>
            <a:round/>
            <a:headEnd len="med" w="med" type="none"/>
            <a:tailEnd len="med" w="med" type="triangle"/>
          </a:ln>
        </p:spPr>
      </p:cxnSp>
      <p:sp>
        <p:nvSpPr>
          <p:cNvPr id="779" name="Google Shape;779;p48"/>
          <p:cNvSpPr txBox="1"/>
          <p:nvPr/>
        </p:nvSpPr>
        <p:spPr>
          <a:xfrm>
            <a:off x="2958569" y="1017725"/>
            <a:ext cx="595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1.89X</a:t>
            </a:r>
            <a:endParaRPr sz="1800">
              <a:solidFill>
                <a:srgbClr val="38761D"/>
              </a:solidFill>
            </a:endParaRPr>
          </a:p>
        </p:txBody>
      </p:sp>
      <p:sp>
        <p:nvSpPr>
          <p:cNvPr id="780" name="Google Shape;780;p48"/>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 outperforms Berti on SPEC17 by gmean 12%</a:t>
            </a:r>
            <a:endParaRPr>
              <a:solidFill>
                <a:schemeClr val="lt1"/>
              </a:solidFill>
            </a:endParaRPr>
          </a:p>
        </p:txBody>
      </p:sp>
      <p:sp>
        <p:nvSpPr>
          <p:cNvPr id="781" name="Google Shape;78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pic>
        <p:nvPicPr>
          <p:cNvPr id="786" name="Google Shape;786;p49" title="graph_berti_gberti-to-gberti.png"/>
          <p:cNvPicPr preferRelativeResize="0"/>
          <p:nvPr/>
        </p:nvPicPr>
        <p:blipFill>
          <a:blip r:embed="rId3">
            <a:alphaModFix/>
          </a:blip>
          <a:stretch>
            <a:fillRect/>
          </a:stretch>
        </p:blipFill>
        <p:spPr>
          <a:xfrm>
            <a:off x="0" y="914400"/>
            <a:ext cx="9135478" cy="3956625"/>
          </a:xfrm>
          <a:prstGeom prst="rect">
            <a:avLst/>
          </a:prstGeom>
          <a:noFill/>
          <a:ln>
            <a:noFill/>
          </a:ln>
        </p:spPr>
      </p:pic>
      <p:sp>
        <p:nvSpPr>
          <p:cNvPr id="787" name="Google Shape;78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outperforms Berti:</a:t>
            </a:r>
            <a:r>
              <a:rPr lang="en"/>
              <a:t> Graph Algorithms</a:t>
            </a:r>
            <a:endParaRPr/>
          </a:p>
        </p:txBody>
      </p:sp>
      <p:sp>
        <p:nvSpPr>
          <p:cNvPr id="788" name="Google Shape;788;p49"/>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 outperforms Berti on graph benchmarks by gmean 11%</a:t>
            </a:r>
            <a:endParaRPr>
              <a:solidFill>
                <a:schemeClr val="lt1"/>
              </a:solidFill>
            </a:endParaRPr>
          </a:p>
        </p:txBody>
      </p:sp>
      <p:sp>
        <p:nvSpPr>
          <p:cNvPr id="789" name="Google Shape;78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pic>
        <p:nvPicPr>
          <p:cNvPr id="794" name="Google Shape;794;p50" title="ai_berti_gberti-to-gberti.png"/>
          <p:cNvPicPr preferRelativeResize="0"/>
          <p:nvPr/>
        </p:nvPicPr>
        <p:blipFill>
          <a:blip r:embed="rId3">
            <a:alphaModFix/>
          </a:blip>
          <a:stretch>
            <a:fillRect/>
          </a:stretch>
        </p:blipFill>
        <p:spPr>
          <a:xfrm>
            <a:off x="0" y="914400"/>
            <a:ext cx="9135478" cy="3956625"/>
          </a:xfrm>
          <a:prstGeom prst="rect">
            <a:avLst/>
          </a:prstGeom>
          <a:noFill/>
          <a:ln>
            <a:noFill/>
          </a:ln>
        </p:spPr>
      </p:pic>
      <p:sp>
        <p:nvSpPr>
          <p:cNvPr id="795" name="Google Shape;79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outperforms Berti:</a:t>
            </a:r>
            <a:r>
              <a:rPr lang="en"/>
              <a:t> AI</a:t>
            </a:r>
            <a:endParaRPr/>
          </a:p>
        </p:txBody>
      </p:sp>
      <p:sp>
        <p:nvSpPr>
          <p:cNvPr id="796" name="Google Shape;796;p50"/>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 outperforms Berti on AI workloads by gmean 5%</a:t>
            </a:r>
            <a:endParaRPr>
              <a:solidFill>
                <a:schemeClr val="lt1"/>
              </a:solidFill>
            </a:endParaRPr>
          </a:p>
        </p:txBody>
      </p:sp>
      <p:sp>
        <p:nvSpPr>
          <p:cNvPr id="797" name="Google Shape;797;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pic>
        <p:nvPicPr>
          <p:cNvPr id="802" name="Google Shape;802;p51" title="google_berti_gberti-to-gberti.png"/>
          <p:cNvPicPr preferRelativeResize="0"/>
          <p:nvPr/>
        </p:nvPicPr>
        <p:blipFill>
          <a:blip r:embed="rId3">
            <a:alphaModFix/>
          </a:blip>
          <a:stretch>
            <a:fillRect/>
          </a:stretch>
        </p:blipFill>
        <p:spPr>
          <a:xfrm>
            <a:off x="0" y="914400"/>
            <a:ext cx="9135478" cy="3956625"/>
          </a:xfrm>
          <a:prstGeom prst="rect">
            <a:avLst/>
          </a:prstGeom>
          <a:noFill/>
          <a:ln>
            <a:noFill/>
          </a:ln>
        </p:spPr>
      </p:pic>
      <p:sp>
        <p:nvSpPr>
          <p:cNvPr id="803" name="Google Shape;80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outperforms Berti:</a:t>
            </a:r>
            <a:r>
              <a:rPr lang="en"/>
              <a:t> Google</a:t>
            </a:r>
            <a:endParaRPr/>
          </a:p>
        </p:txBody>
      </p:sp>
      <p:sp>
        <p:nvSpPr>
          <p:cNvPr id="804" name="Google Shape;804;p51"/>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 outperforms Berti on Google’s workloads by gmean 5%</a:t>
            </a:r>
            <a:endParaRPr>
              <a:solidFill>
                <a:schemeClr val="lt1"/>
              </a:solidFill>
            </a:endParaRPr>
          </a:p>
        </p:txBody>
      </p:sp>
      <p:sp>
        <p:nvSpPr>
          <p:cNvPr id="805" name="Google Shape;80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pic>
        <p:nvPicPr>
          <p:cNvPr id="810" name="Google Shape;810;p52" title="all_berti_gberti-to-gberti.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811" name="Google Shape;81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 outperforms Berti:</a:t>
            </a:r>
            <a:r>
              <a:rPr lang="en"/>
              <a:t> Overall</a:t>
            </a:r>
            <a:endParaRPr/>
          </a:p>
        </p:txBody>
      </p:sp>
      <p:sp>
        <p:nvSpPr>
          <p:cNvPr id="812" name="Google Shape;812;p52"/>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Global Berti outperforms Berti by gmean 8%, ranging from -8% to 89%</a:t>
            </a:r>
            <a:endParaRPr>
              <a:solidFill>
                <a:schemeClr val="lt1"/>
              </a:solidFill>
            </a:endParaRPr>
          </a:p>
        </p:txBody>
      </p:sp>
      <p:sp>
        <p:nvSpPr>
          <p:cNvPr id="813" name="Google Shape;813;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pic>
        <p:nvPicPr>
          <p:cNvPr id="818" name="Google Shape;818;p53" title="all_berti_gberti_pythia-to-gberti+pythia.png"/>
          <p:cNvPicPr preferRelativeResize="0"/>
          <p:nvPr/>
        </p:nvPicPr>
        <p:blipFill>
          <a:blip r:embed="rId3">
            <a:alphaModFix/>
          </a:blip>
          <a:stretch>
            <a:fillRect/>
          </a:stretch>
        </p:blipFill>
        <p:spPr>
          <a:xfrm>
            <a:off x="0" y="914400"/>
            <a:ext cx="9144003" cy="3960318"/>
          </a:xfrm>
          <a:prstGeom prst="rect">
            <a:avLst/>
          </a:prstGeom>
          <a:noFill/>
          <a:ln>
            <a:noFill/>
          </a:ln>
        </p:spPr>
      </p:pic>
      <p:sp>
        <p:nvSpPr>
          <p:cNvPr id="819" name="Google Shape;819;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Berti+Pythia outperforms Berti+Pythia</a:t>
            </a:r>
            <a:endParaRPr/>
          </a:p>
        </p:txBody>
      </p:sp>
      <p:sp>
        <p:nvSpPr>
          <p:cNvPr id="820" name="Google Shape;820;p53"/>
          <p:cNvSpPr/>
          <p:nvPr/>
        </p:nvSpPr>
        <p:spPr>
          <a:xfrm>
            <a:off x="150" y="4156175"/>
            <a:ext cx="9144000" cy="5070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With L2 Pythia, Global Berti outperforms Berti by gmean 6%, (-6%-49%)</a:t>
            </a:r>
            <a:endParaRPr>
              <a:solidFill>
                <a:schemeClr val="lt1"/>
              </a:solidFill>
            </a:endParaRPr>
          </a:p>
        </p:txBody>
      </p:sp>
      <p:sp>
        <p:nvSpPr>
          <p:cNvPr id="821" name="Google Shape;821;p53"/>
          <p:cNvSpPr/>
          <p:nvPr/>
        </p:nvSpPr>
        <p:spPr>
          <a:xfrm>
            <a:off x="1429959" y="2383350"/>
            <a:ext cx="372300" cy="188400"/>
          </a:xfrm>
          <a:prstGeom prst="mathEqual">
            <a:avLst>
              <a:gd fmla="val 23520" name="adj1"/>
              <a:gd fmla="val 1176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53"/>
          <p:cNvSpPr/>
          <p:nvPr/>
        </p:nvSpPr>
        <p:spPr>
          <a:xfrm>
            <a:off x="6940050" y="2571750"/>
            <a:ext cx="372300" cy="188400"/>
          </a:xfrm>
          <a:prstGeom prst="mathEqual">
            <a:avLst>
              <a:gd fmla="val 23520" name="adj1"/>
              <a:gd fmla="val 1176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53"/>
          <p:cNvSpPr/>
          <p:nvPr/>
        </p:nvSpPr>
        <p:spPr>
          <a:xfrm>
            <a:off x="3281075" y="2366550"/>
            <a:ext cx="287100" cy="3936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4" name="Google Shape;824;p53"/>
          <p:cNvSpPr/>
          <p:nvPr/>
        </p:nvSpPr>
        <p:spPr>
          <a:xfrm>
            <a:off x="5192063" y="2280750"/>
            <a:ext cx="237900" cy="393600"/>
          </a:xfrm>
          <a:prstGeom prst="up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31" name="Google Shape;831;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32" name="Google Shape;83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33" name="Google Shape;833;p54" title="all_berti_gberti_pythia-to-Global Berti.png"/>
          <p:cNvPicPr preferRelativeResize="0"/>
          <p:nvPr/>
        </p:nvPicPr>
        <p:blipFill>
          <a:blip r:embed="rId3">
            <a:alphaModFix/>
          </a:blip>
          <a:stretch>
            <a:fillRect/>
          </a:stretch>
        </p:blipFill>
        <p:spPr>
          <a:xfrm>
            <a:off x="0" y="513457"/>
            <a:ext cx="9144003" cy="41165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