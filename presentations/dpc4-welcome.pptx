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2" r:id="rId9"/>
    <p:sldId id="264" r:id="rId10"/>
    <p:sldId id="265" r:id="rId11"/>
    <p:sldId id="266" r:id="rId12"/>
    <p:sldId id="268" r:id="rId13"/>
    <p:sldId id="271" r:id="rId14"/>
    <p:sldId id="269" r:id="rId15"/>
    <p:sldId id="270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58FF"/>
    <a:srgbClr val="11813C"/>
    <a:srgbClr val="FFFFFF"/>
    <a:srgbClr val="7030A0"/>
    <a:srgbClr val="C08F00"/>
    <a:srgbClr val="E4F3DB"/>
    <a:srgbClr val="E6F0FF"/>
    <a:srgbClr val="F1EEFD"/>
    <a:srgbClr val="FFF3CE"/>
    <a:srgbClr val="E5F3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1"/>
  </p:normalViewPr>
  <p:slideViewPr>
    <p:cSldViewPr snapToGrid="0">
      <p:cViewPr varScale="1">
        <p:scale>
          <a:sx n="110" d="100"/>
          <a:sy n="110" d="100"/>
        </p:scale>
        <p:origin x="20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rbera/Documents/work/DPC4/eva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/Users/rbera/Documents/work/DPC4/eval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file:////Users/rbera/Documents/work/DPC4/eval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'overall-score'!$J$2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'overall-score'!$K$1:$M$1</c:f>
              <c:strCache>
                <c:ptCount val="3"/>
                <c:pt idx="0">
                  <c:v>FullBW</c:v>
                </c:pt>
                <c:pt idx="1">
                  <c:v>LimitBW</c:v>
                </c:pt>
                <c:pt idx="2">
                  <c:v>MC</c:v>
                </c:pt>
              </c:strCache>
            </c:strRef>
          </c:cat>
          <c:val>
            <c:numRef>
              <c:f>'overall-score'!$K$2:$M$2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2A-3C49-9768-5716EFFE061D}"/>
            </c:ext>
          </c:extLst>
        </c:ser>
        <c:ser>
          <c:idx val="1"/>
          <c:order val="1"/>
          <c:tx>
            <c:strRef>
              <c:f>'overall-score'!$J$3</c:f>
              <c:strCache>
                <c:ptCount val="1"/>
                <c:pt idx="0">
                  <c:v>DPC4 Winner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'overall-score'!$K$1:$M$1</c:f>
              <c:strCache>
                <c:ptCount val="3"/>
                <c:pt idx="0">
                  <c:v>FullBW</c:v>
                </c:pt>
                <c:pt idx="1">
                  <c:v>LimitBW</c:v>
                </c:pt>
                <c:pt idx="2">
                  <c:v>MC</c:v>
                </c:pt>
              </c:strCache>
            </c:strRef>
          </c:cat>
          <c:val>
            <c:numRef>
              <c:f>'overall-score'!$K$3:$M$3</c:f>
              <c:numCache>
                <c:formatCode>General</c:formatCode>
                <c:ptCount val="3"/>
                <c:pt idx="0">
                  <c:v>1.0516230534839888</c:v>
                </c:pt>
                <c:pt idx="1">
                  <c:v>1.0257383036047387</c:v>
                </c:pt>
                <c:pt idx="2">
                  <c:v>1.0279434183521836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52A-3C49-9768-5716EFFE06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82393168"/>
        <c:axId val="1332546160"/>
      </c:barChart>
      <c:catAx>
        <c:axId val="13823931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1332546160"/>
        <c:crosses val="autoZero"/>
        <c:auto val="1"/>
        <c:lblAlgn val="ctr"/>
        <c:lblOffset val="100"/>
        <c:noMultiLvlLbl val="0"/>
      </c:catAx>
      <c:valAx>
        <c:axId val="1332546160"/>
        <c:scaling>
          <c:orientation val="minMax"/>
          <c:min val="0.98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Aptos Light" panose="020B0004020202020204" pitchFamily="34" charset="0"/>
                    <a:ea typeface="+mn-ea"/>
                    <a:cs typeface="+mn-cs"/>
                  </a:defRPr>
                </a:pPr>
                <a:r>
                  <a:rPr lang="en-US" dirty="0"/>
                  <a:t>G</a:t>
                </a:r>
                <a:r>
                  <a:rPr lang="en-US" baseline="0" dirty="0"/>
                  <a:t>eomean perf. improvement</a:t>
                </a:r>
              </a:p>
              <a:p>
                <a:pPr>
                  <a:defRPr/>
                </a:pPr>
                <a:r>
                  <a:rPr lang="en-US" baseline="0" dirty="0"/>
                  <a:t>(</a:t>
                </a:r>
                <a:r>
                  <a:rPr lang="en-US" b="0" baseline="0" dirty="0"/>
                  <a:t>higher is better</a:t>
                </a:r>
                <a:r>
                  <a:rPr lang="en-US" baseline="0" dirty="0"/>
                  <a:t>)</a:t>
                </a: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Aptos Light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1382393168"/>
        <c:crosses val="autoZero"/>
        <c:crossBetween val="between"/>
      </c:valAx>
      <c:spPr>
        <a:noFill/>
        <a:ln>
          <a:solidFill>
            <a:schemeClr val="tx1"/>
          </a:solidFill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Aptos Light" panose="020B00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400" b="0" i="0">
          <a:solidFill>
            <a:schemeClr val="tx1"/>
          </a:solidFill>
          <a:latin typeface="Aptos Light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'fullBW-pivot'!$N$22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'fullBW-pivot'!$O$20:$R$20</c:f>
              <c:strCache>
                <c:ptCount val="4"/>
                <c:pt idx="0">
                  <c:v>AIML</c:v>
                </c:pt>
                <c:pt idx="1">
                  <c:v>Google</c:v>
                </c:pt>
                <c:pt idx="2">
                  <c:v>Graph</c:v>
                </c:pt>
                <c:pt idx="3">
                  <c:v>SPEC17</c:v>
                </c:pt>
              </c:strCache>
            </c:strRef>
          </c:cat>
          <c:val>
            <c:numRef>
              <c:f>'fullBW-pivot'!$O$22:$R$22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2A-3C49-9768-5716EFFE061D}"/>
            </c:ext>
          </c:extLst>
        </c:ser>
        <c:ser>
          <c:idx val="1"/>
          <c:order val="1"/>
          <c:tx>
            <c:strRef>
              <c:f>'fullBW-pivot'!$N$23</c:f>
              <c:strCache>
                <c:ptCount val="1"/>
                <c:pt idx="0">
                  <c:v>DPC4 Winner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'fullBW-pivot'!$O$20:$R$20</c:f>
              <c:strCache>
                <c:ptCount val="4"/>
                <c:pt idx="0">
                  <c:v>AIML</c:v>
                </c:pt>
                <c:pt idx="1">
                  <c:v>Google</c:v>
                </c:pt>
                <c:pt idx="2">
                  <c:v>Graph</c:v>
                </c:pt>
                <c:pt idx="3">
                  <c:v>SPEC17</c:v>
                </c:pt>
              </c:strCache>
            </c:strRef>
          </c:cat>
          <c:val>
            <c:numRef>
              <c:f>'fullBW-pivot'!$O$23:$R$23</c:f>
              <c:numCache>
                <c:formatCode>General</c:formatCode>
                <c:ptCount val="4"/>
                <c:pt idx="0">
                  <c:v>1.2772040813326366</c:v>
                </c:pt>
                <c:pt idx="1">
                  <c:v>1.0113419669821153</c:v>
                </c:pt>
                <c:pt idx="2">
                  <c:v>1.0385930583653793</c:v>
                </c:pt>
                <c:pt idx="3">
                  <c:v>1.0454592918557815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52A-3C49-9768-5716EFFE06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82393168"/>
        <c:axId val="1332546160"/>
      </c:barChart>
      <c:catAx>
        <c:axId val="13823931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1332546160"/>
        <c:crosses val="autoZero"/>
        <c:auto val="1"/>
        <c:lblAlgn val="ctr"/>
        <c:lblOffset val="100"/>
        <c:noMultiLvlLbl val="0"/>
      </c:catAx>
      <c:valAx>
        <c:axId val="1332546160"/>
        <c:scaling>
          <c:orientation val="minMax"/>
          <c:min val="0.9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Aptos Light" panose="020B0004020202020204" pitchFamily="34" charset="0"/>
                    <a:ea typeface="+mn-ea"/>
                    <a:cs typeface="+mn-cs"/>
                  </a:defRPr>
                </a:pPr>
                <a:r>
                  <a:rPr lang="en-US" sz="2400" b="0" i="0" u="none" strike="noStrike" kern="1200" baseline="0" dirty="0">
                    <a:solidFill>
                      <a:prstClr val="black"/>
                    </a:solidFill>
                    <a:latin typeface="Aptos Light" panose="020B0004020202020204" pitchFamily="34" charset="0"/>
                  </a:rPr>
                  <a:t>Geomean perf. improvement</a:t>
                </a:r>
              </a:p>
              <a:p>
                <a:pPr>
                  <a:defRPr/>
                </a:pPr>
                <a:r>
                  <a:rPr lang="en-US" sz="2400" b="0" i="0" u="none" strike="noStrike" kern="1200" baseline="0" dirty="0">
                    <a:solidFill>
                      <a:prstClr val="black"/>
                    </a:solidFill>
                    <a:latin typeface="Aptos Light" panose="020B0004020202020204" pitchFamily="34" charset="0"/>
                  </a:rPr>
                  <a:t>(higher is better)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Aptos Light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1382393168"/>
        <c:crosses val="autoZero"/>
        <c:crossBetween val="between"/>
      </c:valAx>
      <c:spPr>
        <a:noFill/>
        <a:ln>
          <a:solidFill>
            <a:schemeClr val="tx1"/>
          </a:solidFill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Aptos Light" panose="020B00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 sz="2400" b="0" i="0">
          <a:solidFill>
            <a:schemeClr val="tx1"/>
          </a:solidFill>
          <a:latin typeface="Aptos Light" panose="020B0004020202020204" pitchFamily="34" charset="0"/>
        </a:defRPr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'fullBW-pivot'!$N$22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'fullBW-pivot'!$O$20:$R$20</c:f>
              <c:strCache>
                <c:ptCount val="4"/>
                <c:pt idx="0">
                  <c:v>AIML</c:v>
                </c:pt>
                <c:pt idx="1">
                  <c:v>Google</c:v>
                </c:pt>
                <c:pt idx="2">
                  <c:v>Graph</c:v>
                </c:pt>
                <c:pt idx="3">
                  <c:v>SPEC17</c:v>
                </c:pt>
              </c:strCache>
            </c:strRef>
          </c:cat>
          <c:val>
            <c:numRef>
              <c:f>'fullBW-pivot'!$O$22:$R$22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2A-3C49-9768-5716EFFE061D}"/>
            </c:ext>
          </c:extLst>
        </c:ser>
        <c:ser>
          <c:idx val="1"/>
          <c:order val="1"/>
          <c:tx>
            <c:strRef>
              <c:f>'fullBW-pivot'!$N$23</c:f>
              <c:strCache>
                <c:ptCount val="1"/>
                <c:pt idx="0">
                  <c:v>DPC4 Winner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'fullBW-pivot'!$O$20:$R$20</c:f>
              <c:strCache>
                <c:ptCount val="4"/>
                <c:pt idx="0">
                  <c:v>AIML</c:v>
                </c:pt>
                <c:pt idx="1">
                  <c:v>Google</c:v>
                </c:pt>
                <c:pt idx="2">
                  <c:v>Graph</c:v>
                </c:pt>
                <c:pt idx="3">
                  <c:v>SPEC17</c:v>
                </c:pt>
              </c:strCache>
            </c:strRef>
          </c:cat>
          <c:val>
            <c:numRef>
              <c:f>'fullBW-pivot'!$O$23:$R$23</c:f>
              <c:numCache>
                <c:formatCode>General</c:formatCode>
                <c:ptCount val="4"/>
                <c:pt idx="0">
                  <c:v>1.2772040813326366</c:v>
                </c:pt>
                <c:pt idx="1">
                  <c:v>1.0113419669821153</c:v>
                </c:pt>
                <c:pt idx="2">
                  <c:v>1.0385930583653793</c:v>
                </c:pt>
                <c:pt idx="3">
                  <c:v>1.0454592918557815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52A-3C49-9768-5716EFFE06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82393168"/>
        <c:axId val="1332546160"/>
      </c:barChart>
      <c:catAx>
        <c:axId val="13823931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1332546160"/>
        <c:crosses val="autoZero"/>
        <c:auto val="1"/>
        <c:lblAlgn val="ctr"/>
        <c:lblOffset val="100"/>
        <c:noMultiLvlLbl val="0"/>
      </c:catAx>
      <c:valAx>
        <c:axId val="1332546160"/>
        <c:scaling>
          <c:orientation val="minMax"/>
          <c:min val="0.9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Aptos Light" panose="020B0004020202020204" pitchFamily="34" charset="0"/>
                    <a:ea typeface="+mn-ea"/>
                    <a:cs typeface="+mn-cs"/>
                  </a:defRPr>
                </a:pPr>
                <a:r>
                  <a:rPr lang="en-US" sz="2400" b="0" i="0" u="none" strike="noStrike" kern="1200" baseline="0" dirty="0">
                    <a:solidFill>
                      <a:prstClr val="black"/>
                    </a:solidFill>
                    <a:latin typeface="Aptos Light" panose="020B0004020202020204" pitchFamily="34" charset="0"/>
                  </a:rPr>
                  <a:t>Geomean perf. improvement</a:t>
                </a:r>
              </a:p>
              <a:p>
                <a:pPr>
                  <a:defRPr/>
                </a:pPr>
                <a:r>
                  <a:rPr lang="en-US" sz="2400" b="0" i="0" u="none" strike="noStrike" kern="1200" baseline="0" dirty="0">
                    <a:solidFill>
                      <a:prstClr val="black"/>
                    </a:solidFill>
                    <a:latin typeface="Aptos Light" panose="020B0004020202020204" pitchFamily="34" charset="0"/>
                  </a:rPr>
                  <a:t>(higher is better)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Aptos Light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1382393168"/>
        <c:crosses val="autoZero"/>
        <c:crossBetween val="between"/>
      </c:valAx>
      <c:spPr>
        <a:noFill/>
        <a:ln>
          <a:solidFill>
            <a:schemeClr val="tx1"/>
          </a:solidFill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Aptos Light" panose="020B00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 sz="2400" b="0" i="0">
          <a:solidFill>
            <a:schemeClr val="tx1"/>
          </a:solidFill>
          <a:latin typeface="Aptos Light" panose="020B0004020202020204" pitchFamily="34" charset="0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4D0E89-3A36-AB48-967C-D30CE957E4E5}" type="datetimeFigureOut">
              <a:rPr lang="en-US" smtClean="0"/>
              <a:t>2/1/26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37531-4E0C-2C4D-9363-71389D0AD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98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225A6-8977-3B4D-1E44-9DE6E00A0E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C4BE6C-A8DD-BB22-0ACE-4081D842E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1BA59-5557-0439-FE54-62B1CEEF1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B5368-5A6A-D186-3EB4-F5DFF44B7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fld id="{15745346-2824-5D4D-8997-BD03D4014D71}" type="slidenum">
              <a:rPr lang="en-US" smtClean="0"/>
              <a:pPr/>
              <a:t>‹#›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6691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0193B-83C2-6E0A-737E-2E6F36E90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3F11A-F543-78D4-A6A4-FC36BFC0D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852BAA1-5DE2-3F6C-CA87-927780DC46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536" y="6448077"/>
            <a:ext cx="1170879" cy="223450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04D68F1-17A4-F48F-756B-44C6942715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356350"/>
            <a:ext cx="9478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745346-2824-5D4D-8997-BD03D4014D71}" type="slidenum">
              <a:rPr lang="en-US" smtClean="0"/>
              <a:pPr/>
              <a:t>‹#›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5985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6C9D8-1BF8-E6BA-3A28-72B9B01D7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7546D-9E38-3566-5240-CF940340F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666A5-5440-12C1-5134-FCD0F14616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537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FAAAF-8116-EAF2-54BD-FFDBC070C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16965-B4DA-B800-5248-23F2F6DB0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45346-2824-5D4D-8997-BD03D4014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034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F9428-E0FB-35CA-FDAC-61CE8A21F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DD569-94FE-FCDA-5636-48C53A1BA4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07239C-444D-C170-3B20-602C712D6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B60790-5F3D-35E4-EFE1-CFB4181A59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537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E047EF-2443-4D74-5472-05D0B7620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06F09A-20CA-F618-32AE-603BB2181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45346-2824-5D4D-8997-BD03D4014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148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C2911-4C45-4912-9545-243AA69AE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D12EF-F3A7-5FD8-CB5A-0402AC0ABE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BC04DF-2D3C-EAF0-4581-1F4B07BEF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74618A-B6E1-B50A-8910-D103B5790A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23295A-F5D1-0FA9-26F9-ED2E7B2C5E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1436F0-1177-D887-9DA5-51A43342FA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537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BF5960-0895-6647-0F58-1A0905223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BEA4B2-48E6-B806-1A19-BAC541836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45346-2824-5D4D-8997-BD03D4014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182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3DCFC-E8A8-D6F3-AAC4-255712831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70A42-792A-5C1C-EC57-4EFCB0647D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537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BBD183-A004-1CC8-E37F-EE5B305A4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5A1042-3D99-7445-F91E-0E98DB36D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45346-2824-5D4D-8997-BD03D4014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710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9E6904-FE75-8CD6-5DC7-E2FC97880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537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630633-62AA-42AA-AC0D-544124C2A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0FBA7-2E9B-2B46-9E2C-C3D4AC62E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45346-2824-5D4D-8997-BD03D4014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296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36271-A1A6-2A7C-3E22-034C8D091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AC9B6-3317-5A70-723E-C42700F81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F3DE4E-048C-531D-EB5D-0F6EFE960C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FEBDE-E4F2-4F8B-C5A8-DC3CFA94B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537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63BE0-0DB3-C006-3837-27632E719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A4CC29-063E-5CBA-131E-3D9EDB803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45346-2824-5D4D-8997-BD03D4014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68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7A77F-8726-E74B-2F57-8500F4AC1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0B8003-4D95-CFF2-2D02-8DAF98A12B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7997E5-A65C-CB51-D6CA-ACB938AF88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39A645-E180-4645-52F6-B90BC56430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537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EFDEED-4BF8-8FAF-89D2-24104391E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BCE86-ED27-D43B-C663-A83DDD912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45346-2824-5D4D-8997-BD03D4014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881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BB717-6B0D-9225-B508-DECEE4B39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07B04E-A988-E288-6833-5F6B6B5FC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9C443-6E38-57F4-1F03-5571F5C1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537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9F1C2-48AD-26C6-6E71-AF0ECA989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A35D5-7186-4AE6-E77C-1342B042B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45346-2824-5D4D-8997-BD03D4014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344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8DD536-A897-D8A2-C32A-EA5E8585BE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382E68-4756-E255-EC48-7627BB8F69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13BEE-BB37-0675-3A92-365D4D3A37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537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4705E-1C65-F891-56A9-A4A33D2C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31FE4-59B2-2FE7-0427-B8545DF23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45346-2824-5D4D-8997-BD03D4014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080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3007C8-5010-5FEF-4362-7BB04AE0B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536" y="167269"/>
            <a:ext cx="11586117" cy="8390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03254-4CA9-278D-D8AD-76FBFC796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537" y="1159727"/>
            <a:ext cx="11586117" cy="5062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4662D-6E12-C0F7-13ED-C471AC7BB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356350"/>
            <a:ext cx="9478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745346-2824-5D4D-8997-BD03D4014D71}" type="slidenum">
              <a:rPr lang="en-US" smtClean="0"/>
              <a:pPr/>
              <a:t>‹#›</a:t>
            </a:fld>
            <a:endParaRPr lang="en-US" sz="1600" dirty="0"/>
          </a:p>
        </p:txBody>
      </p:sp>
      <p:sp>
        <p:nvSpPr>
          <p:cNvPr id="9" name="Dikdörtgen 6">
            <a:extLst>
              <a:ext uri="{FF2B5EF4-FFF2-40B4-BE49-F238E27FC236}">
                <a16:creationId xmlns:a16="http://schemas.microsoft.com/office/drawing/2014/main" id="{9C77EFEB-AE3E-B78C-4238-9835E5A3DF78}"/>
              </a:ext>
            </a:extLst>
          </p:cNvPr>
          <p:cNvSpPr/>
          <p:nvPr userDrawn="1"/>
        </p:nvSpPr>
        <p:spPr>
          <a:xfrm>
            <a:off x="2764971" y="-1441319"/>
            <a:ext cx="849085" cy="466531"/>
          </a:xfrm>
          <a:prstGeom prst="rect">
            <a:avLst/>
          </a:prstGeom>
          <a:solidFill>
            <a:srgbClr val="C4D7FC"/>
          </a:solidFill>
          <a:ln w="57150">
            <a:solidFill>
              <a:srgbClr val="6292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rgbClr val="6292F7"/>
              </a:solidFill>
            </a:endParaRPr>
          </a:p>
        </p:txBody>
      </p:sp>
      <p:sp>
        <p:nvSpPr>
          <p:cNvPr id="10" name="Dikdörtgen 7">
            <a:extLst>
              <a:ext uri="{FF2B5EF4-FFF2-40B4-BE49-F238E27FC236}">
                <a16:creationId xmlns:a16="http://schemas.microsoft.com/office/drawing/2014/main" id="{BBDDFFF2-E0BD-2525-CD41-700824436E15}"/>
              </a:ext>
            </a:extLst>
          </p:cNvPr>
          <p:cNvSpPr/>
          <p:nvPr userDrawn="1"/>
        </p:nvSpPr>
        <p:spPr>
          <a:xfrm>
            <a:off x="4608285" y="-1441319"/>
            <a:ext cx="849085" cy="466531"/>
          </a:xfrm>
          <a:prstGeom prst="rect">
            <a:avLst/>
          </a:prstGeom>
          <a:solidFill>
            <a:srgbClr val="DAD3F9"/>
          </a:solidFill>
          <a:ln w="57150">
            <a:solidFill>
              <a:srgbClr val="7A6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1" name="Dikdörtgen 8">
            <a:extLst>
              <a:ext uri="{FF2B5EF4-FFF2-40B4-BE49-F238E27FC236}">
                <a16:creationId xmlns:a16="http://schemas.microsoft.com/office/drawing/2014/main" id="{3D5BDC32-E047-C391-A481-86338ADB1A72}"/>
              </a:ext>
            </a:extLst>
          </p:cNvPr>
          <p:cNvSpPr/>
          <p:nvPr userDrawn="1"/>
        </p:nvSpPr>
        <p:spPr>
          <a:xfrm>
            <a:off x="3686628" y="-1441319"/>
            <a:ext cx="849085" cy="466531"/>
          </a:xfrm>
          <a:prstGeom prst="rect">
            <a:avLst/>
          </a:prstGeom>
          <a:solidFill>
            <a:srgbClr val="F9D3E4"/>
          </a:solidFill>
          <a:ln w="57150">
            <a:solidFill>
              <a:srgbClr val="E125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2" name="Dikdörtgen 9">
            <a:extLst>
              <a:ext uri="{FF2B5EF4-FFF2-40B4-BE49-F238E27FC236}">
                <a16:creationId xmlns:a16="http://schemas.microsoft.com/office/drawing/2014/main" id="{5DFA52B4-89E6-1896-04FB-685134397B03}"/>
              </a:ext>
            </a:extLst>
          </p:cNvPr>
          <p:cNvSpPr/>
          <p:nvPr userDrawn="1"/>
        </p:nvSpPr>
        <p:spPr>
          <a:xfrm>
            <a:off x="921656" y="-1441319"/>
            <a:ext cx="849085" cy="466531"/>
          </a:xfrm>
          <a:prstGeom prst="rect">
            <a:avLst/>
          </a:prstGeom>
          <a:solidFill>
            <a:srgbClr val="FFE0D5"/>
          </a:solidFill>
          <a:ln w="57150">
            <a:solidFill>
              <a:srgbClr val="FF5F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3" name="Dikdörtgen 10">
            <a:extLst>
              <a:ext uri="{FF2B5EF4-FFF2-40B4-BE49-F238E27FC236}">
                <a16:creationId xmlns:a16="http://schemas.microsoft.com/office/drawing/2014/main" id="{CD488E25-E517-4775-D611-520EAF29FE6B}"/>
              </a:ext>
            </a:extLst>
          </p:cNvPr>
          <p:cNvSpPr/>
          <p:nvPr userDrawn="1"/>
        </p:nvSpPr>
        <p:spPr>
          <a:xfrm>
            <a:off x="0" y="-1441319"/>
            <a:ext cx="849085" cy="466531"/>
          </a:xfrm>
          <a:prstGeom prst="rect">
            <a:avLst/>
          </a:prstGeom>
          <a:solidFill>
            <a:srgbClr val="FFEBCD"/>
          </a:solidFill>
          <a:ln w="57150">
            <a:solidFill>
              <a:srgbClr val="F493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4" name="Dikdörtgen 22">
            <a:extLst>
              <a:ext uri="{FF2B5EF4-FFF2-40B4-BE49-F238E27FC236}">
                <a16:creationId xmlns:a16="http://schemas.microsoft.com/office/drawing/2014/main" id="{CC878D4F-7BD4-6825-8A84-4AC45B68A3EB}"/>
              </a:ext>
            </a:extLst>
          </p:cNvPr>
          <p:cNvSpPr/>
          <p:nvPr userDrawn="1"/>
        </p:nvSpPr>
        <p:spPr>
          <a:xfrm>
            <a:off x="0" y="-773468"/>
            <a:ext cx="849085" cy="466531"/>
          </a:xfrm>
          <a:prstGeom prst="rect">
            <a:avLst/>
          </a:prstGeom>
          <a:solidFill>
            <a:srgbClr val="FFF3CE"/>
          </a:solidFill>
          <a:ln w="57150">
            <a:solidFill>
              <a:srgbClr val="FFC3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rgbClr val="6292F7"/>
              </a:solidFill>
            </a:endParaRPr>
          </a:p>
        </p:txBody>
      </p:sp>
      <p:sp>
        <p:nvSpPr>
          <p:cNvPr id="15" name="Dikdörtgen 23">
            <a:extLst>
              <a:ext uri="{FF2B5EF4-FFF2-40B4-BE49-F238E27FC236}">
                <a16:creationId xmlns:a16="http://schemas.microsoft.com/office/drawing/2014/main" id="{DFDFEB74-5DC7-BBA8-B529-9A58B72B69E8}"/>
              </a:ext>
            </a:extLst>
          </p:cNvPr>
          <p:cNvSpPr/>
          <p:nvPr userDrawn="1"/>
        </p:nvSpPr>
        <p:spPr>
          <a:xfrm>
            <a:off x="921657" y="-773468"/>
            <a:ext cx="849085" cy="466531"/>
          </a:xfrm>
          <a:prstGeom prst="rect">
            <a:avLst/>
          </a:prstGeom>
          <a:solidFill>
            <a:srgbClr val="FFEADB"/>
          </a:solidFill>
          <a:ln w="57150">
            <a:solidFill>
              <a:srgbClr val="E56D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6" name="Dikdörtgen 23">
            <a:extLst>
              <a:ext uri="{FF2B5EF4-FFF2-40B4-BE49-F238E27FC236}">
                <a16:creationId xmlns:a16="http://schemas.microsoft.com/office/drawing/2014/main" id="{2AA61FEF-F27E-D3F6-474E-92F14338A979}"/>
              </a:ext>
            </a:extLst>
          </p:cNvPr>
          <p:cNvSpPr/>
          <p:nvPr userDrawn="1"/>
        </p:nvSpPr>
        <p:spPr>
          <a:xfrm>
            <a:off x="1843314" y="-773468"/>
            <a:ext cx="849085" cy="466531"/>
          </a:xfrm>
          <a:prstGeom prst="rect">
            <a:avLst/>
          </a:prstGeom>
          <a:solidFill>
            <a:srgbClr val="E3F3DB"/>
          </a:solidFill>
          <a:ln w="57150">
            <a:solidFill>
              <a:srgbClr val="6EAD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7" name="Dikdörtgen 23">
            <a:extLst>
              <a:ext uri="{FF2B5EF4-FFF2-40B4-BE49-F238E27FC236}">
                <a16:creationId xmlns:a16="http://schemas.microsoft.com/office/drawing/2014/main" id="{05EC8D45-9FA7-E8B9-B84B-BE8DE9F05C54}"/>
              </a:ext>
            </a:extLst>
          </p:cNvPr>
          <p:cNvSpPr/>
          <p:nvPr userDrawn="1"/>
        </p:nvSpPr>
        <p:spPr>
          <a:xfrm>
            <a:off x="2764971" y="-773468"/>
            <a:ext cx="849085" cy="466531"/>
          </a:xfrm>
          <a:prstGeom prst="rect">
            <a:avLst/>
          </a:prstGeom>
          <a:solidFill>
            <a:srgbClr val="E5EFFF"/>
          </a:solidFill>
          <a:ln w="57150">
            <a:solidFill>
              <a:srgbClr val="4473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8" name="Dikdörtgen 23">
            <a:extLst>
              <a:ext uri="{FF2B5EF4-FFF2-40B4-BE49-F238E27FC236}">
                <a16:creationId xmlns:a16="http://schemas.microsoft.com/office/drawing/2014/main" id="{14508526-9C9A-C212-A323-B50477F1AF69}"/>
              </a:ext>
            </a:extLst>
          </p:cNvPr>
          <p:cNvSpPr/>
          <p:nvPr userDrawn="1"/>
        </p:nvSpPr>
        <p:spPr>
          <a:xfrm>
            <a:off x="3686628" y="-773468"/>
            <a:ext cx="849085" cy="466531"/>
          </a:xfrm>
          <a:prstGeom prst="rect">
            <a:avLst/>
          </a:prstGeom>
          <a:solidFill>
            <a:srgbClr val="FFE0D6"/>
          </a:solidFill>
          <a:ln w="57150">
            <a:solidFill>
              <a:srgbClr val="C00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9" name="Dikdörtgen 23">
            <a:extLst>
              <a:ext uri="{FF2B5EF4-FFF2-40B4-BE49-F238E27FC236}">
                <a16:creationId xmlns:a16="http://schemas.microsoft.com/office/drawing/2014/main" id="{52C4D173-A0EA-B547-B48E-D3C2FC9E94F8}"/>
              </a:ext>
            </a:extLst>
          </p:cNvPr>
          <p:cNvSpPr/>
          <p:nvPr userDrawn="1"/>
        </p:nvSpPr>
        <p:spPr>
          <a:xfrm>
            <a:off x="4608285" y="-773468"/>
            <a:ext cx="849085" cy="466531"/>
          </a:xfrm>
          <a:prstGeom prst="rect">
            <a:avLst/>
          </a:prstGeom>
          <a:solidFill>
            <a:srgbClr val="F1EEFC"/>
          </a:solidFill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0" name="Dikdörtgen 23">
            <a:extLst>
              <a:ext uri="{FF2B5EF4-FFF2-40B4-BE49-F238E27FC236}">
                <a16:creationId xmlns:a16="http://schemas.microsoft.com/office/drawing/2014/main" id="{28632F5F-DC3B-228C-04AC-06CB2C94672D}"/>
              </a:ext>
            </a:extLst>
          </p:cNvPr>
          <p:cNvSpPr/>
          <p:nvPr userDrawn="1"/>
        </p:nvSpPr>
        <p:spPr>
          <a:xfrm>
            <a:off x="5529942" y="-773468"/>
            <a:ext cx="849085" cy="466531"/>
          </a:xfrm>
          <a:prstGeom prst="rect">
            <a:avLst/>
          </a:prstGeom>
          <a:solidFill>
            <a:srgbClr val="F2F2F2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1" name="Dikdörtgen 23">
            <a:extLst>
              <a:ext uri="{FF2B5EF4-FFF2-40B4-BE49-F238E27FC236}">
                <a16:creationId xmlns:a16="http://schemas.microsoft.com/office/drawing/2014/main" id="{59D279EA-D8B5-2DFF-3CDD-04FBC84FCBBB}"/>
              </a:ext>
            </a:extLst>
          </p:cNvPr>
          <p:cNvSpPr/>
          <p:nvPr userDrawn="1"/>
        </p:nvSpPr>
        <p:spPr>
          <a:xfrm>
            <a:off x="6451599" y="-773468"/>
            <a:ext cx="849085" cy="466531"/>
          </a:xfrm>
          <a:prstGeom prst="rect">
            <a:avLst/>
          </a:prstGeom>
          <a:solidFill>
            <a:srgbClr val="F8F5E3"/>
          </a:solidFill>
          <a:ln w="57150">
            <a:solidFill>
              <a:srgbClr val="BF8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2" name="Dikdörtgen 23">
            <a:extLst>
              <a:ext uri="{FF2B5EF4-FFF2-40B4-BE49-F238E27FC236}">
                <a16:creationId xmlns:a16="http://schemas.microsoft.com/office/drawing/2014/main" id="{8A5EA238-47C7-DF10-D005-3F3507D382B1}"/>
              </a:ext>
            </a:extLst>
          </p:cNvPr>
          <p:cNvSpPr/>
          <p:nvPr userDrawn="1"/>
        </p:nvSpPr>
        <p:spPr>
          <a:xfrm>
            <a:off x="1843312" y="-1441320"/>
            <a:ext cx="849085" cy="466531"/>
          </a:xfrm>
          <a:prstGeom prst="rect">
            <a:avLst/>
          </a:prstGeom>
          <a:solidFill>
            <a:srgbClr val="E4F2DE"/>
          </a:solidFill>
          <a:ln w="57150">
            <a:solidFill>
              <a:srgbClr val="1081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0ED5D388-A413-2667-5702-2B43F66FE055}"/>
              </a:ext>
            </a:extLst>
          </p:cNvPr>
          <p:cNvSpPr/>
          <p:nvPr userDrawn="1"/>
        </p:nvSpPr>
        <p:spPr>
          <a:xfrm>
            <a:off x="12454055" y="4496931"/>
            <a:ext cx="849085" cy="466531"/>
          </a:xfrm>
          <a:prstGeom prst="rect">
            <a:avLst/>
          </a:prstGeom>
          <a:solidFill>
            <a:srgbClr val="0160A0"/>
          </a:solidFill>
          <a:ln>
            <a:solidFill>
              <a:srgbClr val="016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rgbClr val="6292F7"/>
              </a:solidFill>
            </a:endParaRPr>
          </a:p>
        </p:txBody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67328EDD-E453-377C-FF4E-F950D1529FDB}"/>
              </a:ext>
            </a:extLst>
          </p:cNvPr>
          <p:cNvSpPr/>
          <p:nvPr userDrawn="1"/>
        </p:nvSpPr>
        <p:spPr>
          <a:xfrm>
            <a:off x="12454055" y="5205997"/>
            <a:ext cx="849085" cy="466531"/>
          </a:xfrm>
          <a:prstGeom prst="rect">
            <a:avLst/>
          </a:prstGeom>
          <a:solidFill>
            <a:srgbClr val="7A62E7"/>
          </a:solidFill>
          <a:ln>
            <a:solidFill>
              <a:srgbClr val="7A6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B3517C1A-623A-9FB9-ED4E-17629B624995}"/>
              </a:ext>
            </a:extLst>
          </p:cNvPr>
          <p:cNvSpPr/>
          <p:nvPr userDrawn="1"/>
        </p:nvSpPr>
        <p:spPr>
          <a:xfrm>
            <a:off x="12454055" y="3787865"/>
            <a:ext cx="849085" cy="466531"/>
          </a:xfrm>
          <a:prstGeom prst="rect">
            <a:avLst/>
          </a:prstGeom>
          <a:solidFill>
            <a:srgbClr val="E1257C"/>
          </a:solidFill>
          <a:ln>
            <a:solidFill>
              <a:srgbClr val="E125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CB2A8993-0D2D-E0BB-73AC-6D826651A5FB}"/>
              </a:ext>
            </a:extLst>
          </p:cNvPr>
          <p:cNvSpPr/>
          <p:nvPr userDrawn="1"/>
        </p:nvSpPr>
        <p:spPr>
          <a:xfrm>
            <a:off x="12454055" y="5915062"/>
            <a:ext cx="849085" cy="466531"/>
          </a:xfrm>
          <a:prstGeom prst="rect">
            <a:avLst/>
          </a:prstGeom>
          <a:solidFill>
            <a:srgbClr val="104862"/>
          </a:solidFill>
          <a:ln>
            <a:solidFill>
              <a:srgbClr val="1048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27" name="Dikdörtgen 6">
            <a:extLst>
              <a:ext uri="{FF2B5EF4-FFF2-40B4-BE49-F238E27FC236}">
                <a16:creationId xmlns:a16="http://schemas.microsoft.com/office/drawing/2014/main" id="{48FE8406-1504-5459-45B1-85D2528682A2}"/>
              </a:ext>
            </a:extLst>
          </p:cNvPr>
          <p:cNvSpPr/>
          <p:nvPr userDrawn="1"/>
        </p:nvSpPr>
        <p:spPr>
          <a:xfrm>
            <a:off x="12454055" y="-466531"/>
            <a:ext cx="849085" cy="466531"/>
          </a:xfrm>
          <a:prstGeom prst="rect">
            <a:avLst/>
          </a:prstGeom>
          <a:solidFill>
            <a:srgbClr val="4473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rgbClr val="6292F7"/>
              </a:solidFill>
            </a:endParaRPr>
          </a:p>
        </p:txBody>
      </p:sp>
      <p:sp>
        <p:nvSpPr>
          <p:cNvPr id="28" name="Dikdörtgen 6">
            <a:extLst>
              <a:ext uri="{FF2B5EF4-FFF2-40B4-BE49-F238E27FC236}">
                <a16:creationId xmlns:a16="http://schemas.microsoft.com/office/drawing/2014/main" id="{9326E34B-132E-58EA-E06D-84228D2B7488}"/>
              </a:ext>
            </a:extLst>
          </p:cNvPr>
          <p:cNvSpPr/>
          <p:nvPr userDrawn="1"/>
        </p:nvSpPr>
        <p:spPr>
          <a:xfrm>
            <a:off x="12454055" y="242535"/>
            <a:ext cx="849085" cy="466531"/>
          </a:xfrm>
          <a:prstGeom prst="rect">
            <a:avLst/>
          </a:prstGeom>
          <a:solidFill>
            <a:srgbClr val="F986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rgbClr val="6292F7"/>
              </a:solidFill>
            </a:endParaRPr>
          </a:p>
        </p:txBody>
      </p:sp>
      <p:sp>
        <p:nvSpPr>
          <p:cNvPr id="29" name="Dikdörtgen 6">
            <a:extLst>
              <a:ext uri="{FF2B5EF4-FFF2-40B4-BE49-F238E27FC236}">
                <a16:creationId xmlns:a16="http://schemas.microsoft.com/office/drawing/2014/main" id="{ECB1818B-9360-C9F3-EA7A-A3270CD7D088}"/>
              </a:ext>
            </a:extLst>
          </p:cNvPr>
          <p:cNvSpPr/>
          <p:nvPr userDrawn="1"/>
        </p:nvSpPr>
        <p:spPr>
          <a:xfrm>
            <a:off x="12454055" y="951601"/>
            <a:ext cx="849085" cy="466531"/>
          </a:xfrm>
          <a:prstGeom prst="rect">
            <a:avLst/>
          </a:prstGeom>
          <a:solidFill>
            <a:srgbClr val="C00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rgbClr val="6292F7"/>
              </a:solidFill>
            </a:endParaRPr>
          </a:p>
        </p:txBody>
      </p:sp>
      <p:sp>
        <p:nvSpPr>
          <p:cNvPr id="30" name="Dikdörtgen 6">
            <a:extLst>
              <a:ext uri="{FF2B5EF4-FFF2-40B4-BE49-F238E27FC236}">
                <a16:creationId xmlns:a16="http://schemas.microsoft.com/office/drawing/2014/main" id="{DB4DCFB7-88F2-815B-FB9C-9E49A9693136}"/>
              </a:ext>
            </a:extLst>
          </p:cNvPr>
          <p:cNvSpPr/>
          <p:nvPr userDrawn="1"/>
        </p:nvSpPr>
        <p:spPr>
          <a:xfrm>
            <a:off x="12454055" y="1660667"/>
            <a:ext cx="849085" cy="466531"/>
          </a:xfrm>
          <a:prstGeom prst="rect">
            <a:avLst/>
          </a:prstGeom>
          <a:solidFill>
            <a:srgbClr val="1081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rgbClr val="6292F7"/>
              </a:solidFill>
            </a:endParaRPr>
          </a:p>
        </p:txBody>
      </p:sp>
      <p:sp>
        <p:nvSpPr>
          <p:cNvPr id="31" name="Dikdörtgen 6">
            <a:extLst>
              <a:ext uri="{FF2B5EF4-FFF2-40B4-BE49-F238E27FC236}">
                <a16:creationId xmlns:a16="http://schemas.microsoft.com/office/drawing/2014/main" id="{B91986E1-D13D-8E57-7027-2FB97EC2C711}"/>
              </a:ext>
            </a:extLst>
          </p:cNvPr>
          <p:cNvSpPr/>
          <p:nvPr userDrawn="1"/>
        </p:nvSpPr>
        <p:spPr>
          <a:xfrm>
            <a:off x="12454055" y="2369733"/>
            <a:ext cx="849085" cy="46653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rgbClr val="6292F7"/>
              </a:solidFill>
            </a:endParaRPr>
          </a:p>
        </p:txBody>
      </p:sp>
      <p:sp>
        <p:nvSpPr>
          <p:cNvPr id="32" name="Dikdörtgen 6">
            <a:extLst>
              <a:ext uri="{FF2B5EF4-FFF2-40B4-BE49-F238E27FC236}">
                <a16:creationId xmlns:a16="http://schemas.microsoft.com/office/drawing/2014/main" id="{EB0CBA86-DC9B-975F-7100-1D3B73EA6D43}"/>
              </a:ext>
            </a:extLst>
          </p:cNvPr>
          <p:cNvSpPr/>
          <p:nvPr userDrawn="1"/>
        </p:nvSpPr>
        <p:spPr>
          <a:xfrm>
            <a:off x="12454055" y="3078799"/>
            <a:ext cx="849085" cy="466531"/>
          </a:xfrm>
          <a:prstGeom prst="rect">
            <a:avLst/>
          </a:prstGeom>
          <a:solidFill>
            <a:srgbClr val="FBE5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rgbClr val="6292F7"/>
              </a:solidFill>
            </a:endParaRPr>
          </a:p>
        </p:txBody>
      </p:sp>
      <p:sp>
        <p:nvSpPr>
          <p:cNvPr id="33" name="Dikdörtgen 22">
            <a:extLst>
              <a:ext uri="{FF2B5EF4-FFF2-40B4-BE49-F238E27FC236}">
                <a16:creationId xmlns:a16="http://schemas.microsoft.com/office/drawing/2014/main" id="{1BBC4E49-B067-56DE-634D-23D5B6C20DF0}"/>
              </a:ext>
            </a:extLst>
          </p:cNvPr>
          <p:cNvSpPr/>
          <p:nvPr userDrawn="1"/>
        </p:nvSpPr>
        <p:spPr>
          <a:xfrm>
            <a:off x="12454055" y="6624127"/>
            <a:ext cx="849085" cy="466531"/>
          </a:xfrm>
          <a:prstGeom prst="rect">
            <a:avLst/>
          </a:prstGeom>
          <a:solidFill>
            <a:srgbClr val="FFE69A"/>
          </a:solidFill>
          <a:ln>
            <a:solidFill>
              <a:srgbClr val="FFE6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rgbClr val="6292F7"/>
              </a:solidFill>
            </a:endParaRPr>
          </a:p>
        </p:txBody>
      </p:sp>
      <p:sp>
        <p:nvSpPr>
          <p:cNvPr id="34" name="Dikdörtgen 22">
            <a:extLst>
              <a:ext uri="{FF2B5EF4-FFF2-40B4-BE49-F238E27FC236}">
                <a16:creationId xmlns:a16="http://schemas.microsoft.com/office/drawing/2014/main" id="{E9A4DE2F-EEB6-4D59-619D-28993B44082D}"/>
              </a:ext>
            </a:extLst>
          </p:cNvPr>
          <p:cNvSpPr/>
          <p:nvPr userDrawn="1"/>
        </p:nvSpPr>
        <p:spPr>
          <a:xfrm>
            <a:off x="12454055" y="7333192"/>
            <a:ext cx="849085" cy="466531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rgbClr val="F2F2F2"/>
              </a:solidFill>
            </a:endParaRPr>
          </a:p>
        </p:txBody>
      </p:sp>
      <p:sp>
        <p:nvSpPr>
          <p:cNvPr id="35" name="Dikdörtgen 6">
            <a:extLst>
              <a:ext uri="{FF2B5EF4-FFF2-40B4-BE49-F238E27FC236}">
                <a16:creationId xmlns:a16="http://schemas.microsoft.com/office/drawing/2014/main" id="{236D3C00-F0BE-FBAE-5EC2-6B23F4FFF576}"/>
              </a:ext>
            </a:extLst>
          </p:cNvPr>
          <p:cNvSpPr/>
          <p:nvPr userDrawn="1"/>
        </p:nvSpPr>
        <p:spPr>
          <a:xfrm>
            <a:off x="12454054" y="-1175597"/>
            <a:ext cx="849085" cy="466531"/>
          </a:xfrm>
          <a:prstGeom prst="rect">
            <a:avLst/>
          </a:prstGeom>
          <a:solidFill>
            <a:srgbClr val="1558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rgbClr val="6292F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014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hyperlink" Target="https://hc2023.hotchips.org/assets/program/conference/day1/CPU1/HC2023.Arm.MagnusBruce.v04.FINAL.pdf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hyperlink" Target="https://hc2023.hotchips.org/assets/program/conference/day1/CPU1/HC2023.Arm.MagnusBruce.v04.FINAL.pdf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A1953B-C76D-43B0-931B-3E7C32D834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2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 r="133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D4E1639-D1F1-544E-7B39-B4F8840812A7}"/>
              </a:ext>
            </a:extLst>
          </p:cNvPr>
          <p:cNvSpPr/>
          <p:nvPr/>
        </p:nvSpPr>
        <p:spPr>
          <a:xfrm>
            <a:off x="-251792" y="1585085"/>
            <a:ext cx="12695583" cy="2054087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33E51A-8A74-F6CE-9E22-FFD19F15AD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The 4</a:t>
            </a:r>
            <a:r>
              <a:rPr lang="en-US" b="1" baseline="30000" dirty="0"/>
              <a:t>th</a:t>
            </a:r>
            <a:r>
              <a:rPr lang="en-US" b="1" dirty="0"/>
              <a:t> Data Prefetching Championship (DPC4)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2B6BEB-F6AD-62CA-6FC3-4CCCCC3348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809" y="3856382"/>
            <a:ext cx="11476382" cy="2663687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Co-located with HPCA 2026</a:t>
            </a:r>
          </a:p>
          <a:p>
            <a:endParaRPr lang="en-US" sz="12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Organizers: Rahul Bera, Konstantinos Kanellopoulos, and Onur Mutlu</a:t>
            </a:r>
          </a:p>
          <a:p>
            <a:endParaRPr lang="en-US" sz="14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February 1, 2026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Sydney, Australia</a:t>
            </a:r>
          </a:p>
        </p:txBody>
      </p:sp>
    </p:spTree>
    <p:extLst>
      <p:ext uri="{BB962C8B-B14F-4D97-AF65-F5344CB8AC3E}">
        <p14:creationId xmlns:p14="http://schemas.microsoft.com/office/powerpoint/2010/main" val="324749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A5A73-2999-1D3F-3303-CA584D4B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Care about Prefetching?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987E3-E24D-3BAD-6730-CB14CB1BD3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93658" y="6356350"/>
            <a:ext cx="1326995" cy="365125"/>
          </a:xfrm>
        </p:spPr>
        <p:txBody>
          <a:bodyPr/>
          <a:lstStyle/>
          <a:p>
            <a:fld id="{15745346-2824-5D4D-8997-BD03D4014D71}" type="slidenum">
              <a:rPr lang="en-US" smtClean="0"/>
              <a:t>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2ACD97-9258-BE29-45AE-A96A2D8DB972}"/>
              </a:ext>
            </a:extLst>
          </p:cNvPr>
          <p:cNvSpPr txBox="1"/>
          <p:nvPr/>
        </p:nvSpPr>
        <p:spPr>
          <a:xfrm>
            <a:off x="2315157" y="6275714"/>
            <a:ext cx="75616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Arm Neoverse v2, </a:t>
            </a:r>
            <a:r>
              <a:rPr lang="en-US" sz="1600" dirty="0" err="1"/>
              <a:t>HotChips</a:t>
            </a:r>
            <a:r>
              <a:rPr lang="en-US" sz="1600" dirty="0"/>
              <a:t> 2023</a:t>
            </a:r>
          </a:p>
          <a:p>
            <a:pPr algn="ctr"/>
            <a:r>
              <a:rPr lang="en-US" sz="1200" dirty="0">
                <a:hlinkClick r:id="rId2"/>
              </a:rPr>
              <a:t>https://hc2023.hotchips.org/assets/program/conference/day1/CPU1/HC2023.Arm.MagnusBruce.v04.FINAL.pdf</a:t>
            </a:r>
            <a:endParaRPr lang="en-US" sz="1200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B1C9634B-8D38-C6A6-56E8-CC2ACACCF1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4315" y="1159728"/>
            <a:ext cx="11126558" cy="4906962"/>
          </a:xfr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AB09D16-58D1-E8A0-28A3-068DCF3B9329}"/>
              </a:ext>
            </a:extLst>
          </p:cNvPr>
          <p:cNvSpPr/>
          <p:nvPr/>
        </p:nvSpPr>
        <p:spPr>
          <a:xfrm>
            <a:off x="8206451" y="3613209"/>
            <a:ext cx="983848" cy="89125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4358E3-BD9D-E35F-64ED-E2A865B23050}"/>
              </a:ext>
            </a:extLst>
          </p:cNvPr>
          <p:cNvSpPr/>
          <p:nvPr/>
        </p:nvSpPr>
        <p:spPr>
          <a:xfrm>
            <a:off x="2390393" y="5034986"/>
            <a:ext cx="1892240" cy="66328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938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E1C4D-6F01-34E5-683A-F2BA91503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84375-6C31-281C-7E52-3D45C12F9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Care about Prefetching?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47577F-3A8D-9054-3478-874F7030A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93658" y="6356350"/>
            <a:ext cx="1326995" cy="365125"/>
          </a:xfrm>
        </p:spPr>
        <p:txBody>
          <a:bodyPr/>
          <a:lstStyle/>
          <a:p>
            <a:fld id="{15745346-2824-5D4D-8997-BD03D4014D71}" type="slidenum">
              <a:rPr lang="en-US" smtClean="0"/>
              <a:t>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B2E710-D95B-E1AA-DC9B-E031CABC704A}"/>
              </a:ext>
            </a:extLst>
          </p:cNvPr>
          <p:cNvSpPr txBox="1"/>
          <p:nvPr/>
        </p:nvSpPr>
        <p:spPr>
          <a:xfrm>
            <a:off x="2315157" y="6275714"/>
            <a:ext cx="75616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Arm Neoverse v2, </a:t>
            </a:r>
            <a:r>
              <a:rPr lang="en-US" sz="1600" dirty="0" err="1"/>
              <a:t>HotChips</a:t>
            </a:r>
            <a:r>
              <a:rPr lang="en-US" sz="1600" dirty="0"/>
              <a:t> 2023</a:t>
            </a:r>
          </a:p>
          <a:p>
            <a:pPr algn="ctr"/>
            <a:r>
              <a:rPr lang="en-US" sz="1200" dirty="0">
                <a:hlinkClick r:id="rId2"/>
              </a:rPr>
              <a:t>https://hc2023.hotchips.org/assets/program/conference/day1/CPU1/HC2023.Arm.MagnusBruce.v04.FINAL.pdf</a:t>
            </a:r>
            <a:endParaRPr lang="en-US" sz="1200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76FA8495-A3CF-4848-0F5A-5617A29795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4315" y="1159728"/>
            <a:ext cx="11126558" cy="4906962"/>
          </a:xfr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0F2EB66-ED3A-4A4E-2736-6E132126BFEA}"/>
              </a:ext>
            </a:extLst>
          </p:cNvPr>
          <p:cNvSpPr/>
          <p:nvPr/>
        </p:nvSpPr>
        <p:spPr>
          <a:xfrm>
            <a:off x="8206451" y="3613209"/>
            <a:ext cx="983848" cy="89125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73991B-D0EB-F305-6168-FCC2D43B3EA5}"/>
              </a:ext>
            </a:extLst>
          </p:cNvPr>
          <p:cNvSpPr/>
          <p:nvPr/>
        </p:nvSpPr>
        <p:spPr>
          <a:xfrm>
            <a:off x="2390393" y="5034986"/>
            <a:ext cx="1892240" cy="66328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B7FD63-3213-61EF-9334-7F22EF5BF635}"/>
              </a:ext>
            </a:extLst>
          </p:cNvPr>
          <p:cNvSpPr/>
          <p:nvPr/>
        </p:nvSpPr>
        <p:spPr>
          <a:xfrm>
            <a:off x="205120" y="1041722"/>
            <a:ext cx="11781757" cy="575721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oogle Shape;664;p5">
            <a:extLst>
              <a:ext uri="{FF2B5EF4-FFF2-40B4-BE49-F238E27FC236}">
                <a16:creationId xmlns:a16="http://schemas.microsoft.com/office/drawing/2014/main" id="{AF468F7A-9368-6D90-3BA9-C7E2F03B57C9}"/>
              </a:ext>
            </a:extLst>
          </p:cNvPr>
          <p:cNvSpPr/>
          <p:nvPr/>
        </p:nvSpPr>
        <p:spPr>
          <a:xfrm>
            <a:off x="-172677" y="2878823"/>
            <a:ext cx="12537350" cy="1100354"/>
          </a:xfrm>
          <a:prstGeom prst="rect">
            <a:avLst/>
          </a:prstGeom>
          <a:solidFill>
            <a:srgbClr val="FFE699"/>
          </a:solidFill>
          <a:ln w="28575">
            <a:solidFill>
              <a:schemeClr val="tx2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3200"/>
              <a:defRPr/>
            </a:pPr>
            <a:r>
              <a:rPr lang="en-US" sz="3200" b="1" kern="0" dirty="0">
                <a:solidFill>
                  <a:schemeClr val="tx2"/>
                </a:solidFill>
                <a:cs typeface="Poppins Medium"/>
                <a:sym typeface="Poppins Medium"/>
              </a:rPr>
              <a:t>Prefetching is </a:t>
            </a:r>
            <a:r>
              <a:rPr lang="en-US" sz="3200" b="1" kern="0" dirty="0">
                <a:solidFill>
                  <a:srgbClr val="C00000"/>
                </a:solidFill>
                <a:cs typeface="Poppins Medium"/>
                <a:sym typeface="Poppins Medium"/>
              </a:rPr>
              <a:t>important</a:t>
            </a:r>
            <a:r>
              <a:rPr lang="en-US" sz="3200" b="1" kern="0" dirty="0">
                <a:solidFill>
                  <a:schemeClr val="tx2"/>
                </a:solidFill>
                <a:cs typeface="Poppins Medium"/>
                <a:sym typeface="Poppins Medium"/>
              </a:rPr>
              <a:t> for providing performance</a:t>
            </a:r>
            <a:endParaRPr lang="en-US" sz="3200" b="1" kern="0" dirty="0">
              <a:solidFill>
                <a:schemeClr val="tx2"/>
              </a:solidFill>
              <a:cs typeface="Poppins Medium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15701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AC27B-33D0-035A-4AD1-F3A6429C1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Another DPC?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744C9-49AB-5AA9-3CD3-6AEC657F5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It’s been a while ...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0D4598-BF8C-AECC-03FC-42FE61A3BE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5745346-2824-5D4D-8997-BD03D4014D71}" type="slidenum">
              <a:rPr lang="en-US" smtClean="0"/>
              <a:pPr/>
              <a:t>4</a:t>
            </a:fld>
            <a:endParaRPr lang="en-US" sz="1600" dirty="0"/>
          </a:p>
        </p:txBody>
      </p:sp>
      <p:sp>
        <p:nvSpPr>
          <p:cNvPr id="5" name="Pentagon 4">
            <a:extLst>
              <a:ext uri="{FF2B5EF4-FFF2-40B4-BE49-F238E27FC236}">
                <a16:creationId xmlns:a16="http://schemas.microsoft.com/office/drawing/2014/main" id="{D7F86FBA-B81C-FCE5-7B97-49D21C0AE50D}"/>
              </a:ext>
            </a:extLst>
          </p:cNvPr>
          <p:cNvSpPr/>
          <p:nvPr/>
        </p:nvSpPr>
        <p:spPr>
          <a:xfrm>
            <a:off x="771645" y="3266954"/>
            <a:ext cx="10648709" cy="324091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073A32-4E7C-534F-4F8B-41D1773DD508}"/>
              </a:ext>
            </a:extLst>
          </p:cNvPr>
          <p:cNvSpPr txBox="1"/>
          <p:nvPr/>
        </p:nvSpPr>
        <p:spPr>
          <a:xfrm>
            <a:off x="1383537" y="3747161"/>
            <a:ext cx="157447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DPC1</a:t>
            </a:r>
          </a:p>
          <a:p>
            <a:r>
              <a:rPr lang="en-US" sz="2200" i="1" dirty="0">
                <a:solidFill>
                  <a:schemeClr val="accent1"/>
                </a:solidFill>
              </a:rPr>
              <a:t>HPCA 2009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34264B7-01D8-8B2C-FA57-D49BB4DDEF33}"/>
              </a:ext>
            </a:extLst>
          </p:cNvPr>
          <p:cNvCxnSpPr>
            <a:cxnSpLocks/>
          </p:cNvCxnSpPr>
          <p:nvPr/>
        </p:nvCxnSpPr>
        <p:spPr>
          <a:xfrm>
            <a:off x="1301858" y="3428999"/>
            <a:ext cx="0" cy="1251489"/>
          </a:xfrm>
          <a:prstGeom prst="line">
            <a:avLst/>
          </a:prstGeom>
          <a:ln w="44450"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335169B-7F08-DE2A-292F-6F1EA79E8B26}"/>
              </a:ext>
            </a:extLst>
          </p:cNvPr>
          <p:cNvSpPr txBox="1"/>
          <p:nvPr/>
        </p:nvSpPr>
        <p:spPr>
          <a:xfrm>
            <a:off x="3663915" y="4838495"/>
            <a:ext cx="144302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DPC2</a:t>
            </a:r>
          </a:p>
          <a:p>
            <a:r>
              <a:rPr lang="en-US" sz="2200" i="1" dirty="0">
                <a:solidFill>
                  <a:schemeClr val="accent1"/>
                </a:solidFill>
              </a:rPr>
              <a:t>ISCA 2015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DCAEFF7-FF0D-3F9A-3AF7-22C53E89E43A}"/>
              </a:ext>
            </a:extLst>
          </p:cNvPr>
          <p:cNvCxnSpPr>
            <a:cxnSpLocks/>
          </p:cNvCxnSpPr>
          <p:nvPr/>
        </p:nvCxnSpPr>
        <p:spPr>
          <a:xfrm>
            <a:off x="5342476" y="3428999"/>
            <a:ext cx="0" cy="1251489"/>
          </a:xfrm>
          <a:prstGeom prst="line">
            <a:avLst/>
          </a:prstGeom>
          <a:ln w="44450"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6D22CA1-7BF9-BD38-CF69-C2AD4D8B41BB}"/>
              </a:ext>
            </a:extLst>
          </p:cNvPr>
          <p:cNvSpPr txBox="1"/>
          <p:nvPr/>
        </p:nvSpPr>
        <p:spPr>
          <a:xfrm>
            <a:off x="10231465" y="3769112"/>
            <a:ext cx="157447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DPC4</a:t>
            </a:r>
          </a:p>
          <a:p>
            <a:r>
              <a:rPr lang="en-US" sz="2200" i="1" dirty="0">
                <a:solidFill>
                  <a:schemeClr val="accent1"/>
                </a:solidFill>
              </a:rPr>
              <a:t>HPCA 2026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103E3C2-06D0-624E-A88D-5E339A40804A}"/>
              </a:ext>
            </a:extLst>
          </p:cNvPr>
          <p:cNvCxnSpPr>
            <a:cxnSpLocks/>
          </p:cNvCxnSpPr>
          <p:nvPr/>
        </p:nvCxnSpPr>
        <p:spPr>
          <a:xfrm>
            <a:off x="10208945" y="3428999"/>
            <a:ext cx="0" cy="1251489"/>
          </a:xfrm>
          <a:prstGeom prst="line">
            <a:avLst/>
          </a:prstGeom>
          <a:ln w="44450"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5125919-2B8C-9310-246C-F36DF5D43314}"/>
              </a:ext>
            </a:extLst>
          </p:cNvPr>
          <p:cNvSpPr txBox="1"/>
          <p:nvPr/>
        </p:nvSpPr>
        <p:spPr>
          <a:xfrm>
            <a:off x="6287167" y="4838495"/>
            <a:ext cx="262033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ML Prefetching</a:t>
            </a:r>
          </a:p>
          <a:p>
            <a:r>
              <a:rPr lang="en-US" sz="2200" i="1" dirty="0">
                <a:solidFill>
                  <a:schemeClr val="accent1"/>
                </a:solidFill>
              </a:rPr>
              <a:t>ISCA 2021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C9C2E90-0313-8EB1-4D8A-C43AA0620BEB}"/>
              </a:ext>
            </a:extLst>
          </p:cNvPr>
          <p:cNvCxnSpPr>
            <a:cxnSpLocks/>
          </p:cNvCxnSpPr>
          <p:nvPr/>
        </p:nvCxnSpPr>
        <p:spPr>
          <a:xfrm>
            <a:off x="6239208" y="3428999"/>
            <a:ext cx="0" cy="2271270"/>
          </a:xfrm>
          <a:prstGeom prst="line">
            <a:avLst/>
          </a:prstGeom>
          <a:ln w="44450">
            <a:prstDash val="sysDash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FD3080-62FB-365E-5EF3-B75C81D575A7}"/>
              </a:ext>
            </a:extLst>
          </p:cNvPr>
          <p:cNvCxnSpPr>
            <a:cxnSpLocks/>
          </p:cNvCxnSpPr>
          <p:nvPr/>
        </p:nvCxnSpPr>
        <p:spPr>
          <a:xfrm>
            <a:off x="3570916" y="3428999"/>
            <a:ext cx="0" cy="2271270"/>
          </a:xfrm>
          <a:prstGeom prst="line">
            <a:avLst/>
          </a:prstGeom>
          <a:ln w="44450"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Left Brace 27">
            <a:extLst>
              <a:ext uri="{FF2B5EF4-FFF2-40B4-BE49-F238E27FC236}">
                <a16:creationId xmlns:a16="http://schemas.microsoft.com/office/drawing/2014/main" id="{54FD1D81-73DC-15BB-3974-680F412A0741}"/>
              </a:ext>
            </a:extLst>
          </p:cNvPr>
          <p:cNvSpPr/>
          <p:nvPr/>
        </p:nvSpPr>
        <p:spPr>
          <a:xfrm rot="5400000">
            <a:off x="3493441" y="443129"/>
            <a:ext cx="554184" cy="493735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50B46C-6C28-42A6-5C8E-FC202A42E074}"/>
              </a:ext>
            </a:extLst>
          </p:cNvPr>
          <p:cNvSpPr txBox="1"/>
          <p:nvPr/>
        </p:nvSpPr>
        <p:spPr>
          <a:xfrm>
            <a:off x="5406501" y="3769112"/>
            <a:ext cx="1443024" cy="86177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b="1" dirty="0"/>
              <a:t>DPC3</a:t>
            </a:r>
          </a:p>
          <a:p>
            <a:r>
              <a:rPr lang="en-US" sz="2200" i="1" dirty="0">
                <a:solidFill>
                  <a:schemeClr val="accent1"/>
                </a:solidFill>
              </a:rPr>
              <a:t>ISCA 2019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2AF975-FE67-EB0F-039A-D8F582B285D6}"/>
              </a:ext>
            </a:extLst>
          </p:cNvPr>
          <p:cNvSpPr txBox="1"/>
          <p:nvPr/>
        </p:nvSpPr>
        <p:spPr>
          <a:xfrm>
            <a:off x="2612641" y="2112601"/>
            <a:ext cx="23763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Once in ~4 years</a:t>
            </a:r>
          </a:p>
        </p:txBody>
      </p:sp>
      <p:sp>
        <p:nvSpPr>
          <p:cNvPr id="30" name="Left Brace 29">
            <a:extLst>
              <a:ext uri="{FF2B5EF4-FFF2-40B4-BE49-F238E27FC236}">
                <a16:creationId xmlns:a16="http://schemas.microsoft.com/office/drawing/2014/main" id="{7D673948-F8B8-5D06-39E1-8B5353A775CC}"/>
              </a:ext>
            </a:extLst>
          </p:cNvPr>
          <p:cNvSpPr/>
          <p:nvPr/>
        </p:nvSpPr>
        <p:spPr>
          <a:xfrm rot="5400000">
            <a:off x="7407556" y="362023"/>
            <a:ext cx="758829" cy="4888989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68C072-3400-6EFF-33B0-E93C09F149F7}"/>
              </a:ext>
            </a:extLst>
          </p:cNvPr>
          <p:cNvSpPr txBox="1"/>
          <p:nvPr/>
        </p:nvSpPr>
        <p:spPr>
          <a:xfrm>
            <a:off x="7143011" y="1945356"/>
            <a:ext cx="1337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~7 years</a:t>
            </a:r>
          </a:p>
        </p:txBody>
      </p:sp>
    </p:spTree>
    <p:extLst>
      <p:ext uri="{BB962C8B-B14F-4D97-AF65-F5344CB8AC3E}">
        <p14:creationId xmlns:p14="http://schemas.microsoft.com/office/powerpoint/2010/main" val="813584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9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2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/>
      <p:bldP spid="13" grpId="0"/>
      <p:bldP spid="17" grpId="0"/>
      <p:bldP spid="19" grpId="0"/>
      <p:bldP spid="28" grpId="0" animBg="1"/>
      <p:bldP spid="15" grpId="0" animBg="1"/>
      <p:bldP spid="29" grpId="0"/>
      <p:bldP spid="30" grpId="0" animBg="1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D3239-4E57-2551-72B6-587DFFF47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Changed since Last DPC?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0E1F8-80E4-EF71-1A2D-236389DCD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5745346-2824-5D4D-8997-BD03D4014D71}" type="slidenum">
              <a:rPr lang="en-US" smtClean="0"/>
              <a:pPr/>
              <a:t>5</a:t>
            </a:fld>
            <a:endParaRPr lang="en-US" sz="1600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840105E-9CB3-F1F0-D4F8-D9333E9AF04C}"/>
              </a:ext>
            </a:extLst>
          </p:cNvPr>
          <p:cNvSpPr/>
          <p:nvPr/>
        </p:nvSpPr>
        <p:spPr>
          <a:xfrm>
            <a:off x="187430" y="4085863"/>
            <a:ext cx="3747964" cy="1704160"/>
          </a:xfrm>
          <a:prstGeom prst="roundRect">
            <a:avLst>
              <a:gd name="adj" fmla="val 3835"/>
            </a:avLst>
          </a:prstGeom>
          <a:solidFill>
            <a:srgbClr val="FFF3CE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tx1"/>
              </a:buClr>
            </a:pPr>
            <a:r>
              <a:rPr lang="en-US" sz="2200" dirty="0">
                <a:solidFill>
                  <a:schemeClr val="tx1"/>
                </a:solidFill>
              </a:rPr>
              <a:t>AI/ML inference,</a:t>
            </a:r>
          </a:p>
          <a:p>
            <a:pPr algn="ctr">
              <a:buClr>
                <a:schemeClr val="tx1"/>
              </a:buClr>
            </a:pPr>
            <a:r>
              <a:rPr lang="en-US" sz="2200" dirty="0">
                <a:solidFill>
                  <a:schemeClr val="tx1"/>
                </a:solidFill>
              </a:rPr>
              <a:t>datacenter-class workloads,</a:t>
            </a:r>
          </a:p>
          <a:p>
            <a:pPr algn="ctr">
              <a:buClr>
                <a:schemeClr val="tx1"/>
              </a:buClr>
            </a:pPr>
            <a:r>
              <a:rPr lang="en-US" sz="2200" dirty="0">
                <a:solidFill>
                  <a:schemeClr val="tx1"/>
                </a:solidFill>
              </a:rPr>
              <a:t>complex graph-based apps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495AE98-15DB-6CB3-5F6F-76035FEB601F}"/>
              </a:ext>
            </a:extLst>
          </p:cNvPr>
          <p:cNvSpPr/>
          <p:nvPr/>
        </p:nvSpPr>
        <p:spPr>
          <a:xfrm>
            <a:off x="981473" y="3753161"/>
            <a:ext cx="2159878" cy="46673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Workloads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607DF30-B811-D5CD-2C65-84F9882408B9}"/>
              </a:ext>
            </a:extLst>
          </p:cNvPr>
          <p:cNvSpPr/>
          <p:nvPr/>
        </p:nvSpPr>
        <p:spPr>
          <a:xfrm>
            <a:off x="4222018" y="4085862"/>
            <a:ext cx="3747964" cy="1704160"/>
          </a:xfrm>
          <a:prstGeom prst="roundRect">
            <a:avLst>
              <a:gd name="adj" fmla="val 3835"/>
            </a:avLst>
          </a:prstGeom>
          <a:solidFill>
            <a:srgbClr val="F1EEFD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tx1"/>
              </a:buClr>
            </a:pPr>
            <a:r>
              <a:rPr lang="en-US" sz="2200" dirty="0">
                <a:solidFill>
                  <a:schemeClr val="tx1"/>
                </a:solidFill>
              </a:rPr>
              <a:t>Ever increasing working dataset size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1D83668-DDA9-E457-2EEF-C66CD57F9450}"/>
              </a:ext>
            </a:extLst>
          </p:cNvPr>
          <p:cNvSpPr/>
          <p:nvPr/>
        </p:nvSpPr>
        <p:spPr>
          <a:xfrm>
            <a:off x="4448363" y="3753161"/>
            <a:ext cx="3295274" cy="466732"/>
          </a:xfrm>
          <a:prstGeom prst="round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Data Footprint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699FE3D-594B-ADBF-B4FC-666934479A77}"/>
              </a:ext>
            </a:extLst>
          </p:cNvPr>
          <p:cNvSpPr/>
          <p:nvPr/>
        </p:nvSpPr>
        <p:spPr>
          <a:xfrm>
            <a:off x="8256606" y="4085862"/>
            <a:ext cx="3747964" cy="1704160"/>
          </a:xfrm>
          <a:prstGeom prst="roundRect">
            <a:avLst>
              <a:gd name="adj" fmla="val 3835"/>
            </a:avLst>
          </a:prstGeom>
          <a:solidFill>
            <a:srgbClr val="E5F4E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tx1"/>
              </a:buClr>
            </a:pPr>
            <a:r>
              <a:rPr lang="en-US" sz="2200" dirty="0">
                <a:solidFill>
                  <a:schemeClr val="tx1"/>
                </a:solidFill>
              </a:rPr>
              <a:t>32+ core datacenter-class processors with limited </a:t>
            </a:r>
          </a:p>
          <a:p>
            <a:pPr algn="ctr">
              <a:buClr>
                <a:schemeClr val="tx1"/>
              </a:buClr>
            </a:pPr>
            <a:r>
              <a:rPr lang="en-US" sz="2200" dirty="0">
                <a:solidFill>
                  <a:schemeClr val="tx1"/>
                </a:solidFill>
              </a:rPr>
              <a:t>per-core DRAM bandwidth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7A99FD7-561D-B916-74B1-FD32FF1C1E01}"/>
              </a:ext>
            </a:extLst>
          </p:cNvPr>
          <p:cNvSpPr/>
          <p:nvPr/>
        </p:nvSpPr>
        <p:spPr>
          <a:xfrm>
            <a:off x="8477802" y="3753161"/>
            <a:ext cx="3305572" cy="466732"/>
          </a:xfrm>
          <a:prstGeom prst="roundRect">
            <a:avLst/>
          </a:prstGeom>
          <a:solidFill>
            <a:srgbClr val="11813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System Configuration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0837A53-BA33-02C0-F54E-EED219303C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079" t="26864" r="15363" b="30102"/>
          <a:stretch>
            <a:fillRect/>
          </a:stretch>
        </p:blipFill>
        <p:spPr>
          <a:xfrm>
            <a:off x="334536" y="1545994"/>
            <a:ext cx="1578210" cy="57119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1ECF8E5-8463-0F97-A341-F3AFD238A7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299" t="20440" r="10282" b="26229"/>
          <a:stretch>
            <a:fillRect/>
          </a:stretch>
        </p:blipFill>
        <p:spPr>
          <a:xfrm>
            <a:off x="2061412" y="1467966"/>
            <a:ext cx="1728216" cy="64922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253643D-A9F7-DD59-D2E2-D6F264F520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380" y="2247814"/>
            <a:ext cx="2569404" cy="1281774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82F1A276-B589-F4F1-D1FD-FED2DD6425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5910" t="4095" r="7377" b="22212"/>
          <a:stretch>
            <a:fillRect/>
          </a:stretch>
        </p:blipFill>
        <p:spPr>
          <a:xfrm>
            <a:off x="5136411" y="1616864"/>
            <a:ext cx="1815046" cy="191272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BD9F8B2-7C9F-10E1-74E5-DEDFA3E40B2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2783" t="2356" r="6038" b="3082"/>
          <a:stretch>
            <a:fillRect/>
          </a:stretch>
        </p:blipFill>
        <p:spPr>
          <a:xfrm>
            <a:off x="7969982" y="1172671"/>
            <a:ext cx="1890528" cy="165641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984603B-E19D-C0D5-EC17-D89B032FBF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9592" y="2289997"/>
            <a:ext cx="2107322" cy="129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434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2BAB0-DD55-E897-546D-F3A223496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of DPC4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EDD73F-ED9D-72C9-D08E-799FA7966F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5745346-2824-5D4D-8997-BD03D4014D71}" type="slidenum">
              <a:rPr lang="en-US" smtClean="0"/>
              <a:pPr/>
              <a:t>6</a:t>
            </a:fld>
            <a:endParaRPr lang="en-US" sz="1600" dirty="0"/>
          </a:p>
        </p:txBody>
      </p:sp>
      <p:sp>
        <p:nvSpPr>
          <p:cNvPr id="5" name="Google Shape;664;p5">
            <a:extLst>
              <a:ext uri="{FF2B5EF4-FFF2-40B4-BE49-F238E27FC236}">
                <a16:creationId xmlns:a16="http://schemas.microsoft.com/office/drawing/2014/main" id="{FD828C49-7A82-42FD-FE15-961863DB1B09}"/>
              </a:ext>
            </a:extLst>
          </p:cNvPr>
          <p:cNvSpPr/>
          <p:nvPr/>
        </p:nvSpPr>
        <p:spPr>
          <a:xfrm>
            <a:off x="-172675" y="2466664"/>
            <a:ext cx="12537350" cy="2221083"/>
          </a:xfrm>
          <a:prstGeom prst="rect">
            <a:avLst/>
          </a:prstGeom>
          <a:solidFill>
            <a:srgbClr val="DEFFD4"/>
          </a:solidFill>
          <a:ln w="28575"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3200"/>
              <a:defRPr/>
            </a:pPr>
            <a:r>
              <a:rPr lang="en-US" sz="3200" b="1" kern="0" dirty="0">
                <a:solidFill>
                  <a:schemeClr val="tx2"/>
                </a:solidFill>
                <a:cs typeface="Poppins Medium"/>
                <a:sym typeface="Poppins Medium"/>
              </a:rPr>
              <a:t>Evaluate </a:t>
            </a:r>
            <a:r>
              <a:rPr lang="en-US" sz="3200" b="1" kern="0" dirty="0">
                <a:solidFill>
                  <a:srgbClr val="0065FF"/>
                </a:solidFill>
                <a:cs typeface="Poppins Medium"/>
                <a:sym typeface="Poppins Medium"/>
              </a:rPr>
              <a:t>innovative ideas </a:t>
            </a:r>
            <a:r>
              <a:rPr lang="en-US" sz="3200" b="1" kern="0" dirty="0">
                <a:solidFill>
                  <a:schemeClr val="tx2"/>
                </a:solidFill>
                <a:cs typeface="Poppins Medium"/>
                <a:sym typeface="Poppins Medium"/>
              </a:rPr>
              <a:t>on prefetching</a:t>
            </a:r>
          </a:p>
          <a:p>
            <a:pPr algn="ctr">
              <a:buClr>
                <a:srgbClr val="FFFFFF"/>
              </a:buClr>
              <a:buSzPts val="3200"/>
              <a:defRPr/>
            </a:pPr>
            <a:r>
              <a:rPr lang="en-US" sz="3200" b="1" kern="0" dirty="0">
                <a:solidFill>
                  <a:schemeClr val="tx2"/>
                </a:solidFill>
                <a:cs typeface="Poppins Medium"/>
                <a:sym typeface="Poppins Medium"/>
              </a:rPr>
              <a:t>under a </a:t>
            </a:r>
            <a:r>
              <a:rPr lang="en-US" sz="3200" b="1" kern="0" dirty="0">
                <a:solidFill>
                  <a:schemeClr val="accent5"/>
                </a:solidFill>
                <a:cs typeface="Poppins Medium"/>
                <a:sym typeface="Poppins Medium"/>
              </a:rPr>
              <a:t>common evaluation framework</a:t>
            </a:r>
          </a:p>
          <a:p>
            <a:pPr algn="ctr">
              <a:buClr>
                <a:srgbClr val="FFFFFF"/>
              </a:buClr>
              <a:buSzPts val="3200"/>
              <a:defRPr/>
            </a:pPr>
            <a:r>
              <a:rPr lang="en-US" sz="3200" b="1" kern="0" dirty="0">
                <a:solidFill>
                  <a:schemeClr val="tx2"/>
                </a:solidFill>
                <a:cs typeface="Poppins Medium"/>
                <a:sym typeface="Arial"/>
              </a:rPr>
              <a:t>to </a:t>
            </a:r>
            <a:r>
              <a:rPr lang="en-US" sz="3200" b="1" kern="0" dirty="0">
                <a:solidFill>
                  <a:srgbClr val="C00000"/>
                </a:solidFill>
                <a:cs typeface="Poppins Medium"/>
                <a:sym typeface="Arial"/>
              </a:rPr>
              <a:t>tangibly advance</a:t>
            </a:r>
            <a:r>
              <a:rPr lang="en-US" sz="3200" b="1" kern="0" dirty="0">
                <a:solidFill>
                  <a:schemeClr val="tx2"/>
                </a:solidFill>
                <a:cs typeface="Poppins Medium"/>
                <a:sym typeface="Arial"/>
              </a:rPr>
              <a:t> the state-of-the-art</a:t>
            </a:r>
          </a:p>
        </p:txBody>
      </p:sp>
    </p:spTree>
    <p:extLst>
      <p:ext uri="{BB962C8B-B14F-4D97-AF65-F5344CB8AC3E}">
        <p14:creationId xmlns:p14="http://schemas.microsoft.com/office/powerpoint/2010/main" val="581262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C8BA-B55F-45D7-680E-134530922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 of DPC4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D0AC9-B92B-78C8-1CF0-B39BF069E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Simulator: </a:t>
            </a:r>
            <a:r>
              <a:rPr lang="en-US" dirty="0" err="1"/>
              <a:t>ChampSim</a:t>
            </a:r>
            <a:endParaRPr lang="en-US" dirty="0"/>
          </a:p>
          <a:p>
            <a:endParaRPr lang="en-US" dirty="0"/>
          </a:p>
          <a:p>
            <a:r>
              <a:rPr lang="en-US" dirty="0"/>
              <a:t>Participants are free to implement prefetchers at L1/L2/LLC</a:t>
            </a:r>
          </a:p>
          <a:p>
            <a:endParaRPr lang="en-US" dirty="0"/>
          </a:p>
          <a:p>
            <a:r>
              <a:rPr lang="en-US" dirty="0"/>
              <a:t>Limited hardware budget</a:t>
            </a:r>
          </a:p>
          <a:p>
            <a:pPr lvl="1"/>
            <a:r>
              <a:rPr lang="en-US" b="1" dirty="0"/>
              <a:t>32KB</a:t>
            </a:r>
            <a:r>
              <a:rPr lang="en-US" dirty="0"/>
              <a:t> for L1 data cache prefetcher</a:t>
            </a:r>
          </a:p>
          <a:p>
            <a:pPr lvl="1"/>
            <a:r>
              <a:rPr lang="en-US" b="1" dirty="0"/>
              <a:t>128KB</a:t>
            </a:r>
            <a:r>
              <a:rPr lang="en-US" dirty="0"/>
              <a:t> for L2 prefetcher</a:t>
            </a:r>
          </a:p>
          <a:p>
            <a:pPr lvl="1"/>
            <a:r>
              <a:rPr lang="en-US" b="1" dirty="0"/>
              <a:t>256KB</a:t>
            </a:r>
            <a:r>
              <a:rPr lang="en-US" dirty="0"/>
              <a:t> for LLC prefetcher</a:t>
            </a:r>
          </a:p>
          <a:p>
            <a:pPr lvl="1"/>
            <a:endParaRPr lang="en-US" dirty="0"/>
          </a:p>
          <a:p>
            <a:r>
              <a:rPr lang="en-US" dirty="0"/>
              <a:t>No limitation in complexity </a:t>
            </a:r>
          </a:p>
          <a:p>
            <a:endParaRPr lang="en-US" dirty="0"/>
          </a:p>
          <a:p>
            <a:r>
              <a:rPr lang="en-US" dirty="0"/>
              <a:t>System-level feedback are available to enable dynamic adaptation</a:t>
            </a:r>
          </a:p>
          <a:p>
            <a:pPr lvl="1"/>
            <a:r>
              <a:rPr lang="en-US" dirty="0"/>
              <a:t>Prefetcher accuracy, memory bandwidth usage, rolling-window IPC, ...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2AA29-511A-9EC8-67C9-1934F20E33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5745346-2824-5D4D-8997-BD03D4014D71}" type="slidenum">
              <a:rPr lang="en-US" smtClean="0"/>
              <a:pPr/>
              <a:t>7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11781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7ABD9-336A-E8FC-BB1E-01AA1BEB5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41B61-E615-0550-2300-295EFFFF7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Things in DPC4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D56C67-1489-7211-B5D9-9DCA36D68E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5745346-2824-5D4D-8997-BD03D4014D71}" type="slidenum">
              <a:rPr lang="en-US" smtClean="0"/>
              <a:pPr/>
              <a:t>8</a:t>
            </a:fld>
            <a:endParaRPr lang="en-US" sz="1600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895EC8E-B473-B377-E94F-AFC3B2F55D52}"/>
              </a:ext>
            </a:extLst>
          </p:cNvPr>
          <p:cNvSpPr/>
          <p:nvPr/>
        </p:nvSpPr>
        <p:spPr>
          <a:xfrm>
            <a:off x="851343" y="1448784"/>
            <a:ext cx="10542322" cy="1904098"/>
          </a:xfrm>
          <a:prstGeom prst="roundRect">
            <a:avLst>
              <a:gd name="adj" fmla="val 3835"/>
            </a:avLst>
          </a:prstGeom>
          <a:solidFill>
            <a:srgbClr val="FFF3CE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State-of-the-art AI/ML inference</a:t>
            </a:r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LLama2 (LLM), </a:t>
            </a:r>
            <a:r>
              <a:rPr lang="en-US" sz="2200" dirty="0" err="1">
                <a:solidFill>
                  <a:schemeClr val="tx1"/>
                </a:solidFill>
              </a:rPr>
              <a:t>ViT</a:t>
            </a:r>
            <a:r>
              <a:rPr lang="en-US" sz="2200" dirty="0">
                <a:solidFill>
                  <a:schemeClr val="tx1"/>
                </a:solidFill>
              </a:rPr>
              <a:t> (image generation), Whisper (text-to-speech), ...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Real workloads from Google’s warehouse-scale computers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Graph mining workloads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9078020-CEAC-C7BD-9D7E-500660E1A63D}"/>
              </a:ext>
            </a:extLst>
          </p:cNvPr>
          <p:cNvSpPr/>
          <p:nvPr/>
        </p:nvSpPr>
        <p:spPr>
          <a:xfrm>
            <a:off x="990241" y="1112337"/>
            <a:ext cx="6260959" cy="46673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New Workloads representative of our time 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85D0E33-D595-D2A7-8196-7341178EE68B}"/>
              </a:ext>
            </a:extLst>
          </p:cNvPr>
          <p:cNvSpPr/>
          <p:nvPr/>
        </p:nvSpPr>
        <p:spPr>
          <a:xfrm>
            <a:off x="851342" y="3899831"/>
            <a:ext cx="10542323" cy="2140001"/>
          </a:xfrm>
          <a:prstGeom prst="roundRect">
            <a:avLst>
              <a:gd name="adj" fmla="val 3835"/>
            </a:avLst>
          </a:prstGeom>
          <a:solidFill>
            <a:srgbClr val="E5F4E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Every submission was evaluated on </a:t>
            </a:r>
            <a:r>
              <a:rPr lang="en-US" sz="2200" b="1" dirty="0">
                <a:solidFill>
                  <a:schemeClr val="tx1"/>
                </a:solidFill>
              </a:rPr>
              <a:t>three system configurations</a:t>
            </a:r>
            <a:r>
              <a:rPr lang="en-US" sz="2200" dirty="0">
                <a:solidFill>
                  <a:schemeClr val="tx1"/>
                </a:solidFill>
              </a:rPr>
              <a:t>:</a:t>
            </a:r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Single-core with ample DRAM bandwidth (</a:t>
            </a:r>
            <a:r>
              <a:rPr lang="en-US" sz="2200" dirty="0" err="1">
                <a:solidFill>
                  <a:schemeClr val="tx1"/>
                </a:solidFill>
              </a:rPr>
              <a:t>FullBW</a:t>
            </a:r>
            <a:r>
              <a:rPr lang="en-US" sz="2200" dirty="0">
                <a:solidFill>
                  <a:schemeClr val="tx1"/>
                </a:solidFill>
              </a:rPr>
              <a:t> score)</a:t>
            </a:r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Single-core with limited DRAM bandwidth (</a:t>
            </a:r>
            <a:r>
              <a:rPr lang="en-US" sz="2200" dirty="0" err="1">
                <a:solidFill>
                  <a:schemeClr val="tx1"/>
                </a:solidFill>
              </a:rPr>
              <a:t>LimitBW</a:t>
            </a:r>
            <a:r>
              <a:rPr lang="en-US" sz="2200" dirty="0">
                <a:solidFill>
                  <a:schemeClr val="tx1"/>
                </a:solidFill>
              </a:rPr>
              <a:t> score)</a:t>
            </a:r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Four-core random mixes (MC score)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Dynamic system-level feedback</a:t>
            </a:r>
            <a:r>
              <a:rPr lang="en-US" sz="2200" dirty="0">
                <a:solidFill>
                  <a:schemeClr val="tx1"/>
                </a:solidFill>
              </a:rPr>
              <a:t>, instead of static knobs (e.g., bandwidth usage)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92C925E-88FE-684C-7C85-E795811D3E99}"/>
              </a:ext>
            </a:extLst>
          </p:cNvPr>
          <p:cNvSpPr/>
          <p:nvPr/>
        </p:nvSpPr>
        <p:spPr>
          <a:xfrm>
            <a:off x="990241" y="3582463"/>
            <a:ext cx="8483301" cy="466732"/>
          </a:xfrm>
          <a:prstGeom prst="roundRect">
            <a:avLst/>
          </a:prstGeom>
          <a:solidFill>
            <a:srgbClr val="11813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Broader evaluation across diverse system configurations</a:t>
            </a:r>
          </a:p>
        </p:txBody>
      </p:sp>
    </p:spTree>
    <p:extLst>
      <p:ext uri="{BB962C8B-B14F-4D97-AF65-F5344CB8AC3E}">
        <p14:creationId xmlns:p14="http://schemas.microsoft.com/office/powerpoint/2010/main" val="3389912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5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38729-5985-9859-5A02-5A311DEB9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DPC4 at a Glance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9660FA-23BD-58E9-EC7F-8C671DD828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5745346-2824-5D4D-8997-BD03D4014D71}" type="slidenum">
              <a:rPr lang="en-US" smtClean="0"/>
              <a:pPr/>
              <a:t>9</a:t>
            </a:fld>
            <a:endParaRPr lang="en-US" sz="160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EA6ACB8-E240-C134-FB5B-24CC28F44E7A}"/>
              </a:ext>
            </a:extLst>
          </p:cNvPr>
          <p:cNvSpPr/>
          <p:nvPr/>
        </p:nvSpPr>
        <p:spPr>
          <a:xfrm>
            <a:off x="334536" y="2068973"/>
            <a:ext cx="2569580" cy="2720053"/>
          </a:xfrm>
          <a:prstGeom prst="roundRect">
            <a:avLst>
              <a:gd name="adj" fmla="val 8420"/>
            </a:avLst>
          </a:prstGeom>
          <a:solidFill>
            <a:srgbClr val="E6F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Overall</a:t>
            </a:r>
          </a:p>
          <a:p>
            <a:pPr algn="ctr"/>
            <a:r>
              <a:rPr lang="en-US" sz="8000" b="1" dirty="0">
                <a:solidFill>
                  <a:srgbClr val="1658FF"/>
                </a:solidFill>
              </a:rPr>
              <a:t>8</a:t>
            </a:r>
          </a:p>
          <a:p>
            <a:pPr algn="ctr"/>
            <a:r>
              <a:rPr lang="en-US" sz="2200" dirty="0">
                <a:solidFill>
                  <a:schemeClr val="tx1"/>
                </a:solidFill>
              </a:rPr>
              <a:t>competing teams across the globe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9DEBB0C-42CD-1429-E520-F474C5EE97A7}"/>
              </a:ext>
            </a:extLst>
          </p:cNvPr>
          <p:cNvSpPr/>
          <p:nvPr/>
        </p:nvSpPr>
        <p:spPr>
          <a:xfrm>
            <a:off x="3075720" y="978364"/>
            <a:ext cx="4541690" cy="5405943"/>
          </a:xfrm>
          <a:prstGeom prst="roundRect">
            <a:avLst>
              <a:gd name="adj" fmla="val 3512"/>
            </a:avLst>
          </a:prstGeom>
          <a:solidFill>
            <a:srgbClr val="FFF3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Evaluated across</a:t>
            </a:r>
          </a:p>
          <a:p>
            <a:pPr algn="ctr"/>
            <a:r>
              <a:rPr lang="en-US" sz="8000" b="1" dirty="0">
                <a:solidFill>
                  <a:srgbClr val="C08F00"/>
                </a:solidFill>
              </a:rPr>
              <a:t>610</a:t>
            </a:r>
          </a:p>
          <a:p>
            <a:pPr algn="ctr"/>
            <a:r>
              <a:rPr lang="en-US" sz="2200" dirty="0">
                <a:solidFill>
                  <a:schemeClr val="tx1"/>
                </a:solidFill>
              </a:rPr>
              <a:t>single-core workloads and</a:t>
            </a:r>
          </a:p>
          <a:p>
            <a:pPr algn="ctr"/>
            <a:r>
              <a:rPr lang="en-US" sz="8000" b="1" dirty="0">
                <a:solidFill>
                  <a:srgbClr val="C08F00"/>
                </a:solidFill>
              </a:rPr>
              <a:t>484</a:t>
            </a:r>
          </a:p>
          <a:p>
            <a:pPr algn="ctr"/>
            <a:r>
              <a:rPr lang="en-US" sz="2200" dirty="0">
                <a:solidFill>
                  <a:schemeClr val="tx1"/>
                </a:solidFill>
              </a:rPr>
              <a:t>four-core workload mixes, totaling</a:t>
            </a:r>
          </a:p>
          <a:p>
            <a:pPr algn="ctr"/>
            <a:r>
              <a:rPr lang="en-US" sz="8000" b="1" dirty="0">
                <a:solidFill>
                  <a:srgbClr val="C08F00"/>
                </a:solidFill>
              </a:rPr>
              <a:t>3</a:t>
            </a:r>
            <a:r>
              <a:rPr lang="en-US" sz="6000" b="1" dirty="0">
                <a:solidFill>
                  <a:srgbClr val="C08F00"/>
                </a:solidFill>
              </a:rPr>
              <a:t>TB</a:t>
            </a:r>
            <a:endParaRPr lang="en-US" sz="8000" b="1" dirty="0">
              <a:solidFill>
                <a:srgbClr val="C08F00"/>
              </a:solidFill>
            </a:endParaRPr>
          </a:p>
          <a:p>
            <a:pPr algn="ctr"/>
            <a:r>
              <a:rPr lang="en-US" sz="2200" dirty="0">
                <a:solidFill>
                  <a:schemeClr val="tx1"/>
                </a:solidFill>
              </a:rPr>
              <a:t>of space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B0D97EC-FE51-FB0A-20AA-3CAA5A08F09F}"/>
              </a:ext>
            </a:extLst>
          </p:cNvPr>
          <p:cNvSpPr/>
          <p:nvPr/>
        </p:nvSpPr>
        <p:spPr>
          <a:xfrm>
            <a:off x="7778187" y="961282"/>
            <a:ext cx="3981690" cy="2720054"/>
          </a:xfrm>
          <a:prstGeom prst="roundRect">
            <a:avLst>
              <a:gd name="adj" fmla="val 3512"/>
            </a:avLst>
          </a:prstGeom>
          <a:solidFill>
            <a:srgbClr val="F1EE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Over</a:t>
            </a:r>
          </a:p>
          <a:p>
            <a:pPr algn="ctr"/>
            <a:r>
              <a:rPr lang="en-US" sz="8000" b="1" dirty="0">
                <a:solidFill>
                  <a:srgbClr val="7030A0"/>
                </a:solidFill>
              </a:rPr>
              <a:t>50,000</a:t>
            </a:r>
          </a:p>
          <a:p>
            <a:pPr algn="ctr"/>
            <a:r>
              <a:rPr lang="en-US" sz="2200" dirty="0">
                <a:solidFill>
                  <a:schemeClr val="tx1"/>
                </a:solidFill>
              </a:rPr>
              <a:t>CPU core-hour </a:t>
            </a:r>
          </a:p>
          <a:p>
            <a:pPr algn="ctr"/>
            <a:r>
              <a:rPr lang="en-US" sz="2200" dirty="0">
                <a:solidFill>
                  <a:schemeClr val="tx1"/>
                </a:solidFill>
              </a:rPr>
              <a:t>spent on evaluation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4FC8FBE-572E-2471-245D-D5E2F36E258C}"/>
              </a:ext>
            </a:extLst>
          </p:cNvPr>
          <p:cNvSpPr/>
          <p:nvPr/>
        </p:nvSpPr>
        <p:spPr>
          <a:xfrm>
            <a:off x="7778187" y="3825712"/>
            <a:ext cx="3981690" cy="2558595"/>
          </a:xfrm>
          <a:prstGeom prst="roundRect">
            <a:avLst>
              <a:gd name="adj" fmla="val 3512"/>
            </a:avLst>
          </a:prstGeom>
          <a:solidFill>
            <a:srgbClr val="E4F3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b="1" dirty="0">
                <a:solidFill>
                  <a:srgbClr val="11813C"/>
                </a:solidFill>
              </a:rPr>
              <a:t>9</a:t>
            </a:r>
          </a:p>
          <a:p>
            <a:pPr algn="ctr"/>
            <a:r>
              <a:rPr lang="en-US" sz="2200" dirty="0">
                <a:solidFill>
                  <a:schemeClr val="tx1"/>
                </a:solidFill>
              </a:rPr>
              <a:t>Program committee members,</a:t>
            </a:r>
          </a:p>
          <a:p>
            <a:pPr algn="ctr"/>
            <a:r>
              <a:rPr lang="en-US" sz="2200" dirty="0">
                <a:solidFill>
                  <a:schemeClr val="tx1"/>
                </a:solidFill>
              </a:rPr>
              <a:t>providing three reviews </a:t>
            </a:r>
          </a:p>
          <a:p>
            <a:pPr algn="ctr"/>
            <a:r>
              <a:rPr lang="en-US" sz="2200" dirty="0">
                <a:solidFill>
                  <a:schemeClr val="tx1"/>
                </a:solidFill>
              </a:rPr>
              <a:t>to each submission</a:t>
            </a:r>
          </a:p>
        </p:txBody>
      </p:sp>
    </p:spTree>
    <p:extLst>
      <p:ext uri="{BB962C8B-B14F-4D97-AF65-F5344CB8AC3E}">
        <p14:creationId xmlns:p14="http://schemas.microsoft.com/office/powerpoint/2010/main" val="58109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2E8B7BA-45E3-B895-CA20-2FAC9D8C6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Did We Meet the Goal?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6533B6A-C0AD-59BD-D3D1-E23F9AA3E3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8A8DC-79B4-922E-AACE-88C1A1729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45346-2824-5D4D-8997-BD03D4014D71}" type="slidenum">
              <a:rPr lang="en-US" smtClean="0"/>
              <a:pPr/>
              <a:t>10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81217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FF1E676-CA9E-8423-76FB-5A2F377CC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Sneak Peak: DPC4 Advances the State-of-the-Art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AD005-EDBB-6443-01C7-59D8BDBD7D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5745346-2824-5D4D-8997-BD03D4014D71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63301C8-459F-CFAE-6BE8-5493FE223C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232940"/>
              </p:ext>
            </p:extLst>
          </p:nvPr>
        </p:nvGraphicFramePr>
        <p:xfrm>
          <a:off x="334963" y="1160463"/>
          <a:ext cx="11585575" cy="5062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13F5377-9079-2C5F-7281-36207904D67B}"/>
              </a:ext>
            </a:extLst>
          </p:cNvPr>
          <p:cNvCxnSpPr>
            <a:cxnSpLocks/>
          </p:cNvCxnSpPr>
          <p:nvPr/>
        </p:nvCxnSpPr>
        <p:spPr>
          <a:xfrm flipV="1">
            <a:off x="3180522" y="2054087"/>
            <a:ext cx="543339" cy="1881809"/>
          </a:xfrm>
          <a:prstGeom prst="straightConnector1">
            <a:avLst/>
          </a:prstGeom>
          <a:ln w="38100">
            <a:solidFill>
              <a:srgbClr val="1181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8754BD1-996E-8F21-2283-BEF294767780}"/>
              </a:ext>
            </a:extLst>
          </p:cNvPr>
          <p:cNvCxnSpPr>
            <a:cxnSpLocks/>
          </p:cNvCxnSpPr>
          <p:nvPr/>
        </p:nvCxnSpPr>
        <p:spPr>
          <a:xfrm flipV="1">
            <a:off x="6536288" y="3114261"/>
            <a:ext cx="407851" cy="855766"/>
          </a:xfrm>
          <a:prstGeom prst="straightConnector1">
            <a:avLst/>
          </a:prstGeom>
          <a:ln w="38100">
            <a:solidFill>
              <a:srgbClr val="1181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35CC5F5-89A8-94A9-A699-B34BB4FE4F90}"/>
              </a:ext>
            </a:extLst>
          </p:cNvPr>
          <p:cNvCxnSpPr>
            <a:cxnSpLocks/>
          </p:cNvCxnSpPr>
          <p:nvPr/>
        </p:nvCxnSpPr>
        <p:spPr>
          <a:xfrm flipV="1">
            <a:off x="9721260" y="2994990"/>
            <a:ext cx="429905" cy="1065033"/>
          </a:xfrm>
          <a:prstGeom prst="straightConnector1">
            <a:avLst/>
          </a:prstGeom>
          <a:ln w="38100">
            <a:solidFill>
              <a:srgbClr val="1181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6C5A7D4-FEBD-EB44-9E47-670DE8CF9962}"/>
              </a:ext>
            </a:extLst>
          </p:cNvPr>
          <p:cNvSpPr txBox="1"/>
          <p:nvPr/>
        </p:nvSpPr>
        <p:spPr>
          <a:xfrm>
            <a:off x="4959730" y="2918464"/>
            <a:ext cx="19083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11813C"/>
                </a:solidFill>
              </a:rPr>
              <a:t>2.6% across 610 traces!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A6745B-13F3-B945-12D2-B113BA0F20A3}"/>
              </a:ext>
            </a:extLst>
          </p:cNvPr>
          <p:cNvSpPr txBox="1"/>
          <p:nvPr/>
        </p:nvSpPr>
        <p:spPr>
          <a:xfrm>
            <a:off x="8103912" y="2944969"/>
            <a:ext cx="19083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11813C"/>
                </a:solidFill>
              </a:rPr>
              <a:t>2.8% across 484 mixes!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19DAC3-67FD-A2E2-1EFA-0F4899ADAF21}"/>
              </a:ext>
            </a:extLst>
          </p:cNvPr>
          <p:cNvSpPr txBox="1"/>
          <p:nvPr/>
        </p:nvSpPr>
        <p:spPr>
          <a:xfrm>
            <a:off x="2321737" y="6164470"/>
            <a:ext cx="8813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Aptos" panose="020B0004020202020204" pitchFamily="34" charset="0"/>
              </a:rPr>
              <a:t>Berti@L1 + Pythia@L2: </a:t>
            </a:r>
            <a:r>
              <a:rPr lang="en-US" sz="2400" b="1">
                <a:solidFill>
                  <a:srgbClr val="0070C0"/>
                </a:solidFill>
                <a:latin typeface="Aptos" panose="020B0004020202020204" pitchFamily="34" charset="0"/>
              </a:rPr>
              <a:t>Already </a:t>
            </a:r>
            <a:r>
              <a:rPr lang="en-US" sz="3600" b="1">
                <a:solidFill>
                  <a:srgbClr val="0070C0"/>
                </a:solidFill>
                <a:latin typeface="Aptos" panose="020B0004020202020204" pitchFamily="34" charset="0"/>
              </a:rPr>
              <a:t>+15.1%</a:t>
            </a:r>
            <a:r>
              <a:rPr lang="en-US" sz="2400" b="1">
                <a:solidFill>
                  <a:srgbClr val="0070C0"/>
                </a:solidFill>
                <a:latin typeface="Aptos" panose="020B000402020202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Aptos" panose="020B0004020202020204" pitchFamily="34" charset="0"/>
              </a:rPr>
              <a:t>over no-prefetching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BC256F3-AF7C-F425-AFC2-5C185E7D3C4E}"/>
              </a:ext>
            </a:extLst>
          </p:cNvPr>
          <p:cNvCxnSpPr>
            <a:cxnSpLocks/>
          </p:cNvCxnSpPr>
          <p:nvPr/>
        </p:nvCxnSpPr>
        <p:spPr>
          <a:xfrm flipH="1" flipV="1">
            <a:off x="5284408" y="6103429"/>
            <a:ext cx="361018" cy="239142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10E3001C-5FC0-3D69-B0A3-D5E140190795}"/>
              </a:ext>
            </a:extLst>
          </p:cNvPr>
          <p:cNvSpPr/>
          <p:nvPr/>
        </p:nvSpPr>
        <p:spPr>
          <a:xfrm>
            <a:off x="5913886" y="5711687"/>
            <a:ext cx="2190026" cy="3917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6018C95-86F2-79EE-5FAD-7E8777AC4FE7}"/>
              </a:ext>
            </a:extLst>
          </p:cNvPr>
          <p:cNvSpPr/>
          <p:nvPr/>
        </p:nvSpPr>
        <p:spPr>
          <a:xfrm>
            <a:off x="2345634" y="1550504"/>
            <a:ext cx="2614096" cy="4059989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phic 28" descr="Magnifying glass with solid fill">
            <a:extLst>
              <a:ext uri="{FF2B5EF4-FFF2-40B4-BE49-F238E27FC236}">
                <a16:creationId xmlns:a16="http://schemas.microsoft.com/office/drawing/2014/main" id="{F8A71C33-4728-8B4F-EBD1-572FC20F98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730" y="1665092"/>
            <a:ext cx="914400" cy="91440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00762255-9BE1-C87B-1189-6590847A44AC}"/>
              </a:ext>
            </a:extLst>
          </p:cNvPr>
          <p:cNvSpPr/>
          <p:nvPr/>
        </p:nvSpPr>
        <p:spPr>
          <a:xfrm>
            <a:off x="3180522" y="2579492"/>
            <a:ext cx="472160" cy="849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77EA09-F10E-C5E1-98A2-8A4C672E0547}"/>
              </a:ext>
            </a:extLst>
          </p:cNvPr>
          <p:cNvSpPr txBox="1"/>
          <p:nvPr/>
        </p:nvSpPr>
        <p:spPr>
          <a:xfrm>
            <a:off x="2345634" y="2563828"/>
            <a:ext cx="19083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11813C"/>
                </a:solidFill>
              </a:rPr>
              <a:t>5.2% across 610 traces!</a:t>
            </a:r>
          </a:p>
        </p:txBody>
      </p:sp>
    </p:spTree>
    <p:extLst>
      <p:ext uri="{BB962C8B-B14F-4D97-AF65-F5344CB8AC3E}">
        <p14:creationId xmlns:p14="http://schemas.microsoft.com/office/powerpoint/2010/main" val="686116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300"/>
                                        <p:tgtEl>
                                          <p:spTgt spid="7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300"/>
                                        <p:tgtEl>
                                          <p:spTgt spid="7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 uiExpand="1">
        <p:bldSub>
          <a:bldChart bld="series"/>
        </p:bldSub>
      </p:bldGraphic>
      <p:bldP spid="20" grpId="0"/>
      <p:bldP spid="21" grpId="0"/>
      <p:bldP spid="22" grpId="0"/>
      <p:bldP spid="26" grpId="0" animBg="1"/>
      <p:bldP spid="27" grpId="0" animBg="1"/>
      <p:bldP spid="30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57C89-C3D9-CC1A-72F1-8F05C7A84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F7274C4-38D9-8B7C-4896-8C920661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Sneak Peak: DPC4 Advances the State-of-the-Art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EEBB50-EF05-0E65-24EF-08EC3F14D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5745346-2824-5D4D-8997-BD03D4014D71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28059A33-E414-C205-3F4D-541EE433D8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1292564"/>
              </p:ext>
            </p:extLst>
          </p:nvPr>
        </p:nvGraphicFramePr>
        <p:xfrm>
          <a:off x="334963" y="1160463"/>
          <a:ext cx="11585575" cy="5062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89E7996-4638-E4F5-B7A2-CD270422C559}"/>
              </a:ext>
            </a:extLst>
          </p:cNvPr>
          <p:cNvCxnSpPr>
            <a:cxnSpLocks/>
          </p:cNvCxnSpPr>
          <p:nvPr/>
        </p:nvCxnSpPr>
        <p:spPr>
          <a:xfrm flipV="1">
            <a:off x="2915479" y="1683026"/>
            <a:ext cx="437321" cy="2385391"/>
          </a:xfrm>
          <a:prstGeom prst="straightConnector1">
            <a:avLst/>
          </a:prstGeom>
          <a:ln w="38100">
            <a:solidFill>
              <a:srgbClr val="1181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42A7A23-42A8-A117-8532-9F5F1D6CA045}"/>
              </a:ext>
            </a:extLst>
          </p:cNvPr>
          <p:cNvCxnSpPr>
            <a:cxnSpLocks/>
          </p:cNvCxnSpPr>
          <p:nvPr/>
        </p:nvCxnSpPr>
        <p:spPr>
          <a:xfrm flipV="1">
            <a:off x="7798905" y="3829878"/>
            <a:ext cx="351182" cy="251790"/>
          </a:xfrm>
          <a:prstGeom prst="straightConnector1">
            <a:avLst/>
          </a:prstGeom>
          <a:ln w="38100">
            <a:solidFill>
              <a:srgbClr val="1181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2D8C709-6DFC-2808-3A3A-39629EE41E96}"/>
              </a:ext>
            </a:extLst>
          </p:cNvPr>
          <p:cNvCxnSpPr>
            <a:cxnSpLocks/>
          </p:cNvCxnSpPr>
          <p:nvPr/>
        </p:nvCxnSpPr>
        <p:spPr>
          <a:xfrm flipV="1">
            <a:off x="10177671" y="3803373"/>
            <a:ext cx="351182" cy="251790"/>
          </a:xfrm>
          <a:prstGeom prst="straightConnector1">
            <a:avLst/>
          </a:prstGeom>
          <a:ln w="38100">
            <a:solidFill>
              <a:srgbClr val="1181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2CEA4A6-7B9E-92DB-FE7D-37F8F27F30CB}"/>
              </a:ext>
            </a:extLst>
          </p:cNvPr>
          <p:cNvSpPr txBox="1"/>
          <p:nvPr/>
        </p:nvSpPr>
        <p:spPr>
          <a:xfrm>
            <a:off x="2133600" y="2312037"/>
            <a:ext cx="1139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11813C"/>
                </a:solidFill>
              </a:rPr>
              <a:t>27.7%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9FCE48-EEDD-0143-60F7-197FD605F240}"/>
              </a:ext>
            </a:extLst>
          </p:cNvPr>
          <p:cNvSpPr txBox="1"/>
          <p:nvPr/>
        </p:nvSpPr>
        <p:spPr>
          <a:xfrm>
            <a:off x="7354956" y="3494108"/>
            <a:ext cx="795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11813C"/>
                </a:solidFill>
              </a:rPr>
              <a:t>4%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88ACA3-27D8-47D9-80C9-5E1C1E554CE6}"/>
              </a:ext>
            </a:extLst>
          </p:cNvPr>
          <p:cNvSpPr txBox="1"/>
          <p:nvPr/>
        </p:nvSpPr>
        <p:spPr>
          <a:xfrm>
            <a:off x="9554817" y="3502888"/>
            <a:ext cx="1020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11813C"/>
                </a:solidFill>
              </a:rPr>
              <a:t>4.5%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E6B2E82-EA1C-CBC1-2C26-3DD3651CC141}"/>
              </a:ext>
            </a:extLst>
          </p:cNvPr>
          <p:cNvCxnSpPr>
            <a:cxnSpLocks/>
          </p:cNvCxnSpPr>
          <p:nvPr/>
        </p:nvCxnSpPr>
        <p:spPr>
          <a:xfrm flipV="1">
            <a:off x="5426767" y="3957508"/>
            <a:ext cx="351182" cy="12589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925DBDB-DB56-4708-81AB-CDA21FA2BB46}"/>
              </a:ext>
            </a:extLst>
          </p:cNvPr>
          <p:cNvSpPr txBox="1"/>
          <p:nvPr/>
        </p:nvSpPr>
        <p:spPr>
          <a:xfrm>
            <a:off x="4774440" y="3593498"/>
            <a:ext cx="100350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1.1%</a:t>
            </a:r>
          </a:p>
        </p:txBody>
      </p:sp>
    </p:spTree>
    <p:extLst>
      <p:ext uri="{BB962C8B-B14F-4D97-AF65-F5344CB8AC3E}">
        <p14:creationId xmlns:p14="http://schemas.microsoft.com/office/powerpoint/2010/main" val="3553364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0A6C4-AF63-45A4-3C6A-47034F1D6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1F94742-0706-2E3D-87D5-3F58FB6E4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Sneak Peak: DPC4 Advances the State-of-the-Art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89BE1-CCB9-7692-5482-9B7F46EF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5745346-2824-5D4D-8997-BD03D4014D71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74B2A9CB-19CB-F4AB-2F38-D53AF5C22D9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34963" y="1160463"/>
          <a:ext cx="11585575" cy="5062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BF60B11-5B32-985B-CF32-E40CC0BF4B9B}"/>
              </a:ext>
            </a:extLst>
          </p:cNvPr>
          <p:cNvCxnSpPr>
            <a:cxnSpLocks/>
          </p:cNvCxnSpPr>
          <p:nvPr/>
        </p:nvCxnSpPr>
        <p:spPr>
          <a:xfrm flipV="1">
            <a:off x="2915479" y="1683026"/>
            <a:ext cx="437321" cy="2385391"/>
          </a:xfrm>
          <a:prstGeom prst="straightConnector1">
            <a:avLst/>
          </a:prstGeom>
          <a:ln w="38100">
            <a:solidFill>
              <a:srgbClr val="1181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428BA23-AD93-A7A4-9CE5-83E0E184C01F}"/>
              </a:ext>
            </a:extLst>
          </p:cNvPr>
          <p:cNvCxnSpPr>
            <a:cxnSpLocks/>
          </p:cNvCxnSpPr>
          <p:nvPr/>
        </p:nvCxnSpPr>
        <p:spPr>
          <a:xfrm flipV="1">
            <a:off x="7798905" y="3829878"/>
            <a:ext cx="351182" cy="251790"/>
          </a:xfrm>
          <a:prstGeom prst="straightConnector1">
            <a:avLst/>
          </a:prstGeom>
          <a:ln w="38100">
            <a:solidFill>
              <a:srgbClr val="1181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7AF6779-363F-7F8D-22B2-5D6D9C844B2F}"/>
              </a:ext>
            </a:extLst>
          </p:cNvPr>
          <p:cNvCxnSpPr>
            <a:cxnSpLocks/>
          </p:cNvCxnSpPr>
          <p:nvPr/>
        </p:nvCxnSpPr>
        <p:spPr>
          <a:xfrm flipV="1">
            <a:off x="10177671" y="3803373"/>
            <a:ext cx="351182" cy="251790"/>
          </a:xfrm>
          <a:prstGeom prst="straightConnector1">
            <a:avLst/>
          </a:prstGeom>
          <a:ln w="38100">
            <a:solidFill>
              <a:srgbClr val="1181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23EB2F0-EF42-9705-FDB6-E3DE6284B67E}"/>
              </a:ext>
            </a:extLst>
          </p:cNvPr>
          <p:cNvSpPr txBox="1"/>
          <p:nvPr/>
        </p:nvSpPr>
        <p:spPr>
          <a:xfrm>
            <a:off x="2133600" y="2312037"/>
            <a:ext cx="1139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11813C"/>
                </a:solidFill>
              </a:rPr>
              <a:t>27.7%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1649DA-78DB-B18E-7F08-31B4AF5F5C58}"/>
              </a:ext>
            </a:extLst>
          </p:cNvPr>
          <p:cNvSpPr txBox="1"/>
          <p:nvPr/>
        </p:nvSpPr>
        <p:spPr>
          <a:xfrm>
            <a:off x="7354956" y="3494108"/>
            <a:ext cx="795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11813C"/>
                </a:solidFill>
              </a:rPr>
              <a:t>4%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74E80B-4D5F-00E6-0036-BD3C0C0DCE69}"/>
              </a:ext>
            </a:extLst>
          </p:cNvPr>
          <p:cNvSpPr txBox="1"/>
          <p:nvPr/>
        </p:nvSpPr>
        <p:spPr>
          <a:xfrm>
            <a:off x="9554817" y="3502888"/>
            <a:ext cx="1020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11813C"/>
                </a:solidFill>
              </a:rPr>
              <a:t>4.5%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1D7568A-6126-1814-C78D-AF7790351B06}"/>
              </a:ext>
            </a:extLst>
          </p:cNvPr>
          <p:cNvCxnSpPr>
            <a:cxnSpLocks/>
          </p:cNvCxnSpPr>
          <p:nvPr/>
        </p:nvCxnSpPr>
        <p:spPr>
          <a:xfrm flipV="1">
            <a:off x="5426767" y="3957508"/>
            <a:ext cx="351182" cy="12589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CC4327C-1B87-1E54-29AC-5B9502AA967D}"/>
              </a:ext>
            </a:extLst>
          </p:cNvPr>
          <p:cNvSpPr txBox="1"/>
          <p:nvPr/>
        </p:nvSpPr>
        <p:spPr>
          <a:xfrm>
            <a:off x="4774440" y="3593498"/>
            <a:ext cx="100350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1.1%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75813C-9539-EDDD-F15E-D467CF8BE451}"/>
              </a:ext>
            </a:extLst>
          </p:cNvPr>
          <p:cNvSpPr/>
          <p:nvPr/>
        </p:nvSpPr>
        <p:spPr>
          <a:xfrm>
            <a:off x="205120" y="1041722"/>
            <a:ext cx="11781757" cy="575721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oogle Shape;664;p5">
            <a:extLst>
              <a:ext uri="{FF2B5EF4-FFF2-40B4-BE49-F238E27FC236}">
                <a16:creationId xmlns:a16="http://schemas.microsoft.com/office/drawing/2014/main" id="{264DFB9B-D60A-B0B8-0A73-BE43D3B8226B}"/>
              </a:ext>
            </a:extLst>
          </p:cNvPr>
          <p:cNvSpPr/>
          <p:nvPr/>
        </p:nvSpPr>
        <p:spPr>
          <a:xfrm>
            <a:off x="-172677" y="2878823"/>
            <a:ext cx="12537350" cy="1100354"/>
          </a:xfrm>
          <a:prstGeom prst="rect">
            <a:avLst/>
          </a:prstGeom>
          <a:solidFill>
            <a:srgbClr val="FFE699"/>
          </a:solidFill>
          <a:ln w="28575">
            <a:solidFill>
              <a:schemeClr val="tx2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3200"/>
              <a:defRPr/>
            </a:pPr>
            <a:r>
              <a:rPr lang="en-US" sz="3200" b="1" kern="0" dirty="0">
                <a:solidFill>
                  <a:schemeClr val="tx2"/>
                </a:solidFill>
                <a:cs typeface="Poppins Medium"/>
                <a:sym typeface="Poppins Medium"/>
              </a:rPr>
              <a:t>More opportunities for the future</a:t>
            </a:r>
            <a:endParaRPr lang="en-US" sz="3200" b="1" kern="0" dirty="0">
              <a:solidFill>
                <a:schemeClr val="tx2"/>
              </a:solidFill>
              <a:cs typeface="Poppins Medium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187952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35FEF-F677-B006-4AC3-7DAB51002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57B85-FF23-34EA-DB41-07ACDF24A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Agenda (I)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E38CB-7ED8-36A5-A7A1-579E2F80F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537" y="1159727"/>
            <a:ext cx="11586117" cy="5386847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2 invited talks </a:t>
            </a:r>
            <a:r>
              <a:rPr lang="en-US" dirty="0"/>
              <a:t>from industry veterans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1400" dirty="0"/>
          </a:p>
          <a:p>
            <a:r>
              <a:rPr lang="en-US" b="1" dirty="0">
                <a:solidFill>
                  <a:srgbClr val="1658FF"/>
                </a:solidFill>
              </a:rPr>
              <a:t>8 competitors’ talks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E7460-9C72-67D6-E852-758628D72A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5745346-2824-5D4D-8997-BD03D4014D71}" type="slidenum">
              <a:rPr lang="en-US" smtClean="0"/>
              <a:pPr/>
              <a:t>14</a:t>
            </a:fld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6E074C-3E16-4414-EB6F-4D5BD75DF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605" y="1749283"/>
            <a:ext cx="1646146" cy="21427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FD89CD-F66C-84D3-85F6-0E270F3FC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0752" y="1749283"/>
            <a:ext cx="1988282" cy="21427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34FCDE5-E37D-31C6-EA7E-FD78AC79A81F}"/>
              </a:ext>
            </a:extLst>
          </p:cNvPr>
          <p:cNvSpPr txBox="1"/>
          <p:nvPr/>
        </p:nvSpPr>
        <p:spPr>
          <a:xfrm>
            <a:off x="1123335" y="4066053"/>
            <a:ext cx="48926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Dr. Leeor Peled, Huawei Research</a:t>
            </a:r>
          </a:p>
          <a:p>
            <a:pPr algn="ctr"/>
            <a:r>
              <a:rPr lang="en-US" sz="2400" dirty="0"/>
              <a:t>Title: “Is Prefetcher Research </a:t>
            </a:r>
          </a:p>
          <a:p>
            <a:pPr algn="ctr"/>
            <a:r>
              <a:rPr lang="en-US" sz="2400" dirty="0"/>
              <a:t>Still Alive?”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010447-8DCB-4CAD-9549-ADD51DEF31FE}"/>
              </a:ext>
            </a:extLst>
          </p:cNvPr>
          <p:cNvSpPr txBox="1"/>
          <p:nvPr/>
        </p:nvSpPr>
        <p:spPr>
          <a:xfrm>
            <a:off x="6966101" y="4066053"/>
            <a:ext cx="38175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Dr. Akanksha Jain, Google</a:t>
            </a:r>
          </a:p>
          <a:p>
            <a:pPr algn="ctr"/>
            <a:r>
              <a:rPr lang="en-US" sz="2400" dirty="0"/>
              <a:t>Title: “Data Prefetching: </a:t>
            </a:r>
          </a:p>
          <a:p>
            <a:pPr algn="ctr"/>
            <a:r>
              <a:rPr lang="en-US" sz="2400" dirty="0"/>
              <a:t>A Data-Center Perspective”</a:t>
            </a:r>
          </a:p>
        </p:txBody>
      </p:sp>
    </p:spTree>
    <p:extLst>
      <p:ext uri="{BB962C8B-B14F-4D97-AF65-F5344CB8AC3E}">
        <p14:creationId xmlns:p14="http://schemas.microsoft.com/office/powerpoint/2010/main" val="865244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D49C5-3264-310C-2ED9-A55CC9252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AA381-4E8B-F458-1180-771E0188F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Agenda (II)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4841B-609F-1B4B-A4AE-69DF63BC4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537" y="1159727"/>
            <a:ext cx="11764698" cy="532058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1658FF"/>
                </a:solidFill>
              </a:rPr>
              <a:t>Session 1 (13:45 – 15:35): 1 invited talk + 4 papers</a:t>
            </a:r>
          </a:p>
          <a:p>
            <a:pPr lvl="1"/>
            <a:r>
              <a:rPr lang="en-US" sz="2000" dirty="0"/>
              <a:t>Invited talk by Dr. Leeor Peled</a:t>
            </a:r>
          </a:p>
          <a:p>
            <a:pPr lvl="1"/>
            <a:r>
              <a:rPr lang="en-US" sz="2000" b="1" dirty="0"/>
              <a:t>Crossing the Boundary</a:t>
            </a:r>
            <a:r>
              <a:rPr lang="en-US" sz="2000" dirty="0"/>
              <a:t> – Lee+, Yonsei University</a:t>
            </a:r>
          </a:p>
          <a:p>
            <a:pPr lvl="1"/>
            <a:r>
              <a:rPr lang="en-US" sz="2000" b="1" dirty="0"/>
              <a:t>SPPAM</a:t>
            </a:r>
            <a:r>
              <a:rPr lang="en-US" sz="2000" dirty="0"/>
              <a:t> – Merrell+, Texas A&amp;M</a:t>
            </a:r>
          </a:p>
          <a:p>
            <a:pPr lvl="1"/>
            <a:r>
              <a:rPr lang="en-US" sz="2000" b="1" dirty="0" err="1"/>
              <a:t>Emender</a:t>
            </a:r>
            <a:r>
              <a:rPr lang="en-US" sz="2000" dirty="0"/>
              <a:t> -- Chen+, Tsinghua University</a:t>
            </a:r>
          </a:p>
          <a:p>
            <a:pPr lvl="1"/>
            <a:r>
              <a:rPr lang="en-US" sz="2000" b="1" dirty="0" err="1"/>
              <a:t>sBerti</a:t>
            </a:r>
            <a:r>
              <a:rPr lang="en-US" sz="2000" dirty="0"/>
              <a:t> – Zhou+, HKUST, Guangzhou</a:t>
            </a:r>
            <a:endParaRPr lang="en-US" sz="2800" dirty="0"/>
          </a:p>
          <a:p>
            <a:r>
              <a:rPr lang="en-US" dirty="0"/>
              <a:t>Break</a:t>
            </a:r>
          </a:p>
          <a:p>
            <a:r>
              <a:rPr lang="en-US" b="1" dirty="0">
                <a:solidFill>
                  <a:srgbClr val="1658FF"/>
                </a:solidFill>
              </a:rPr>
              <a:t>Session 2 (15:50 – 17:40): 1 invited talk + 4 papers</a:t>
            </a:r>
          </a:p>
          <a:p>
            <a:pPr lvl="1"/>
            <a:r>
              <a:rPr lang="en-US" sz="2000" dirty="0"/>
              <a:t>Invited talk by Dr. Akanksha Jain</a:t>
            </a:r>
          </a:p>
          <a:p>
            <a:pPr lvl="1"/>
            <a:r>
              <a:rPr lang="en-US" sz="2000" b="1" dirty="0"/>
              <a:t>Pushing the Limits of Berti </a:t>
            </a:r>
            <a:r>
              <a:rPr lang="en-US" sz="2000" dirty="0"/>
              <a:t>– Singh+, University of Murcia and University of Zaragoza</a:t>
            </a:r>
          </a:p>
          <a:p>
            <a:pPr lvl="1"/>
            <a:r>
              <a:rPr lang="en-US" sz="2000" b="1" dirty="0"/>
              <a:t>Entangling Data Prefetcher </a:t>
            </a:r>
            <a:r>
              <a:rPr lang="en-US" sz="2000" dirty="0"/>
              <a:t>– Torres+, University of Zaragoza , University of Murcia, and IIT Bombay</a:t>
            </a:r>
          </a:p>
          <a:p>
            <a:pPr lvl="1"/>
            <a:r>
              <a:rPr lang="en-US" sz="2000" b="1" dirty="0" err="1"/>
              <a:t>uMAMA</a:t>
            </a:r>
            <a:r>
              <a:rPr lang="en-US" sz="2000" dirty="0"/>
              <a:t> – Block+, UIUC</a:t>
            </a:r>
          </a:p>
          <a:p>
            <a:pPr lvl="1"/>
            <a:r>
              <a:rPr lang="en-US" sz="2000" b="1" dirty="0"/>
              <a:t>Global Berti </a:t>
            </a:r>
            <a:r>
              <a:rPr lang="en-US" sz="2000" dirty="0"/>
              <a:t>– </a:t>
            </a:r>
            <a:r>
              <a:rPr lang="en-US" sz="2000" dirty="0" err="1"/>
              <a:t>Posluns</a:t>
            </a:r>
            <a:r>
              <a:rPr lang="en-US" sz="2000" dirty="0"/>
              <a:t>+, University of Toronto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BC27D-63DC-1DC4-AF0C-6503BE2FB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5745346-2824-5D4D-8997-BD03D4014D71}" type="slidenum">
              <a:rPr lang="en-US" smtClean="0"/>
              <a:pPr/>
              <a:t>15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048714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33FA1-26ED-12EB-80C4-BB097031F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388751-D11F-1FCB-897D-21440837A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2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 r="133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465FCE8-4DE3-71F0-1667-6CA3CCB9AD5B}"/>
              </a:ext>
            </a:extLst>
          </p:cNvPr>
          <p:cNvSpPr/>
          <p:nvPr/>
        </p:nvSpPr>
        <p:spPr>
          <a:xfrm>
            <a:off x="-251792" y="1585085"/>
            <a:ext cx="12695583" cy="2054087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9784EB-3FD9-9E7F-A29E-8624B29D5D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The 4</a:t>
            </a:r>
            <a:r>
              <a:rPr lang="en-US" b="1" baseline="30000" dirty="0"/>
              <a:t>th</a:t>
            </a:r>
            <a:r>
              <a:rPr lang="en-US" b="1" dirty="0"/>
              <a:t> Data Prefetching Championship (DPC4)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CF0680-4F3D-7AD9-86AD-CF6948B71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809" y="3856382"/>
            <a:ext cx="11476382" cy="2663687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Co-located with HPCA 2026</a:t>
            </a:r>
          </a:p>
          <a:p>
            <a:endParaRPr lang="en-US" sz="12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Organizers: Rahul Bera, Konstantinos Kanellopoulos, and Onur Mutlu</a:t>
            </a:r>
          </a:p>
          <a:p>
            <a:endParaRPr lang="en-US" sz="14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February 1, 2026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Sydney, Australia</a:t>
            </a:r>
          </a:p>
        </p:txBody>
      </p:sp>
    </p:spTree>
    <p:extLst>
      <p:ext uri="{BB962C8B-B14F-4D97-AF65-F5344CB8AC3E}">
        <p14:creationId xmlns:p14="http://schemas.microsoft.com/office/powerpoint/2010/main" val="515581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1968</TotalTime>
  <Words>722</Words>
  <Application>Microsoft Macintosh PowerPoint</Application>
  <PresentationFormat>Widescreen</PresentationFormat>
  <Paragraphs>163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Aptos Light</vt:lpstr>
      <vt:lpstr>Arial</vt:lpstr>
      <vt:lpstr>Poppins Medium</vt:lpstr>
      <vt:lpstr>Office Theme</vt:lpstr>
      <vt:lpstr>The 4th Data Prefetching Championship (DPC4)</vt:lpstr>
      <vt:lpstr>Why Do We Care about Prefetching?</vt:lpstr>
      <vt:lpstr>Why Do We Care about Prefetching?</vt:lpstr>
      <vt:lpstr>Why Another DPC?</vt:lpstr>
      <vt:lpstr>What Changed since Last DPC?</vt:lpstr>
      <vt:lpstr>Goal of DPC4</vt:lpstr>
      <vt:lpstr>Format of DPC4</vt:lpstr>
      <vt:lpstr>New Things in DPC4</vt:lpstr>
      <vt:lpstr>DPC4 at a Glance</vt:lpstr>
      <vt:lpstr>Did We Meet the Goal?</vt:lpstr>
      <vt:lpstr>Sneak Peak: DPC4 Advances the State-of-the-Art</vt:lpstr>
      <vt:lpstr>Sneak Peak: DPC4 Advances the State-of-the-Art</vt:lpstr>
      <vt:lpstr>Sneak Peak: DPC4 Advances the State-of-the-Art</vt:lpstr>
      <vt:lpstr>Today’s Agenda (I)</vt:lpstr>
      <vt:lpstr>Today’s Agenda (II)</vt:lpstr>
      <vt:lpstr>The 4th Data Prefetching Championship (DPC4)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Bera  Rahul</dc:creator>
  <cp:lastModifiedBy>Bera  Rahul</cp:lastModifiedBy>
  <cp:revision>63</cp:revision>
  <dcterms:created xsi:type="dcterms:W3CDTF">2026-01-29T15:29:00Z</dcterms:created>
  <dcterms:modified xsi:type="dcterms:W3CDTF">2026-02-01T00:08:59Z</dcterms:modified>
</cp:coreProperties>
</file>