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5" r:id="rId20"/>
    <p:sldId id="274" r:id="rId21"/>
    <p:sldId id="276" r:id="rId22"/>
    <p:sldId id="277"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52963" autoAdjust="0"/>
  </p:normalViewPr>
  <p:slideViewPr>
    <p:cSldViewPr snapToGrid="0" snapToObjects="1">
      <p:cViewPr varScale="1">
        <p:scale>
          <a:sx n="84" d="100"/>
          <a:sy n="84" d="100"/>
        </p:scale>
        <p:origin x="1792"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40888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Hello everyone. My name is Tingji, and I am presenting on behalf of my team from</a:t>
            </a:r>
          </a:p>
          <a:p>
            <a:r>
              <a:rPr lang="en-US"/>
              <a:t>Tsinghua University,</a:t>
            </a:r>
            <a:r>
              <a:rPr lang="zh-CN" altLang="en-US"/>
              <a:t> </a:t>
            </a:r>
            <a:r>
              <a:rPr lang="en-US" altLang="zh-CN"/>
              <a:t>led</a:t>
            </a:r>
            <a:r>
              <a:rPr lang="zh-CN" altLang="en-US"/>
              <a:t> </a:t>
            </a:r>
            <a:r>
              <a:rPr lang="en-US" altLang="zh-CN"/>
              <a:t>by</a:t>
            </a:r>
            <a:r>
              <a:rPr lang="zh-CN" altLang="en-US"/>
              <a:t> </a:t>
            </a:r>
            <a:r>
              <a:rPr lang="en-US" altLang="zh-CN"/>
              <a:t>Jiajie</a:t>
            </a:r>
            <a:r>
              <a:rPr lang="en-US"/>
              <a:t>.</a:t>
            </a:r>
          </a:p>
          <a:p>
            <a:r>
              <a:rPr lang="en-US"/>
              <a:t>Our work is called </a:t>
            </a:r>
            <a:r>
              <a:rPr lang="en-US" b="1"/>
              <a:t>Emender</a:t>
            </a:r>
            <a:r>
              <a:rPr lang="en-US"/>
              <a:t>, which focuses on optimizing prefetch </a:t>
            </a:r>
            <a:r>
              <a:rPr lang="en-US" b="1"/>
              <a:t>priority</a:t>
            </a:r>
            <a:r>
              <a:rPr lang="en-US"/>
              <a:t> and</a:t>
            </a:r>
          </a:p>
          <a:p>
            <a:r>
              <a:rPr lang="en-US" b="1"/>
              <a:t>throttling</a:t>
            </a:r>
            <a:r>
              <a:rPr lang="en-US"/>
              <a:t>, based on the </a:t>
            </a:r>
            <a:r>
              <a:rPr lang="en-US" b="1"/>
              <a:t>VBerti</a:t>
            </a:r>
            <a:r>
              <a:rPr lang="en-US"/>
              <a:t> and </a:t>
            </a:r>
            <a:r>
              <a:rPr lang="en-US" b="1"/>
              <a:t>Pythia</a:t>
            </a:r>
            <a:r>
              <a:rPr lang="en-US"/>
              <a:t> prefetchers.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is the agenda for my talk. I will explain the specific problems we found in</a:t>
            </a:r>
          </a:p>
          <a:p>
            <a:r>
              <a:rPr lang="en-US"/>
              <a:t>existing solutions. And then, I will detail the </a:t>
            </a:r>
            <a:r>
              <a:rPr lang="en-US" b="1"/>
              <a:t>four key optimizations </a:t>
            </a:r>
            <a:r>
              <a:rPr lang="en-US"/>
              <a:t>we designed to</a:t>
            </a:r>
          </a:p>
          <a:p>
            <a:r>
              <a:rPr lang="en-US"/>
              <a:t>solve these problems. Finally, our evaluation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First, let's briefly look at the background. As we all know, we face the </a:t>
            </a:r>
            <a:r>
              <a:rPr lang="en-US" b="1"/>
              <a:t>'Memory Wall</a:t>
            </a:r>
            <a:r>
              <a:rPr lang="en-US"/>
              <a:t>' problem. Processors are getting faster, but memory speed isn't keeping up. This is why </a:t>
            </a:r>
            <a:r>
              <a:rPr lang="en-US" b="1"/>
              <a:t>data prefetching </a:t>
            </a:r>
            <a:r>
              <a:rPr lang="en-US"/>
              <a:t>is so critical today. The goal is simple: we need to predict what data the CPU needs and load it into the cache </a:t>
            </a:r>
            <a:r>
              <a:rPr lang="en-US" b="1"/>
              <a:t>before</a:t>
            </a:r>
            <a:r>
              <a:rPr lang="en-US"/>
              <a:t> it is actually requested. </a:t>
            </a:r>
          </a:p>
          <a:p>
            <a:endParaRPr lang="en-US"/>
          </a:p>
          <a:p>
            <a:r>
              <a:rPr lang="en-US" altLang="zh-CN"/>
              <a:t>Our work builds on this foundation, focusing on how to optimize </a:t>
            </a:r>
            <a:r>
              <a:rPr lang="en-US" altLang="zh-CN" b="1"/>
              <a:t>state-of-the-art prefetchers </a:t>
            </a:r>
            <a:r>
              <a:rPr lang="en-US" altLang="zh-CN"/>
              <a:t>like VBerti and Pythia to better utilize </a:t>
            </a:r>
            <a:r>
              <a:rPr lang="en-US" altLang="zh-CN" b="1"/>
              <a:t>limited prefetch queue resources </a:t>
            </a:r>
            <a:r>
              <a:rPr lang="en-US" altLang="zh-CN"/>
              <a:t>and improve </a:t>
            </a:r>
            <a:r>
              <a:rPr lang="en-US" altLang="zh-CN" b="1"/>
              <a:t>multi-core fairness</a:t>
            </a:r>
            <a:r>
              <a:rPr lang="en-US" altLang="zh-CN"/>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first step was to find the current SOTA prefetchers. We evaluated </a:t>
            </a:r>
            <a:r>
              <a:rPr lang="en-US" b="1"/>
              <a:t>13 different prefetchers</a:t>
            </a:r>
            <a:r>
              <a:rPr lang="en-US"/>
              <a:t>, </a:t>
            </a:r>
            <a:r>
              <a:rPr lang="en-US" altLang="zh-CN"/>
              <a:t>ranging from early classics like </a:t>
            </a:r>
            <a:r>
              <a:rPr lang="en-US" altLang="zh-CN" b="1"/>
              <a:t>SMS from ISCA 2006 </a:t>
            </a:r>
            <a:r>
              <a:rPr lang="en-US" altLang="zh-CN"/>
              <a:t>to very recent ones like </a:t>
            </a:r>
            <a:r>
              <a:rPr lang="en-US" altLang="zh-CN" b="1"/>
              <a:t>Gaze from HPCA 2025</a:t>
            </a:r>
            <a:r>
              <a:rPr lang="en-US" altLang="zh-CN"/>
              <a:t>. </a:t>
            </a:r>
            <a:r>
              <a:rPr lang="en-US"/>
              <a:t>We ported all of these to the DPC4 simulator. </a:t>
            </a:r>
          </a:p>
          <a:p>
            <a:endParaRPr lang="en-US"/>
          </a:p>
          <a:p>
            <a:r>
              <a:rPr lang="en-US"/>
              <a:t>After testing many combinations, we found that combining </a:t>
            </a:r>
            <a:r>
              <a:rPr lang="en-US" b="1"/>
              <a:t>VBerti (at L1 cache</a:t>
            </a:r>
            <a:r>
              <a:rPr lang="en-US"/>
              <a:t>) and </a:t>
            </a:r>
            <a:r>
              <a:rPr lang="en-US" b="1"/>
              <a:t>Pythia (at L2 cache</a:t>
            </a:r>
            <a:r>
              <a:rPr lang="en-US"/>
              <a:t>) gave us the best baseline performance.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You might see both 'Berti' and 'VBerti' mentioned. </a:t>
            </a:r>
            <a:r>
              <a:rPr lang="en-US" altLang="zh-CN" b="1"/>
              <a:t>Berti</a:t>
            </a:r>
            <a:r>
              <a:rPr lang="en-US" altLang="zh-CN"/>
              <a:t>, from DPC-3, uses physical addresses for prefetching. </a:t>
            </a:r>
            <a:r>
              <a:rPr lang="en-US" altLang="zh-CN" b="1"/>
              <a:t>VBerti</a:t>
            </a:r>
            <a:r>
              <a:rPr lang="en-US" altLang="zh-CN"/>
              <a:t>, published at MICRO-55, is an enhanced version that uses virtual addresses - hence the 'V'. </a:t>
            </a:r>
            <a:r>
              <a:rPr lang="en-US" altLang="zh-CN" b="1"/>
              <a:t>VBerti's</a:t>
            </a:r>
            <a:r>
              <a:rPr lang="en-US" altLang="zh-CN"/>
              <a:t> virtual addressing approach generally performs better, which is why we chose it as our baseline.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During testing, we faced a big practical challenge: </a:t>
            </a:r>
            <a:r>
              <a:rPr lang="en-US" b="1"/>
              <a:t>Time</a:t>
            </a:r>
            <a:r>
              <a:rPr lang="en-US"/>
              <a:t>. Running a </a:t>
            </a:r>
            <a:r>
              <a:rPr lang="en-US" b="1"/>
              <a:t>full simulation </a:t>
            </a:r>
            <a:r>
              <a:rPr lang="en-US"/>
              <a:t>for just one configuration took about a day. With so many parameters to tune, we couldn't test everything.</a:t>
            </a:r>
          </a:p>
          <a:p>
            <a:endParaRPr lang="en-US"/>
          </a:p>
          <a:p>
            <a:r>
              <a:rPr lang="en-US"/>
              <a:t>In fact, we tested traces at just </a:t>
            </a:r>
            <a:r>
              <a:rPr lang="en-US" b="1"/>
              <a:t>1%</a:t>
            </a:r>
            <a:r>
              <a:rPr lang="en-US"/>
              <a:t> of their length in most cases. We found that the </a:t>
            </a:r>
            <a:r>
              <a:rPr lang="en-US" b="1"/>
              <a:t>relative ranking </a:t>
            </a:r>
            <a:r>
              <a:rPr lang="en-US"/>
              <a:t>of prefetchers at 1% was consistent with the full 100% run. This allowed us to test 100 times more combinations and finally choose VBerti and Pythia.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With our baseline selected, we conducted detailed profiling to understand what was limiting performance.</a:t>
            </a:r>
            <a:r>
              <a:rPr lang="en-US"/>
              <a:t> As we can see, this combination is </a:t>
            </a:r>
            <a:r>
              <a:rPr lang="en-US" b="1"/>
              <a:t>very aggressive</a:t>
            </a:r>
            <a:r>
              <a:rPr lang="en-US"/>
              <a:t>, and it generates a massive volume of prefetch requests. </a:t>
            </a:r>
          </a:p>
          <a:p>
            <a:r>
              <a:rPr lang="en-US"/>
              <a:t>The problem is that the prefetch queue is </a:t>
            </a:r>
            <a:r>
              <a:rPr lang="en-US" b="1"/>
              <a:t>limited</a:t>
            </a:r>
            <a:r>
              <a:rPr lang="en-US"/>
              <a:t>, only </a:t>
            </a:r>
            <a:r>
              <a:rPr lang="en-US" b="1"/>
              <a:t>8 entries</a:t>
            </a:r>
            <a:r>
              <a:rPr lang="en-US"/>
              <a:t>. Our tests show the prefetch queue is full </a:t>
            </a:r>
            <a:r>
              <a:rPr lang="en-US" b="1"/>
              <a:t>80% of the time</a:t>
            </a:r>
            <a:r>
              <a:rPr lang="en-US"/>
              <a:t>, and </a:t>
            </a:r>
            <a:r>
              <a:rPr lang="en-US" altLang="zh-CN"/>
              <a:t>most of prefetch requests were being dropped due to a full prefetch queue</a:t>
            </a:r>
            <a:r>
              <a:rPr lang="en-US"/>
              <a:t>. </a:t>
            </a:r>
          </a:p>
          <a:p>
            <a:endParaRPr lang="en-US"/>
          </a:p>
          <a:p>
            <a:endParaRPr lang="en-US"/>
          </a:p>
          <a:p>
            <a:r>
              <a:rPr lang="en-US" altLang="zh-CN"/>
              <a:t>This gave us our </a:t>
            </a:r>
            <a:r>
              <a:rPr lang="en-US" altLang="zh-CN" b="1"/>
              <a:t>key insight</a:t>
            </a:r>
            <a:r>
              <a:rPr lang="en-US" altLang="zh-CN"/>
              <a:t>: we must use the limited prefetch queue more efficiently. We identified two approaches: </a:t>
            </a:r>
            <a:r>
              <a:rPr lang="en-US" altLang="zh-CN" b="1" i="0"/>
              <a:t>prioritization</a:t>
            </a:r>
            <a:r>
              <a:rPr lang="en-US" altLang="zh-CN"/>
              <a:t> and </a:t>
            </a:r>
            <a:r>
              <a:rPr lang="en-US" altLang="zh-CN" b="1"/>
              <a:t>filterling</a:t>
            </a:r>
            <a:r>
              <a:rPr lang="en-US" altLang="zh-CN"/>
              <a:t>.</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Prioritization</a:t>
            </a:r>
            <a:r>
              <a:rPr lang="en-US"/>
              <a:t>: If the queue is full, which request should go first? We need to make sure the </a:t>
            </a:r>
            <a:r>
              <a:rPr lang="en-US" b="1"/>
              <a:t>most useful ones get priority</a:t>
            </a:r>
            <a:r>
              <a:rPr lang="en-US"/>
              <a:t>. The original VBerti only prioritized </a:t>
            </a:r>
            <a:r>
              <a:rPr lang="en-US" b="1"/>
              <a:t>within</a:t>
            </a:r>
            <a:r>
              <a:rPr lang="en-US"/>
              <a:t> the same load instruction. We saw an opportunity to prioritize </a:t>
            </a:r>
            <a:r>
              <a:rPr lang="en-US" b="1"/>
              <a:t>globally</a:t>
            </a:r>
            <a:r>
              <a:rPr lang="en-US"/>
              <a:t> across all load instructions.</a:t>
            </a:r>
          </a:p>
          <a:p>
            <a:endParaRPr lang="en-US"/>
          </a:p>
          <a:p>
            <a:r>
              <a:rPr lang="en-US" b="1"/>
              <a:t>Filtering</a:t>
            </a:r>
            <a:r>
              <a:rPr lang="en-US"/>
              <a:t>: We noticed many prefetches were fetching data that was </a:t>
            </a:r>
            <a:r>
              <a:rPr lang="en-US" b="1"/>
              <a:t>already</a:t>
            </a:r>
            <a:r>
              <a:rPr lang="en-US"/>
              <a:t> in the cache. This is a waste. </a:t>
            </a:r>
            <a:r>
              <a:rPr lang="en-US" altLang="zh-CN"/>
              <a:t>The challenge is that we need a </a:t>
            </a:r>
            <a:r>
              <a:rPr lang="en-US" altLang="zh-CN" b="1"/>
              <a:t>cache membership query </a:t>
            </a:r>
            <a:r>
              <a:rPr lang="en-US" altLang="zh-CN"/>
              <a:t>with minimal hardware overhead - direct cache lookups would cause port contention and increase hardware cost significantly.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a:t>
            </a:r>
            <a:r>
              <a:rPr lang="en-US" b="1"/>
              <a:t>first</a:t>
            </a:r>
            <a:r>
              <a:rPr lang="en-US"/>
              <a:t> optimization is the </a:t>
            </a:r>
            <a:r>
              <a:rPr lang="en-US" b="1"/>
              <a:t>Pending Target Buffer </a:t>
            </a:r>
            <a:r>
              <a:rPr lang="en-US"/>
              <a:t>(PTB). Its a global waiting room. Before sending requests to the queue, we put them here first. </a:t>
            </a:r>
          </a:p>
          <a:p>
            <a:r>
              <a:rPr lang="en-US" altLang="zh-CN"/>
              <a:t>Each entry contains the </a:t>
            </a:r>
            <a:r>
              <a:rPr lang="en-US" altLang="zh-CN" b="1"/>
              <a:t>cache line address, confidence level, status, IP hash, sequence ID, and a failure count</a:t>
            </a:r>
            <a:r>
              <a:rPr lang="en-US" altLang="zh-CN"/>
              <a:t>.</a:t>
            </a:r>
          </a:p>
          <a:p>
            <a:endParaRPr lang="en-US"/>
          </a:p>
          <a:p>
            <a:r>
              <a:rPr lang="en-US" altLang="zh-CN"/>
              <a:t>We implement several policies: </a:t>
            </a:r>
            <a:r>
              <a:rPr lang="en-US" altLang="zh-CN" b="1"/>
              <a:t>duplicate filtering within the buffer,</a:t>
            </a:r>
            <a:r>
              <a:rPr lang="en-US" altLang="zh-CN"/>
              <a:t> replacing the lowest-confidence entry when full, periodic eviction of old entries, and </a:t>
            </a:r>
            <a:r>
              <a:rPr lang="en-US" altLang="zh-CN" b="1"/>
              <a:t>eviction of entries with excessive failures</a:t>
            </a:r>
            <a:r>
              <a:rPr lang="en-US" altLang="zh-CN"/>
              <a:t>.</a:t>
            </a:r>
          </a:p>
          <a:p>
            <a:r>
              <a:rPr lang="en-US"/>
              <a:t>It uses very little hardware, only about 860 bytes.</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This simple but effective mechanism ensures the </a:t>
            </a:r>
            <a:r>
              <a:rPr lang="en-US" altLang="zh-CN" b="1"/>
              <a:t>best prefetches get sent first</a:t>
            </a:r>
            <a:r>
              <a:rPr lang="en-US" altLang="zh-CN"/>
              <a:t>, making optimal use of the limited queue capacity.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second optimization is the </a:t>
            </a:r>
            <a:r>
              <a:rPr lang="en-US" b="1"/>
              <a:t>Cuckoo Filter</a:t>
            </a:r>
            <a:r>
              <a:rPr lang="en-US"/>
              <a:t>. The goal here is to stop prefetching data that is already in the L1 cache. So why not just check the cache tags? Well, checking the cache tags requires </a:t>
            </a:r>
            <a:r>
              <a:rPr lang="en-US" b="1"/>
              <a:t>read ports</a:t>
            </a:r>
            <a:r>
              <a:rPr lang="en-US"/>
              <a:t>, and we don't want to interfere with the CPU's actual work.</a:t>
            </a:r>
          </a:p>
          <a:p>
            <a:endParaRPr lang="en-US"/>
          </a:p>
          <a:p>
            <a:r>
              <a:rPr lang="en-US"/>
              <a:t>So, we use a Cuckoo Filter, which is similar to a Bloom Filter, but is better because it has </a:t>
            </a:r>
            <a:r>
              <a:rPr lang="en-US" b="1"/>
              <a:t>better space efficiency and supports deletions</a:t>
            </a:r>
            <a:r>
              <a:rPr lang="en-US"/>
              <a:t>. It tells us if an address is in the cache with zero false negatives.</a:t>
            </a:r>
          </a:p>
          <a:p>
            <a:r>
              <a:rPr lang="en-US" altLang="zh-CN"/>
              <a:t>The hardware cost is about </a:t>
            </a:r>
            <a:r>
              <a:rPr lang="en-US" altLang="zh-CN" b="1"/>
              <a:t>6.5 KB</a:t>
            </a:r>
            <a:r>
              <a:rPr lang="en-US" altLang="zh-CN"/>
              <a:t>, where each entry contains </a:t>
            </a:r>
            <a:r>
              <a:rPr lang="en-US" altLang="zh-CN" b="1"/>
              <a:t>a valid bit </a:t>
            </a:r>
            <a:r>
              <a:rPr lang="en-US" altLang="zh-CN"/>
              <a:t>and a </a:t>
            </a:r>
            <a:r>
              <a:rPr lang="en-US" altLang="zh-CN" b="1"/>
              <a:t>12-bit fingerprint</a:t>
            </a:r>
            <a:r>
              <a:rPr lang="en-US" altLang="zh-CN"/>
              <a:t>.</a:t>
            </a:r>
          </a:p>
          <a:p>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If the filter says 'it's not there,' we can safely prefetch. When it says data is in cache, there's a small chance it's wrong, meaning we might occasionally miss a useful prefetch. However, this false positive rate is low enough that the trade-off is worthwhile.</a:t>
            </a:r>
          </a:p>
          <a:p>
            <a:endParaRPr lang="en-US" altLang="zh-CN"/>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Implementing</a:t>
            </a:r>
            <a:r>
              <a:rPr lang="en-US"/>
              <a:t> the Cuckoo Filter had a tricky technical challenge. The L1 cache uses </a:t>
            </a:r>
            <a:r>
              <a:rPr lang="en-US" b="1"/>
              <a:t>Virtual addresses for indexing but Physical tags </a:t>
            </a:r>
            <a:r>
              <a:rPr lang="en-US"/>
              <a:t>(VIPT). Sometimes, different virtual addresses point to the same physical data. This 'aliasing' could confuse our filter. To fix this, we added a small mechanism to track the </a:t>
            </a:r>
            <a:r>
              <a:rPr lang="en-US" b="1"/>
              <a:t>'Last-Accessed Virtual Address</a:t>
            </a:r>
            <a:r>
              <a:rPr lang="en-US"/>
              <a:t>' for each cache line, which needs </a:t>
            </a:r>
            <a:r>
              <a:rPr lang="en-US" b="1"/>
              <a:t>22 bits </a:t>
            </a:r>
            <a:r>
              <a:rPr lang="en-US"/>
              <a:t>for index and fingerprint, and is used for cuckoo filter updates. </a:t>
            </a:r>
          </a:p>
          <a:p>
            <a:endParaRPr lang="en-US"/>
          </a:p>
          <a:p>
            <a:r>
              <a:rPr lang="en-US" altLang="zh-CN"/>
              <a:t>The reason this works is that in most cases, the same virtual address is used </a:t>
            </a:r>
            <a:r>
              <a:rPr lang="en-US" altLang="zh-CN" b="1"/>
              <a:t>repeatedly</a:t>
            </a:r>
            <a:r>
              <a:rPr lang="en-US" altLang="zh-CN"/>
              <a:t>. Aliasing is </a:t>
            </a:r>
            <a:r>
              <a:rPr lang="en-US" altLang="zh-CN" b="1"/>
              <a:t>relatively rare </a:t>
            </a:r>
            <a:r>
              <a:rPr lang="en-US" altLang="zh-CN"/>
              <a:t>in practice so generally this is acceptable.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third optimization deals with unpredictable patterns. </a:t>
            </a:r>
          </a:p>
          <a:p>
            <a:r>
              <a:rPr lang="en-US" altLang="zh-CN"/>
              <a:t>We observed that some load PCs have </a:t>
            </a:r>
            <a:r>
              <a:rPr lang="en-US" altLang="zh-CN" b="1"/>
              <a:t>semi-unpredictable patterns</a:t>
            </a:r>
            <a:r>
              <a:rPr lang="en-US" altLang="zh-CN"/>
              <a:t>. For example, accesses might follow a pattern like A, A+2, B, B+2, C, C+2, and so on, where A, B, and C are relatively random addresses.</a:t>
            </a:r>
          </a:p>
          <a:p>
            <a:r>
              <a:rPr lang="en-US" altLang="zh-CN"/>
              <a:t>The problem is that the </a:t>
            </a:r>
            <a:r>
              <a:rPr lang="en-US" altLang="zh-CN" b="1"/>
              <a:t>delta 2</a:t>
            </a:r>
            <a:r>
              <a:rPr lang="en-US" altLang="zh-CN"/>
              <a:t> appears frequently. The prefetcher learns this pattern and uses it, prefetching A+4, B+4, C+4, which are often </a:t>
            </a:r>
            <a:r>
              <a:rPr lang="en-US" altLang="zh-CN" b="1"/>
              <a:t>useless</a:t>
            </a:r>
            <a:r>
              <a:rPr lang="en-US" altLang="zh-CN"/>
              <a:t>. </a:t>
            </a:r>
          </a:p>
          <a:p>
            <a:endParaRPr lang="en-US"/>
          </a:p>
          <a:p>
            <a:r>
              <a:rPr lang="en-US" altLang="zh-CN"/>
              <a:t>Our solution is </a:t>
            </a:r>
            <a:r>
              <a:rPr lang="en-US" altLang="zh-CN" b="1"/>
              <a:t>per-PC throttling</a:t>
            </a:r>
            <a:r>
              <a:rPr lang="en-US" altLang="zh-CN"/>
              <a:t>.</a:t>
            </a:r>
            <a:r>
              <a:rPr lang="en-US"/>
              <a:t> We track the miss rate of each instruction. If an instruction causes too many misses, we automatically raise the bar, we throttle it. </a:t>
            </a:r>
          </a:p>
          <a:p>
            <a:r>
              <a:rPr lang="en-US"/>
              <a:t>If it starts doing well, we let it prefetch more. It adapts effectively to the pattern.</a:t>
            </a:r>
          </a:p>
          <a:p>
            <a:endParaRPr lang="en-US"/>
          </a:p>
          <a:p>
            <a:r>
              <a:rPr lang="en-US" altLang="zh-CN"/>
              <a:t>The hardware cost is minimal - just a</a:t>
            </a:r>
            <a:r>
              <a:rPr lang="en-US" altLang="zh-CN" b="1"/>
              <a:t> 10-bit </a:t>
            </a:r>
            <a:r>
              <a:rPr lang="en-US" altLang="zh-CN"/>
              <a:t>miss counter per </a:t>
            </a:r>
            <a:r>
              <a:rPr lang="en-US" altLang="zh-CN" b="1"/>
              <a:t>Berti Table entry</a:t>
            </a:r>
            <a:r>
              <a:rPr lang="en-US" altLang="zh-CN"/>
              <a:t>. This provides self-adaptive throttling that further reduces useless prefetches.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final optimization focus on </a:t>
            </a:r>
            <a:r>
              <a:rPr lang="en-US" b="1"/>
              <a:t>multi-core performance</a:t>
            </a:r>
            <a:r>
              <a:rPr lang="en-US"/>
              <a:t>. VBerti+Pythia is very aggressive. In a multi-core system, one core can 'hog' all the </a:t>
            </a:r>
            <a:r>
              <a:rPr lang="en-US" b="1"/>
              <a:t>memory bandwidth</a:t>
            </a:r>
            <a:r>
              <a:rPr lang="en-US"/>
              <a:t>, starving the other cores. </a:t>
            </a:r>
          </a:p>
          <a:p>
            <a:r>
              <a:rPr lang="en-US"/>
              <a:t>This hurts the overall score because the competition metric uses </a:t>
            </a:r>
            <a:r>
              <a:rPr lang="en-US" b="1"/>
              <a:t>harmonic speedup </a:t>
            </a:r>
            <a:r>
              <a:rPr lang="en-US"/>
              <a:t>and </a:t>
            </a:r>
            <a:r>
              <a:rPr lang="en-US" b="1"/>
              <a:t>penalizes unfairness</a:t>
            </a:r>
            <a:r>
              <a:rPr lang="en-US"/>
              <a:t>.</a:t>
            </a:r>
          </a:p>
          <a:p>
            <a:endParaRPr lang="en-US"/>
          </a:p>
          <a:p>
            <a:r>
              <a:rPr lang="en-US"/>
              <a:t>We introduced </a:t>
            </a:r>
            <a:r>
              <a:rPr lang="en-US" b="1"/>
              <a:t>Cross-core Coordination</a:t>
            </a:r>
            <a:r>
              <a:rPr lang="en-US"/>
              <a:t>. </a:t>
            </a:r>
            <a:r>
              <a:rPr lang="en-US" altLang="zh-CN"/>
              <a:t>First, L2 prefetchers report useless prefetch statistics to L3. L3 </a:t>
            </a:r>
            <a:r>
              <a:rPr lang="en-US" altLang="zh-CN" b="1"/>
              <a:t>aggregates these statistics</a:t>
            </a:r>
            <a:r>
              <a:rPr lang="en-US" altLang="zh-CN"/>
              <a:t> from all cores and identifies the worst offender - the core with the highest useless prefetch count. Then it throttles that core's prefetching.</a:t>
            </a:r>
            <a:r>
              <a:rPr lang="en-US"/>
              <a:t> </a:t>
            </a:r>
          </a:p>
          <a:p>
            <a:r>
              <a:rPr lang="en-US"/>
              <a:t>This </a:t>
            </a:r>
            <a:r>
              <a:rPr lang="en-US" b="1"/>
              <a:t>restores fairness </a:t>
            </a:r>
            <a:r>
              <a:rPr lang="en-US"/>
              <a:t>and yielding better overall performance; the hardware cost is minimal: just </a:t>
            </a:r>
            <a:r>
              <a:rPr lang="en-US" b="1"/>
              <a:t>64 bytes </a:t>
            </a:r>
            <a:r>
              <a:rPr lang="en-US"/>
              <a:t>for counters.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is the full picture of our solution </a:t>
            </a:r>
            <a:r>
              <a:rPr lang="en-US" b="1"/>
              <a:t>Emender</a:t>
            </a:r>
            <a:r>
              <a:rPr lang="en-US"/>
              <a:t>.</a:t>
            </a:r>
          </a:p>
          <a:p>
            <a:endParaRPr lang="en-US"/>
          </a:p>
          <a:p>
            <a:r>
              <a:rPr lang="en-US"/>
              <a:t>At L1: We use VBerti, enhanced with our </a:t>
            </a:r>
            <a:r>
              <a:rPr lang="en-US" b="1"/>
              <a:t>Pending Target Buffer, Cuckoo Filter, and Dynamic Threshold</a:t>
            </a:r>
            <a:r>
              <a:rPr lang="en-US"/>
              <a:t>. The total storage is </a:t>
            </a:r>
            <a:r>
              <a:rPr lang="en-US" b="1"/>
              <a:t>23KB</a:t>
            </a:r>
            <a:r>
              <a:rPr lang="en-US"/>
              <a:t>, within the 32 KB limit.</a:t>
            </a:r>
          </a:p>
          <a:p>
            <a:r>
              <a:rPr lang="en-US"/>
              <a:t>At L2: We use Pythia with extended </a:t>
            </a:r>
            <a:r>
              <a:rPr lang="en-US" b="1"/>
              <a:t>throttling</a:t>
            </a:r>
            <a:r>
              <a:rPr lang="en-US"/>
              <a:t> logic. It needs </a:t>
            </a:r>
            <a:r>
              <a:rPr lang="en-US" b="1"/>
              <a:t>26 KB</a:t>
            </a:r>
            <a:r>
              <a:rPr lang="en-US"/>
              <a:t>.</a:t>
            </a:r>
          </a:p>
          <a:p>
            <a:r>
              <a:rPr lang="en-US"/>
              <a:t>At L3: We do not prefetch data here. Instead, the L3 only serves as the </a:t>
            </a:r>
            <a:r>
              <a:rPr lang="en-US" b="1"/>
              <a:t>Fairness Coordinator</a:t>
            </a:r>
            <a:r>
              <a:rPr lang="en-US"/>
              <a:t>. It requires </a:t>
            </a:r>
            <a:r>
              <a:rPr lang="en-US" b="1"/>
              <a:t>64 bytes </a:t>
            </a:r>
            <a:r>
              <a:rPr lang="en-US"/>
              <a:t>(not kilo bytes)</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The key design principle is hierarchical optimization with coordinated metadata exchange across all cache levels.</a:t>
            </a:r>
          </a:p>
          <a:p>
            <a:r>
              <a:rPr lang="en-US"/>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our evaluation, we used the standard </a:t>
            </a:r>
            <a:r>
              <a:rPr lang="en-US" b="1"/>
              <a:t>DPC4 ChampSim framework </a:t>
            </a:r>
            <a:r>
              <a:rPr lang="en-US"/>
              <a:t>and tested</a:t>
            </a:r>
          </a:p>
          <a:p>
            <a:r>
              <a:rPr lang="en-US"/>
              <a:t>three standard configurations provided:</a:t>
            </a:r>
          </a:p>
          <a:p>
            <a:endParaRPr lang="en-US"/>
          </a:p>
          <a:p>
            <a:r>
              <a:rPr lang="en-US"/>
              <a:t>1. Single-core with full bandwidth.</a:t>
            </a:r>
          </a:p>
          <a:p>
            <a:r>
              <a:rPr lang="en-US"/>
              <a:t>2. Single-core with limited bandwidth.</a:t>
            </a:r>
          </a:p>
          <a:p>
            <a:r>
              <a:rPr lang="en-US"/>
              <a:t>3. 4-Core system.</a:t>
            </a:r>
          </a:p>
          <a:p>
            <a:endParaRPr lang="en-US"/>
          </a:p>
          <a:p>
            <a:r>
              <a:rPr lang="en-US"/>
              <a:t>We also report our score using the </a:t>
            </a:r>
            <a:r>
              <a:rPr lang="en-US" b="1"/>
              <a:t>standard scoring methodology</a:t>
            </a:r>
            <a:r>
              <a:rPr lang="en-US"/>
              <a:t>, and our baseline was Berti at L1 plus Pythia at L2 plus no prefetcher at L3.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let's look at the results. The graphs show our speedup compared to the baseline and other prefetcher combinations. Emender is the brown bar on the far right.</a:t>
            </a:r>
          </a:p>
          <a:p>
            <a:endParaRPr lang="en-US" altLang="zh-CN"/>
          </a:p>
          <a:p>
            <a:r>
              <a:rPr lang="en-US" altLang="zh-CN"/>
              <a:t>For </a:t>
            </a:r>
            <a:r>
              <a:rPr lang="en-US" altLang="zh-CN" b="1"/>
              <a:t>single-core full bandwidth</a:t>
            </a:r>
            <a:r>
              <a:rPr lang="en-US" altLang="zh-CN"/>
              <a:t>, we see a </a:t>
            </a:r>
            <a:r>
              <a:rPr lang="en-US" altLang="zh-CN" b="1"/>
              <a:t>6.6% speedup</a:t>
            </a:r>
            <a:r>
              <a:rPr lang="en-US" altLang="zh-CN"/>
              <a:t>. This is the unconstrained memory bandwidth scenario, where our optimizations improve prefetch accuracy.
For </a:t>
            </a:r>
            <a:r>
              <a:rPr lang="en-US" altLang="zh-CN" b="1"/>
              <a:t>single-core limited bandwidth</a:t>
            </a:r>
            <a:r>
              <a:rPr lang="en-US" altLang="zh-CN"/>
              <a:t>, we achieve a </a:t>
            </a:r>
            <a:r>
              <a:rPr lang="en-US" altLang="zh-CN" b="1"/>
              <a:t>2.0% speedup</a:t>
            </a:r>
            <a:r>
              <a:rPr lang="en-US" altLang="zh-CN"/>
              <a:t>. This is the memory-constrained scenario, showing a smaller but still significant improvement.
For </a:t>
            </a:r>
            <a:r>
              <a:rPr lang="en-US" altLang="zh-CN" b="1"/>
              <a:t>multi-core 4C</a:t>
            </a:r>
            <a:r>
              <a:rPr lang="en-US" altLang="zh-CN"/>
              <a:t>, we achieve a </a:t>
            </a:r>
            <a:r>
              <a:rPr lang="en-US" altLang="zh-CN" b="1"/>
              <a:t>6.1% speedup</a:t>
            </a:r>
            <a:r>
              <a:rPr lang="en-US" altLang="zh-CN"/>
              <a:t>. Here, the L3 throttling improves fairness and harmonic speedup.</a:t>
            </a:r>
          </a:p>
          <a:p>
            <a:endParaRPr lang="en-US"/>
          </a:p>
          <a:p>
            <a:r>
              <a:rPr lang="en-US" altLang="zh-CN"/>
              <a:t>The overall score improvement is </a:t>
            </a:r>
            <a:r>
              <a:rPr lang="en-US" altLang="zh-CN" b="1"/>
              <a:t>4.8%</a:t>
            </a:r>
            <a:r>
              <a:rPr lang="en-US" altLang="zh-CN"/>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also did an </a:t>
            </a:r>
            <a:r>
              <a:rPr lang="en-US" b="1"/>
              <a:t>ablation study </a:t>
            </a:r>
            <a:r>
              <a:rPr lang="en-US"/>
              <a:t>to see which feature helped the most.</a:t>
            </a:r>
          </a:p>
          <a:p>
            <a:endParaRPr lang="en-US"/>
          </a:p>
          <a:p>
            <a:r>
              <a:rPr lang="en-US"/>
              <a:t>The </a:t>
            </a:r>
            <a:r>
              <a:rPr lang="en-US" b="1"/>
              <a:t>Cuckoo Filter </a:t>
            </a:r>
            <a:r>
              <a:rPr lang="en-US"/>
              <a:t>(top row) gave the biggest boost in </a:t>
            </a:r>
            <a:r>
              <a:rPr lang="en-US" b="1"/>
              <a:t>single-core performance</a:t>
            </a:r>
            <a:r>
              <a:rPr lang="en-US"/>
              <a:t>, because it saves bandwidth. It have a contribution of </a:t>
            </a:r>
            <a:r>
              <a:rPr lang="en-US" b="1"/>
              <a:t>0.8%</a:t>
            </a:r>
            <a:r>
              <a:rPr lang="en-US"/>
              <a:t> overall.</a:t>
            </a:r>
          </a:p>
          <a:p>
            <a:endParaRPr lang="en-US"/>
          </a:p>
          <a:p>
            <a:r>
              <a:rPr lang="en-US"/>
              <a:t>The </a:t>
            </a:r>
            <a:r>
              <a:rPr lang="en-US" b="1"/>
              <a:t>L3 Fairness Throttling </a:t>
            </a:r>
            <a:r>
              <a:rPr lang="en-US"/>
              <a:t>(second row) was helpful for the </a:t>
            </a:r>
            <a:r>
              <a:rPr lang="en-US" b="1"/>
              <a:t>4-Core test</a:t>
            </a:r>
            <a:r>
              <a:rPr lang="en-US"/>
              <a:t>, improving it by </a:t>
            </a:r>
            <a:r>
              <a:rPr lang="en-US" b="1"/>
              <a:t>2.6% and 0.9% overall</a:t>
            </a:r>
            <a:r>
              <a:rPr lang="en-US"/>
              <a:t>.</a:t>
            </a:r>
          </a:p>
          <a:p>
            <a:endParaRPr lang="en-US"/>
          </a:p>
          <a:p>
            <a:r>
              <a:rPr lang="en-US" b="1"/>
              <a:t>Dynamic Confidence Threshold and Pending Target Buffer</a:t>
            </a:r>
            <a:r>
              <a:rPr lang="en-US"/>
              <a:t> improve overall performance by </a:t>
            </a:r>
            <a:r>
              <a:rPr lang="en-US" b="1"/>
              <a:t>0.1%</a:t>
            </a:r>
            <a:r>
              <a:rPr lang="en-US"/>
              <a:t> and </a:t>
            </a:r>
            <a:r>
              <a:rPr lang="en-US" b="1"/>
              <a:t>0.2%</a:t>
            </a:r>
            <a:r>
              <a:rPr lang="en-US"/>
              <a:t>. They serve as the foundation for other optimizations.</a:t>
            </a:r>
          </a:p>
          <a:p>
            <a:endParaRPr lang="en-US"/>
          </a:p>
          <a:p>
            <a:r>
              <a:rPr lang="en-US"/>
              <a:t>When combined, all features contributed to a total score improvement of 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Finally, we wanted to make sure our design was </a:t>
            </a:r>
            <a:r>
              <a:rPr lang="en-US" b="1"/>
              <a:t>robust</a:t>
            </a:r>
            <a:r>
              <a:rPr lang="en-US"/>
              <a:t>.</a:t>
            </a:r>
          </a:p>
          <a:p>
            <a:endParaRPr lang="en-US"/>
          </a:p>
          <a:p>
            <a:r>
              <a:rPr lang="en-US"/>
              <a:t>This </a:t>
            </a:r>
            <a:r>
              <a:rPr lang="en-US" b="1"/>
              <a:t>S-Curve</a:t>
            </a:r>
            <a:r>
              <a:rPr lang="en-US"/>
              <a:t> shows the speedup distribution. </a:t>
            </a:r>
          </a:p>
          <a:p>
            <a:r>
              <a:rPr lang="en-US"/>
              <a:t>As we can see, the vast majority of workloads (the blue line) are above the dashed line, with the median case shows about </a:t>
            </a:r>
            <a:r>
              <a:rPr lang="en-US" b="1"/>
              <a:t>1.1x</a:t>
            </a:r>
            <a:r>
              <a:rPr lang="en-US"/>
              <a:t> speedup, </a:t>
            </a:r>
            <a:r>
              <a:rPr lang="en-US" altLang="zh-CN"/>
              <a:t>meaning the majority of workloads benefit.</a:t>
            </a:r>
          </a:p>
          <a:p>
            <a:r>
              <a:rPr lang="en-US"/>
              <a:t>There are very few regressions, and the gains in the best cases are significant (over </a:t>
            </a:r>
            <a:r>
              <a:rPr lang="en-US" b="1"/>
              <a:t>1.4x</a:t>
            </a:r>
            <a:r>
              <a:rPr lang="en-US"/>
              <a:t>). </a:t>
            </a:r>
          </a:p>
          <a:p>
            <a:endParaRPr lang="en-US"/>
          </a:p>
          <a:p>
            <a:r>
              <a:rPr lang="en-US"/>
              <a:t>This proves Emender is a stable and robust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sum up, Emender is built on top of the powerful VBerti and Pythia prefetchers,</a:t>
            </a:r>
          </a:p>
          <a:p>
            <a:r>
              <a:rPr lang="en-US"/>
              <a:t>adding four key optimizations:</a:t>
            </a:r>
          </a:p>
          <a:p>
            <a:endParaRPr lang="en-US"/>
          </a:p>
          <a:p>
            <a:r>
              <a:rPr lang="en-US"/>
              <a:t>1. </a:t>
            </a:r>
            <a:r>
              <a:rPr lang="en-US" b="1"/>
              <a:t>Pending Target Buffer </a:t>
            </a:r>
            <a:r>
              <a:rPr lang="en-US"/>
              <a:t>for global priority.</a:t>
            </a:r>
          </a:p>
          <a:p>
            <a:r>
              <a:rPr lang="en-US"/>
              <a:t>2. </a:t>
            </a:r>
            <a:r>
              <a:rPr lang="en-US" b="1"/>
              <a:t>Cuckoo Filter </a:t>
            </a:r>
            <a:r>
              <a:rPr lang="en-US"/>
              <a:t>to stop redundant prefetching.</a:t>
            </a:r>
          </a:p>
          <a:p>
            <a:r>
              <a:rPr lang="en-US"/>
              <a:t>3. </a:t>
            </a:r>
            <a:r>
              <a:rPr lang="en-US" b="1"/>
              <a:t>Dynamic Thresholds </a:t>
            </a:r>
            <a:r>
              <a:rPr lang="en-US"/>
              <a:t>to adapt to difficult patterns.</a:t>
            </a:r>
          </a:p>
          <a:p>
            <a:r>
              <a:rPr lang="en-US"/>
              <a:t>4. </a:t>
            </a:r>
            <a:r>
              <a:rPr lang="en-US" b="1"/>
              <a:t>L3 Fairness Throttling </a:t>
            </a:r>
            <a:r>
              <a:rPr lang="en-US"/>
              <a:t>to coordinate multi-core systems.</a:t>
            </a:r>
          </a:p>
          <a:p>
            <a:endParaRPr lang="en-US"/>
          </a:p>
          <a:p>
            <a:r>
              <a:rPr lang="en-US" altLang="zh-CN"/>
              <a:t>The overall impact is a </a:t>
            </a:r>
            <a:r>
              <a:rPr lang="en-US" altLang="zh-CN" b="1"/>
              <a:t>4.8% improvement</a:t>
            </a:r>
            <a:r>
              <a:rPr lang="en-US" altLang="zh-CN"/>
              <a:t>, broken down as </a:t>
            </a:r>
            <a:r>
              <a:rPr lang="en-US" altLang="zh-CN" b="1"/>
              <a:t>6.6% for single-core full bandwidth</a:t>
            </a:r>
            <a:r>
              <a:rPr lang="en-US" altLang="zh-CN"/>
              <a:t>, </a:t>
            </a:r>
            <a:r>
              <a:rPr lang="en-US" altLang="zh-CN" b="1"/>
              <a:t>2.0% for single-core limited bandwidth</a:t>
            </a:r>
            <a:r>
              <a:rPr lang="en-US" altLang="zh-CN"/>
              <a:t>, and </a:t>
            </a:r>
            <a:r>
              <a:rPr lang="en-US" altLang="zh-CN" b="1"/>
              <a:t>6.1% for multi-core</a:t>
            </a:r>
            <a:r>
              <a:rPr lang="en-US" altLang="zh-CN"/>
              <a:t>.</a:t>
            </a:r>
            <a:endParaRPr lang="en-US"/>
          </a:p>
          <a:p>
            <a:endParaRPr lang="en-US"/>
          </a:p>
          <a:p>
            <a:r>
              <a:rPr lang="en-US" altLang="zh-CN"/>
              <a:t>This work demonstrates a </a:t>
            </a:r>
            <a:r>
              <a:rPr lang="en-US" altLang="zh-CN" b="1"/>
              <a:t>systematic optimization approach</a:t>
            </a:r>
            <a:r>
              <a:rPr lang="en-US" altLang="zh-CN"/>
              <a:t>, validates our methodology of scale validation followed by bottleneck analysis and targeted optimizations, and shows the value of </a:t>
            </a:r>
            <a:r>
              <a:rPr lang="en-US" altLang="zh-CN" b="1"/>
              <a:t>cross-level coordination.</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Then, I'd like to discuss some </a:t>
            </a:r>
            <a:r>
              <a:rPr lang="en-US" altLang="zh-CN" b="1"/>
              <a:t>implementation considerations </a:t>
            </a:r>
            <a:r>
              <a:rPr lang="en-US" altLang="zh-CN"/>
              <a:t>and </a:t>
            </a:r>
            <a:r>
              <a:rPr lang="en-US" altLang="zh-CN" b="1"/>
              <a:t>future work</a:t>
            </a:r>
            <a:r>
              <a:rPr lang="en-US" altLang="zh-CN"/>
              <a:t>.</a:t>
            </a:r>
            <a:endParaRPr lang="en-US" altLang="zh-CN" b="1"/>
          </a:p>
          <a:p>
            <a:endParaRPr lang="en-US" altLang="zh-CN" b="1"/>
          </a:p>
          <a:p>
            <a:r>
              <a:rPr lang="en-US" altLang="zh-CN" b="1"/>
              <a:t>Hardware reality: </a:t>
            </a:r>
            <a:r>
              <a:rPr lang="en-US" altLang="zh-CN"/>
              <a:t>Our Berti Table is fully-associative now, but a real chip would likely use a simpler </a:t>
            </a:r>
            <a:r>
              <a:rPr lang="en-US" altLang="zh-CN" b="1"/>
              <a:t>16-set, 4-way</a:t>
            </a:r>
            <a:r>
              <a:rPr lang="en-US" altLang="zh-CN"/>
              <a:t> design.</a:t>
            </a:r>
          </a:p>
          <a:p>
            <a:endParaRPr lang="en-US" altLang="zh-CN"/>
          </a:p>
          <a:p>
            <a:r>
              <a:rPr lang="en-US" altLang="zh-CN" b="1"/>
              <a:t>PTB</a:t>
            </a:r>
            <a:r>
              <a:rPr lang="en-US" altLang="zh-CN"/>
              <a:t>: Full hardware sorting for the PTB is costly, so we can use a few </a:t>
            </a:r>
            <a:r>
              <a:rPr lang="en-US" altLang="zh-CN" b="1"/>
              <a:t>priority buckets</a:t>
            </a:r>
            <a:r>
              <a:rPr lang="en-US" altLang="zh-CN"/>
              <a:t> instead.</a:t>
            </a:r>
          </a:p>
          <a:p>
            <a:endParaRPr lang="en-US" altLang="zh-CN"/>
          </a:p>
          <a:p>
            <a:r>
              <a:rPr lang="en-US" altLang="zh-CN" b="1"/>
              <a:t>Prefetch filtering</a:t>
            </a:r>
            <a:r>
              <a:rPr lang="en-US" altLang="zh-CN"/>
              <a:t>: We already filter with a </a:t>
            </a:r>
            <a:r>
              <a:rPr lang="en-US" altLang="zh-CN" b="1"/>
              <a:t>Cuckoo Filter + dedup</a:t>
            </a:r>
            <a:r>
              <a:rPr lang="en-US" altLang="zh-CN"/>
              <a:t>, and we should compare it with </a:t>
            </a:r>
            <a:r>
              <a:rPr lang="en-US" altLang="zh-CN" b="1"/>
              <a:t>Shadow Cache / Recent Access Filter / perceptron</a:t>
            </a:r>
            <a:r>
              <a:rPr lang="en-US" altLang="zh-CN"/>
              <a:t> options.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Thank you for listening.</a:t>
            </a:r>
            <a:r>
              <a:rPr lang="en-US" dirty="0"/>
              <a:t>
I'm happy to take any questions you might have.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camera-ready submission, we evaluated on the official DPC4-All-Traces, which differ from the training traces used during development.
On the left is the performance comparison on evaluation traces. As you can see, the overall trends remain consistent with our training results. The peak improvement reaches up to 1.71x IPC speedup on specific traces, demonstrating the potential of our optimizations.
The methodology difference is important: we trained on DPC4-Traces using 1% instruction subsets due to time constraints, but for the final evaluation we tested complete traces. The evaluation traces have a different composition - notably Google-Traces-v2 increased from 32% to 59% of the total.
This composition shift affected our overall score, as our optimizations provide minimal benefits for Google-Traces-v2. Additionally, more SPEC17 benchmarks with non-memory bottlenecks were included.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provides deeper analysis of why our results differ between training and evaluation traces.
For single-core performance, most categories match well, but SPEC17 shows slight regression due to benchmarks like leela where memory access isn't the primary bottleneck. The key factor in overall score reduction is the increased proportion of Google-Traces-v2, rising from 32% to 59%. Our optimizations simply don't help these traces as much.
The multi-core performance shows more interesting divergence. In training, random sampling across all benchmarks created high diversity across cores, which amplified our throttling effectiveness. However, evaluation traces use category-independent sampling, resulting in more homogeneous behavior across cores. Under these conditions, our current throttling mechanism proves suboptimal.
The key insight is that throttling effectiveness heavily depends on workload diversity. Future work could explore more sophisticated throttling strategies that adapt to the actual diversity observed at runtime.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1440" y="947886"/>
            <a:ext cx="9326880" cy="819150"/>
          </a:xfrm>
          <a:prstGeom prst="rect">
            <a:avLst/>
          </a:prstGeom>
          <a:noFill/>
          <a:ln/>
        </p:spPr>
        <p:txBody>
          <a:bodyPr wrap="square" lIns="0" tIns="0" rIns="0" bIns="0" rtlCol="0" anchor="t"/>
          <a:lstStyle/>
          <a:p>
            <a:pPr marL="0" indent="0" algn="ctr">
              <a:spcAft>
                <a:spcPts val="2500"/>
              </a:spcAft>
              <a:buNone/>
            </a:pPr>
            <a:r>
              <a:rPr lang="en-US" sz="2800" b="1" dirty="0">
                <a:solidFill>
                  <a:srgbClr val="FFFFFF"/>
                </a:solidFill>
                <a:latin typeface="Arial" pitchFamily="34" charset="0"/>
                <a:ea typeface="Arial" pitchFamily="34" charset="-122"/>
                <a:cs typeface="Arial" pitchFamily="34" charset="-120"/>
              </a:rPr>
              <a:t>Emender: Optimizing Prefetch Priority and Throttling in VBerti+Pythia</a:t>
            </a:r>
            <a:endParaRPr lang="en-US" sz="2800" dirty="0"/>
          </a:p>
        </p:txBody>
      </p:sp>
      <p:sp>
        <p:nvSpPr>
          <p:cNvPr id="3" name="Text 1"/>
          <p:cNvSpPr/>
          <p:nvPr/>
        </p:nvSpPr>
        <p:spPr>
          <a:xfrm>
            <a:off x="-91440" y="2084487"/>
            <a:ext cx="9326880" cy="352425"/>
          </a:xfrm>
          <a:prstGeom prst="rect">
            <a:avLst/>
          </a:prstGeom>
          <a:noFill/>
          <a:ln/>
        </p:spPr>
        <p:txBody>
          <a:bodyPr wrap="square" lIns="0" tIns="0" rIns="0" bIns="0" rtlCol="0" anchor="t"/>
          <a:lstStyle/>
          <a:p>
            <a:pPr marL="0" indent="0" algn="ctr">
              <a:spcAft>
                <a:spcPts val="3500"/>
              </a:spcAft>
              <a:buNone/>
            </a:pPr>
            <a:r>
              <a:rPr lang="en-US" sz="2400" dirty="0">
                <a:solidFill>
                  <a:srgbClr val="E9ECEF"/>
                </a:solidFill>
                <a:latin typeface="Arial" pitchFamily="34" charset="0"/>
                <a:ea typeface="Arial" pitchFamily="34" charset="-122"/>
                <a:cs typeface="Arial" pitchFamily="34" charset="-120"/>
              </a:rPr>
              <a:t>DPC4 Championship</a:t>
            </a:r>
            <a:endParaRPr lang="en-US" sz="2400" dirty="0"/>
          </a:p>
        </p:txBody>
      </p:sp>
      <p:sp>
        <p:nvSpPr>
          <p:cNvPr id="4" name="Text 2"/>
          <p:cNvSpPr/>
          <p:nvPr/>
        </p:nvSpPr>
        <p:spPr>
          <a:xfrm>
            <a:off x="-91440" y="2881313"/>
            <a:ext cx="9326880" cy="266700"/>
          </a:xfrm>
          <a:prstGeom prst="rect">
            <a:avLst/>
          </a:prstGeom>
          <a:noFill/>
          <a:ln/>
        </p:spPr>
        <p:txBody>
          <a:bodyPr wrap="square" lIns="0" tIns="0" rIns="0" bIns="0" rtlCol="0" anchor="t"/>
          <a:lstStyle/>
          <a:p>
            <a:pPr marL="0" indent="0" algn="ctr">
              <a:lnSpc>
                <a:spcPts val="2100"/>
              </a:lnSpc>
              <a:spcBef>
                <a:spcPts val="1400"/>
              </a:spcBef>
              <a:spcAft>
                <a:spcPts val="1400"/>
              </a:spcAft>
              <a:buNone/>
            </a:pPr>
            <a:r>
              <a:rPr lang="en-US" sz="1400" dirty="0">
                <a:solidFill>
                  <a:srgbClr val="FFFFFF"/>
                </a:solidFill>
                <a:latin typeface="Arial" pitchFamily="34" charset="0"/>
                <a:ea typeface="Arial" pitchFamily="34" charset="-122"/>
                <a:cs typeface="Arial" pitchFamily="34" charset="-120"/>
              </a:rPr>
              <a:t>Jiajie Chen · Tingji Zhang </a:t>
            </a:r>
            <a:r>
              <a:rPr lang="en-US" sz="1400" b="1" dirty="0">
                <a:solidFill>
                  <a:srgbClr val="FFFFFF"/>
                </a:solidFill>
                <a:latin typeface="Arial" pitchFamily="34" charset="0"/>
                <a:ea typeface="Arial" pitchFamily="34" charset="-122"/>
                <a:cs typeface="Arial" pitchFamily="34" charset="-120"/>
              </a:rPr>
              <a:t>(Presenter)</a:t>
            </a:r>
            <a:endParaRPr lang="en-US" sz="1400" dirty="0"/>
          </a:p>
        </p:txBody>
      </p:sp>
      <p:sp>
        <p:nvSpPr>
          <p:cNvPr id="5" name="Text 3"/>
          <p:cNvSpPr/>
          <p:nvPr/>
        </p:nvSpPr>
        <p:spPr>
          <a:xfrm>
            <a:off x="-91440" y="3325713"/>
            <a:ext cx="9326880" cy="266700"/>
          </a:xfrm>
          <a:prstGeom prst="rect">
            <a:avLst/>
          </a:prstGeom>
          <a:noFill/>
          <a:ln/>
        </p:spPr>
        <p:txBody>
          <a:bodyPr wrap="square" lIns="0" tIns="0" rIns="0" bIns="0" rtlCol="0" anchor="t"/>
          <a:lstStyle/>
          <a:p>
            <a:pPr marL="0" indent="0" algn="ctr">
              <a:lnSpc>
                <a:spcPts val="2100"/>
              </a:lnSpc>
              <a:spcBef>
                <a:spcPts val="1400"/>
              </a:spcBef>
              <a:spcAft>
                <a:spcPts val="1400"/>
              </a:spcAft>
              <a:buNone/>
            </a:pPr>
            <a:r>
              <a:rPr lang="en-US" sz="1400" dirty="0">
                <a:solidFill>
                  <a:srgbClr val="FFFFFF"/>
                </a:solidFill>
                <a:latin typeface="Arial" pitchFamily="34" charset="0"/>
                <a:ea typeface="Arial" pitchFamily="34" charset="-122"/>
                <a:cs typeface="Arial" pitchFamily="34" charset="-120"/>
              </a:rPr>
              <a:t>Xiaoyi Liu · Xuefeng Zhang · Peng Qu · Youhui Zhang</a:t>
            </a:r>
            <a:endParaRPr lang="en-US" sz="1400" dirty="0"/>
          </a:p>
        </p:txBody>
      </p:sp>
      <p:sp>
        <p:nvSpPr>
          <p:cNvPr id="6" name="Text 4"/>
          <p:cNvSpPr/>
          <p:nvPr/>
        </p:nvSpPr>
        <p:spPr>
          <a:xfrm>
            <a:off x="-91440" y="3782913"/>
            <a:ext cx="9326880" cy="247501"/>
          </a:xfrm>
          <a:prstGeom prst="rect">
            <a:avLst/>
          </a:prstGeom>
          <a:noFill/>
          <a:ln/>
        </p:spPr>
        <p:txBody>
          <a:bodyPr wrap="square" lIns="0" tIns="0" rIns="0" bIns="0" rtlCol="0" anchor="t"/>
          <a:lstStyle/>
          <a:p>
            <a:pPr marL="0" indent="0" algn="ctr">
              <a:lnSpc>
                <a:spcPts val="1950"/>
              </a:lnSpc>
              <a:spcBef>
                <a:spcPts val="1500"/>
              </a:spcBef>
              <a:spcAft>
                <a:spcPts val="1300"/>
              </a:spcAft>
              <a:buNone/>
            </a:pPr>
            <a:r>
              <a:rPr lang="en-US" sz="1300" dirty="0">
                <a:solidFill>
                  <a:srgbClr val="FFFFFF"/>
                </a:solidFill>
                <a:latin typeface="Arial" pitchFamily="34" charset="0"/>
                <a:ea typeface="Arial" pitchFamily="34" charset="-122"/>
                <a:cs typeface="Arial" pitchFamily="34" charset="-120"/>
              </a:rPr>
              <a:t>Tsinghua University</a:t>
            </a:r>
            <a:endParaRPr lang="en-US" sz="1300" dirty="0"/>
          </a:p>
        </p:txBody>
      </p:sp>
      <p:sp>
        <p:nvSpPr>
          <p:cNvPr id="7" name="文本框 6">
            <a:extLst>
              <a:ext uri="{FF2B5EF4-FFF2-40B4-BE49-F238E27FC236}">
                <a16:creationId xmlns:a16="http://schemas.microsoft.com/office/drawing/2014/main" id="{59F5FAEB-8370-FF36-BACF-97B4297DA87E}"/>
              </a:ext>
            </a:extLst>
          </p:cNvPr>
          <p:cNvSpPr txBox="1"/>
          <p:nvPr/>
        </p:nvSpPr>
        <p:spPr>
          <a:xfrm>
            <a:off x="8395452" y="4621065"/>
            <a:ext cx="529984" cy="369332"/>
          </a:xfrm>
          <a:prstGeom prst="rect">
            <a:avLst/>
          </a:prstGeom>
          <a:noFill/>
        </p:spPr>
        <p:txBody>
          <a:bodyPr wrap="square" rtlCol="0">
            <a:spAutoFit/>
          </a:bodyPr>
          <a:lstStyle/>
          <a:p>
            <a:r>
              <a:rPr lang="en-US" altLang="zh-CN"/>
              <a:t>1</a:t>
            </a: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825401"/>
          </a:xfrm>
          <a:prstGeom prst="rect">
            <a:avLst/>
          </a:prstGeom>
          <a:solidFill>
            <a:srgbClr val="5B4B9E"/>
          </a:solidFill>
          <a:ln/>
        </p:spPr>
        <p:txBody>
          <a:bodyPr wrap="square" rtlCol="0" anchor="ctr"/>
          <a:lstStyle/>
          <a:p>
            <a:pPr marL="0" indent="0">
              <a:buNone/>
            </a:pPr>
            <a:endParaRPr lang="en-US" dirty="0"/>
          </a:p>
        </p:txBody>
      </p:sp>
      <p:sp>
        <p:nvSpPr>
          <p:cNvPr id="3" name="Text 1"/>
          <p:cNvSpPr/>
          <p:nvPr/>
        </p:nvSpPr>
        <p:spPr>
          <a:xfrm>
            <a:off x="634901" y="126950"/>
            <a:ext cx="8031682" cy="409575"/>
          </a:xfrm>
          <a:prstGeom prst="rect">
            <a:avLst/>
          </a:prstGeom>
          <a:noFill/>
          <a:ln/>
        </p:spPr>
        <p:txBody>
          <a:bodyPr wrap="square" lIns="0" tIns="0" rIns="0" bIns="0" rtlCol="0" anchor="t"/>
          <a:lstStyle/>
          <a:p>
            <a:pPr marL="0" indent="0" algn="l">
              <a:buNone/>
            </a:pPr>
            <a:r>
              <a:rPr lang="en-US" sz="2800" b="1" dirty="0">
                <a:solidFill>
                  <a:srgbClr val="FFFFFF"/>
                </a:solidFill>
                <a:latin typeface="Arial" pitchFamily="34" charset="0"/>
                <a:ea typeface="Arial" pitchFamily="34" charset="-122"/>
                <a:cs typeface="Arial" pitchFamily="34" charset="-120"/>
              </a:rPr>
              <a:t>Presentation Overview</a:t>
            </a:r>
            <a:endParaRPr lang="en-US" sz="2800" dirty="0"/>
          </a:p>
        </p:txBody>
      </p:sp>
      <p:sp>
        <p:nvSpPr>
          <p:cNvPr id="4" name="Text 2"/>
          <p:cNvSpPr/>
          <p:nvPr/>
        </p:nvSpPr>
        <p:spPr>
          <a:xfrm>
            <a:off x="634901" y="979289"/>
            <a:ext cx="317450" cy="317450"/>
          </a:xfrm>
          <a:prstGeom prst="roundRect">
            <a:avLst>
              <a:gd name="adj" fmla="val 288045"/>
            </a:avLst>
          </a:prstGeom>
          <a:solidFill>
            <a:srgbClr val="2A9D8F"/>
          </a:solidFill>
          <a:ln/>
        </p:spPr>
        <p:txBody>
          <a:bodyPr wrap="square" rtlCol="0" anchor="ctr"/>
          <a:lstStyle/>
          <a:p>
            <a:pPr marL="0" indent="0">
              <a:buNone/>
            </a:pPr>
            <a:endParaRPr lang="en-US" dirty="0"/>
          </a:p>
        </p:txBody>
      </p:sp>
      <p:sp>
        <p:nvSpPr>
          <p:cNvPr id="5" name="Text 3"/>
          <p:cNvSpPr/>
          <p:nvPr/>
        </p:nvSpPr>
        <p:spPr>
          <a:xfrm>
            <a:off x="736997" y="1018877"/>
            <a:ext cx="115372" cy="238125"/>
          </a:xfrm>
          <a:prstGeom prst="rect">
            <a:avLst/>
          </a:prstGeom>
          <a:noFill/>
          <a:ln/>
        </p:spPr>
        <p:txBody>
          <a:bodyPr wrap="square" lIns="0" tIns="0" rIns="0" bIns="0" rtlCol="0" anchor="t"/>
          <a:lstStyle/>
          <a:p>
            <a:pPr marL="0" indent="0" algn="l">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p:nvPr/>
        </p:nvSpPr>
        <p:spPr>
          <a:xfrm>
            <a:off x="1193453" y="952351"/>
            <a:ext cx="3743655" cy="371475"/>
          </a:xfrm>
          <a:prstGeom prst="rect">
            <a:avLst/>
          </a:prstGeom>
          <a:noFill/>
          <a:ln/>
        </p:spPr>
        <p:txBody>
          <a:bodyPr wrap="square" lIns="0" tIns="0" rIns="0" bIns="0" rtlCol="0" anchor="t"/>
          <a:lstStyle/>
          <a:p>
            <a:pPr marL="0" indent="0" algn="l">
              <a:spcBef>
                <a:spcPts val="500"/>
              </a:spcBef>
              <a:spcAft>
                <a:spcPts val="500"/>
              </a:spcAft>
              <a:buNone/>
            </a:pPr>
            <a:r>
              <a:rPr lang="en-US" sz="2600" dirty="0">
                <a:solidFill>
                  <a:srgbClr val="264653"/>
                </a:solidFill>
                <a:latin typeface="Arial" pitchFamily="34" charset="0"/>
                <a:ea typeface="Arial" pitchFamily="34" charset="-122"/>
                <a:cs typeface="Arial" pitchFamily="34" charset="-120"/>
              </a:rPr>
              <a:t>Background &amp; Motivation</a:t>
            </a:r>
            <a:endParaRPr lang="en-US" sz="2600" dirty="0"/>
          </a:p>
        </p:txBody>
      </p:sp>
      <p:sp>
        <p:nvSpPr>
          <p:cNvPr id="7" name="Text 5"/>
          <p:cNvSpPr/>
          <p:nvPr/>
        </p:nvSpPr>
        <p:spPr>
          <a:xfrm>
            <a:off x="634901" y="1629966"/>
            <a:ext cx="317450" cy="317450"/>
          </a:xfrm>
          <a:prstGeom prst="roundRect">
            <a:avLst>
              <a:gd name="adj" fmla="val 288045"/>
            </a:avLst>
          </a:prstGeom>
          <a:solidFill>
            <a:srgbClr val="2A9D8F"/>
          </a:solidFill>
          <a:ln/>
        </p:spPr>
        <p:txBody>
          <a:bodyPr wrap="square" rtlCol="0" anchor="ctr"/>
          <a:lstStyle/>
          <a:p>
            <a:pPr marL="0" indent="0">
              <a:buNone/>
            </a:pPr>
            <a:endParaRPr lang="en-US" dirty="0"/>
          </a:p>
        </p:txBody>
      </p:sp>
      <p:sp>
        <p:nvSpPr>
          <p:cNvPr id="8" name="Text 6"/>
          <p:cNvSpPr/>
          <p:nvPr/>
        </p:nvSpPr>
        <p:spPr>
          <a:xfrm>
            <a:off x="736997" y="1669554"/>
            <a:ext cx="115372" cy="238125"/>
          </a:xfrm>
          <a:prstGeom prst="rect">
            <a:avLst/>
          </a:prstGeom>
          <a:noFill/>
          <a:ln/>
        </p:spPr>
        <p:txBody>
          <a:bodyPr wrap="square" lIns="0" tIns="0" rIns="0" bIns="0" rtlCol="0" anchor="t"/>
          <a:lstStyle/>
          <a:p>
            <a:pPr marL="0" indent="0" algn="l">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9" name="Text 7"/>
          <p:cNvSpPr/>
          <p:nvPr/>
        </p:nvSpPr>
        <p:spPr>
          <a:xfrm>
            <a:off x="1193453" y="1603028"/>
            <a:ext cx="3313441" cy="371475"/>
          </a:xfrm>
          <a:prstGeom prst="rect">
            <a:avLst/>
          </a:prstGeom>
          <a:noFill/>
          <a:ln/>
        </p:spPr>
        <p:txBody>
          <a:bodyPr wrap="square" lIns="0" tIns="0" rIns="0" bIns="0" rtlCol="0" anchor="t"/>
          <a:lstStyle/>
          <a:p>
            <a:pPr marL="0" indent="0" algn="l">
              <a:spcBef>
                <a:spcPts val="500"/>
              </a:spcBef>
              <a:spcAft>
                <a:spcPts val="500"/>
              </a:spcAft>
              <a:buNone/>
            </a:pPr>
            <a:r>
              <a:rPr lang="en-US" sz="2600" dirty="0">
                <a:solidFill>
                  <a:srgbClr val="264653"/>
                </a:solidFill>
                <a:latin typeface="Arial" pitchFamily="34" charset="0"/>
                <a:ea typeface="Arial" pitchFamily="34" charset="-122"/>
                <a:cs typeface="Arial" pitchFamily="34" charset="-120"/>
              </a:rPr>
              <a:t>Competition Approach</a:t>
            </a:r>
            <a:endParaRPr lang="en-US" sz="2600" dirty="0"/>
          </a:p>
        </p:txBody>
      </p:sp>
      <p:sp>
        <p:nvSpPr>
          <p:cNvPr id="10" name="Text 8"/>
          <p:cNvSpPr/>
          <p:nvPr/>
        </p:nvSpPr>
        <p:spPr>
          <a:xfrm>
            <a:off x="634901" y="2280642"/>
            <a:ext cx="317450" cy="317450"/>
          </a:xfrm>
          <a:prstGeom prst="roundRect">
            <a:avLst>
              <a:gd name="adj" fmla="val 288045"/>
            </a:avLst>
          </a:prstGeom>
          <a:solidFill>
            <a:srgbClr val="2A9D8F"/>
          </a:solidFill>
          <a:ln/>
        </p:spPr>
        <p:txBody>
          <a:bodyPr wrap="square" rtlCol="0" anchor="ctr"/>
          <a:lstStyle/>
          <a:p>
            <a:pPr marL="0" indent="0">
              <a:buNone/>
            </a:pPr>
            <a:endParaRPr lang="en-US" dirty="0"/>
          </a:p>
        </p:txBody>
      </p:sp>
      <p:sp>
        <p:nvSpPr>
          <p:cNvPr id="11" name="Text 9"/>
          <p:cNvSpPr/>
          <p:nvPr/>
        </p:nvSpPr>
        <p:spPr>
          <a:xfrm>
            <a:off x="736997" y="2320230"/>
            <a:ext cx="115372" cy="238125"/>
          </a:xfrm>
          <a:prstGeom prst="rect">
            <a:avLst/>
          </a:prstGeom>
          <a:noFill/>
          <a:ln/>
        </p:spPr>
        <p:txBody>
          <a:bodyPr wrap="square" lIns="0" tIns="0" rIns="0" bIns="0" rtlCol="0" anchor="t"/>
          <a:lstStyle/>
          <a:p>
            <a:pPr marL="0" indent="0" algn="l">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2" name="Text 10"/>
          <p:cNvSpPr/>
          <p:nvPr/>
        </p:nvSpPr>
        <p:spPr>
          <a:xfrm>
            <a:off x="1193453" y="2253704"/>
            <a:ext cx="2582805" cy="371475"/>
          </a:xfrm>
          <a:prstGeom prst="rect">
            <a:avLst/>
          </a:prstGeom>
          <a:noFill/>
          <a:ln/>
        </p:spPr>
        <p:txBody>
          <a:bodyPr wrap="square" lIns="0" tIns="0" rIns="0" bIns="0" rtlCol="0" anchor="t"/>
          <a:lstStyle/>
          <a:p>
            <a:pPr marL="0" indent="0" algn="l">
              <a:spcBef>
                <a:spcPts val="500"/>
              </a:spcBef>
              <a:spcAft>
                <a:spcPts val="500"/>
              </a:spcAft>
              <a:buNone/>
            </a:pPr>
            <a:r>
              <a:rPr lang="en-US" sz="2600" dirty="0">
                <a:solidFill>
                  <a:srgbClr val="264653"/>
                </a:solidFill>
                <a:latin typeface="Arial" pitchFamily="34" charset="0"/>
                <a:ea typeface="Arial" pitchFamily="34" charset="-122"/>
                <a:cs typeface="Arial" pitchFamily="34" charset="-120"/>
              </a:rPr>
              <a:t>Problem Analysis</a:t>
            </a:r>
            <a:endParaRPr lang="en-US" sz="2600" dirty="0"/>
          </a:p>
        </p:txBody>
      </p:sp>
      <p:sp>
        <p:nvSpPr>
          <p:cNvPr id="13" name="Text 11"/>
          <p:cNvSpPr/>
          <p:nvPr/>
        </p:nvSpPr>
        <p:spPr>
          <a:xfrm>
            <a:off x="634901" y="2931319"/>
            <a:ext cx="317450" cy="317450"/>
          </a:xfrm>
          <a:prstGeom prst="roundRect">
            <a:avLst>
              <a:gd name="adj" fmla="val 288045"/>
            </a:avLst>
          </a:prstGeom>
          <a:solidFill>
            <a:srgbClr val="2A9D8F"/>
          </a:solidFill>
          <a:ln/>
        </p:spPr>
        <p:txBody>
          <a:bodyPr wrap="square" rtlCol="0" anchor="ctr"/>
          <a:lstStyle/>
          <a:p>
            <a:pPr marL="0" indent="0">
              <a:buNone/>
            </a:pPr>
            <a:endParaRPr lang="en-US" dirty="0"/>
          </a:p>
        </p:txBody>
      </p:sp>
      <p:sp>
        <p:nvSpPr>
          <p:cNvPr id="14" name="Text 12"/>
          <p:cNvSpPr/>
          <p:nvPr/>
        </p:nvSpPr>
        <p:spPr>
          <a:xfrm>
            <a:off x="736997" y="2970907"/>
            <a:ext cx="115372" cy="238125"/>
          </a:xfrm>
          <a:prstGeom prst="rect">
            <a:avLst/>
          </a:prstGeom>
          <a:noFill/>
          <a:ln/>
        </p:spPr>
        <p:txBody>
          <a:bodyPr wrap="square" lIns="0" tIns="0" rIns="0" bIns="0" rtlCol="0" anchor="t"/>
          <a:lstStyle/>
          <a:p>
            <a:pPr marL="0" indent="0" algn="l">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5" name="Text 13"/>
          <p:cNvSpPr/>
          <p:nvPr/>
        </p:nvSpPr>
        <p:spPr>
          <a:xfrm>
            <a:off x="1193453" y="2904381"/>
            <a:ext cx="3499705" cy="371475"/>
          </a:xfrm>
          <a:prstGeom prst="rect">
            <a:avLst/>
          </a:prstGeom>
          <a:noFill/>
          <a:ln/>
        </p:spPr>
        <p:txBody>
          <a:bodyPr wrap="square" lIns="0" tIns="0" rIns="0" bIns="0" rtlCol="0" anchor="t"/>
          <a:lstStyle/>
          <a:p>
            <a:pPr marL="0" indent="0" algn="l">
              <a:spcBef>
                <a:spcPts val="500"/>
              </a:spcBef>
              <a:spcAft>
                <a:spcPts val="500"/>
              </a:spcAft>
              <a:buNone/>
            </a:pPr>
            <a:r>
              <a:rPr lang="en-US" sz="2600" dirty="0">
                <a:solidFill>
                  <a:srgbClr val="264653"/>
                </a:solidFill>
                <a:latin typeface="Arial" pitchFamily="34" charset="0"/>
                <a:ea typeface="Arial" pitchFamily="34" charset="-122"/>
                <a:cs typeface="Arial" pitchFamily="34" charset="-120"/>
              </a:rPr>
              <a:t>Four Key Optimizations</a:t>
            </a:r>
            <a:endParaRPr lang="en-US" sz="2600" dirty="0"/>
          </a:p>
        </p:txBody>
      </p:sp>
      <p:sp>
        <p:nvSpPr>
          <p:cNvPr id="16" name="Text 14"/>
          <p:cNvSpPr/>
          <p:nvPr/>
        </p:nvSpPr>
        <p:spPr>
          <a:xfrm>
            <a:off x="634901" y="3581995"/>
            <a:ext cx="317450" cy="317450"/>
          </a:xfrm>
          <a:prstGeom prst="roundRect">
            <a:avLst>
              <a:gd name="adj" fmla="val 288045"/>
            </a:avLst>
          </a:prstGeom>
          <a:solidFill>
            <a:srgbClr val="2A9D8F"/>
          </a:solidFill>
          <a:ln/>
        </p:spPr>
        <p:txBody>
          <a:bodyPr wrap="square" rtlCol="0" anchor="ctr"/>
          <a:lstStyle/>
          <a:p>
            <a:pPr marL="0" indent="0">
              <a:buNone/>
            </a:pPr>
            <a:endParaRPr lang="en-US" dirty="0"/>
          </a:p>
        </p:txBody>
      </p:sp>
      <p:sp>
        <p:nvSpPr>
          <p:cNvPr id="17" name="Text 15"/>
          <p:cNvSpPr/>
          <p:nvPr/>
        </p:nvSpPr>
        <p:spPr>
          <a:xfrm>
            <a:off x="736997" y="3621584"/>
            <a:ext cx="115372" cy="238125"/>
          </a:xfrm>
          <a:prstGeom prst="rect">
            <a:avLst/>
          </a:prstGeom>
          <a:noFill/>
          <a:ln/>
        </p:spPr>
        <p:txBody>
          <a:bodyPr wrap="square" lIns="0" tIns="0" rIns="0" bIns="0" rtlCol="0" anchor="t"/>
          <a:lstStyle/>
          <a:p>
            <a:pPr marL="0" indent="0" algn="l">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18" name="Text 16"/>
          <p:cNvSpPr/>
          <p:nvPr/>
        </p:nvSpPr>
        <p:spPr>
          <a:xfrm>
            <a:off x="1193453" y="3555057"/>
            <a:ext cx="2788956" cy="371475"/>
          </a:xfrm>
          <a:prstGeom prst="rect">
            <a:avLst/>
          </a:prstGeom>
          <a:noFill/>
          <a:ln/>
        </p:spPr>
        <p:txBody>
          <a:bodyPr wrap="square" lIns="0" tIns="0" rIns="0" bIns="0" rtlCol="0" anchor="t"/>
          <a:lstStyle/>
          <a:p>
            <a:pPr marL="0" indent="0" algn="l">
              <a:spcBef>
                <a:spcPts val="500"/>
              </a:spcBef>
              <a:spcAft>
                <a:spcPts val="500"/>
              </a:spcAft>
              <a:buNone/>
            </a:pPr>
            <a:r>
              <a:rPr lang="en-US" sz="2600" dirty="0">
                <a:solidFill>
                  <a:srgbClr val="264653"/>
                </a:solidFill>
                <a:latin typeface="Arial" pitchFamily="34" charset="0"/>
                <a:ea typeface="Arial" pitchFamily="34" charset="-122"/>
                <a:cs typeface="Arial" pitchFamily="34" charset="-120"/>
              </a:rPr>
              <a:t>Evaluation Results</a:t>
            </a:r>
            <a:endParaRPr lang="en-US" sz="2600" dirty="0"/>
          </a:p>
        </p:txBody>
      </p:sp>
      <p:sp>
        <p:nvSpPr>
          <p:cNvPr id="19" name="Text 17"/>
          <p:cNvSpPr/>
          <p:nvPr/>
        </p:nvSpPr>
        <p:spPr>
          <a:xfrm>
            <a:off x="634901" y="4232672"/>
            <a:ext cx="317450" cy="317450"/>
          </a:xfrm>
          <a:prstGeom prst="roundRect">
            <a:avLst>
              <a:gd name="adj" fmla="val 288045"/>
            </a:avLst>
          </a:prstGeom>
          <a:solidFill>
            <a:srgbClr val="2A9D8F"/>
          </a:solidFill>
          <a:ln/>
        </p:spPr>
        <p:txBody>
          <a:bodyPr wrap="square" rtlCol="0" anchor="ctr"/>
          <a:lstStyle/>
          <a:p>
            <a:pPr marL="0" indent="0">
              <a:buNone/>
            </a:pPr>
            <a:endParaRPr lang="en-US" dirty="0"/>
          </a:p>
        </p:txBody>
      </p:sp>
      <p:sp>
        <p:nvSpPr>
          <p:cNvPr id="20" name="Text 18"/>
          <p:cNvSpPr/>
          <p:nvPr/>
        </p:nvSpPr>
        <p:spPr>
          <a:xfrm>
            <a:off x="736997" y="4272260"/>
            <a:ext cx="115372" cy="238125"/>
          </a:xfrm>
          <a:prstGeom prst="rect">
            <a:avLst/>
          </a:prstGeom>
          <a:noFill/>
          <a:ln/>
        </p:spPr>
        <p:txBody>
          <a:bodyPr wrap="square" lIns="0" tIns="0" rIns="0" bIns="0" rtlCol="0" anchor="t"/>
          <a:lstStyle/>
          <a:p>
            <a:pPr marL="0" indent="0" algn="l">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21" name="Text 19"/>
          <p:cNvSpPr/>
          <p:nvPr/>
        </p:nvSpPr>
        <p:spPr>
          <a:xfrm>
            <a:off x="1193453" y="4205734"/>
            <a:ext cx="1666056" cy="371475"/>
          </a:xfrm>
          <a:prstGeom prst="rect">
            <a:avLst/>
          </a:prstGeom>
          <a:noFill/>
          <a:ln/>
        </p:spPr>
        <p:txBody>
          <a:bodyPr wrap="square" lIns="0" tIns="0" rIns="0" bIns="0" rtlCol="0" anchor="t"/>
          <a:lstStyle/>
          <a:p>
            <a:pPr marL="0" indent="0" algn="l">
              <a:spcBef>
                <a:spcPts val="500"/>
              </a:spcBef>
              <a:spcAft>
                <a:spcPts val="500"/>
              </a:spcAft>
              <a:buNone/>
            </a:pPr>
            <a:r>
              <a:rPr lang="en-US" sz="2600" dirty="0">
                <a:solidFill>
                  <a:srgbClr val="264653"/>
                </a:solidFill>
                <a:latin typeface="Arial" pitchFamily="34" charset="0"/>
                <a:ea typeface="Arial" pitchFamily="34" charset="-122"/>
                <a:cs typeface="Arial" pitchFamily="34" charset="-120"/>
              </a:rPr>
              <a:t>Conclusion</a:t>
            </a:r>
            <a:endParaRPr lang="en-US" sz="2600" dirty="0"/>
          </a:p>
        </p:txBody>
      </p:sp>
      <p:sp>
        <p:nvSpPr>
          <p:cNvPr id="22" name="文本框 21">
            <a:extLst>
              <a:ext uri="{FF2B5EF4-FFF2-40B4-BE49-F238E27FC236}">
                <a16:creationId xmlns:a16="http://schemas.microsoft.com/office/drawing/2014/main" id="{9200B8FF-18F3-4063-20D3-788115685789}"/>
              </a:ext>
            </a:extLst>
          </p:cNvPr>
          <p:cNvSpPr txBox="1"/>
          <p:nvPr/>
        </p:nvSpPr>
        <p:spPr>
          <a:xfrm>
            <a:off x="8395452" y="4621065"/>
            <a:ext cx="529984" cy="369332"/>
          </a:xfrm>
          <a:prstGeom prst="rect">
            <a:avLst/>
          </a:prstGeom>
          <a:noFill/>
        </p:spPr>
        <p:txBody>
          <a:bodyPr wrap="square" rtlCol="0">
            <a:spAutoFit/>
          </a:bodyPr>
          <a:lstStyle/>
          <a:p>
            <a:r>
              <a:rPr lang="en-US" altLang="zh-CN"/>
              <a:t>2</a:t>
            </a: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825401"/>
          </a:xfrm>
          <a:prstGeom prst="rect">
            <a:avLst/>
          </a:prstGeom>
          <a:solidFill>
            <a:srgbClr val="5B4B9E"/>
          </a:solidFill>
          <a:ln/>
        </p:spPr>
        <p:txBody>
          <a:bodyPr wrap="square" rtlCol="0" anchor="ctr"/>
          <a:lstStyle/>
          <a:p>
            <a:pPr marL="0" indent="0">
              <a:buNone/>
            </a:pPr>
            <a:endParaRPr lang="en-US" dirty="0"/>
          </a:p>
        </p:txBody>
      </p:sp>
      <p:sp>
        <p:nvSpPr>
          <p:cNvPr id="3" name="Text 1"/>
          <p:cNvSpPr/>
          <p:nvPr/>
        </p:nvSpPr>
        <p:spPr>
          <a:xfrm>
            <a:off x="634901" y="126950"/>
            <a:ext cx="8031682" cy="409575"/>
          </a:xfrm>
          <a:prstGeom prst="rect">
            <a:avLst/>
          </a:prstGeom>
          <a:noFill/>
          <a:ln/>
        </p:spPr>
        <p:txBody>
          <a:bodyPr wrap="square" lIns="0" tIns="0" rIns="0" bIns="0" rtlCol="0" anchor="t"/>
          <a:lstStyle/>
          <a:p>
            <a:pPr marL="0" indent="0" algn="l">
              <a:buNone/>
            </a:pPr>
            <a:r>
              <a:rPr lang="en-US" sz="2800" b="1" dirty="0">
                <a:solidFill>
                  <a:srgbClr val="FFFFFF"/>
                </a:solidFill>
                <a:latin typeface="Arial" pitchFamily="34" charset="0"/>
                <a:ea typeface="Arial" pitchFamily="34" charset="-122"/>
                <a:cs typeface="Arial" pitchFamily="34" charset="-120"/>
              </a:rPr>
              <a:t>Background - Data Prefetching</a:t>
            </a:r>
            <a:endParaRPr lang="en-US" sz="2800" dirty="0"/>
          </a:p>
        </p:txBody>
      </p:sp>
      <p:sp>
        <p:nvSpPr>
          <p:cNvPr id="4" name="Text 2"/>
          <p:cNvSpPr/>
          <p:nvPr/>
        </p:nvSpPr>
        <p:spPr>
          <a:xfrm>
            <a:off x="634901" y="888950"/>
            <a:ext cx="5782089" cy="295275"/>
          </a:xfrm>
          <a:prstGeom prst="rect">
            <a:avLst/>
          </a:prstGeom>
          <a:noFill/>
          <a:ln/>
        </p:spPr>
        <p:txBody>
          <a:bodyPr wrap="square" lIns="0" tIns="0" rIns="0" bIns="0" rtlCol="0" anchor="t"/>
          <a:lstStyle/>
          <a:p>
            <a:pPr marL="0" indent="0" algn="l">
              <a:spcAft>
                <a:spcPts val="1200"/>
              </a:spcAft>
              <a:buNone/>
            </a:pPr>
            <a:r>
              <a:rPr lang="en-US" sz="2000" b="1" dirty="0">
                <a:solidFill>
                  <a:srgbClr val="2A9D8F"/>
                </a:solidFill>
                <a:latin typeface="Arial" pitchFamily="34" charset="0"/>
                <a:ea typeface="Arial" pitchFamily="34" charset="-122"/>
                <a:cs typeface="Arial" pitchFamily="34" charset="-120"/>
              </a:rPr>
              <a:t>The Memory Wall Problem</a:t>
            </a:r>
            <a:endParaRPr lang="en-US" sz="2000" dirty="0"/>
          </a:p>
        </p:txBody>
      </p:sp>
      <p:sp>
        <p:nvSpPr>
          <p:cNvPr id="5" name="Text 3"/>
          <p:cNvSpPr/>
          <p:nvPr/>
        </p:nvSpPr>
        <p:spPr>
          <a:xfrm>
            <a:off x="634901" y="1336625"/>
            <a:ext cx="5668714" cy="583853"/>
          </a:xfrm>
          <a:prstGeom prst="rect">
            <a:avLst/>
          </a:prstGeom>
          <a:noFill/>
          <a:ln/>
        </p:spPr>
        <p:txBody>
          <a:bodyPr wrap="square" lIns="127000" tIns="0" rIns="0" bIns="0" rtlCol="0" anchor="t"/>
          <a:lstStyle/>
          <a:p>
            <a:pPr marL="127000" indent="-127000" algn="l">
              <a:lnSpc>
                <a:spcPts val="1950"/>
              </a:lnSpc>
              <a:spcAft>
                <a:spcPts val="700"/>
              </a:spcAft>
              <a:buSzPct val="100000"/>
              <a:buChar char="•"/>
            </a:pPr>
            <a:r>
              <a:rPr lang="en-US" sz="1300" dirty="0">
                <a:solidFill>
                  <a:srgbClr val="264653"/>
                </a:solidFill>
                <a:latin typeface="Arial" pitchFamily="34" charset="0"/>
                <a:ea typeface="Arial" pitchFamily="34" charset="-122"/>
                <a:cs typeface="Arial" pitchFamily="34" charset="-120"/>
              </a:rPr>
              <a:t>Growing performance gap between processor and memory speeds</a:t>
            </a:r>
            <a:endParaRPr lang="en-US" sz="1300" dirty="0"/>
          </a:p>
          <a:p>
            <a:pPr marL="127000" indent="-127000" algn="l">
              <a:lnSpc>
                <a:spcPts val="1950"/>
              </a:lnSpc>
              <a:spcAft>
                <a:spcPts val="700"/>
              </a:spcAft>
              <a:buSzPct val="100000"/>
              <a:buChar char="•"/>
            </a:pPr>
            <a:r>
              <a:rPr lang="en-US" sz="1300" dirty="0">
                <a:solidFill>
                  <a:srgbClr val="264653"/>
                </a:solidFill>
                <a:latin typeface="Arial" pitchFamily="34" charset="0"/>
                <a:ea typeface="Arial" pitchFamily="34" charset="-122"/>
                <a:cs typeface="Arial" pitchFamily="34" charset="-120"/>
              </a:rPr>
              <a:t>Data prefetching has become increasingly critical</a:t>
            </a:r>
            <a:endParaRPr lang="en-US" sz="1300" dirty="0"/>
          </a:p>
        </p:txBody>
      </p:sp>
      <p:sp>
        <p:nvSpPr>
          <p:cNvPr id="6" name="Text 4"/>
          <p:cNvSpPr/>
          <p:nvPr/>
        </p:nvSpPr>
        <p:spPr>
          <a:xfrm>
            <a:off x="634901" y="2047429"/>
            <a:ext cx="5782089" cy="295275"/>
          </a:xfrm>
          <a:prstGeom prst="rect">
            <a:avLst/>
          </a:prstGeom>
          <a:noFill/>
          <a:ln/>
        </p:spPr>
        <p:txBody>
          <a:bodyPr wrap="square" lIns="0" tIns="0" rIns="0" bIns="0" rtlCol="0" anchor="t"/>
          <a:lstStyle/>
          <a:p>
            <a:pPr marL="0" indent="0" algn="l">
              <a:spcAft>
                <a:spcPts val="1200"/>
              </a:spcAft>
              <a:buNone/>
            </a:pPr>
            <a:r>
              <a:rPr lang="en-US" sz="2000" b="1" dirty="0">
                <a:solidFill>
                  <a:srgbClr val="2A9D8F"/>
                </a:solidFill>
                <a:latin typeface="Arial" pitchFamily="34" charset="0"/>
                <a:ea typeface="Arial" pitchFamily="34" charset="-122"/>
                <a:cs typeface="Arial" pitchFamily="34" charset="-120"/>
              </a:rPr>
              <a:t>What is Data Prefetching?</a:t>
            </a:r>
            <a:endParaRPr lang="en-US" sz="2000" dirty="0"/>
          </a:p>
        </p:txBody>
      </p:sp>
      <p:sp>
        <p:nvSpPr>
          <p:cNvPr id="7" name="Text 5"/>
          <p:cNvSpPr/>
          <p:nvPr/>
        </p:nvSpPr>
        <p:spPr>
          <a:xfrm>
            <a:off x="634901" y="2495104"/>
            <a:ext cx="5668714" cy="920204"/>
          </a:xfrm>
          <a:prstGeom prst="rect">
            <a:avLst/>
          </a:prstGeom>
          <a:noFill/>
          <a:ln/>
        </p:spPr>
        <p:txBody>
          <a:bodyPr wrap="square" lIns="127000" tIns="0" rIns="0" bIns="0" rtlCol="0" anchor="t"/>
          <a:lstStyle/>
          <a:p>
            <a:pPr marL="127000" indent="-127000" algn="l">
              <a:lnSpc>
                <a:spcPts val="1950"/>
              </a:lnSpc>
              <a:spcAft>
                <a:spcPts val="700"/>
              </a:spcAft>
              <a:buSzPct val="100000"/>
              <a:buChar char="•"/>
            </a:pPr>
            <a:r>
              <a:rPr lang="en-US" sz="1300" dirty="0">
                <a:solidFill>
                  <a:srgbClr val="264653"/>
                </a:solidFill>
                <a:latin typeface="Arial" pitchFamily="34" charset="0"/>
                <a:ea typeface="Arial" pitchFamily="34" charset="-122"/>
                <a:cs typeface="Arial" pitchFamily="34" charset="-120"/>
              </a:rPr>
              <a:t>Hardware/software component that predicts future memory accesses</a:t>
            </a:r>
            <a:endParaRPr lang="en-US" sz="1300" dirty="0"/>
          </a:p>
          <a:p>
            <a:pPr marL="127000" indent="-127000" algn="l">
              <a:lnSpc>
                <a:spcPts val="1950"/>
              </a:lnSpc>
              <a:spcAft>
                <a:spcPts val="700"/>
              </a:spcAft>
              <a:buSzPct val="100000"/>
              <a:buChar char="•"/>
            </a:pPr>
            <a:r>
              <a:rPr lang="en-US" sz="1300" dirty="0">
                <a:solidFill>
                  <a:srgbClr val="264653"/>
                </a:solidFill>
                <a:latin typeface="Arial" pitchFamily="34" charset="0"/>
                <a:ea typeface="Arial" pitchFamily="34" charset="-122"/>
                <a:cs typeface="Arial" pitchFamily="34" charset="-120"/>
              </a:rPr>
              <a:t>Proactively loads data from main memory into cache</a:t>
            </a:r>
            <a:endParaRPr lang="en-US" sz="1300" dirty="0"/>
          </a:p>
          <a:p>
            <a:pPr marL="127000" indent="-127000" algn="l">
              <a:lnSpc>
                <a:spcPts val="1950"/>
              </a:lnSpc>
              <a:spcAft>
                <a:spcPts val="700"/>
              </a:spcAft>
              <a:buSzPct val="100000"/>
              <a:buChar char="•"/>
            </a:pPr>
            <a:r>
              <a:rPr lang="en-US" sz="1300" dirty="0">
                <a:solidFill>
                  <a:srgbClr val="264653"/>
                </a:solidFill>
                <a:latin typeface="Arial" pitchFamily="34" charset="0"/>
                <a:ea typeface="Arial" pitchFamily="34" charset="-122"/>
                <a:cs typeface="Arial" pitchFamily="34" charset="-120"/>
              </a:rPr>
              <a:t>Reduces or hides data access latency</a:t>
            </a:r>
            <a:endParaRPr lang="en-US" sz="1300" dirty="0"/>
          </a:p>
        </p:txBody>
      </p:sp>
      <p:sp>
        <p:nvSpPr>
          <p:cNvPr id="8" name="Text 6"/>
          <p:cNvSpPr/>
          <p:nvPr/>
        </p:nvSpPr>
        <p:spPr>
          <a:xfrm>
            <a:off x="634901" y="3605808"/>
            <a:ext cx="5668714" cy="619125"/>
          </a:xfrm>
          <a:prstGeom prst="rect">
            <a:avLst/>
          </a:prstGeom>
          <a:solidFill>
            <a:srgbClr val="E9ECEF"/>
          </a:solidFill>
          <a:ln/>
        </p:spPr>
        <p:txBody>
          <a:bodyPr wrap="square" rtlCol="0" anchor="ctr"/>
          <a:lstStyle/>
          <a:p>
            <a:pPr marL="0" indent="0">
              <a:buNone/>
            </a:pPr>
            <a:endParaRPr lang="en-US" dirty="0"/>
          </a:p>
        </p:txBody>
      </p:sp>
      <p:sp>
        <p:nvSpPr>
          <p:cNvPr id="9" name="Shape 7"/>
          <p:cNvSpPr/>
          <p:nvPr/>
        </p:nvSpPr>
        <p:spPr>
          <a:xfrm>
            <a:off x="663476" y="3605808"/>
            <a:ext cx="0" cy="619125"/>
          </a:xfrm>
          <a:prstGeom prst="line">
            <a:avLst/>
          </a:prstGeom>
          <a:noFill/>
          <a:ln w="57150">
            <a:solidFill>
              <a:srgbClr val="2A9D8F"/>
            </a:solidFill>
            <a:prstDash val="solid"/>
          </a:ln>
        </p:spPr>
      </p:sp>
      <p:sp>
        <p:nvSpPr>
          <p:cNvPr id="10" name="Text 8"/>
          <p:cNvSpPr/>
          <p:nvPr/>
        </p:nvSpPr>
        <p:spPr>
          <a:xfrm>
            <a:off x="945952" y="3796308"/>
            <a:ext cx="5205838" cy="238125"/>
          </a:xfrm>
          <a:prstGeom prst="rect">
            <a:avLst/>
          </a:prstGeom>
          <a:noFill/>
          <a:ln/>
        </p:spPr>
        <p:txBody>
          <a:bodyPr wrap="square" lIns="0" tIns="0" rIns="0" bIns="0" rtlCol="0" anchor="t"/>
          <a:lstStyle/>
          <a:p>
            <a:pPr marL="0" indent="0" algn="l">
              <a:buNone/>
            </a:pPr>
            <a:r>
              <a:rPr lang="en-US" sz="1600" b="1" dirty="0">
                <a:solidFill>
                  <a:srgbClr val="264653"/>
                </a:solidFill>
                <a:latin typeface="Arial" pitchFamily="34" charset="0"/>
                <a:ea typeface="Arial" pitchFamily="34" charset="-122"/>
                <a:cs typeface="Arial" pitchFamily="34" charset="-120"/>
              </a:rPr>
              <a:t>Ideal: Data already in cache when processor needs it</a:t>
            </a:r>
            <a:endParaRPr lang="en-US" sz="1600" dirty="0"/>
          </a:p>
        </p:txBody>
      </p:sp>
      <p:sp>
        <p:nvSpPr>
          <p:cNvPr id="11" name="文本框 10">
            <a:extLst>
              <a:ext uri="{FF2B5EF4-FFF2-40B4-BE49-F238E27FC236}">
                <a16:creationId xmlns:a16="http://schemas.microsoft.com/office/drawing/2014/main" id="{510C186B-3A32-EED9-9FB4-9BC45880D0FB}"/>
              </a:ext>
            </a:extLst>
          </p:cNvPr>
          <p:cNvSpPr txBox="1"/>
          <p:nvPr/>
        </p:nvSpPr>
        <p:spPr>
          <a:xfrm>
            <a:off x="8395452" y="4621065"/>
            <a:ext cx="529984" cy="369332"/>
          </a:xfrm>
          <a:prstGeom prst="rect">
            <a:avLst/>
          </a:prstGeom>
          <a:noFill/>
        </p:spPr>
        <p:txBody>
          <a:bodyPr wrap="square" rtlCol="0">
            <a:spAutoFit/>
          </a:bodyPr>
          <a:lstStyle/>
          <a:p>
            <a:r>
              <a:rPr lang="en-US" altLang="zh-CN"/>
              <a:t>3</a:t>
            </a: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825401"/>
          </a:xfrm>
          <a:prstGeom prst="rect">
            <a:avLst/>
          </a:prstGeom>
          <a:solidFill>
            <a:srgbClr val="5B4B9E"/>
          </a:solidFill>
          <a:ln/>
        </p:spPr>
        <p:txBody>
          <a:bodyPr wrap="square" rtlCol="0" anchor="ctr"/>
          <a:lstStyle/>
          <a:p>
            <a:pPr marL="0" indent="0">
              <a:buNone/>
            </a:pPr>
            <a:endParaRPr lang="en-US" dirty="0"/>
          </a:p>
        </p:txBody>
      </p:sp>
      <p:sp>
        <p:nvSpPr>
          <p:cNvPr id="3" name="Text 1"/>
          <p:cNvSpPr/>
          <p:nvPr/>
        </p:nvSpPr>
        <p:spPr>
          <a:xfrm>
            <a:off x="634901" y="126950"/>
            <a:ext cx="8031682" cy="409575"/>
          </a:xfrm>
          <a:prstGeom prst="rect">
            <a:avLst/>
          </a:prstGeom>
          <a:noFill/>
          <a:ln/>
        </p:spPr>
        <p:txBody>
          <a:bodyPr wrap="square" lIns="0" tIns="0" rIns="0" bIns="0" rtlCol="0" anchor="t"/>
          <a:lstStyle/>
          <a:p>
            <a:pPr marL="0" indent="0" algn="l">
              <a:buNone/>
            </a:pPr>
            <a:r>
              <a:rPr lang="en-US" sz="2800" b="1" dirty="0">
                <a:solidFill>
                  <a:srgbClr val="FFFFFF"/>
                </a:solidFill>
                <a:latin typeface="Arial" pitchFamily="34" charset="0"/>
                <a:ea typeface="Arial" pitchFamily="34" charset="-122"/>
                <a:cs typeface="Arial" pitchFamily="34" charset="-120"/>
              </a:rPr>
              <a:t>Competition Approach - Finding SOTA</a:t>
            </a:r>
            <a:endParaRPr lang="en-US" sz="2800" dirty="0"/>
          </a:p>
        </p:txBody>
      </p:sp>
      <p:sp>
        <p:nvSpPr>
          <p:cNvPr id="4" name="Text 2"/>
          <p:cNvSpPr/>
          <p:nvPr/>
        </p:nvSpPr>
        <p:spPr>
          <a:xfrm>
            <a:off x="634901" y="888950"/>
            <a:ext cx="4002786" cy="590550"/>
          </a:xfrm>
          <a:prstGeom prst="rect">
            <a:avLst/>
          </a:prstGeom>
          <a:noFill/>
          <a:ln/>
        </p:spPr>
        <p:txBody>
          <a:bodyPr wrap="square" lIns="0" tIns="0" rIns="0" bIns="0" rtlCol="0" anchor="t"/>
          <a:lstStyle/>
          <a:p>
            <a:pPr marL="0" indent="0" algn="l">
              <a:spcAft>
                <a:spcPts val="1000"/>
              </a:spcAft>
              <a:buNone/>
            </a:pPr>
            <a:r>
              <a:rPr lang="en-US" sz="2000" b="1" dirty="0">
                <a:solidFill>
                  <a:srgbClr val="2A9D8F"/>
                </a:solidFill>
                <a:latin typeface="Arial" pitchFamily="34" charset="0"/>
                <a:ea typeface="Arial" pitchFamily="34" charset="-122"/>
                <a:cs typeface="Arial" pitchFamily="34" charset="-120"/>
              </a:rPr>
              <a:t>Step 1: Evaluate Existing Prefetchers</a:t>
            </a:r>
            <a:endParaRPr lang="en-US" sz="2000" dirty="0"/>
          </a:p>
        </p:txBody>
      </p:sp>
      <p:sp>
        <p:nvSpPr>
          <p:cNvPr id="5" name="Text 3"/>
          <p:cNvSpPr/>
          <p:nvPr/>
        </p:nvSpPr>
        <p:spPr>
          <a:xfrm>
            <a:off x="634901" y="1606451"/>
            <a:ext cx="3924300" cy="1577429"/>
          </a:xfrm>
          <a:prstGeom prst="roundRect">
            <a:avLst>
              <a:gd name="adj" fmla="val 6441"/>
            </a:avLst>
          </a:prstGeom>
          <a:solidFill>
            <a:srgbClr val="E9ECEF"/>
          </a:solidFill>
          <a:ln/>
        </p:spPr>
        <p:txBody>
          <a:bodyPr wrap="square" rtlCol="0" anchor="ctr"/>
          <a:lstStyle/>
          <a:p>
            <a:pPr marL="0" indent="0">
              <a:buNone/>
            </a:pPr>
            <a:endParaRPr lang="en-US" dirty="0"/>
          </a:p>
        </p:txBody>
      </p:sp>
      <p:sp>
        <p:nvSpPr>
          <p:cNvPr id="6" name="Text 4"/>
          <p:cNvSpPr/>
          <p:nvPr/>
        </p:nvSpPr>
        <p:spPr>
          <a:xfrm>
            <a:off x="736402" y="1758702"/>
            <a:ext cx="3899255" cy="238125"/>
          </a:xfrm>
          <a:prstGeom prst="rect">
            <a:avLst/>
          </a:prstGeom>
          <a:noFill/>
          <a:ln/>
        </p:spPr>
        <p:txBody>
          <a:bodyPr wrap="square" lIns="0" tIns="0" rIns="0" bIns="0" rtlCol="0" anchor="t"/>
          <a:lstStyle/>
          <a:p>
            <a:pPr marL="0" indent="0" algn="l">
              <a:spcBef>
                <a:spcPts val="400"/>
              </a:spcBef>
              <a:spcAft>
                <a:spcPts val="400"/>
              </a:spcAft>
              <a:buNone/>
            </a:pPr>
            <a:r>
              <a:rPr lang="en-US" sz="1600" b="1" dirty="0">
                <a:solidFill>
                  <a:srgbClr val="5B4B9E"/>
                </a:solidFill>
                <a:latin typeface="Arial" pitchFamily="34" charset="0"/>
                <a:ea typeface="Arial" pitchFamily="34" charset="-122"/>
                <a:cs typeface="Arial" pitchFamily="34" charset="-120"/>
              </a:rPr>
              <a:t>Evaluated 13 Prefetchers</a:t>
            </a:r>
            <a:endParaRPr lang="en-US" sz="1600" dirty="0"/>
          </a:p>
        </p:txBody>
      </p:sp>
      <p:sp>
        <p:nvSpPr>
          <p:cNvPr id="7" name="Text 5"/>
          <p:cNvSpPr/>
          <p:nvPr/>
        </p:nvSpPr>
        <p:spPr>
          <a:xfrm>
            <a:off x="736402" y="2047577"/>
            <a:ext cx="3822799" cy="984052"/>
          </a:xfrm>
          <a:prstGeom prst="rect">
            <a:avLst/>
          </a:prstGeom>
          <a:noFill/>
          <a:ln/>
        </p:spPr>
        <p:txBody>
          <a:bodyPr wrap="square" lIns="101600" tIns="0" rIns="0" bIns="0" rtlCol="0" anchor="t"/>
          <a:lstStyle/>
          <a:p>
            <a:pPr marL="101600" indent="-101600" algn="l">
              <a:lnSpc>
                <a:spcPts val="1430"/>
              </a:lnSpc>
              <a:spcAft>
                <a:spcPts val="300"/>
              </a:spcAft>
              <a:buSzPct val="100000"/>
              <a:buChar char="•"/>
            </a:pPr>
            <a:r>
              <a:rPr lang="en-US" sz="1100" dirty="0">
                <a:solidFill>
                  <a:srgbClr val="264653"/>
                </a:solidFill>
                <a:latin typeface="Arial" pitchFamily="34" charset="0"/>
                <a:ea typeface="Arial" pitchFamily="34" charset="-122"/>
                <a:cs typeface="Arial" pitchFamily="34" charset="-120"/>
              </a:rPr>
              <a:t>SMS (ISCA '06), ISB (MICRO-46), SPP (MICRO-49), Bingo (HPCA '19), Triage (TC '21)</a:t>
            </a:r>
            <a:endParaRPr lang="en-US" sz="1100" dirty="0"/>
          </a:p>
          <a:p>
            <a:pPr marL="101600" indent="-101600" algn="l">
              <a:lnSpc>
                <a:spcPts val="1430"/>
              </a:lnSpc>
              <a:spcAft>
                <a:spcPts val="300"/>
              </a:spcAft>
              <a:buSzPct val="100000"/>
              <a:buChar char="•"/>
            </a:pPr>
            <a:r>
              <a:rPr lang="en-US" sz="1100" dirty="0">
                <a:solidFill>
                  <a:srgbClr val="264653"/>
                </a:solidFill>
                <a:latin typeface="Arial" pitchFamily="34" charset="0"/>
                <a:ea typeface="Arial" pitchFamily="34" charset="-122"/>
                <a:cs typeface="Arial" pitchFamily="34" charset="-120"/>
              </a:rPr>
              <a:t>BOP (DPC-2), Berti (DPC-3), IPCP (DPC-3)</a:t>
            </a:r>
            <a:endParaRPr lang="en-US" sz="1100" dirty="0"/>
          </a:p>
          <a:p>
            <a:pPr marL="101600" indent="-101600" algn="l">
              <a:lnSpc>
                <a:spcPts val="1430"/>
              </a:lnSpc>
              <a:spcAft>
                <a:spcPts val="300"/>
              </a:spcAft>
              <a:buSzPct val="100000"/>
              <a:buChar char="•"/>
            </a:pPr>
            <a:r>
              <a:rPr lang="en-US" sz="1100" dirty="0">
                <a:solidFill>
                  <a:srgbClr val="264653"/>
                </a:solidFill>
                <a:latin typeface="Arial" pitchFamily="34" charset="0"/>
                <a:ea typeface="Arial" pitchFamily="34" charset="-122"/>
                <a:cs typeface="Arial" pitchFamily="34" charset="-120"/>
              </a:rPr>
              <a:t>Pythia (MICRO-54), PMP (MICRO-55), VBerti (MICRO-55), Bandit (MICRO-56), Gaze (HPCA '25)</a:t>
            </a:r>
            <a:endParaRPr lang="en-US" sz="1100" dirty="0"/>
          </a:p>
        </p:txBody>
      </p:sp>
      <p:sp>
        <p:nvSpPr>
          <p:cNvPr id="8" name="Text 6"/>
          <p:cNvSpPr/>
          <p:nvPr/>
        </p:nvSpPr>
        <p:spPr>
          <a:xfrm>
            <a:off x="634901" y="3260080"/>
            <a:ext cx="3924300" cy="1214289"/>
          </a:xfrm>
          <a:prstGeom prst="roundRect">
            <a:avLst>
              <a:gd name="adj" fmla="val 8367"/>
            </a:avLst>
          </a:prstGeom>
          <a:solidFill>
            <a:srgbClr val="E9ECEF"/>
          </a:solidFill>
          <a:ln/>
        </p:spPr>
        <p:txBody>
          <a:bodyPr wrap="square" rtlCol="0" anchor="ctr"/>
          <a:lstStyle/>
          <a:p>
            <a:pPr marL="0" indent="0">
              <a:buNone/>
            </a:pPr>
            <a:endParaRPr lang="en-US" dirty="0"/>
          </a:p>
        </p:txBody>
      </p:sp>
      <p:sp>
        <p:nvSpPr>
          <p:cNvPr id="9" name="Text 7"/>
          <p:cNvSpPr/>
          <p:nvPr/>
        </p:nvSpPr>
        <p:spPr>
          <a:xfrm>
            <a:off x="736402" y="3412331"/>
            <a:ext cx="3899255" cy="238125"/>
          </a:xfrm>
          <a:prstGeom prst="rect">
            <a:avLst/>
          </a:prstGeom>
          <a:noFill/>
          <a:ln/>
        </p:spPr>
        <p:txBody>
          <a:bodyPr wrap="square" lIns="0" tIns="0" rIns="0" bIns="0" rtlCol="0" anchor="t"/>
          <a:lstStyle/>
          <a:p>
            <a:pPr marL="0" indent="0" algn="l">
              <a:spcBef>
                <a:spcPts val="400"/>
              </a:spcBef>
              <a:spcAft>
                <a:spcPts val="400"/>
              </a:spcAft>
              <a:buNone/>
            </a:pPr>
            <a:r>
              <a:rPr lang="en-US" sz="1600" b="1" dirty="0">
                <a:solidFill>
                  <a:srgbClr val="5B4B9E"/>
                </a:solidFill>
                <a:latin typeface="Arial" pitchFamily="34" charset="0"/>
                <a:ea typeface="Arial" pitchFamily="34" charset="-122"/>
                <a:cs typeface="Arial" pitchFamily="34" charset="-120"/>
              </a:rPr>
              <a:t>Methodology</a:t>
            </a:r>
            <a:endParaRPr lang="en-US" sz="1600" dirty="0"/>
          </a:p>
        </p:txBody>
      </p:sp>
      <p:sp>
        <p:nvSpPr>
          <p:cNvPr id="10" name="Text 8"/>
          <p:cNvSpPr/>
          <p:nvPr/>
        </p:nvSpPr>
        <p:spPr>
          <a:xfrm>
            <a:off x="736402" y="3701207"/>
            <a:ext cx="3822799" cy="620911"/>
          </a:xfrm>
          <a:prstGeom prst="rect">
            <a:avLst/>
          </a:prstGeom>
          <a:noFill/>
          <a:ln/>
        </p:spPr>
        <p:txBody>
          <a:bodyPr wrap="square" lIns="101600" tIns="0" rIns="0" bIns="0" rtlCol="0" anchor="t"/>
          <a:lstStyle/>
          <a:p>
            <a:pPr marL="101600" indent="-101600" algn="l">
              <a:lnSpc>
                <a:spcPts val="1430"/>
              </a:lnSpc>
              <a:spcAft>
                <a:spcPts val="300"/>
              </a:spcAft>
              <a:buSzPct val="100000"/>
              <a:buChar char="•"/>
            </a:pPr>
            <a:r>
              <a:rPr lang="en-US" sz="1100" dirty="0">
                <a:solidFill>
                  <a:srgbClr val="264653"/>
                </a:solidFill>
                <a:latin typeface="Arial" pitchFamily="34" charset="0"/>
                <a:ea typeface="Arial" pitchFamily="34" charset="-122"/>
                <a:cs typeface="Arial" pitchFamily="34" charset="-120"/>
              </a:rPr>
              <a:t>Found implementations or built from scratch</a:t>
            </a:r>
            <a:endParaRPr lang="en-US" sz="1100" dirty="0"/>
          </a:p>
          <a:p>
            <a:pPr marL="101600" indent="-101600" algn="l">
              <a:lnSpc>
                <a:spcPts val="1430"/>
              </a:lnSpc>
              <a:spcAft>
                <a:spcPts val="300"/>
              </a:spcAft>
              <a:buSzPct val="100000"/>
              <a:buChar char="•"/>
            </a:pPr>
            <a:r>
              <a:rPr lang="en-US" sz="1100" dirty="0">
                <a:solidFill>
                  <a:srgbClr val="264653"/>
                </a:solidFill>
                <a:latin typeface="Arial" pitchFamily="34" charset="0"/>
                <a:ea typeface="Arial" pitchFamily="34" charset="-122"/>
                <a:cs typeface="Arial" pitchFamily="34" charset="-120"/>
              </a:rPr>
              <a:t>Ported to DPC4 ChampSim platform</a:t>
            </a:r>
            <a:endParaRPr lang="en-US" sz="1100" dirty="0"/>
          </a:p>
          <a:p>
            <a:pPr marL="101600" indent="-101600" algn="l">
              <a:lnSpc>
                <a:spcPts val="1430"/>
              </a:lnSpc>
              <a:spcAft>
                <a:spcPts val="300"/>
              </a:spcAft>
              <a:buSzPct val="100000"/>
              <a:buChar char="•"/>
            </a:pPr>
            <a:r>
              <a:rPr lang="en-US" sz="1100" dirty="0">
                <a:solidFill>
                  <a:srgbClr val="264653"/>
                </a:solidFill>
                <a:latin typeface="Arial" pitchFamily="34" charset="0"/>
                <a:ea typeface="Arial" pitchFamily="34" charset="-122"/>
                <a:cs typeface="Arial" pitchFamily="34" charset="-120"/>
              </a:rPr>
              <a:t>Replaced baseline L1/L2/L3 prefetchers</a:t>
            </a:r>
            <a:endParaRPr lang="en-US" sz="1100" dirty="0"/>
          </a:p>
        </p:txBody>
      </p:sp>
      <p:sp>
        <p:nvSpPr>
          <p:cNvPr id="11" name="Text 9"/>
          <p:cNvSpPr/>
          <p:nvPr/>
        </p:nvSpPr>
        <p:spPr>
          <a:xfrm>
            <a:off x="4711601" y="888950"/>
            <a:ext cx="4002938" cy="590550"/>
          </a:xfrm>
          <a:prstGeom prst="rect">
            <a:avLst/>
          </a:prstGeom>
          <a:noFill/>
          <a:ln/>
        </p:spPr>
        <p:txBody>
          <a:bodyPr wrap="square" lIns="0" tIns="0" rIns="0" bIns="0" rtlCol="0" anchor="t"/>
          <a:lstStyle/>
          <a:p>
            <a:pPr marL="0" indent="0" algn="l">
              <a:spcAft>
                <a:spcPts val="1000"/>
              </a:spcAft>
              <a:buNone/>
            </a:pPr>
            <a:r>
              <a:rPr lang="en-US" sz="2000" b="1" dirty="0">
                <a:solidFill>
                  <a:srgbClr val="2A9D8F"/>
                </a:solidFill>
                <a:latin typeface="Arial" pitchFamily="34" charset="0"/>
                <a:ea typeface="Arial" pitchFamily="34" charset="-122"/>
                <a:cs typeface="Arial" pitchFamily="34" charset="-120"/>
              </a:rPr>
              <a:t>Step 2: Comprehensive Evaluation</a:t>
            </a:r>
            <a:endParaRPr lang="en-US" sz="2000" dirty="0"/>
          </a:p>
        </p:txBody>
      </p:sp>
      <p:sp>
        <p:nvSpPr>
          <p:cNvPr id="12" name="Text 10"/>
          <p:cNvSpPr/>
          <p:nvPr/>
        </p:nvSpPr>
        <p:spPr>
          <a:xfrm>
            <a:off x="4711601" y="1606451"/>
            <a:ext cx="3924449" cy="1214289"/>
          </a:xfrm>
          <a:prstGeom prst="roundRect">
            <a:avLst>
              <a:gd name="adj" fmla="val 8367"/>
            </a:avLst>
          </a:prstGeom>
          <a:solidFill>
            <a:srgbClr val="E9ECEF"/>
          </a:solidFill>
          <a:ln/>
        </p:spPr>
        <p:txBody>
          <a:bodyPr wrap="square" rtlCol="0" anchor="ctr"/>
          <a:lstStyle/>
          <a:p>
            <a:pPr marL="0" indent="0">
              <a:buNone/>
            </a:pPr>
            <a:endParaRPr lang="en-US" dirty="0"/>
          </a:p>
        </p:txBody>
      </p:sp>
      <p:sp>
        <p:nvSpPr>
          <p:cNvPr id="13" name="Text 11"/>
          <p:cNvSpPr/>
          <p:nvPr/>
        </p:nvSpPr>
        <p:spPr>
          <a:xfrm>
            <a:off x="4813102" y="1758702"/>
            <a:ext cx="3899407" cy="238125"/>
          </a:xfrm>
          <a:prstGeom prst="rect">
            <a:avLst/>
          </a:prstGeom>
          <a:noFill/>
          <a:ln/>
        </p:spPr>
        <p:txBody>
          <a:bodyPr wrap="square" lIns="0" tIns="0" rIns="0" bIns="0" rtlCol="0" anchor="t"/>
          <a:lstStyle/>
          <a:p>
            <a:pPr marL="0" indent="0" algn="l">
              <a:spcBef>
                <a:spcPts val="400"/>
              </a:spcBef>
              <a:spcAft>
                <a:spcPts val="400"/>
              </a:spcAft>
              <a:buNone/>
            </a:pPr>
            <a:r>
              <a:rPr lang="en-US" sz="1600" b="1" dirty="0">
                <a:solidFill>
                  <a:srgbClr val="5B4B9E"/>
                </a:solidFill>
                <a:latin typeface="Arial" pitchFamily="34" charset="0"/>
                <a:ea typeface="Arial" pitchFamily="34" charset="-122"/>
                <a:cs typeface="Arial" pitchFamily="34" charset="-120"/>
              </a:rPr>
              <a:t>Evaluation</a:t>
            </a:r>
            <a:endParaRPr lang="en-US" sz="1600" dirty="0"/>
          </a:p>
        </p:txBody>
      </p:sp>
      <p:sp>
        <p:nvSpPr>
          <p:cNvPr id="14" name="Text 12"/>
          <p:cNvSpPr/>
          <p:nvPr/>
        </p:nvSpPr>
        <p:spPr>
          <a:xfrm>
            <a:off x="4813102" y="2047577"/>
            <a:ext cx="3822948" cy="620911"/>
          </a:xfrm>
          <a:prstGeom prst="rect">
            <a:avLst/>
          </a:prstGeom>
          <a:noFill/>
          <a:ln/>
        </p:spPr>
        <p:txBody>
          <a:bodyPr wrap="square" lIns="101600" tIns="0" rIns="0" bIns="0" rtlCol="0" anchor="t"/>
          <a:lstStyle/>
          <a:p>
            <a:pPr marL="101600" indent="-101600" algn="l">
              <a:lnSpc>
                <a:spcPts val="1430"/>
              </a:lnSpc>
              <a:spcAft>
                <a:spcPts val="300"/>
              </a:spcAft>
              <a:buSzPct val="100000"/>
              <a:buChar char="•"/>
            </a:pPr>
            <a:r>
              <a:rPr lang="en-US" sz="1100" dirty="0">
                <a:solidFill>
                  <a:srgbClr val="264653"/>
                </a:solidFill>
                <a:latin typeface="Arial" pitchFamily="34" charset="0"/>
                <a:ea typeface="Arial" pitchFamily="34" charset="-122"/>
                <a:cs typeface="Arial" pitchFamily="34" charset="-120"/>
              </a:rPr>
              <a:t>Tested on DPC4 trace suite</a:t>
            </a:r>
            <a:endParaRPr lang="en-US" sz="1100" dirty="0"/>
          </a:p>
          <a:p>
            <a:pPr marL="101600" indent="-101600" algn="l">
              <a:lnSpc>
                <a:spcPts val="1430"/>
              </a:lnSpc>
              <a:spcAft>
                <a:spcPts val="300"/>
              </a:spcAft>
              <a:buSzPct val="100000"/>
              <a:buChar char="•"/>
            </a:pPr>
            <a:r>
              <a:rPr lang="en-US" sz="1100" dirty="0">
                <a:solidFill>
                  <a:srgbClr val="264653"/>
                </a:solidFill>
                <a:latin typeface="Arial" pitchFamily="34" charset="0"/>
                <a:ea typeface="Arial" pitchFamily="34" charset="-122"/>
                <a:cs typeface="Arial" pitchFamily="34" charset="-120"/>
              </a:rPr>
              <a:t>Measured performance across configurations</a:t>
            </a:r>
            <a:endParaRPr lang="en-US" sz="1100" dirty="0"/>
          </a:p>
          <a:p>
            <a:pPr marL="101600" indent="-101600" algn="l">
              <a:lnSpc>
                <a:spcPts val="1430"/>
              </a:lnSpc>
              <a:spcAft>
                <a:spcPts val="300"/>
              </a:spcAft>
              <a:buSzPct val="100000"/>
              <a:buChar char="•"/>
            </a:pPr>
            <a:r>
              <a:rPr lang="en-US" sz="1100" dirty="0">
                <a:solidFill>
                  <a:srgbClr val="264653"/>
                </a:solidFill>
                <a:latin typeface="Arial" pitchFamily="34" charset="0"/>
                <a:ea typeface="Arial" pitchFamily="34" charset="-122"/>
                <a:cs typeface="Arial" pitchFamily="34" charset="-120"/>
              </a:rPr>
              <a:t>Searched for optimal combination</a:t>
            </a:r>
            <a:endParaRPr lang="en-US" sz="1100" dirty="0"/>
          </a:p>
        </p:txBody>
      </p:sp>
      <p:sp>
        <p:nvSpPr>
          <p:cNvPr id="15" name="Text 13"/>
          <p:cNvSpPr/>
          <p:nvPr/>
        </p:nvSpPr>
        <p:spPr>
          <a:xfrm>
            <a:off x="4711601" y="2947690"/>
            <a:ext cx="3924449" cy="403027"/>
          </a:xfrm>
          <a:prstGeom prst="roundRect">
            <a:avLst>
              <a:gd name="adj" fmla="val 25209"/>
            </a:avLst>
          </a:prstGeom>
          <a:solidFill>
            <a:srgbClr val="2A9D8F"/>
          </a:solidFill>
          <a:ln/>
        </p:spPr>
        <p:txBody>
          <a:bodyPr wrap="square" rtlCol="0" anchor="ctr"/>
          <a:lstStyle/>
          <a:p>
            <a:pPr marL="0" indent="0">
              <a:buNone/>
            </a:pPr>
            <a:endParaRPr lang="en-US" dirty="0"/>
          </a:p>
        </p:txBody>
      </p:sp>
      <p:sp>
        <p:nvSpPr>
          <p:cNvPr id="16" name="Text 14"/>
          <p:cNvSpPr/>
          <p:nvPr/>
        </p:nvSpPr>
        <p:spPr>
          <a:xfrm>
            <a:off x="4775887" y="3049191"/>
            <a:ext cx="3795876" cy="200025"/>
          </a:xfrm>
          <a:prstGeom prst="rect">
            <a:avLst/>
          </a:prstGeom>
          <a:noFill/>
          <a:ln/>
        </p:spPr>
        <p:txBody>
          <a:bodyPr wrap="square" lIns="0" tIns="0" rIns="0" bIns="0" rtlCol="0" anchor="t"/>
          <a:lstStyle/>
          <a:p>
            <a:pPr marL="0" indent="0" algn="ctr">
              <a:buNone/>
            </a:pPr>
            <a:r>
              <a:rPr lang="en-US" sz="1300" b="1" dirty="0">
                <a:solidFill>
                  <a:srgbClr val="FFFFFF"/>
                </a:solidFill>
                <a:latin typeface="Arial" pitchFamily="34" charset="0"/>
                <a:ea typeface="Arial" pitchFamily="34" charset="-122"/>
                <a:cs typeface="Arial" pitchFamily="34" charset="-120"/>
              </a:rPr>
              <a:t>VBerti + Pythia = Best Performing Combination</a:t>
            </a:r>
            <a:endParaRPr lang="en-US" sz="1300" dirty="0"/>
          </a:p>
        </p:txBody>
      </p:sp>
      <p:sp>
        <p:nvSpPr>
          <p:cNvPr id="18" name="文本框 17">
            <a:extLst>
              <a:ext uri="{FF2B5EF4-FFF2-40B4-BE49-F238E27FC236}">
                <a16:creationId xmlns:a16="http://schemas.microsoft.com/office/drawing/2014/main" id="{1D88B725-FE66-5974-AC49-3BEF7BBF308F}"/>
              </a:ext>
            </a:extLst>
          </p:cNvPr>
          <p:cNvSpPr txBox="1"/>
          <p:nvPr/>
        </p:nvSpPr>
        <p:spPr>
          <a:xfrm>
            <a:off x="8395452" y="4621065"/>
            <a:ext cx="529984" cy="369332"/>
          </a:xfrm>
          <a:prstGeom prst="rect">
            <a:avLst/>
          </a:prstGeom>
          <a:noFill/>
        </p:spPr>
        <p:txBody>
          <a:bodyPr wrap="square" rtlCol="0">
            <a:spAutoFit/>
          </a:bodyPr>
          <a:lstStyle/>
          <a:p>
            <a:r>
              <a:rPr lang="en-US" altLang="zh-CN"/>
              <a:t>4</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825401"/>
          </a:xfrm>
          <a:prstGeom prst="rect">
            <a:avLst/>
          </a:prstGeom>
          <a:solidFill>
            <a:srgbClr val="5B4B9E"/>
          </a:solidFill>
          <a:ln/>
        </p:spPr>
        <p:txBody>
          <a:bodyPr wrap="square" rtlCol="0" anchor="ctr"/>
          <a:lstStyle/>
          <a:p>
            <a:pPr marL="0" indent="0">
              <a:buNone/>
            </a:pPr>
            <a:endParaRPr lang="en-US" dirty="0"/>
          </a:p>
        </p:txBody>
      </p:sp>
      <p:sp>
        <p:nvSpPr>
          <p:cNvPr id="3" name="Text 1"/>
          <p:cNvSpPr/>
          <p:nvPr/>
        </p:nvSpPr>
        <p:spPr>
          <a:xfrm>
            <a:off x="634901" y="126950"/>
            <a:ext cx="8031682" cy="409575"/>
          </a:xfrm>
          <a:prstGeom prst="rect">
            <a:avLst/>
          </a:prstGeom>
          <a:noFill/>
          <a:ln/>
        </p:spPr>
        <p:txBody>
          <a:bodyPr wrap="square" lIns="0" tIns="0" rIns="0" bIns="0" rtlCol="0" anchor="t"/>
          <a:lstStyle/>
          <a:p>
            <a:pPr marL="0" indent="0" algn="l">
              <a:buNone/>
            </a:pPr>
            <a:r>
              <a:rPr lang="en-US" sz="2800" b="1" dirty="0">
                <a:solidFill>
                  <a:srgbClr val="FFFFFF"/>
                </a:solidFill>
                <a:latin typeface="Arial" pitchFamily="34" charset="0"/>
                <a:ea typeface="Arial" pitchFamily="34" charset="-122"/>
                <a:cs typeface="Arial" pitchFamily="34" charset="-120"/>
              </a:rPr>
              <a:t>Challenge: Evaluation Time</a:t>
            </a:r>
            <a:endParaRPr lang="en-US" sz="2800" dirty="0"/>
          </a:p>
        </p:txBody>
      </p:sp>
      <p:sp>
        <p:nvSpPr>
          <p:cNvPr id="4" name="Text 2"/>
          <p:cNvSpPr/>
          <p:nvPr/>
        </p:nvSpPr>
        <p:spPr>
          <a:xfrm>
            <a:off x="634901" y="888950"/>
            <a:ext cx="3983355" cy="266700"/>
          </a:xfrm>
          <a:prstGeom prst="rect">
            <a:avLst/>
          </a:prstGeom>
          <a:noFill/>
          <a:ln/>
        </p:spPr>
        <p:txBody>
          <a:bodyPr wrap="square" lIns="0" tIns="0" rIns="0" bIns="0" rtlCol="0" anchor="t"/>
          <a:lstStyle/>
          <a:p>
            <a:pPr marL="0" indent="0" algn="l">
              <a:spcAft>
                <a:spcPts val="1000"/>
              </a:spcAft>
              <a:buNone/>
            </a:pPr>
            <a:r>
              <a:rPr lang="en-US" sz="1800" b="1" dirty="0">
                <a:solidFill>
                  <a:srgbClr val="E76F51"/>
                </a:solidFill>
                <a:latin typeface="Arial" pitchFamily="34" charset="0"/>
                <a:ea typeface="Arial" pitchFamily="34" charset="-122"/>
                <a:cs typeface="Arial" pitchFamily="34" charset="-120"/>
              </a:rPr>
              <a:t>The Problem</a:t>
            </a:r>
            <a:endParaRPr lang="en-US" sz="1800" dirty="0"/>
          </a:p>
        </p:txBody>
      </p:sp>
      <p:sp>
        <p:nvSpPr>
          <p:cNvPr id="5" name="Text 3"/>
          <p:cNvSpPr/>
          <p:nvPr/>
        </p:nvSpPr>
        <p:spPr>
          <a:xfrm>
            <a:off x="634901" y="1282601"/>
            <a:ext cx="3905250" cy="1245096"/>
          </a:xfrm>
          <a:prstGeom prst="roundRect">
            <a:avLst>
              <a:gd name="adj" fmla="val 8160"/>
            </a:avLst>
          </a:prstGeom>
          <a:solidFill>
            <a:srgbClr val="FFF3E6"/>
          </a:solidFill>
          <a:ln/>
        </p:spPr>
        <p:txBody>
          <a:bodyPr wrap="square" rtlCol="0" anchor="ctr"/>
          <a:lstStyle/>
          <a:p>
            <a:pPr marL="0" indent="0">
              <a:buNone/>
            </a:pPr>
            <a:endParaRPr lang="en-US" dirty="0"/>
          </a:p>
        </p:txBody>
      </p:sp>
      <p:sp>
        <p:nvSpPr>
          <p:cNvPr id="6" name="Shape 4"/>
          <p:cNvSpPr/>
          <p:nvPr/>
        </p:nvSpPr>
        <p:spPr>
          <a:xfrm>
            <a:off x="658713" y="1282601"/>
            <a:ext cx="0" cy="1245096"/>
          </a:xfrm>
          <a:prstGeom prst="line">
            <a:avLst/>
          </a:prstGeom>
          <a:noFill/>
          <a:ln w="47625">
            <a:solidFill>
              <a:srgbClr val="E76F51"/>
            </a:solidFill>
            <a:prstDash val="solid"/>
          </a:ln>
        </p:spPr>
      </p:sp>
      <p:sp>
        <p:nvSpPr>
          <p:cNvPr id="7" name="Text 5"/>
          <p:cNvSpPr/>
          <p:nvPr/>
        </p:nvSpPr>
        <p:spPr>
          <a:xfrm>
            <a:off x="745927" y="1346002"/>
            <a:ext cx="3805440" cy="209550"/>
          </a:xfrm>
          <a:prstGeom prst="rect">
            <a:avLst/>
          </a:prstGeom>
          <a:noFill/>
          <a:ln/>
        </p:spPr>
        <p:txBody>
          <a:bodyPr wrap="square" lIns="0" tIns="0" rIns="0" bIns="0" rtlCol="0" anchor="t"/>
          <a:lstStyle/>
          <a:p>
            <a:pPr marL="0" indent="0" algn="l">
              <a:spcAft>
                <a:spcPts val="600"/>
              </a:spcAft>
              <a:buNone/>
            </a:pPr>
            <a:r>
              <a:rPr lang="en-US" sz="1400" b="1" dirty="0">
                <a:solidFill>
                  <a:srgbClr val="2A9D8F"/>
                </a:solidFill>
                <a:latin typeface="Arial" pitchFamily="34" charset="0"/>
                <a:ea typeface="Arial" pitchFamily="34" charset="-122"/>
                <a:cs typeface="Arial" pitchFamily="34" charset="-120"/>
              </a:rPr>
              <a:t>Challenge</a:t>
            </a:r>
            <a:endParaRPr lang="en-US" sz="1400" dirty="0"/>
          </a:p>
        </p:txBody>
      </p:sp>
      <p:sp>
        <p:nvSpPr>
          <p:cNvPr id="8" name="Text 6"/>
          <p:cNvSpPr/>
          <p:nvPr/>
        </p:nvSpPr>
        <p:spPr>
          <a:xfrm>
            <a:off x="745927" y="1631752"/>
            <a:ext cx="3730823" cy="756345"/>
          </a:xfrm>
          <a:prstGeom prst="rect">
            <a:avLst/>
          </a:prstGeom>
          <a:noFill/>
          <a:ln/>
        </p:spPr>
        <p:txBody>
          <a:bodyPr wrap="square" lIns="114300" tIns="0" rIns="0" bIns="0" rtlCol="0" anchor="t"/>
          <a:lstStyle/>
          <a:p>
            <a:pPr marL="114300" indent="-114300" algn="l">
              <a:lnSpc>
                <a:spcPts val="1820"/>
              </a:lnSpc>
              <a:spcAft>
                <a:spcPts val="500"/>
              </a:spcAft>
              <a:buSzPct val="100000"/>
              <a:buChar char="•"/>
            </a:pPr>
            <a:r>
              <a:rPr lang="en-US" sz="1300" dirty="0">
                <a:solidFill>
                  <a:srgbClr val="264653"/>
                </a:solidFill>
                <a:latin typeface="Arial" pitchFamily="34" charset="0"/>
                <a:ea typeface="Arial" pitchFamily="34" charset="-122"/>
                <a:cs typeface="Arial" pitchFamily="34" charset="-120"/>
              </a:rPr>
              <a:t>Full evaluation takes ~1 day per prefetcher combination</a:t>
            </a:r>
            <a:endParaRPr lang="en-US" sz="1300" dirty="0"/>
          </a:p>
          <a:p>
            <a:pPr marL="114300" indent="-114300" algn="l">
              <a:lnSpc>
                <a:spcPts val="1820"/>
              </a:lnSpc>
              <a:spcAft>
                <a:spcPts val="500"/>
              </a:spcAft>
              <a:buSzPct val="100000"/>
              <a:buChar char="•"/>
            </a:pPr>
            <a:r>
              <a:rPr lang="en-US" sz="1300" dirty="0">
                <a:solidFill>
                  <a:srgbClr val="264653"/>
                </a:solidFill>
                <a:latin typeface="Arial" pitchFamily="34" charset="0"/>
                <a:ea typeface="Arial" pitchFamily="34" charset="-122"/>
                <a:cs typeface="Arial" pitchFamily="34" charset="-120"/>
              </a:rPr>
              <a:t>Too many combinations to test exhaustively</a:t>
            </a:r>
            <a:endParaRPr lang="en-US" sz="1300" dirty="0"/>
          </a:p>
        </p:txBody>
      </p:sp>
      <p:sp>
        <p:nvSpPr>
          <p:cNvPr id="9" name="Text 7"/>
          <p:cNvSpPr/>
          <p:nvPr/>
        </p:nvSpPr>
        <p:spPr>
          <a:xfrm>
            <a:off x="634901" y="2629198"/>
            <a:ext cx="3983355" cy="266700"/>
          </a:xfrm>
          <a:prstGeom prst="rect">
            <a:avLst/>
          </a:prstGeom>
          <a:noFill/>
          <a:ln/>
        </p:spPr>
        <p:txBody>
          <a:bodyPr wrap="square" lIns="0" tIns="0" rIns="0" bIns="0" rtlCol="0" anchor="t"/>
          <a:lstStyle/>
          <a:p>
            <a:pPr marL="0" indent="0" algn="l">
              <a:spcAft>
                <a:spcPts val="1000"/>
              </a:spcAft>
              <a:buNone/>
            </a:pPr>
            <a:r>
              <a:rPr lang="en-US" sz="1800" b="1" dirty="0">
                <a:solidFill>
                  <a:srgbClr val="E76F51"/>
                </a:solidFill>
                <a:latin typeface="Arial" pitchFamily="34" charset="0"/>
                <a:ea typeface="Arial" pitchFamily="34" charset="-122"/>
                <a:cs typeface="Arial" pitchFamily="34" charset="-120"/>
              </a:rPr>
              <a:t>Our Solution: Scale Validation</a:t>
            </a:r>
            <a:endParaRPr lang="en-US" sz="1800" dirty="0"/>
          </a:p>
        </p:txBody>
      </p:sp>
      <p:sp>
        <p:nvSpPr>
          <p:cNvPr id="10" name="Text 8"/>
          <p:cNvSpPr/>
          <p:nvPr/>
        </p:nvSpPr>
        <p:spPr>
          <a:xfrm>
            <a:off x="634901" y="3022848"/>
            <a:ext cx="3905250" cy="1652141"/>
          </a:xfrm>
          <a:prstGeom prst="roundRect">
            <a:avLst>
              <a:gd name="adj" fmla="val 6150"/>
            </a:avLst>
          </a:prstGeom>
          <a:solidFill>
            <a:srgbClr val="E8F8F5"/>
          </a:solidFill>
          <a:ln/>
        </p:spPr>
        <p:txBody>
          <a:bodyPr wrap="square" rtlCol="0" anchor="ctr"/>
          <a:lstStyle/>
          <a:p>
            <a:pPr marL="0" indent="0">
              <a:buNone/>
            </a:pPr>
            <a:endParaRPr lang="en-US" dirty="0"/>
          </a:p>
        </p:txBody>
      </p:sp>
      <p:sp>
        <p:nvSpPr>
          <p:cNvPr id="11" name="Shape 9"/>
          <p:cNvSpPr/>
          <p:nvPr/>
        </p:nvSpPr>
        <p:spPr>
          <a:xfrm>
            <a:off x="658713" y="3022848"/>
            <a:ext cx="0" cy="1652141"/>
          </a:xfrm>
          <a:prstGeom prst="line">
            <a:avLst/>
          </a:prstGeom>
          <a:noFill/>
          <a:ln w="47625">
            <a:solidFill>
              <a:srgbClr val="2A9D8F"/>
            </a:solidFill>
            <a:prstDash val="solid"/>
          </a:ln>
        </p:spPr>
      </p:sp>
      <p:sp>
        <p:nvSpPr>
          <p:cNvPr id="12" name="Text 10"/>
          <p:cNvSpPr/>
          <p:nvPr/>
        </p:nvSpPr>
        <p:spPr>
          <a:xfrm>
            <a:off x="745927" y="3162449"/>
            <a:ext cx="3805440" cy="209550"/>
          </a:xfrm>
          <a:prstGeom prst="rect">
            <a:avLst/>
          </a:prstGeom>
          <a:noFill/>
          <a:ln/>
        </p:spPr>
        <p:txBody>
          <a:bodyPr wrap="square" lIns="0" tIns="0" rIns="0" bIns="0" rtlCol="0" anchor="t"/>
          <a:lstStyle/>
          <a:p>
            <a:pPr marL="0" indent="0" algn="l">
              <a:spcBef>
                <a:spcPts val="600"/>
              </a:spcBef>
              <a:spcAft>
                <a:spcPts val="600"/>
              </a:spcAft>
              <a:buNone/>
            </a:pPr>
            <a:r>
              <a:rPr lang="en-US" sz="1400" b="1" dirty="0">
                <a:solidFill>
                  <a:srgbClr val="2A9D8F"/>
                </a:solidFill>
                <a:latin typeface="Arial" pitchFamily="34" charset="0"/>
                <a:ea typeface="Arial" pitchFamily="34" charset="-122"/>
                <a:cs typeface="Arial" pitchFamily="34" charset="-120"/>
              </a:rPr>
              <a:t>Experiment</a:t>
            </a:r>
            <a:endParaRPr lang="en-US" sz="1400" dirty="0"/>
          </a:p>
        </p:txBody>
      </p:sp>
      <p:sp>
        <p:nvSpPr>
          <p:cNvPr id="13" name="Text 11"/>
          <p:cNvSpPr/>
          <p:nvPr/>
        </p:nvSpPr>
        <p:spPr>
          <a:xfrm>
            <a:off x="745927" y="3448199"/>
            <a:ext cx="3730823" cy="525363"/>
          </a:xfrm>
          <a:prstGeom prst="rect">
            <a:avLst/>
          </a:prstGeom>
          <a:noFill/>
          <a:ln/>
        </p:spPr>
        <p:txBody>
          <a:bodyPr wrap="square" lIns="114300" tIns="0" rIns="0" bIns="0" rtlCol="0" anchor="t"/>
          <a:lstStyle/>
          <a:p>
            <a:pPr marL="114300" indent="-114300" algn="l">
              <a:lnSpc>
                <a:spcPts val="1820"/>
              </a:lnSpc>
              <a:spcAft>
                <a:spcPts val="500"/>
              </a:spcAft>
              <a:buSzPct val="100000"/>
              <a:buChar char="•"/>
            </a:pPr>
            <a:r>
              <a:rPr lang="en-US" sz="1300" dirty="0">
                <a:solidFill>
                  <a:srgbClr val="264653"/>
                </a:solidFill>
                <a:latin typeface="Arial" pitchFamily="34" charset="0"/>
                <a:ea typeface="Arial" pitchFamily="34" charset="-122"/>
                <a:cs typeface="Arial" pitchFamily="34" charset="-120"/>
              </a:rPr>
              <a:t>Tested traces at 1%, 10%, and 100% scale</a:t>
            </a:r>
            <a:endParaRPr lang="en-US" sz="1300" dirty="0"/>
          </a:p>
          <a:p>
            <a:pPr marL="114300" indent="-114300" algn="l">
              <a:lnSpc>
                <a:spcPts val="1820"/>
              </a:lnSpc>
              <a:spcAft>
                <a:spcPts val="500"/>
              </a:spcAft>
              <a:buSzPct val="100000"/>
              <a:buChar char="•"/>
            </a:pPr>
            <a:r>
              <a:rPr lang="en-US" sz="1300" dirty="0">
                <a:solidFill>
                  <a:srgbClr val="264653"/>
                </a:solidFill>
                <a:latin typeface="Arial" pitchFamily="34" charset="0"/>
                <a:ea typeface="Arial" pitchFamily="34" charset="-122"/>
                <a:cs typeface="Arial" pitchFamily="34" charset="-120"/>
              </a:rPr>
              <a:t>Compared relative rankings</a:t>
            </a:r>
            <a:endParaRPr lang="en-US" sz="1300" dirty="0"/>
          </a:p>
        </p:txBody>
      </p:sp>
      <p:sp>
        <p:nvSpPr>
          <p:cNvPr id="14" name="Text 12"/>
          <p:cNvSpPr/>
          <p:nvPr/>
        </p:nvSpPr>
        <p:spPr>
          <a:xfrm>
            <a:off x="745927" y="4075063"/>
            <a:ext cx="3805440" cy="209550"/>
          </a:xfrm>
          <a:prstGeom prst="rect">
            <a:avLst/>
          </a:prstGeom>
          <a:noFill/>
          <a:ln/>
        </p:spPr>
        <p:txBody>
          <a:bodyPr wrap="square" lIns="0" tIns="0" rIns="0" bIns="0" rtlCol="0" anchor="t"/>
          <a:lstStyle/>
          <a:p>
            <a:pPr marL="0" indent="0" algn="l">
              <a:spcBef>
                <a:spcPts val="800"/>
              </a:spcBef>
              <a:spcAft>
                <a:spcPts val="600"/>
              </a:spcAft>
              <a:buNone/>
            </a:pPr>
            <a:r>
              <a:rPr lang="en-US" sz="1400" b="1" dirty="0">
                <a:solidFill>
                  <a:srgbClr val="2A9D8F"/>
                </a:solidFill>
                <a:latin typeface="Arial" pitchFamily="34" charset="0"/>
                <a:ea typeface="Arial" pitchFamily="34" charset="-122"/>
                <a:cs typeface="Arial" pitchFamily="34" charset="-120"/>
              </a:rPr>
              <a:t>Finding</a:t>
            </a:r>
            <a:endParaRPr lang="en-US" sz="1400" dirty="0"/>
          </a:p>
        </p:txBody>
      </p:sp>
      <p:sp>
        <p:nvSpPr>
          <p:cNvPr id="15" name="Text 13"/>
          <p:cNvSpPr/>
          <p:nvPr/>
        </p:nvSpPr>
        <p:spPr>
          <a:xfrm>
            <a:off x="745927" y="4360813"/>
            <a:ext cx="3805440" cy="200025"/>
          </a:xfrm>
          <a:prstGeom prst="rect">
            <a:avLst/>
          </a:prstGeom>
          <a:noFill/>
          <a:ln/>
        </p:spPr>
        <p:txBody>
          <a:bodyPr wrap="square" lIns="0" tIns="0" rIns="0" bIns="0" rtlCol="0" anchor="t"/>
          <a:lstStyle/>
          <a:p>
            <a:pPr marL="0" indent="0" algn="l">
              <a:spcBef>
                <a:spcPts val="400"/>
              </a:spcBef>
              <a:spcAft>
                <a:spcPts val="400"/>
              </a:spcAft>
              <a:buNone/>
            </a:pPr>
            <a:r>
              <a:rPr lang="en-US" sz="1300" dirty="0">
                <a:solidFill>
                  <a:srgbClr val="264653"/>
                </a:solidFill>
                <a:latin typeface="Arial" pitchFamily="34" charset="0"/>
                <a:ea typeface="Arial" pitchFamily="34" charset="-122"/>
                <a:cs typeface="Arial" pitchFamily="34" charset="-120"/>
              </a:rPr>
              <a:t>Relative performance consistent across scales</a:t>
            </a:r>
            <a:endParaRPr lang="en-US" sz="1300" dirty="0"/>
          </a:p>
        </p:txBody>
      </p:sp>
      <p:sp>
        <p:nvSpPr>
          <p:cNvPr id="16" name="Text 14"/>
          <p:cNvSpPr/>
          <p:nvPr/>
        </p:nvSpPr>
        <p:spPr>
          <a:xfrm>
            <a:off x="4635401" y="888950"/>
            <a:ext cx="3983507" cy="266700"/>
          </a:xfrm>
          <a:prstGeom prst="rect">
            <a:avLst/>
          </a:prstGeom>
          <a:noFill/>
          <a:ln/>
        </p:spPr>
        <p:txBody>
          <a:bodyPr wrap="square" lIns="0" tIns="0" rIns="0" bIns="0" rtlCol="0" anchor="t"/>
          <a:lstStyle/>
          <a:p>
            <a:pPr marL="0" indent="0" algn="l">
              <a:spcAft>
                <a:spcPts val="1000"/>
              </a:spcAft>
              <a:buNone/>
            </a:pPr>
            <a:r>
              <a:rPr lang="en-US" sz="1800" b="1" dirty="0">
                <a:solidFill>
                  <a:srgbClr val="E76F51"/>
                </a:solidFill>
                <a:latin typeface="Arial" pitchFamily="34" charset="0"/>
                <a:ea typeface="Arial" pitchFamily="34" charset="-122"/>
                <a:cs typeface="Arial" pitchFamily="34" charset="-120"/>
              </a:rPr>
              <a:t>Methodology</a:t>
            </a:r>
            <a:endParaRPr lang="en-US" sz="1800" dirty="0"/>
          </a:p>
        </p:txBody>
      </p:sp>
      <p:sp>
        <p:nvSpPr>
          <p:cNvPr id="17" name="Text 15"/>
          <p:cNvSpPr/>
          <p:nvPr/>
        </p:nvSpPr>
        <p:spPr>
          <a:xfrm>
            <a:off x="4635401" y="1282601"/>
            <a:ext cx="3905399" cy="1035546"/>
          </a:xfrm>
          <a:prstGeom prst="roundRect">
            <a:avLst>
              <a:gd name="adj" fmla="val 9811"/>
            </a:avLst>
          </a:prstGeom>
          <a:solidFill>
            <a:srgbClr val="E8F8F5"/>
          </a:solidFill>
          <a:ln/>
        </p:spPr>
        <p:txBody>
          <a:bodyPr wrap="square" rtlCol="0" anchor="ctr"/>
          <a:lstStyle/>
          <a:p>
            <a:pPr marL="0" indent="0">
              <a:buNone/>
            </a:pPr>
            <a:endParaRPr lang="en-US" dirty="0"/>
          </a:p>
        </p:txBody>
      </p:sp>
      <p:sp>
        <p:nvSpPr>
          <p:cNvPr id="18" name="Shape 16"/>
          <p:cNvSpPr/>
          <p:nvPr/>
        </p:nvSpPr>
        <p:spPr>
          <a:xfrm>
            <a:off x="4659213" y="1282601"/>
            <a:ext cx="0" cy="1035546"/>
          </a:xfrm>
          <a:prstGeom prst="line">
            <a:avLst/>
          </a:prstGeom>
          <a:noFill/>
          <a:ln w="47625">
            <a:solidFill>
              <a:srgbClr val="2A9D8F"/>
            </a:solidFill>
            <a:prstDash val="solid"/>
          </a:ln>
        </p:spPr>
      </p:sp>
      <p:sp>
        <p:nvSpPr>
          <p:cNvPr id="19" name="Text 17"/>
          <p:cNvSpPr/>
          <p:nvPr/>
        </p:nvSpPr>
        <p:spPr>
          <a:xfrm>
            <a:off x="4746427" y="1422202"/>
            <a:ext cx="3730972" cy="756345"/>
          </a:xfrm>
          <a:prstGeom prst="rect">
            <a:avLst/>
          </a:prstGeom>
          <a:noFill/>
          <a:ln/>
        </p:spPr>
        <p:txBody>
          <a:bodyPr wrap="square" lIns="114300" tIns="0" rIns="0" bIns="0" rtlCol="0" anchor="t"/>
          <a:lstStyle/>
          <a:p>
            <a:pPr marL="114300" indent="-114300" algn="l">
              <a:lnSpc>
                <a:spcPts val="1820"/>
              </a:lnSpc>
              <a:spcAft>
                <a:spcPts val="500"/>
              </a:spcAft>
              <a:buSzPct val="100000"/>
              <a:buChar char="•"/>
            </a:pPr>
            <a:r>
              <a:rPr lang="en-US" sz="1300" dirty="0">
                <a:solidFill>
                  <a:srgbClr val="264653"/>
                </a:solidFill>
                <a:latin typeface="Arial" pitchFamily="34" charset="0"/>
                <a:ea typeface="Arial" pitchFamily="34" charset="-122"/>
                <a:cs typeface="Arial" pitchFamily="34" charset="-120"/>
              </a:rPr>
              <a:t>Use 1% scale for rapid evaluation of many combinations</a:t>
            </a:r>
            <a:endParaRPr lang="en-US" sz="1300" dirty="0"/>
          </a:p>
          <a:p>
            <a:pPr marL="114300" indent="-114300" algn="l">
              <a:lnSpc>
                <a:spcPts val="1820"/>
              </a:lnSpc>
              <a:spcAft>
                <a:spcPts val="500"/>
              </a:spcAft>
              <a:buSzPct val="100000"/>
              <a:buChar char="•"/>
            </a:pPr>
            <a:r>
              <a:rPr lang="en-US" sz="1300" dirty="0">
                <a:solidFill>
                  <a:srgbClr val="264653"/>
                </a:solidFill>
                <a:latin typeface="Arial" pitchFamily="34" charset="0"/>
                <a:ea typeface="Arial" pitchFamily="34" charset="-122"/>
                <a:cs typeface="Arial" pitchFamily="34" charset="-120"/>
              </a:rPr>
              <a:t>Validate promising candidates at full scale</a:t>
            </a:r>
            <a:endParaRPr lang="en-US" sz="1300" dirty="0"/>
          </a:p>
        </p:txBody>
      </p:sp>
      <p:sp>
        <p:nvSpPr>
          <p:cNvPr id="20" name="Text 18"/>
          <p:cNvSpPr/>
          <p:nvPr/>
        </p:nvSpPr>
        <p:spPr>
          <a:xfrm>
            <a:off x="4635401" y="2572048"/>
            <a:ext cx="3983507" cy="266700"/>
          </a:xfrm>
          <a:prstGeom prst="rect">
            <a:avLst/>
          </a:prstGeom>
          <a:noFill/>
          <a:ln/>
        </p:spPr>
        <p:txBody>
          <a:bodyPr wrap="square" lIns="0" tIns="0" rIns="0" bIns="0" rtlCol="0" anchor="t"/>
          <a:lstStyle/>
          <a:p>
            <a:pPr marL="0" indent="0" algn="l">
              <a:spcBef>
                <a:spcPts val="2000"/>
              </a:spcBef>
              <a:spcAft>
                <a:spcPts val="1000"/>
              </a:spcAft>
              <a:buNone/>
            </a:pPr>
            <a:r>
              <a:rPr lang="en-US" sz="1800" b="1" dirty="0">
                <a:solidFill>
                  <a:srgbClr val="E76F51"/>
                </a:solidFill>
                <a:latin typeface="Arial" pitchFamily="34" charset="0"/>
                <a:ea typeface="Arial" pitchFamily="34" charset="-122"/>
                <a:cs typeface="Arial" pitchFamily="34" charset="-120"/>
              </a:rPr>
              <a:t>Result</a:t>
            </a:r>
            <a:endParaRPr lang="en-US" sz="1800" dirty="0"/>
          </a:p>
        </p:txBody>
      </p:sp>
      <p:sp>
        <p:nvSpPr>
          <p:cNvPr id="21" name="Text 19"/>
          <p:cNvSpPr/>
          <p:nvPr/>
        </p:nvSpPr>
        <p:spPr>
          <a:xfrm>
            <a:off x="4635401" y="2965698"/>
            <a:ext cx="3905399" cy="673001"/>
          </a:xfrm>
          <a:prstGeom prst="roundRect">
            <a:avLst>
              <a:gd name="adj" fmla="val 15097"/>
            </a:avLst>
          </a:prstGeom>
          <a:solidFill>
            <a:srgbClr val="2A9D8F"/>
          </a:solidFill>
          <a:ln/>
        </p:spPr>
        <p:txBody>
          <a:bodyPr wrap="square" rtlCol="0" anchor="ctr"/>
          <a:lstStyle/>
          <a:p>
            <a:pPr marL="0" indent="0">
              <a:buNone/>
            </a:pPr>
            <a:endParaRPr lang="en-US" dirty="0"/>
          </a:p>
        </p:txBody>
      </p:sp>
      <p:sp>
        <p:nvSpPr>
          <p:cNvPr id="22" name="Text 20"/>
          <p:cNvSpPr/>
          <p:nvPr/>
        </p:nvSpPr>
        <p:spPr>
          <a:xfrm>
            <a:off x="4725836" y="3092648"/>
            <a:ext cx="3724528" cy="419100"/>
          </a:xfrm>
          <a:prstGeom prst="rect">
            <a:avLst/>
          </a:prstGeom>
          <a:noFill/>
          <a:ln/>
        </p:spPr>
        <p:txBody>
          <a:bodyPr wrap="square" lIns="0" tIns="0" rIns="0" bIns="0" rtlCol="0" anchor="t"/>
          <a:lstStyle/>
          <a:p>
            <a:pPr marL="0" indent="0" algn="ctr">
              <a:buNone/>
            </a:pPr>
            <a:r>
              <a:rPr lang="en-US" sz="1400" b="1" dirty="0">
                <a:solidFill>
                  <a:srgbClr val="FFFFFF"/>
                </a:solidFill>
                <a:latin typeface="Arial" pitchFamily="34" charset="0"/>
                <a:ea typeface="Arial" pitchFamily="34" charset="-122"/>
                <a:cs typeface="Arial" pitchFamily="34" charset="-120"/>
              </a:rPr>
              <a:t>VBerti + Pythia = Best Performing Combination</a:t>
            </a:r>
            <a:endParaRPr lang="en-US" sz="1400" dirty="0"/>
          </a:p>
        </p:txBody>
      </p:sp>
      <p:sp>
        <p:nvSpPr>
          <p:cNvPr id="23" name="Text 21"/>
          <p:cNvSpPr/>
          <p:nvPr/>
        </p:nvSpPr>
        <p:spPr>
          <a:xfrm>
            <a:off x="4635401" y="3765649"/>
            <a:ext cx="3905399" cy="946845"/>
          </a:xfrm>
          <a:prstGeom prst="roundRect">
            <a:avLst>
              <a:gd name="adj" fmla="val 10730"/>
            </a:avLst>
          </a:prstGeom>
          <a:solidFill>
            <a:srgbClr val="E9ECEF"/>
          </a:solidFill>
          <a:ln/>
        </p:spPr>
        <p:txBody>
          <a:bodyPr wrap="square" rtlCol="0" anchor="ctr"/>
          <a:lstStyle/>
          <a:p>
            <a:pPr marL="0" indent="0">
              <a:buNone/>
            </a:pPr>
            <a:endParaRPr lang="en-US" dirty="0"/>
          </a:p>
        </p:txBody>
      </p:sp>
      <p:sp>
        <p:nvSpPr>
          <p:cNvPr id="24" name="Text 22"/>
          <p:cNvSpPr/>
          <p:nvPr/>
        </p:nvSpPr>
        <p:spPr>
          <a:xfrm>
            <a:off x="4762351" y="3892600"/>
            <a:ext cx="3724528" cy="692944"/>
          </a:xfrm>
          <a:prstGeom prst="rect">
            <a:avLst/>
          </a:prstGeom>
          <a:noFill/>
          <a:ln/>
        </p:spPr>
        <p:txBody>
          <a:bodyPr wrap="square" lIns="0" tIns="0" rIns="0" bIns="0" rtlCol="0" anchor="t"/>
          <a:lstStyle/>
          <a:p>
            <a:pPr marL="0" indent="0" algn="l">
              <a:lnSpc>
                <a:spcPts val="1820"/>
              </a:lnSpc>
              <a:buNone/>
            </a:pPr>
            <a:r>
              <a:rPr lang="en-US" sz="1300" b="1" dirty="0">
                <a:solidFill>
                  <a:srgbClr val="5B4B9E"/>
                </a:solidFill>
                <a:latin typeface="Arial" pitchFamily="34" charset="0"/>
                <a:ea typeface="Arial" pitchFamily="34" charset="-122"/>
                <a:cs typeface="Arial" pitchFamily="34" charset="-120"/>
              </a:rPr>
              <a:t>Key Insight:</a:t>
            </a:r>
            <a:r>
              <a:rPr lang="en-US" sz="1300" dirty="0">
                <a:solidFill>
                  <a:srgbClr val="264653"/>
                </a:solidFill>
                <a:latin typeface="Arial" pitchFamily="34" charset="0"/>
                <a:ea typeface="Arial" pitchFamily="34" charset="-122"/>
                <a:cs typeface="Arial" pitchFamily="34" charset="-120"/>
              </a:rPr>
              <a:t> Scale validation enabled us to evaluate 100x more combinations in the same timeframe</a:t>
            </a:r>
            <a:endParaRPr lang="en-US" sz="1300" dirty="0"/>
          </a:p>
        </p:txBody>
      </p:sp>
      <p:sp>
        <p:nvSpPr>
          <p:cNvPr id="25" name="文本框 24">
            <a:extLst>
              <a:ext uri="{FF2B5EF4-FFF2-40B4-BE49-F238E27FC236}">
                <a16:creationId xmlns:a16="http://schemas.microsoft.com/office/drawing/2014/main" id="{37213B14-A744-3A07-F20D-B3241EDCA44A}"/>
              </a:ext>
            </a:extLst>
          </p:cNvPr>
          <p:cNvSpPr txBox="1"/>
          <p:nvPr/>
        </p:nvSpPr>
        <p:spPr>
          <a:xfrm>
            <a:off x="8395452" y="4621065"/>
            <a:ext cx="529984" cy="369332"/>
          </a:xfrm>
          <a:prstGeom prst="rect">
            <a:avLst/>
          </a:prstGeom>
          <a:noFill/>
        </p:spPr>
        <p:txBody>
          <a:bodyPr wrap="square" rtlCol="0">
            <a:spAutoFit/>
          </a:bodyPr>
          <a:lstStyle/>
          <a:p>
            <a:r>
              <a:rPr lang="en-US" altLang="zh-CN"/>
              <a:t>5</a:t>
            </a: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825401"/>
          </a:xfrm>
          <a:prstGeom prst="rect">
            <a:avLst/>
          </a:prstGeom>
          <a:solidFill>
            <a:srgbClr val="5B4B9E"/>
          </a:solidFill>
          <a:ln/>
        </p:spPr>
        <p:txBody>
          <a:bodyPr wrap="square" rtlCol="0" anchor="ctr"/>
          <a:lstStyle/>
          <a:p>
            <a:pPr marL="0" indent="0">
              <a:buNone/>
            </a:pPr>
            <a:endParaRPr lang="en-US" dirty="0"/>
          </a:p>
        </p:txBody>
      </p:sp>
      <p:sp>
        <p:nvSpPr>
          <p:cNvPr id="3" name="Text 1"/>
          <p:cNvSpPr/>
          <p:nvPr/>
        </p:nvSpPr>
        <p:spPr>
          <a:xfrm>
            <a:off x="634901" y="126950"/>
            <a:ext cx="8031682" cy="409575"/>
          </a:xfrm>
          <a:prstGeom prst="rect">
            <a:avLst/>
          </a:prstGeom>
          <a:noFill/>
          <a:ln/>
        </p:spPr>
        <p:txBody>
          <a:bodyPr wrap="square" lIns="0" tIns="0" rIns="0" bIns="0" rtlCol="0" anchor="t"/>
          <a:lstStyle/>
          <a:p>
            <a:pPr marL="0" indent="0" algn="l">
              <a:buNone/>
            </a:pPr>
            <a:r>
              <a:rPr lang="en-US" sz="2800" b="1" dirty="0">
                <a:solidFill>
                  <a:srgbClr val="FFFFFF"/>
                </a:solidFill>
                <a:latin typeface="Arial" pitchFamily="34" charset="0"/>
                <a:ea typeface="Arial" pitchFamily="34" charset="-122"/>
                <a:cs typeface="Arial" pitchFamily="34" charset="-120"/>
              </a:rPr>
              <a:t>Problem Analysis</a:t>
            </a:r>
            <a:endParaRPr lang="en-US" sz="2800" dirty="0"/>
          </a:p>
        </p:txBody>
      </p:sp>
      <p:sp>
        <p:nvSpPr>
          <p:cNvPr id="4" name="Text 2"/>
          <p:cNvSpPr/>
          <p:nvPr/>
        </p:nvSpPr>
        <p:spPr>
          <a:xfrm>
            <a:off x="634901" y="888950"/>
            <a:ext cx="5514002" cy="209550"/>
          </a:xfrm>
          <a:prstGeom prst="rect">
            <a:avLst/>
          </a:prstGeom>
          <a:noFill/>
          <a:ln/>
        </p:spPr>
        <p:txBody>
          <a:bodyPr wrap="square" lIns="0" tIns="0" rIns="0" bIns="0" rtlCol="0" anchor="t"/>
          <a:lstStyle/>
          <a:p>
            <a:pPr marL="0" indent="0" algn="l">
              <a:spcAft>
                <a:spcPts val="1500"/>
              </a:spcAft>
              <a:buNone/>
            </a:pPr>
            <a:r>
              <a:rPr lang="en-US" sz="1400" b="1" dirty="0">
                <a:solidFill>
                  <a:srgbClr val="2A9D8F"/>
                </a:solidFill>
                <a:latin typeface="Arial" pitchFamily="34" charset="0"/>
                <a:ea typeface="Arial" pitchFamily="34" charset="-122"/>
                <a:cs typeface="Arial" pitchFamily="34" charset="-120"/>
              </a:rPr>
              <a:t>Findings</a:t>
            </a:r>
            <a:endParaRPr lang="en-US" sz="1400" dirty="0"/>
          </a:p>
        </p:txBody>
      </p:sp>
      <p:sp>
        <p:nvSpPr>
          <p:cNvPr id="5" name="Text 3"/>
          <p:cNvSpPr/>
          <p:nvPr/>
        </p:nvSpPr>
        <p:spPr>
          <a:xfrm>
            <a:off x="634901" y="1289000"/>
            <a:ext cx="5405884" cy="323850"/>
          </a:xfrm>
          <a:prstGeom prst="roundRect">
            <a:avLst>
              <a:gd name="adj" fmla="val 31373"/>
            </a:avLst>
          </a:prstGeom>
          <a:solidFill>
            <a:srgbClr val="FFF3E6"/>
          </a:solidFill>
          <a:ln/>
        </p:spPr>
        <p:txBody>
          <a:bodyPr wrap="square" rtlCol="0" anchor="ctr"/>
          <a:lstStyle/>
          <a:p>
            <a:pPr marL="0" indent="0">
              <a:buNone/>
            </a:pPr>
            <a:endParaRPr lang="en-US" dirty="0"/>
          </a:p>
        </p:txBody>
      </p:sp>
      <p:sp>
        <p:nvSpPr>
          <p:cNvPr id="6" name="Shape 4"/>
          <p:cNvSpPr/>
          <p:nvPr/>
        </p:nvSpPr>
        <p:spPr>
          <a:xfrm>
            <a:off x="663476" y="1289000"/>
            <a:ext cx="0" cy="323850"/>
          </a:xfrm>
          <a:prstGeom prst="line">
            <a:avLst/>
          </a:prstGeom>
          <a:noFill/>
          <a:ln w="57150">
            <a:solidFill>
              <a:srgbClr val="E76F51"/>
            </a:solidFill>
            <a:prstDash val="solid"/>
          </a:ln>
        </p:spPr>
      </p:sp>
      <p:sp>
        <p:nvSpPr>
          <p:cNvPr id="7" name="Text 5"/>
          <p:cNvSpPr/>
          <p:nvPr/>
        </p:nvSpPr>
        <p:spPr>
          <a:xfrm>
            <a:off x="768251" y="1365200"/>
            <a:ext cx="5300261" cy="171450"/>
          </a:xfrm>
          <a:prstGeom prst="rect">
            <a:avLst/>
          </a:prstGeom>
          <a:noFill/>
          <a:ln/>
        </p:spPr>
        <p:txBody>
          <a:bodyPr wrap="square" lIns="0" tIns="0" rIns="0" bIns="0" rtlCol="0" anchor="t"/>
          <a:lstStyle/>
          <a:p>
            <a:pPr marL="0" indent="0" algn="l">
              <a:buNone/>
            </a:pPr>
            <a:r>
              <a:rPr lang="en-US" sz="1200" b="1" dirty="0">
                <a:solidFill>
                  <a:srgbClr val="264653"/>
                </a:solidFill>
                <a:latin typeface="Arial" pitchFamily="34" charset="0"/>
                <a:ea typeface="Arial" pitchFamily="34" charset="-122"/>
                <a:cs typeface="Arial" pitchFamily="34" charset="-120"/>
              </a:rPr>
              <a:t>Observation: VBerti+Pythia generates massive prefetch request volume</a:t>
            </a:r>
            <a:endParaRPr lang="en-US" sz="1200" dirty="0"/>
          </a:p>
        </p:txBody>
      </p:sp>
      <p:sp>
        <p:nvSpPr>
          <p:cNvPr id="8" name="Text 6"/>
          <p:cNvSpPr/>
          <p:nvPr/>
        </p:nvSpPr>
        <p:spPr>
          <a:xfrm>
            <a:off x="634901" y="1739801"/>
            <a:ext cx="2639467" cy="1384102"/>
          </a:xfrm>
          <a:prstGeom prst="roundRect">
            <a:avLst>
              <a:gd name="adj" fmla="val 7341"/>
            </a:avLst>
          </a:prstGeom>
          <a:solidFill>
            <a:srgbClr val="E9ECEF"/>
          </a:solidFill>
          <a:ln/>
        </p:spPr>
        <p:txBody>
          <a:bodyPr wrap="square" rtlCol="0" anchor="ctr"/>
          <a:lstStyle/>
          <a:p>
            <a:pPr marL="0" indent="0">
              <a:buNone/>
            </a:pPr>
            <a:endParaRPr lang="en-US" dirty="0"/>
          </a:p>
        </p:txBody>
      </p:sp>
      <p:sp>
        <p:nvSpPr>
          <p:cNvPr id="9" name="Text 7"/>
          <p:cNvSpPr/>
          <p:nvPr/>
        </p:nvSpPr>
        <p:spPr>
          <a:xfrm>
            <a:off x="686230" y="1968401"/>
            <a:ext cx="2536808" cy="171450"/>
          </a:xfrm>
          <a:prstGeom prst="rect">
            <a:avLst/>
          </a:prstGeom>
          <a:noFill/>
          <a:ln/>
        </p:spPr>
        <p:txBody>
          <a:bodyPr wrap="square" lIns="0" tIns="0" rIns="0" bIns="0" rtlCol="0" anchor="t"/>
          <a:lstStyle/>
          <a:p>
            <a:pPr marL="0" indent="0" algn="ctr">
              <a:spcBef>
                <a:spcPts val="1200"/>
              </a:spcBef>
              <a:spcAft>
                <a:spcPts val="500"/>
              </a:spcAft>
              <a:buNone/>
            </a:pPr>
            <a:r>
              <a:rPr lang="en-US" sz="1200" b="1" dirty="0">
                <a:solidFill>
                  <a:srgbClr val="264653"/>
                </a:solidFill>
                <a:latin typeface="Arial" pitchFamily="34" charset="0"/>
                <a:ea typeface="Arial" pitchFamily="34" charset="-122"/>
                <a:cs typeface="Arial" pitchFamily="34" charset="-120"/>
              </a:rPr>
              <a:t>Prefetch Requests Generated</a:t>
            </a:r>
            <a:endParaRPr lang="en-US" sz="1200" dirty="0"/>
          </a:p>
        </p:txBody>
      </p:sp>
      <p:sp>
        <p:nvSpPr>
          <p:cNvPr id="10" name="Text 8"/>
          <p:cNvSpPr/>
          <p:nvPr/>
        </p:nvSpPr>
        <p:spPr>
          <a:xfrm>
            <a:off x="711101" y="2203252"/>
            <a:ext cx="2487067" cy="571500"/>
          </a:xfrm>
          <a:prstGeom prst="roundRect">
            <a:avLst>
              <a:gd name="adj" fmla="val 8889"/>
            </a:avLst>
          </a:prstGeom>
          <a:solidFill>
            <a:srgbClr val="FFFFFF"/>
          </a:solidFill>
          <a:ln/>
        </p:spPr>
        <p:txBody>
          <a:bodyPr wrap="square" rtlCol="0" anchor="ctr"/>
          <a:lstStyle/>
          <a:p>
            <a:pPr marL="0" indent="0">
              <a:buNone/>
            </a:pPr>
            <a:endParaRPr lang="en-US" dirty="0"/>
          </a:p>
        </p:txBody>
      </p:sp>
      <p:sp>
        <p:nvSpPr>
          <p:cNvPr id="11" name="Text 9"/>
          <p:cNvSpPr/>
          <p:nvPr/>
        </p:nvSpPr>
        <p:spPr>
          <a:xfrm>
            <a:off x="838051" y="2298502"/>
            <a:ext cx="2009775" cy="381000"/>
          </a:xfrm>
          <a:prstGeom prst="roundRect">
            <a:avLst>
              <a:gd name="adj" fmla="val 13333"/>
            </a:avLst>
          </a:prstGeom>
          <a:solidFill>
            <a:srgbClr val="E76F51"/>
          </a:solidFill>
          <a:ln/>
        </p:spPr>
        <p:txBody>
          <a:bodyPr wrap="square" rtlCol="0" anchor="ctr"/>
          <a:lstStyle/>
          <a:p>
            <a:pPr marL="0" indent="0">
              <a:buNone/>
            </a:pPr>
            <a:endParaRPr lang="en-US" dirty="0"/>
          </a:p>
        </p:txBody>
      </p:sp>
      <p:sp>
        <p:nvSpPr>
          <p:cNvPr id="12" name="Text 10"/>
          <p:cNvSpPr/>
          <p:nvPr/>
        </p:nvSpPr>
        <p:spPr>
          <a:xfrm>
            <a:off x="686230" y="2876252"/>
            <a:ext cx="2536808" cy="171450"/>
          </a:xfrm>
          <a:prstGeom prst="rect">
            <a:avLst/>
          </a:prstGeom>
          <a:noFill/>
          <a:ln/>
        </p:spPr>
        <p:txBody>
          <a:bodyPr wrap="square" lIns="0" tIns="0" rIns="0" bIns="0" rtlCol="0" anchor="t"/>
          <a:lstStyle/>
          <a:p>
            <a:pPr marL="0" indent="0" algn="ctr">
              <a:spcBef>
                <a:spcPts val="800"/>
              </a:spcBef>
              <a:buNone/>
            </a:pPr>
            <a:r>
              <a:rPr lang="en-US" sz="1200" dirty="0">
                <a:solidFill>
                  <a:srgbClr val="264653"/>
                </a:solidFill>
                <a:latin typeface="Arial" pitchFamily="34" charset="0"/>
                <a:ea typeface="Arial" pitchFamily="34" charset="-122"/>
                <a:cs typeface="Arial" pitchFamily="34" charset="-120"/>
              </a:rPr>
              <a:t>Very high</a:t>
            </a:r>
            <a:endParaRPr lang="en-US" sz="1200" dirty="0"/>
          </a:p>
        </p:txBody>
      </p:sp>
      <p:sp>
        <p:nvSpPr>
          <p:cNvPr id="13" name="Text 11"/>
          <p:cNvSpPr/>
          <p:nvPr/>
        </p:nvSpPr>
        <p:spPr>
          <a:xfrm>
            <a:off x="3401318" y="1739801"/>
            <a:ext cx="2639467" cy="1384102"/>
          </a:xfrm>
          <a:prstGeom prst="roundRect">
            <a:avLst>
              <a:gd name="adj" fmla="val 7341"/>
            </a:avLst>
          </a:prstGeom>
          <a:solidFill>
            <a:srgbClr val="E9ECEF"/>
          </a:solidFill>
          <a:ln/>
        </p:spPr>
        <p:txBody>
          <a:bodyPr wrap="square" rtlCol="0" anchor="ctr"/>
          <a:lstStyle/>
          <a:p>
            <a:pPr marL="0" indent="0">
              <a:buNone/>
            </a:pPr>
            <a:endParaRPr lang="en-US" dirty="0"/>
          </a:p>
        </p:txBody>
      </p:sp>
      <p:sp>
        <p:nvSpPr>
          <p:cNvPr id="14" name="Text 12"/>
          <p:cNvSpPr/>
          <p:nvPr/>
        </p:nvSpPr>
        <p:spPr>
          <a:xfrm>
            <a:off x="3452647" y="1968401"/>
            <a:ext cx="2536808" cy="171450"/>
          </a:xfrm>
          <a:prstGeom prst="rect">
            <a:avLst/>
          </a:prstGeom>
          <a:noFill/>
          <a:ln/>
        </p:spPr>
        <p:txBody>
          <a:bodyPr wrap="square" lIns="0" tIns="0" rIns="0" bIns="0" rtlCol="0" anchor="t"/>
          <a:lstStyle/>
          <a:p>
            <a:pPr marL="0" indent="0" algn="ctr">
              <a:spcBef>
                <a:spcPts val="1200"/>
              </a:spcBef>
              <a:spcAft>
                <a:spcPts val="500"/>
              </a:spcAft>
              <a:buNone/>
            </a:pPr>
            <a:r>
              <a:rPr lang="en-US" sz="1200" b="1" dirty="0">
                <a:solidFill>
                  <a:srgbClr val="264653"/>
                </a:solidFill>
                <a:latin typeface="Arial" pitchFamily="34" charset="0"/>
                <a:ea typeface="Arial" pitchFamily="34" charset="-122"/>
                <a:cs typeface="Arial" pitchFamily="34" charset="-120"/>
              </a:rPr>
              <a:t>Prefetch Queue Capacity</a:t>
            </a:r>
            <a:endParaRPr lang="en-US" sz="1200" dirty="0"/>
          </a:p>
        </p:txBody>
      </p:sp>
      <p:sp>
        <p:nvSpPr>
          <p:cNvPr id="15" name="Text 13"/>
          <p:cNvSpPr/>
          <p:nvPr/>
        </p:nvSpPr>
        <p:spPr>
          <a:xfrm>
            <a:off x="3477518" y="2203252"/>
            <a:ext cx="2487067" cy="571500"/>
          </a:xfrm>
          <a:prstGeom prst="roundRect">
            <a:avLst>
              <a:gd name="adj" fmla="val 8889"/>
            </a:avLst>
          </a:prstGeom>
          <a:solidFill>
            <a:srgbClr val="FFFFFF"/>
          </a:solidFill>
          <a:ln/>
        </p:spPr>
        <p:txBody>
          <a:bodyPr wrap="square" rtlCol="0" anchor="ctr"/>
          <a:lstStyle/>
          <a:p>
            <a:pPr marL="0" indent="0">
              <a:buNone/>
            </a:pPr>
            <a:endParaRPr lang="en-US" dirty="0"/>
          </a:p>
        </p:txBody>
      </p:sp>
      <p:sp>
        <p:nvSpPr>
          <p:cNvPr id="16" name="Text 14"/>
          <p:cNvSpPr/>
          <p:nvPr/>
        </p:nvSpPr>
        <p:spPr>
          <a:xfrm>
            <a:off x="3604468" y="2298502"/>
            <a:ext cx="669875" cy="381000"/>
          </a:xfrm>
          <a:prstGeom prst="roundRect">
            <a:avLst>
              <a:gd name="adj" fmla="val 13333"/>
            </a:avLst>
          </a:prstGeom>
          <a:solidFill>
            <a:srgbClr val="5B4B9E"/>
          </a:solidFill>
          <a:ln/>
        </p:spPr>
        <p:txBody>
          <a:bodyPr wrap="square" rtlCol="0" anchor="ctr"/>
          <a:lstStyle/>
          <a:p>
            <a:pPr marL="0" indent="0">
              <a:buNone/>
            </a:pPr>
            <a:endParaRPr lang="en-US" dirty="0"/>
          </a:p>
        </p:txBody>
      </p:sp>
      <p:sp>
        <p:nvSpPr>
          <p:cNvPr id="17" name="Text 15"/>
          <p:cNvSpPr/>
          <p:nvPr/>
        </p:nvSpPr>
        <p:spPr>
          <a:xfrm>
            <a:off x="3452647" y="2876252"/>
            <a:ext cx="2536808" cy="171450"/>
          </a:xfrm>
          <a:prstGeom prst="rect">
            <a:avLst/>
          </a:prstGeom>
          <a:noFill/>
          <a:ln/>
        </p:spPr>
        <p:txBody>
          <a:bodyPr wrap="square" lIns="0" tIns="0" rIns="0" bIns="0" rtlCol="0" anchor="t"/>
          <a:lstStyle/>
          <a:p>
            <a:pPr marL="0" indent="0" algn="ctr">
              <a:spcBef>
                <a:spcPts val="800"/>
              </a:spcBef>
              <a:buNone/>
            </a:pPr>
            <a:r>
              <a:rPr lang="en-US" sz="1200" dirty="0">
                <a:solidFill>
                  <a:srgbClr val="264653"/>
                </a:solidFill>
                <a:latin typeface="Arial" pitchFamily="34" charset="0"/>
                <a:ea typeface="Arial" pitchFamily="34" charset="-122"/>
                <a:cs typeface="Arial" pitchFamily="34" charset="-120"/>
              </a:rPr>
              <a:t>Limited</a:t>
            </a:r>
            <a:endParaRPr lang="en-US" sz="1200" dirty="0"/>
          </a:p>
        </p:txBody>
      </p:sp>
      <p:sp>
        <p:nvSpPr>
          <p:cNvPr id="18" name="Text 16"/>
          <p:cNvSpPr/>
          <p:nvPr/>
        </p:nvSpPr>
        <p:spPr>
          <a:xfrm>
            <a:off x="634901" y="3250853"/>
            <a:ext cx="5405884" cy="1358652"/>
          </a:xfrm>
          <a:prstGeom prst="roundRect">
            <a:avLst>
              <a:gd name="adj" fmla="val 7478"/>
            </a:avLst>
          </a:prstGeom>
          <a:solidFill>
            <a:srgbClr val="E8F8F5"/>
          </a:solidFill>
          <a:ln/>
        </p:spPr>
        <p:txBody>
          <a:bodyPr wrap="square" rtlCol="0" anchor="ctr"/>
          <a:lstStyle/>
          <a:p>
            <a:pPr marL="0" indent="0">
              <a:buNone/>
            </a:pPr>
            <a:endParaRPr lang="en-US" dirty="0"/>
          </a:p>
        </p:txBody>
      </p:sp>
      <p:sp>
        <p:nvSpPr>
          <p:cNvPr id="19" name="Shape 17"/>
          <p:cNvSpPr/>
          <p:nvPr/>
        </p:nvSpPr>
        <p:spPr>
          <a:xfrm>
            <a:off x="663476" y="3250853"/>
            <a:ext cx="0" cy="1358652"/>
          </a:xfrm>
          <a:prstGeom prst="line">
            <a:avLst/>
          </a:prstGeom>
          <a:noFill/>
          <a:ln w="57150">
            <a:solidFill>
              <a:srgbClr val="2A9D8F"/>
            </a:solidFill>
            <a:prstDash val="solid"/>
          </a:ln>
        </p:spPr>
      </p:sp>
      <p:sp>
        <p:nvSpPr>
          <p:cNvPr id="20" name="Text 18"/>
          <p:cNvSpPr/>
          <p:nvPr/>
        </p:nvSpPr>
        <p:spPr>
          <a:xfrm>
            <a:off x="768251" y="3441353"/>
            <a:ext cx="5300261" cy="171450"/>
          </a:xfrm>
          <a:prstGeom prst="rect">
            <a:avLst/>
          </a:prstGeom>
          <a:noFill/>
          <a:ln/>
        </p:spPr>
        <p:txBody>
          <a:bodyPr wrap="square" lIns="0" tIns="0" rIns="0" bIns="0" rtlCol="0" anchor="t"/>
          <a:lstStyle/>
          <a:p>
            <a:pPr marL="0" indent="0" algn="l">
              <a:spcBef>
                <a:spcPts val="1200"/>
              </a:spcBef>
              <a:spcAft>
                <a:spcPts val="1200"/>
              </a:spcAft>
              <a:buNone/>
            </a:pPr>
            <a:r>
              <a:rPr lang="en-US" sz="1200" b="1" dirty="0">
                <a:solidFill>
                  <a:srgbClr val="5B4B9E"/>
                </a:solidFill>
                <a:latin typeface="Arial" pitchFamily="34" charset="0"/>
                <a:ea typeface="Arial" pitchFamily="34" charset="-122"/>
                <a:cs typeface="Arial" pitchFamily="34" charset="-120"/>
              </a:rPr>
              <a:t>Key Insight</a:t>
            </a:r>
            <a:endParaRPr lang="en-US" sz="1200" dirty="0"/>
          </a:p>
        </p:txBody>
      </p:sp>
      <p:sp>
        <p:nvSpPr>
          <p:cNvPr id="21" name="Text 19"/>
          <p:cNvSpPr/>
          <p:nvPr/>
        </p:nvSpPr>
        <p:spPr>
          <a:xfrm>
            <a:off x="768251" y="3765203"/>
            <a:ext cx="5300261" cy="171450"/>
          </a:xfrm>
          <a:prstGeom prst="rect">
            <a:avLst/>
          </a:prstGeom>
          <a:noFill/>
          <a:ln/>
        </p:spPr>
        <p:txBody>
          <a:bodyPr wrap="square" lIns="0" tIns="0" rIns="0" bIns="0" rtlCol="0" anchor="t"/>
          <a:lstStyle/>
          <a:p>
            <a:pPr marL="0" indent="0" algn="l">
              <a:spcAft>
                <a:spcPts val="1000"/>
              </a:spcAft>
              <a:buNone/>
            </a:pPr>
            <a:r>
              <a:rPr lang="en-US" sz="1200" b="1" dirty="0">
                <a:solidFill>
                  <a:srgbClr val="264653"/>
                </a:solidFill>
                <a:latin typeface="Arial" pitchFamily="34" charset="0"/>
                <a:ea typeface="Arial" pitchFamily="34" charset="-122"/>
                <a:cs typeface="Arial" pitchFamily="34" charset="-120"/>
              </a:rPr>
              <a:t>Must use limited prefetch queue more efficiently</a:t>
            </a:r>
            <a:endParaRPr lang="en-US" sz="1200" dirty="0"/>
          </a:p>
        </p:txBody>
      </p:sp>
      <p:sp>
        <p:nvSpPr>
          <p:cNvPr id="22" name="Text 20"/>
          <p:cNvSpPr/>
          <p:nvPr/>
        </p:nvSpPr>
        <p:spPr>
          <a:xfrm>
            <a:off x="768251" y="4063603"/>
            <a:ext cx="5196334" cy="406301"/>
          </a:xfrm>
          <a:prstGeom prst="rect">
            <a:avLst/>
          </a:prstGeom>
          <a:noFill/>
          <a:ln/>
        </p:spPr>
        <p:txBody>
          <a:bodyPr wrap="square" lIns="127000" tIns="0" rIns="0" bIns="0" rtlCol="0" anchor="t"/>
          <a:lstStyle/>
          <a:p>
            <a:pPr marL="127000" indent="-127000" algn="l">
              <a:spcAft>
                <a:spcPts val="500"/>
              </a:spcAft>
              <a:buSzPct val="100000"/>
              <a:buChar char="•"/>
            </a:pPr>
            <a:r>
              <a:rPr lang="en-US" sz="1200" b="1" dirty="0">
                <a:solidFill>
                  <a:srgbClr val="264653"/>
                </a:solidFill>
                <a:latin typeface="Arial" pitchFamily="34" charset="0"/>
                <a:ea typeface="Arial" pitchFamily="34" charset="-122"/>
                <a:cs typeface="Arial" pitchFamily="34" charset="-120"/>
              </a:rPr>
              <a:t>Prioritization</a:t>
            </a:r>
            <a:r>
              <a:rPr lang="en-US" sz="1200" dirty="0">
                <a:solidFill>
                  <a:srgbClr val="264653"/>
                </a:solidFill>
                <a:latin typeface="Arial" pitchFamily="34" charset="0"/>
                <a:ea typeface="Arial" pitchFamily="34" charset="-122"/>
                <a:cs typeface="Arial" pitchFamily="34" charset="-120"/>
              </a:rPr>
              <a:t>: Send more useful prefetches first</a:t>
            </a:r>
            <a:endParaRPr lang="en-US" sz="1200" dirty="0"/>
          </a:p>
          <a:p>
            <a:pPr marL="127000" indent="-127000" algn="l">
              <a:spcAft>
                <a:spcPts val="500"/>
              </a:spcAft>
              <a:buSzPct val="100000"/>
              <a:buChar char="•"/>
            </a:pPr>
            <a:r>
              <a:rPr lang="en-US" sz="1200" b="1" dirty="0">
                <a:solidFill>
                  <a:srgbClr val="264653"/>
                </a:solidFill>
                <a:latin typeface="Arial" pitchFamily="34" charset="0"/>
                <a:ea typeface="Arial" pitchFamily="34" charset="-122"/>
                <a:cs typeface="Arial" pitchFamily="34" charset="-120"/>
              </a:rPr>
              <a:t>Filtering</a:t>
            </a:r>
            <a:r>
              <a:rPr lang="en-US" sz="1200" dirty="0">
                <a:solidFill>
                  <a:srgbClr val="264653"/>
                </a:solidFill>
                <a:latin typeface="Arial" pitchFamily="34" charset="0"/>
                <a:ea typeface="Arial" pitchFamily="34" charset="-122"/>
                <a:cs typeface="Arial" pitchFamily="34" charset="-120"/>
              </a:rPr>
              <a:t>: Don't send useless prefetches at all</a:t>
            </a:r>
            <a:endParaRPr lang="en-US" sz="1200" dirty="0"/>
          </a:p>
        </p:txBody>
      </p:sp>
      <p:sp>
        <p:nvSpPr>
          <p:cNvPr id="23" name="文本框 22">
            <a:extLst>
              <a:ext uri="{FF2B5EF4-FFF2-40B4-BE49-F238E27FC236}">
                <a16:creationId xmlns:a16="http://schemas.microsoft.com/office/drawing/2014/main" id="{60F16318-7076-3A79-58D7-FBE9EB91258B}"/>
              </a:ext>
            </a:extLst>
          </p:cNvPr>
          <p:cNvSpPr txBox="1"/>
          <p:nvPr/>
        </p:nvSpPr>
        <p:spPr>
          <a:xfrm>
            <a:off x="8395452" y="4621065"/>
            <a:ext cx="529984" cy="369332"/>
          </a:xfrm>
          <a:prstGeom prst="rect">
            <a:avLst/>
          </a:prstGeom>
          <a:noFill/>
        </p:spPr>
        <p:txBody>
          <a:bodyPr wrap="square" rtlCol="0">
            <a:spAutoFit/>
          </a:bodyPr>
          <a:lstStyle/>
          <a:p>
            <a:r>
              <a:rPr lang="en-US" altLang="zh-CN"/>
              <a:t>6</a:t>
            </a: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825401"/>
          </a:xfrm>
          <a:prstGeom prst="rect">
            <a:avLst/>
          </a:prstGeom>
          <a:solidFill>
            <a:srgbClr val="5B4B9E"/>
          </a:solidFill>
          <a:ln/>
        </p:spPr>
        <p:txBody>
          <a:bodyPr wrap="square" rtlCol="0" anchor="ctr"/>
          <a:lstStyle/>
          <a:p>
            <a:pPr marL="0" indent="0">
              <a:buNone/>
            </a:pPr>
            <a:endParaRPr lang="en-US" dirty="0"/>
          </a:p>
        </p:txBody>
      </p:sp>
      <p:sp>
        <p:nvSpPr>
          <p:cNvPr id="3" name="Text 1"/>
          <p:cNvSpPr/>
          <p:nvPr/>
        </p:nvSpPr>
        <p:spPr>
          <a:xfrm>
            <a:off x="634901" y="126950"/>
            <a:ext cx="8031682" cy="409575"/>
          </a:xfrm>
          <a:prstGeom prst="rect">
            <a:avLst/>
          </a:prstGeom>
          <a:noFill/>
          <a:ln/>
        </p:spPr>
        <p:txBody>
          <a:bodyPr wrap="square" lIns="0" tIns="0" rIns="0" bIns="0" rtlCol="0" anchor="t"/>
          <a:lstStyle/>
          <a:p>
            <a:pPr marL="0" indent="0" algn="l">
              <a:buNone/>
            </a:pPr>
            <a:r>
              <a:rPr lang="en-US" sz="2800" b="1" dirty="0">
                <a:solidFill>
                  <a:srgbClr val="FFFFFF"/>
                </a:solidFill>
                <a:latin typeface="Arial" pitchFamily="34" charset="0"/>
                <a:ea typeface="Arial" pitchFamily="34" charset="-122"/>
                <a:cs typeface="Arial" pitchFamily="34" charset="-120"/>
              </a:rPr>
              <a:t>Two Optimization Directions</a:t>
            </a:r>
            <a:endParaRPr lang="en-US" sz="2800" dirty="0"/>
          </a:p>
        </p:txBody>
      </p:sp>
      <p:sp>
        <p:nvSpPr>
          <p:cNvPr id="4" name="Text 2"/>
          <p:cNvSpPr/>
          <p:nvPr/>
        </p:nvSpPr>
        <p:spPr>
          <a:xfrm>
            <a:off x="634901" y="888950"/>
            <a:ext cx="3810000" cy="3651349"/>
          </a:xfrm>
          <a:prstGeom prst="roundRect">
            <a:avLst>
              <a:gd name="adj" fmla="val 4174"/>
            </a:avLst>
          </a:prstGeom>
          <a:solidFill>
            <a:srgbClr val="E9ECEF"/>
          </a:solidFill>
          <a:ln/>
        </p:spPr>
        <p:txBody>
          <a:bodyPr wrap="square" rtlCol="0" anchor="ctr"/>
          <a:lstStyle/>
          <a:p>
            <a:pPr marL="0" indent="0">
              <a:buNone/>
            </a:pPr>
            <a:endParaRPr lang="en-US" dirty="0"/>
          </a:p>
        </p:txBody>
      </p:sp>
      <p:sp>
        <p:nvSpPr>
          <p:cNvPr id="5" name="Shape 3"/>
          <p:cNvSpPr/>
          <p:nvPr/>
        </p:nvSpPr>
        <p:spPr>
          <a:xfrm>
            <a:off x="634901" y="927050"/>
            <a:ext cx="3810000" cy="0"/>
          </a:xfrm>
          <a:prstGeom prst="line">
            <a:avLst/>
          </a:prstGeom>
          <a:noFill/>
          <a:ln w="76200">
            <a:solidFill>
              <a:srgbClr val="2A9D8F"/>
            </a:solidFill>
            <a:prstDash val="solid"/>
          </a:ln>
        </p:spPr>
      </p:sp>
      <p:sp>
        <p:nvSpPr>
          <p:cNvPr id="6" name="Text 4"/>
          <p:cNvSpPr/>
          <p:nvPr/>
        </p:nvSpPr>
        <p:spPr>
          <a:xfrm>
            <a:off x="711101" y="1041350"/>
            <a:ext cx="253901" cy="253901"/>
          </a:xfrm>
          <a:prstGeom prst="roundRect">
            <a:avLst>
              <a:gd name="adj" fmla="val 360140"/>
            </a:avLst>
          </a:prstGeom>
          <a:solidFill>
            <a:srgbClr val="2A9D8F"/>
          </a:solidFill>
          <a:ln/>
        </p:spPr>
        <p:txBody>
          <a:bodyPr wrap="square" rtlCol="0" anchor="ctr"/>
          <a:lstStyle/>
          <a:p>
            <a:pPr marL="0" indent="0">
              <a:buNone/>
            </a:pPr>
            <a:endParaRPr lang="en-US" dirty="0"/>
          </a:p>
        </p:txBody>
      </p:sp>
      <p:sp>
        <p:nvSpPr>
          <p:cNvPr id="7" name="Text 5"/>
          <p:cNvSpPr/>
          <p:nvPr/>
        </p:nvSpPr>
        <p:spPr>
          <a:xfrm>
            <a:off x="795635" y="1082576"/>
            <a:ext cx="86529" cy="171450"/>
          </a:xfrm>
          <a:prstGeom prst="rect">
            <a:avLst/>
          </a:prstGeom>
          <a:noFill/>
          <a:ln/>
        </p:spPr>
        <p:txBody>
          <a:bodyPr wrap="square" lIns="0" tIns="0" rIns="0" bIns="0" rtlCol="0" anchor="t"/>
          <a:lstStyle/>
          <a:p>
            <a:pPr marL="0" indent="0" algn="l">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8" name="Text 6"/>
          <p:cNvSpPr/>
          <p:nvPr/>
        </p:nvSpPr>
        <p:spPr>
          <a:xfrm>
            <a:off x="711101" y="1358652"/>
            <a:ext cx="3730752" cy="209550"/>
          </a:xfrm>
          <a:prstGeom prst="rect">
            <a:avLst/>
          </a:prstGeom>
          <a:noFill/>
          <a:ln/>
        </p:spPr>
        <p:txBody>
          <a:bodyPr wrap="square" lIns="0" tIns="0" rIns="0" bIns="0" rtlCol="0" anchor="t"/>
          <a:lstStyle/>
          <a:p>
            <a:pPr marL="0" indent="0" algn="l">
              <a:spcAft>
                <a:spcPts val="1500"/>
              </a:spcAft>
              <a:buNone/>
            </a:pPr>
            <a:r>
              <a:rPr lang="en-US" sz="1400" b="1" dirty="0">
                <a:solidFill>
                  <a:srgbClr val="2A9D8F"/>
                </a:solidFill>
                <a:latin typeface="Arial" pitchFamily="34" charset="0"/>
                <a:ea typeface="Arial" pitchFamily="34" charset="-122"/>
                <a:cs typeface="Arial" pitchFamily="34" charset="-120"/>
              </a:rPr>
              <a:t>Prioritization</a:t>
            </a:r>
            <a:endParaRPr lang="en-US" sz="1400" dirty="0"/>
          </a:p>
        </p:txBody>
      </p:sp>
      <p:sp>
        <p:nvSpPr>
          <p:cNvPr id="9" name="Text 7"/>
          <p:cNvSpPr/>
          <p:nvPr/>
        </p:nvSpPr>
        <p:spPr>
          <a:xfrm>
            <a:off x="711101" y="1758702"/>
            <a:ext cx="3730752" cy="342900"/>
          </a:xfrm>
          <a:prstGeom prst="rect">
            <a:avLst/>
          </a:prstGeom>
          <a:noFill/>
          <a:ln/>
        </p:spPr>
        <p:txBody>
          <a:bodyPr wrap="square" lIns="0" tIns="0" rIns="0" bIns="0" rtlCol="0" anchor="t"/>
          <a:lstStyle/>
          <a:p>
            <a:pPr marL="0" indent="0" algn="l">
              <a:spcBef>
                <a:spcPts val="1000"/>
              </a:spcBef>
              <a:spcAft>
                <a:spcPts val="1000"/>
              </a:spcAft>
              <a:buNone/>
            </a:pPr>
            <a:r>
              <a:rPr lang="en-US" sz="1200" b="1" dirty="0">
                <a:solidFill>
                  <a:srgbClr val="264653"/>
                </a:solidFill>
                <a:latin typeface="Arial" pitchFamily="34" charset="0"/>
                <a:ea typeface="Arial" pitchFamily="34" charset="-122"/>
                <a:cs typeface="Arial" pitchFamily="34" charset="-120"/>
              </a:rPr>
              <a:t>If only some prefetches can enter queue, prioritize high-confidence ones</a:t>
            </a:r>
            <a:endParaRPr lang="en-US" sz="1200" dirty="0"/>
          </a:p>
        </p:txBody>
      </p:sp>
      <p:sp>
        <p:nvSpPr>
          <p:cNvPr id="10" name="Text 8"/>
          <p:cNvSpPr/>
          <p:nvPr/>
        </p:nvSpPr>
        <p:spPr>
          <a:xfrm>
            <a:off x="711101" y="2355503"/>
            <a:ext cx="3730752" cy="171450"/>
          </a:xfrm>
          <a:prstGeom prst="rect">
            <a:avLst/>
          </a:prstGeom>
          <a:noFill/>
          <a:ln/>
        </p:spPr>
        <p:txBody>
          <a:bodyPr wrap="square" lIns="0" tIns="0" rIns="0" bIns="0" rtlCol="0" anchor="t"/>
          <a:lstStyle/>
          <a:p>
            <a:pPr marL="0" indent="0" algn="l">
              <a:spcBef>
                <a:spcPts val="2000"/>
              </a:spcBef>
              <a:spcAft>
                <a:spcPts val="1000"/>
              </a:spcAft>
              <a:buNone/>
            </a:pPr>
            <a:r>
              <a:rPr lang="en-US" sz="1200" b="1" dirty="0">
                <a:solidFill>
                  <a:srgbClr val="5B4B9E"/>
                </a:solidFill>
                <a:latin typeface="Arial" pitchFamily="34" charset="0"/>
                <a:ea typeface="Arial" pitchFamily="34" charset="-122"/>
                <a:cs typeface="Arial" pitchFamily="34" charset="-120"/>
              </a:rPr>
              <a:t>Current VBerti Limitation</a:t>
            </a:r>
            <a:endParaRPr lang="en-US" sz="1200" dirty="0"/>
          </a:p>
        </p:txBody>
      </p:sp>
      <p:sp>
        <p:nvSpPr>
          <p:cNvPr id="11" name="Text 9"/>
          <p:cNvSpPr/>
          <p:nvPr/>
        </p:nvSpPr>
        <p:spPr>
          <a:xfrm>
            <a:off x="711101" y="2653903"/>
            <a:ext cx="3657600" cy="916484"/>
          </a:xfrm>
          <a:prstGeom prst="rect">
            <a:avLst/>
          </a:prstGeom>
          <a:noFill/>
          <a:ln/>
        </p:spPr>
        <p:txBody>
          <a:bodyPr wrap="square" lIns="127000" tIns="0" rIns="0" bIns="0" rtlCol="0" anchor="t"/>
          <a:lstStyle/>
          <a:p>
            <a:pPr marL="127000" indent="-127000" algn="l">
              <a:lnSpc>
                <a:spcPts val="168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Only prioritizes prefetches from the same load instruction</a:t>
            </a:r>
            <a:endParaRPr lang="en-US" sz="1200" dirty="0"/>
          </a:p>
          <a:p>
            <a:pPr marL="127000" indent="-127000" algn="l">
              <a:lnSpc>
                <a:spcPts val="168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Multiple load instructions → no cross-instruction prioritization</a:t>
            </a:r>
            <a:endParaRPr lang="en-US" sz="1200" dirty="0"/>
          </a:p>
        </p:txBody>
      </p:sp>
      <p:sp>
        <p:nvSpPr>
          <p:cNvPr id="12" name="Text 10"/>
          <p:cNvSpPr/>
          <p:nvPr/>
        </p:nvSpPr>
        <p:spPr>
          <a:xfrm>
            <a:off x="711101" y="3824288"/>
            <a:ext cx="3730752" cy="171450"/>
          </a:xfrm>
          <a:prstGeom prst="rect">
            <a:avLst/>
          </a:prstGeom>
          <a:noFill/>
          <a:ln/>
        </p:spPr>
        <p:txBody>
          <a:bodyPr wrap="square" lIns="0" tIns="0" rIns="0" bIns="0" rtlCol="0" anchor="t"/>
          <a:lstStyle/>
          <a:p>
            <a:pPr marL="0" indent="0" algn="l">
              <a:spcBef>
                <a:spcPts val="2000"/>
              </a:spcBef>
              <a:spcAft>
                <a:spcPts val="1000"/>
              </a:spcAft>
              <a:buNone/>
            </a:pPr>
            <a:r>
              <a:rPr lang="en-US" sz="1200" b="1" dirty="0">
                <a:solidFill>
                  <a:srgbClr val="5B4B9E"/>
                </a:solidFill>
                <a:latin typeface="Arial" pitchFamily="34" charset="0"/>
                <a:ea typeface="Arial" pitchFamily="34" charset="-122"/>
                <a:cs typeface="Arial" pitchFamily="34" charset="-120"/>
              </a:rPr>
              <a:t>Opportunity</a:t>
            </a:r>
            <a:endParaRPr lang="en-US" sz="1200" dirty="0"/>
          </a:p>
        </p:txBody>
      </p:sp>
      <p:sp>
        <p:nvSpPr>
          <p:cNvPr id="13" name="Text 11"/>
          <p:cNvSpPr/>
          <p:nvPr/>
        </p:nvSpPr>
        <p:spPr>
          <a:xfrm>
            <a:off x="711101" y="4122688"/>
            <a:ext cx="3730752" cy="171450"/>
          </a:xfrm>
          <a:prstGeom prst="rect">
            <a:avLst/>
          </a:prstGeom>
          <a:noFill/>
          <a:ln/>
        </p:spPr>
        <p:txBody>
          <a:bodyPr wrap="square" lIns="0" tIns="0" rIns="0" bIns="0" rtlCol="0" anchor="t"/>
          <a:lstStyle/>
          <a:p>
            <a:pPr marL="0" indent="0" algn="l">
              <a:spcBef>
                <a:spcPts val="500"/>
              </a:spcBef>
              <a:spcAft>
                <a:spcPts val="500"/>
              </a:spcAft>
              <a:buNone/>
            </a:pPr>
            <a:r>
              <a:rPr lang="en-US" sz="1200" b="1" dirty="0">
                <a:solidFill>
                  <a:srgbClr val="264653"/>
                </a:solidFill>
                <a:latin typeface="Arial" pitchFamily="34" charset="0"/>
                <a:ea typeface="Arial" pitchFamily="34" charset="-122"/>
                <a:cs typeface="Arial" pitchFamily="34" charset="-120"/>
              </a:rPr>
              <a:t>Global prioritization across all load instructions</a:t>
            </a:r>
            <a:endParaRPr lang="en-US" sz="1200" dirty="0"/>
          </a:p>
        </p:txBody>
      </p:sp>
      <p:sp>
        <p:nvSpPr>
          <p:cNvPr id="14" name="Text 12"/>
          <p:cNvSpPr/>
          <p:nvPr/>
        </p:nvSpPr>
        <p:spPr>
          <a:xfrm>
            <a:off x="4635401" y="888950"/>
            <a:ext cx="3810149" cy="3651349"/>
          </a:xfrm>
          <a:prstGeom prst="roundRect">
            <a:avLst>
              <a:gd name="adj" fmla="val 4174"/>
            </a:avLst>
          </a:prstGeom>
          <a:solidFill>
            <a:srgbClr val="E9ECEF"/>
          </a:solidFill>
          <a:ln/>
        </p:spPr>
        <p:txBody>
          <a:bodyPr wrap="square" rtlCol="0" anchor="ctr"/>
          <a:lstStyle/>
          <a:p>
            <a:pPr marL="0" indent="0">
              <a:buNone/>
            </a:pPr>
            <a:endParaRPr lang="en-US" dirty="0"/>
          </a:p>
        </p:txBody>
      </p:sp>
      <p:sp>
        <p:nvSpPr>
          <p:cNvPr id="15" name="Shape 13"/>
          <p:cNvSpPr/>
          <p:nvPr/>
        </p:nvSpPr>
        <p:spPr>
          <a:xfrm>
            <a:off x="4635401" y="927050"/>
            <a:ext cx="3810149" cy="0"/>
          </a:xfrm>
          <a:prstGeom prst="line">
            <a:avLst/>
          </a:prstGeom>
          <a:noFill/>
          <a:ln w="76200">
            <a:solidFill>
              <a:srgbClr val="2A9D8F"/>
            </a:solidFill>
            <a:prstDash val="solid"/>
          </a:ln>
        </p:spPr>
      </p:sp>
      <p:sp>
        <p:nvSpPr>
          <p:cNvPr id="16" name="Text 14"/>
          <p:cNvSpPr/>
          <p:nvPr/>
        </p:nvSpPr>
        <p:spPr>
          <a:xfrm>
            <a:off x="4711601" y="1041350"/>
            <a:ext cx="253901" cy="253901"/>
          </a:xfrm>
          <a:prstGeom prst="roundRect">
            <a:avLst>
              <a:gd name="adj" fmla="val 360140"/>
            </a:avLst>
          </a:prstGeom>
          <a:solidFill>
            <a:srgbClr val="2A9D8F"/>
          </a:solidFill>
          <a:ln/>
        </p:spPr>
        <p:txBody>
          <a:bodyPr wrap="square" rtlCol="0" anchor="ctr"/>
          <a:lstStyle/>
          <a:p>
            <a:pPr marL="0" indent="0">
              <a:buNone/>
            </a:pPr>
            <a:endParaRPr lang="en-US" dirty="0"/>
          </a:p>
        </p:txBody>
      </p:sp>
      <p:sp>
        <p:nvSpPr>
          <p:cNvPr id="17" name="Text 15"/>
          <p:cNvSpPr/>
          <p:nvPr/>
        </p:nvSpPr>
        <p:spPr>
          <a:xfrm>
            <a:off x="4796135" y="1082576"/>
            <a:ext cx="86529" cy="171450"/>
          </a:xfrm>
          <a:prstGeom prst="rect">
            <a:avLst/>
          </a:prstGeom>
          <a:noFill/>
          <a:ln/>
        </p:spPr>
        <p:txBody>
          <a:bodyPr wrap="square" lIns="0" tIns="0" rIns="0" bIns="0" rtlCol="0" anchor="t"/>
          <a:lstStyle/>
          <a:p>
            <a:pPr marL="0" indent="0" algn="l">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8" name="Text 16"/>
          <p:cNvSpPr/>
          <p:nvPr/>
        </p:nvSpPr>
        <p:spPr>
          <a:xfrm>
            <a:off x="4711601" y="1358652"/>
            <a:ext cx="3730904" cy="209550"/>
          </a:xfrm>
          <a:prstGeom prst="rect">
            <a:avLst/>
          </a:prstGeom>
          <a:noFill/>
          <a:ln/>
        </p:spPr>
        <p:txBody>
          <a:bodyPr wrap="square" lIns="0" tIns="0" rIns="0" bIns="0" rtlCol="0" anchor="t"/>
          <a:lstStyle/>
          <a:p>
            <a:pPr marL="0" indent="0" algn="l">
              <a:spcAft>
                <a:spcPts val="1500"/>
              </a:spcAft>
              <a:buNone/>
            </a:pPr>
            <a:r>
              <a:rPr lang="en-US" sz="1400" b="1" dirty="0">
                <a:solidFill>
                  <a:srgbClr val="2A9D8F"/>
                </a:solidFill>
                <a:latin typeface="Arial" pitchFamily="34" charset="0"/>
                <a:ea typeface="Arial" pitchFamily="34" charset="-122"/>
                <a:cs typeface="Arial" pitchFamily="34" charset="-120"/>
              </a:rPr>
              <a:t>Filter Useless Prefetches</a:t>
            </a:r>
            <a:endParaRPr lang="en-US" sz="1400" dirty="0"/>
          </a:p>
        </p:txBody>
      </p:sp>
      <p:sp>
        <p:nvSpPr>
          <p:cNvPr id="19" name="Text 17"/>
          <p:cNvSpPr/>
          <p:nvPr/>
        </p:nvSpPr>
        <p:spPr>
          <a:xfrm>
            <a:off x="4711601" y="1758702"/>
            <a:ext cx="3730904" cy="342900"/>
          </a:xfrm>
          <a:prstGeom prst="rect">
            <a:avLst/>
          </a:prstGeom>
          <a:noFill/>
          <a:ln/>
        </p:spPr>
        <p:txBody>
          <a:bodyPr wrap="square" lIns="0" tIns="0" rIns="0" bIns="0" rtlCol="0" anchor="t"/>
          <a:lstStyle/>
          <a:p>
            <a:pPr marL="0" indent="0" algn="l">
              <a:spcBef>
                <a:spcPts val="1000"/>
              </a:spcBef>
              <a:spcAft>
                <a:spcPts val="1000"/>
              </a:spcAft>
              <a:buNone/>
            </a:pPr>
            <a:r>
              <a:rPr lang="en-US" sz="1200" b="1" dirty="0">
                <a:solidFill>
                  <a:srgbClr val="264653"/>
                </a:solidFill>
                <a:latin typeface="Arial" pitchFamily="34" charset="0"/>
                <a:ea typeface="Arial" pitchFamily="34" charset="-122"/>
                <a:cs typeface="Arial" pitchFamily="34" charset="-120"/>
              </a:rPr>
              <a:t>Some prefetches target already-cached cachelines</a:t>
            </a:r>
            <a:endParaRPr lang="en-US" sz="1200" dirty="0"/>
          </a:p>
        </p:txBody>
      </p:sp>
      <p:sp>
        <p:nvSpPr>
          <p:cNvPr id="20" name="Text 18"/>
          <p:cNvSpPr/>
          <p:nvPr/>
        </p:nvSpPr>
        <p:spPr>
          <a:xfrm>
            <a:off x="4711601" y="2355503"/>
            <a:ext cx="3730904" cy="171450"/>
          </a:xfrm>
          <a:prstGeom prst="rect">
            <a:avLst/>
          </a:prstGeom>
          <a:noFill/>
          <a:ln/>
        </p:spPr>
        <p:txBody>
          <a:bodyPr wrap="square" lIns="0" tIns="0" rIns="0" bIns="0" rtlCol="0" anchor="t"/>
          <a:lstStyle/>
          <a:p>
            <a:pPr marL="0" indent="0" algn="l">
              <a:spcBef>
                <a:spcPts val="2000"/>
              </a:spcBef>
              <a:spcAft>
                <a:spcPts val="1000"/>
              </a:spcAft>
              <a:buNone/>
            </a:pPr>
            <a:r>
              <a:rPr lang="en-US" sz="1200" b="1" dirty="0">
                <a:solidFill>
                  <a:srgbClr val="5B4B9E"/>
                </a:solidFill>
                <a:latin typeface="Arial" pitchFamily="34" charset="0"/>
                <a:ea typeface="Arial" pitchFamily="34" charset="-122"/>
                <a:cs typeface="Arial" pitchFamily="34" charset="-120"/>
              </a:rPr>
              <a:t>Challenge</a:t>
            </a:r>
            <a:endParaRPr lang="en-US" sz="1200" dirty="0"/>
          </a:p>
        </p:txBody>
      </p:sp>
      <p:sp>
        <p:nvSpPr>
          <p:cNvPr id="21" name="Text 19"/>
          <p:cNvSpPr/>
          <p:nvPr/>
        </p:nvSpPr>
        <p:spPr>
          <a:xfrm>
            <a:off x="4711601" y="2653903"/>
            <a:ext cx="3657749" cy="979884"/>
          </a:xfrm>
          <a:prstGeom prst="rect">
            <a:avLst/>
          </a:prstGeom>
          <a:noFill/>
          <a:ln/>
        </p:spPr>
        <p:txBody>
          <a:bodyPr wrap="square" lIns="127000" tIns="0" rIns="0" bIns="0" rtlCol="0" anchor="t"/>
          <a:lstStyle/>
          <a:p>
            <a:pPr marL="127000" indent="-127000" algn="l">
              <a:lnSpc>
                <a:spcPts val="168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Waste of precious prefetch queue space</a:t>
            </a:r>
            <a:endParaRPr lang="en-US" sz="1200" dirty="0"/>
          </a:p>
          <a:p>
            <a:pPr marL="127000" indent="-127000" algn="l">
              <a:lnSpc>
                <a:spcPts val="168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No benefit, only cost</a:t>
            </a:r>
            <a:endParaRPr lang="en-US" sz="1200" dirty="0"/>
          </a:p>
          <a:p>
            <a:pPr marL="127000" indent="-127000" algn="l">
              <a:lnSpc>
                <a:spcPts val="168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Need cache membership query with less hardware overhead</a:t>
            </a:r>
            <a:endParaRPr lang="en-US" sz="1200" dirty="0"/>
          </a:p>
        </p:txBody>
      </p:sp>
      <p:sp>
        <p:nvSpPr>
          <p:cNvPr id="22" name="Text 20"/>
          <p:cNvSpPr/>
          <p:nvPr/>
        </p:nvSpPr>
        <p:spPr>
          <a:xfrm>
            <a:off x="4711601" y="3887688"/>
            <a:ext cx="3730904" cy="171450"/>
          </a:xfrm>
          <a:prstGeom prst="rect">
            <a:avLst/>
          </a:prstGeom>
          <a:noFill/>
          <a:ln/>
        </p:spPr>
        <p:txBody>
          <a:bodyPr wrap="square" lIns="0" tIns="0" rIns="0" bIns="0" rtlCol="0" anchor="t"/>
          <a:lstStyle/>
          <a:p>
            <a:pPr marL="0" indent="0" algn="l">
              <a:spcBef>
                <a:spcPts val="2000"/>
              </a:spcBef>
              <a:spcAft>
                <a:spcPts val="1000"/>
              </a:spcAft>
              <a:buNone/>
            </a:pPr>
            <a:r>
              <a:rPr lang="en-US" sz="1200" b="1" dirty="0">
                <a:solidFill>
                  <a:srgbClr val="5B4B9E"/>
                </a:solidFill>
                <a:latin typeface="Arial" pitchFamily="34" charset="0"/>
                <a:ea typeface="Arial" pitchFamily="34" charset="-122"/>
                <a:cs typeface="Arial" pitchFamily="34" charset="-120"/>
              </a:rPr>
              <a:t>Need</a:t>
            </a:r>
            <a:endParaRPr lang="en-US" sz="1200" dirty="0"/>
          </a:p>
        </p:txBody>
      </p:sp>
      <p:sp>
        <p:nvSpPr>
          <p:cNvPr id="23" name="Text 21"/>
          <p:cNvSpPr/>
          <p:nvPr/>
        </p:nvSpPr>
        <p:spPr>
          <a:xfrm>
            <a:off x="4711601" y="4186089"/>
            <a:ext cx="3730904" cy="171450"/>
          </a:xfrm>
          <a:prstGeom prst="rect">
            <a:avLst/>
          </a:prstGeom>
          <a:noFill/>
          <a:ln/>
        </p:spPr>
        <p:txBody>
          <a:bodyPr wrap="square" lIns="0" tIns="0" rIns="0" bIns="0" rtlCol="0" anchor="t"/>
          <a:lstStyle/>
          <a:p>
            <a:pPr marL="0" indent="0" algn="l">
              <a:spcBef>
                <a:spcPts val="500"/>
              </a:spcBef>
              <a:spcAft>
                <a:spcPts val="500"/>
              </a:spcAft>
              <a:buNone/>
            </a:pPr>
            <a:r>
              <a:rPr lang="en-US" sz="1200" b="1" dirty="0">
                <a:solidFill>
                  <a:srgbClr val="264653"/>
                </a:solidFill>
                <a:latin typeface="Arial" pitchFamily="34" charset="0"/>
                <a:ea typeface="Arial" pitchFamily="34" charset="-122"/>
                <a:cs typeface="Arial" pitchFamily="34" charset="-120"/>
              </a:rPr>
              <a:t>Approximate, efficient cache membership test</a:t>
            </a:r>
            <a:endParaRPr lang="en-US" sz="1200" dirty="0"/>
          </a:p>
        </p:txBody>
      </p:sp>
      <p:sp>
        <p:nvSpPr>
          <p:cNvPr id="24" name="文本框 23">
            <a:extLst>
              <a:ext uri="{FF2B5EF4-FFF2-40B4-BE49-F238E27FC236}">
                <a16:creationId xmlns:a16="http://schemas.microsoft.com/office/drawing/2014/main" id="{20A9E5CC-58E3-AF1B-D056-8B55CBC4092A}"/>
              </a:ext>
            </a:extLst>
          </p:cNvPr>
          <p:cNvSpPr txBox="1"/>
          <p:nvPr/>
        </p:nvSpPr>
        <p:spPr>
          <a:xfrm>
            <a:off x="8395452" y="4621065"/>
            <a:ext cx="529984" cy="369332"/>
          </a:xfrm>
          <a:prstGeom prst="rect">
            <a:avLst/>
          </a:prstGeom>
          <a:noFill/>
        </p:spPr>
        <p:txBody>
          <a:bodyPr wrap="square" rtlCol="0">
            <a:spAutoFit/>
          </a:bodyPr>
          <a:lstStyle/>
          <a:p>
            <a:r>
              <a:rPr lang="en-US" altLang="zh-CN"/>
              <a:t>7</a:t>
            </a: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825401"/>
          </a:xfrm>
          <a:prstGeom prst="rect">
            <a:avLst/>
          </a:prstGeom>
          <a:solidFill>
            <a:srgbClr val="5B4B9E"/>
          </a:solidFill>
          <a:ln/>
        </p:spPr>
        <p:txBody>
          <a:bodyPr wrap="square" rtlCol="0" anchor="ctr"/>
          <a:lstStyle/>
          <a:p>
            <a:pPr marL="0" indent="0">
              <a:buNone/>
            </a:pPr>
            <a:endParaRPr lang="en-US" dirty="0"/>
          </a:p>
        </p:txBody>
      </p:sp>
      <p:sp>
        <p:nvSpPr>
          <p:cNvPr id="3" name="Text 1"/>
          <p:cNvSpPr/>
          <p:nvPr/>
        </p:nvSpPr>
        <p:spPr>
          <a:xfrm>
            <a:off x="634901" y="126950"/>
            <a:ext cx="8031682" cy="409575"/>
          </a:xfrm>
          <a:prstGeom prst="rect">
            <a:avLst/>
          </a:prstGeom>
          <a:noFill/>
          <a:ln/>
        </p:spPr>
        <p:txBody>
          <a:bodyPr wrap="square" lIns="0" tIns="0" rIns="0" bIns="0" rtlCol="0" anchor="t"/>
          <a:lstStyle/>
          <a:p>
            <a:pPr marL="0" indent="0" algn="l">
              <a:buNone/>
            </a:pPr>
            <a:r>
              <a:rPr lang="en-US" sz="2800" b="1" dirty="0">
                <a:solidFill>
                  <a:srgbClr val="FFFFFF"/>
                </a:solidFill>
                <a:latin typeface="Arial" pitchFamily="34" charset="0"/>
                <a:ea typeface="Arial" pitchFamily="34" charset="-122"/>
                <a:cs typeface="Arial" pitchFamily="34" charset="-120"/>
              </a:rPr>
              <a:t>Optimization 1 - Pending Target Buffer</a:t>
            </a:r>
            <a:endParaRPr lang="en-US" sz="2800" dirty="0"/>
          </a:p>
        </p:txBody>
      </p:sp>
      <p:sp>
        <p:nvSpPr>
          <p:cNvPr id="4" name="Text 2"/>
          <p:cNvSpPr/>
          <p:nvPr/>
        </p:nvSpPr>
        <p:spPr>
          <a:xfrm>
            <a:off x="634901" y="888950"/>
            <a:ext cx="4092654" cy="209550"/>
          </a:xfrm>
          <a:prstGeom prst="rect">
            <a:avLst/>
          </a:prstGeom>
          <a:noFill/>
          <a:ln/>
        </p:spPr>
        <p:txBody>
          <a:bodyPr wrap="square" lIns="0" tIns="0" rIns="0" bIns="0" rtlCol="0" anchor="t"/>
          <a:lstStyle/>
          <a:p>
            <a:pPr marL="0" indent="0" algn="l">
              <a:spcAft>
                <a:spcPts val="1500"/>
              </a:spcAft>
              <a:buNone/>
            </a:pPr>
            <a:r>
              <a:rPr lang="en-US" sz="1400" b="1" dirty="0">
                <a:solidFill>
                  <a:srgbClr val="2A9D8F"/>
                </a:solidFill>
                <a:latin typeface="Arial" pitchFamily="34" charset="0"/>
                <a:ea typeface="Arial" pitchFamily="34" charset="-122"/>
                <a:cs typeface="Arial" pitchFamily="34" charset="-120"/>
              </a:rPr>
              <a:t>Design: Global Prefetch Prioritization</a:t>
            </a:r>
            <a:endParaRPr lang="en-US" sz="1400" dirty="0"/>
          </a:p>
        </p:txBody>
      </p:sp>
      <p:sp>
        <p:nvSpPr>
          <p:cNvPr id="5" name="Text 3"/>
          <p:cNvSpPr/>
          <p:nvPr/>
        </p:nvSpPr>
        <p:spPr>
          <a:xfrm>
            <a:off x="634901" y="1289000"/>
            <a:ext cx="4012406" cy="1891605"/>
          </a:xfrm>
          <a:prstGeom prst="roundRect">
            <a:avLst>
              <a:gd name="adj" fmla="val 5371"/>
            </a:avLst>
          </a:prstGeom>
          <a:solidFill>
            <a:srgbClr val="E9ECEF"/>
          </a:solidFill>
          <a:ln/>
        </p:spPr>
        <p:txBody>
          <a:bodyPr wrap="square" rtlCol="0" anchor="ctr"/>
          <a:lstStyle/>
          <a:p>
            <a:pPr marL="0" indent="0">
              <a:buNone/>
            </a:pPr>
            <a:endParaRPr lang="en-US" dirty="0"/>
          </a:p>
        </p:txBody>
      </p:sp>
      <p:sp>
        <p:nvSpPr>
          <p:cNvPr id="6" name="Text 4"/>
          <p:cNvSpPr/>
          <p:nvPr/>
        </p:nvSpPr>
        <p:spPr>
          <a:xfrm>
            <a:off x="672501" y="1466701"/>
            <a:ext cx="3937206" cy="171450"/>
          </a:xfrm>
          <a:prstGeom prst="rect">
            <a:avLst/>
          </a:prstGeom>
          <a:noFill/>
          <a:ln/>
        </p:spPr>
        <p:txBody>
          <a:bodyPr wrap="square" lIns="0" tIns="0" rIns="0" bIns="0" rtlCol="0" anchor="t"/>
          <a:lstStyle/>
          <a:p>
            <a:pPr marL="0" indent="0" algn="ctr">
              <a:spcBef>
                <a:spcPts val="800"/>
              </a:spcBef>
              <a:spcAft>
                <a:spcPts val="800"/>
              </a:spcAft>
              <a:buNone/>
            </a:pPr>
            <a:r>
              <a:rPr lang="en-US" sz="1200" dirty="0">
                <a:solidFill>
                  <a:srgbClr val="264653"/>
                </a:solidFill>
                <a:latin typeface="Arial" pitchFamily="34" charset="0"/>
                <a:ea typeface="Arial" pitchFamily="34" charset="-122"/>
                <a:cs typeface="Arial" pitchFamily="34" charset="-120"/>
              </a:rPr>
              <a:t>Load Instructions → Generate Prefetches</a:t>
            </a:r>
            <a:endParaRPr lang="en-US" sz="1200" dirty="0"/>
          </a:p>
        </p:txBody>
      </p:sp>
      <p:sp>
        <p:nvSpPr>
          <p:cNvPr id="7" name="Text 5"/>
          <p:cNvSpPr/>
          <p:nvPr/>
        </p:nvSpPr>
        <p:spPr>
          <a:xfrm>
            <a:off x="672501" y="1739652"/>
            <a:ext cx="3937206" cy="171450"/>
          </a:xfrm>
          <a:prstGeom prst="rect">
            <a:avLst/>
          </a:prstGeom>
          <a:noFill/>
          <a:ln/>
        </p:spPr>
        <p:txBody>
          <a:bodyPr wrap="square" lIns="0" tIns="0" rIns="0" bIns="0" rtlCol="0" anchor="t"/>
          <a:lstStyle/>
          <a:p>
            <a:pPr marL="0" indent="0" algn="ctr">
              <a:spcBef>
                <a:spcPts val="800"/>
              </a:spcBef>
              <a:spcAft>
                <a:spcPts val="800"/>
              </a:spcAft>
              <a:buNone/>
            </a:pPr>
            <a:r>
              <a:rPr lang="en-US" sz="1200" b="1" dirty="0">
                <a:solidFill>
                  <a:srgbClr val="2A9D8F"/>
                </a:solidFill>
                <a:latin typeface="Arial" pitchFamily="34" charset="0"/>
                <a:ea typeface="Arial" pitchFamily="34" charset="-122"/>
                <a:cs typeface="Arial" pitchFamily="34" charset="-120"/>
              </a:rPr>
              <a:t>↓</a:t>
            </a:r>
            <a:endParaRPr lang="en-US" sz="1200" dirty="0"/>
          </a:p>
        </p:txBody>
      </p:sp>
      <p:sp>
        <p:nvSpPr>
          <p:cNvPr id="8" name="Text 6"/>
          <p:cNvSpPr/>
          <p:nvPr/>
        </p:nvSpPr>
        <p:spPr>
          <a:xfrm>
            <a:off x="672501" y="2012603"/>
            <a:ext cx="3937206" cy="171450"/>
          </a:xfrm>
          <a:prstGeom prst="rect">
            <a:avLst/>
          </a:prstGeom>
          <a:noFill/>
          <a:ln/>
        </p:spPr>
        <p:txBody>
          <a:bodyPr wrap="square" lIns="0" tIns="0" rIns="0" bIns="0" rtlCol="0" anchor="t"/>
          <a:lstStyle/>
          <a:p>
            <a:pPr marL="0" indent="0" algn="ctr">
              <a:spcBef>
                <a:spcPts val="800"/>
              </a:spcBef>
              <a:spcAft>
                <a:spcPts val="800"/>
              </a:spcAft>
              <a:buNone/>
            </a:pPr>
            <a:r>
              <a:rPr lang="en-US" sz="1200" dirty="0">
                <a:solidFill>
                  <a:srgbClr val="264653"/>
                </a:solidFill>
                <a:latin typeface="Arial" pitchFamily="34" charset="0"/>
                <a:ea typeface="Arial" pitchFamily="34" charset="-122"/>
                <a:cs typeface="Arial" pitchFamily="34" charset="-120"/>
              </a:rPr>
              <a:t>Pending Target Buffer</a:t>
            </a:r>
            <a:endParaRPr lang="en-US" sz="1200" dirty="0"/>
          </a:p>
        </p:txBody>
      </p:sp>
      <p:sp>
        <p:nvSpPr>
          <p:cNvPr id="9" name="Text 7"/>
          <p:cNvSpPr/>
          <p:nvPr/>
        </p:nvSpPr>
        <p:spPr>
          <a:xfrm>
            <a:off x="672501" y="2285554"/>
            <a:ext cx="3937206" cy="171450"/>
          </a:xfrm>
          <a:prstGeom prst="rect">
            <a:avLst/>
          </a:prstGeom>
          <a:noFill/>
          <a:ln/>
        </p:spPr>
        <p:txBody>
          <a:bodyPr wrap="square" lIns="0" tIns="0" rIns="0" bIns="0" rtlCol="0" anchor="t"/>
          <a:lstStyle/>
          <a:p>
            <a:pPr marL="0" indent="0" algn="ctr">
              <a:spcBef>
                <a:spcPts val="800"/>
              </a:spcBef>
              <a:spcAft>
                <a:spcPts val="800"/>
              </a:spcAft>
              <a:buNone/>
            </a:pPr>
            <a:r>
              <a:rPr lang="en-US" sz="1200" dirty="0">
                <a:solidFill>
                  <a:srgbClr val="264653"/>
                </a:solidFill>
                <a:latin typeface="Arial" pitchFamily="34" charset="0"/>
                <a:ea typeface="Arial" pitchFamily="34" charset="-122"/>
                <a:cs typeface="Arial" pitchFamily="34" charset="-120"/>
              </a:rPr>
              <a:t>(sorts by confidence)</a:t>
            </a:r>
            <a:endParaRPr lang="en-US" sz="1200" dirty="0"/>
          </a:p>
        </p:txBody>
      </p:sp>
      <p:sp>
        <p:nvSpPr>
          <p:cNvPr id="10" name="Text 8"/>
          <p:cNvSpPr/>
          <p:nvPr/>
        </p:nvSpPr>
        <p:spPr>
          <a:xfrm>
            <a:off x="672501" y="2558504"/>
            <a:ext cx="3937206" cy="171450"/>
          </a:xfrm>
          <a:prstGeom prst="rect">
            <a:avLst/>
          </a:prstGeom>
          <a:noFill/>
          <a:ln/>
        </p:spPr>
        <p:txBody>
          <a:bodyPr wrap="square" lIns="0" tIns="0" rIns="0" bIns="0" rtlCol="0" anchor="t"/>
          <a:lstStyle/>
          <a:p>
            <a:pPr marL="0" indent="0" algn="ctr">
              <a:spcBef>
                <a:spcPts val="800"/>
              </a:spcBef>
              <a:spcAft>
                <a:spcPts val="800"/>
              </a:spcAft>
              <a:buNone/>
            </a:pPr>
            <a:r>
              <a:rPr lang="en-US" sz="1200" b="1" dirty="0">
                <a:solidFill>
                  <a:srgbClr val="2A9D8F"/>
                </a:solidFill>
                <a:latin typeface="Arial" pitchFamily="34" charset="0"/>
                <a:ea typeface="Arial" pitchFamily="34" charset="-122"/>
                <a:cs typeface="Arial" pitchFamily="34" charset="-120"/>
              </a:rPr>
              <a:t>↓</a:t>
            </a:r>
            <a:endParaRPr lang="en-US" sz="1200" dirty="0"/>
          </a:p>
        </p:txBody>
      </p:sp>
      <p:sp>
        <p:nvSpPr>
          <p:cNvPr id="11" name="Text 9"/>
          <p:cNvSpPr/>
          <p:nvPr/>
        </p:nvSpPr>
        <p:spPr>
          <a:xfrm>
            <a:off x="672501" y="2831455"/>
            <a:ext cx="3937206" cy="171450"/>
          </a:xfrm>
          <a:prstGeom prst="rect">
            <a:avLst/>
          </a:prstGeom>
          <a:noFill/>
          <a:ln/>
        </p:spPr>
        <p:txBody>
          <a:bodyPr wrap="square" lIns="0" tIns="0" rIns="0" bIns="0" rtlCol="0" anchor="t"/>
          <a:lstStyle/>
          <a:p>
            <a:pPr marL="0" indent="0" algn="ctr">
              <a:spcBef>
                <a:spcPts val="800"/>
              </a:spcBef>
              <a:spcAft>
                <a:spcPts val="800"/>
              </a:spcAft>
              <a:buNone/>
            </a:pPr>
            <a:r>
              <a:rPr lang="en-US" sz="1200" b="1" dirty="0">
                <a:solidFill>
                  <a:srgbClr val="5B4B9E"/>
                </a:solidFill>
                <a:latin typeface="Arial" pitchFamily="34" charset="0"/>
                <a:ea typeface="Arial" pitchFamily="34" charset="-122"/>
                <a:cs typeface="Arial" pitchFamily="34" charset="-120"/>
              </a:rPr>
              <a:t>Issue high-confidence first</a:t>
            </a:r>
            <a:endParaRPr lang="en-US" sz="1200" dirty="0"/>
          </a:p>
        </p:txBody>
      </p:sp>
      <p:sp>
        <p:nvSpPr>
          <p:cNvPr id="12" name="Text 10"/>
          <p:cNvSpPr/>
          <p:nvPr/>
        </p:nvSpPr>
        <p:spPr>
          <a:xfrm>
            <a:off x="634901" y="3244007"/>
            <a:ext cx="4092654" cy="171450"/>
          </a:xfrm>
          <a:prstGeom prst="rect">
            <a:avLst/>
          </a:prstGeom>
          <a:noFill/>
          <a:ln/>
        </p:spPr>
        <p:txBody>
          <a:bodyPr wrap="square" lIns="0" tIns="0" rIns="0" bIns="0" rtlCol="0" anchor="t"/>
          <a:lstStyle/>
          <a:p>
            <a:pPr marL="0" indent="0" algn="l">
              <a:spcAft>
                <a:spcPts val="1000"/>
              </a:spcAft>
              <a:buNone/>
            </a:pPr>
            <a:r>
              <a:rPr lang="en-US" sz="1200" b="1" dirty="0">
                <a:solidFill>
                  <a:srgbClr val="5B4B9E"/>
                </a:solidFill>
                <a:latin typeface="Arial" pitchFamily="34" charset="0"/>
                <a:ea typeface="Arial" pitchFamily="34" charset="-122"/>
                <a:cs typeface="Arial" pitchFamily="34" charset="-120"/>
              </a:rPr>
              <a:t>Key Features</a:t>
            </a:r>
            <a:endParaRPr lang="en-US" sz="1200" dirty="0"/>
          </a:p>
        </p:txBody>
      </p:sp>
      <p:sp>
        <p:nvSpPr>
          <p:cNvPr id="13" name="Text 11"/>
          <p:cNvSpPr/>
          <p:nvPr/>
        </p:nvSpPr>
        <p:spPr>
          <a:xfrm>
            <a:off x="634901" y="3542407"/>
            <a:ext cx="4012406" cy="514350"/>
          </a:xfrm>
          <a:prstGeom prst="rect">
            <a:avLst/>
          </a:prstGeom>
          <a:noFill/>
          <a:ln/>
        </p:spPr>
        <p:txBody>
          <a:bodyPr wrap="square" lIns="127000" tIns="0" rIns="0" bIns="0" rtlCol="0" anchor="t"/>
          <a:lstStyle/>
          <a:p>
            <a:pPr marL="127000" indent="-127000" algn="l">
              <a:buSzPct val="100000"/>
              <a:buChar char="•"/>
            </a:pPr>
            <a:r>
              <a:rPr lang="en-US" sz="1200" dirty="0">
                <a:solidFill>
                  <a:srgbClr val="264653"/>
                </a:solidFill>
                <a:latin typeface="Arial" pitchFamily="34" charset="0"/>
                <a:ea typeface="Arial" pitchFamily="34" charset="-122"/>
                <a:cs typeface="Arial" pitchFamily="34" charset="-120"/>
              </a:rPr>
              <a:t>Buffers prefetch requests from ALL load instructions</a:t>
            </a:r>
            <a:endParaRPr lang="en-US" sz="1200" dirty="0"/>
          </a:p>
          <a:p>
            <a:pPr marL="127000" indent="-127000" algn="l">
              <a:buSzPct val="100000"/>
              <a:buChar char="•"/>
            </a:pPr>
            <a:r>
              <a:rPr lang="en-US" sz="1200" dirty="0">
                <a:solidFill>
                  <a:srgbClr val="264653"/>
                </a:solidFill>
                <a:latin typeface="Arial" pitchFamily="34" charset="0"/>
                <a:ea typeface="Arial" pitchFamily="34" charset="-122"/>
                <a:cs typeface="Arial" pitchFamily="34" charset="-120"/>
              </a:rPr>
              <a:t>Sorts by confidence globally</a:t>
            </a:r>
            <a:endParaRPr lang="en-US" sz="1200" dirty="0"/>
          </a:p>
          <a:p>
            <a:pPr marL="127000" indent="-127000" algn="l">
              <a:buSzPct val="100000"/>
              <a:buChar char="•"/>
            </a:pPr>
            <a:r>
              <a:rPr lang="en-US" sz="1200" dirty="0">
                <a:solidFill>
                  <a:srgbClr val="264653"/>
                </a:solidFill>
                <a:latin typeface="Arial" pitchFamily="34" charset="0"/>
                <a:ea typeface="Arial" pitchFamily="34" charset="-122"/>
                <a:cs typeface="Arial" pitchFamily="34" charset="-120"/>
              </a:rPr>
              <a:t>Issues high-confidence prefetches first</a:t>
            </a:r>
            <a:endParaRPr lang="en-US" sz="1200" dirty="0"/>
          </a:p>
        </p:txBody>
      </p:sp>
      <p:sp>
        <p:nvSpPr>
          <p:cNvPr id="14" name="Text 12"/>
          <p:cNvSpPr/>
          <p:nvPr/>
        </p:nvSpPr>
        <p:spPr>
          <a:xfrm>
            <a:off x="4837807" y="888950"/>
            <a:ext cx="2728537" cy="171450"/>
          </a:xfrm>
          <a:prstGeom prst="rect">
            <a:avLst/>
          </a:prstGeom>
          <a:noFill/>
          <a:ln/>
        </p:spPr>
        <p:txBody>
          <a:bodyPr wrap="square" lIns="0" tIns="0" rIns="0" bIns="0" rtlCol="0" anchor="t"/>
          <a:lstStyle/>
          <a:p>
            <a:pPr marL="0" indent="0" algn="l">
              <a:spcAft>
                <a:spcPts val="1000"/>
              </a:spcAft>
              <a:buNone/>
            </a:pPr>
            <a:r>
              <a:rPr lang="en-US" sz="1200" b="1" dirty="0">
                <a:solidFill>
                  <a:srgbClr val="5B4B9E"/>
                </a:solidFill>
                <a:latin typeface="Arial" pitchFamily="34" charset="0"/>
                <a:ea typeface="Arial" pitchFamily="34" charset="-122"/>
                <a:cs typeface="Arial" pitchFamily="34" charset="-120"/>
              </a:rPr>
              <a:t>Implementation Details</a:t>
            </a:r>
            <a:endParaRPr lang="en-US" sz="1200" dirty="0"/>
          </a:p>
        </p:txBody>
      </p:sp>
      <p:sp>
        <p:nvSpPr>
          <p:cNvPr id="15" name="Text 13"/>
          <p:cNvSpPr/>
          <p:nvPr/>
        </p:nvSpPr>
        <p:spPr>
          <a:xfrm>
            <a:off x="4837807" y="1187351"/>
            <a:ext cx="2675037" cy="1420713"/>
          </a:xfrm>
          <a:prstGeom prst="roundRect">
            <a:avLst>
              <a:gd name="adj" fmla="val 7151"/>
            </a:avLst>
          </a:prstGeom>
          <a:solidFill>
            <a:srgbClr val="E8F8F5"/>
          </a:solidFill>
          <a:ln/>
        </p:spPr>
        <p:txBody>
          <a:bodyPr wrap="square" rtlCol="0" anchor="ctr"/>
          <a:lstStyle/>
          <a:p>
            <a:pPr marL="0" indent="0">
              <a:buNone/>
            </a:pPr>
            <a:endParaRPr lang="en-US" dirty="0"/>
          </a:p>
        </p:txBody>
      </p:sp>
      <p:sp>
        <p:nvSpPr>
          <p:cNvPr id="16" name="Shape 14"/>
          <p:cNvSpPr/>
          <p:nvPr/>
        </p:nvSpPr>
        <p:spPr>
          <a:xfrm>
            <a:off x="4861620" y="1187351"/>
            <a:ext cx="0" cy="1420713"/>
          </a:xfrm>
          <a:prstGeom prst="line">
            <a:avLst/>
          </a:prstGeom>
          <a:noFill/>
          <a:ln w="47625">
            <a:solidFill>
              <a:srgbClr val="2A9D8F"/>
            </a:solidFill>
            <a:prstDash val="solid"/>
          </a:ln>
        </p:spPr>
      </p:sp>
      <p:sp>
        <p:nvSpPr>
          <p:cNvPr id="17" name="Text 15"/>
          <p:cNvSpPr/>
          <p:nvPr/>
        </p:nvSpPr>
        <p:spPr>
          <a:xfrm>
            <a:off x="4961632" y="1263551"/>
            <a:ext cx="2524512" cy="171450"/>
          </a:xfrm>
          <a:prstGeom prst="rect">
            <a:avLst/>
          </a:prstGeom>
          <a:noFill/>
          <a:ln/>
        </p:spPr>
        <p:txBody>
          <a:bodyPr wrap="square" lIns="0" tIns="0" rIns="0" bIns="0" rtlCol="0" anchor="t"/>
          <a:lstStyle/>
          <a:p>
            <a:pPr marL="0" indent="0" algn="l">
              <a:spcAft>
                <a:spcPts val="800"/>
              </a:spcAft>
              <a:buNone/>
            </a:pPr>
            <a:r>
              <a:rPr lang="en-US" sz="1200" b="1" dirty="0">
                <a:solidFill>
                  <a:srgbClr val="5B4B9E"/>
                </a:solidFill>
                <a:latin typeface="Arial" pitchFamily="34" charset="0"/>
                <a:ea typeface="Arial" pitchFamily="34" charset="-122"/>
                <a:cs typeface="Arial" pitchFamily="34" charset="-120"/>
              </a:rPr>
              <a:t>Each Entry Contains</a:t>
            </a:r>
            <a:endParaRPr lang="en-US" sz="1200" dirty="0"/>
          </a:p>
        </p:txBody>
      </p:sp>
      <p:sp>
        <p:nvSpPr>
          <p:cNvPr id="18" name="Text 16"/>
          <p:cNvSpPr/>
          <p:nvPr/>
        </p:nvSpPr>
        <p:spPr>
          <a:xfrm>
            <a:off x="4961632" y="1536502"/>
            <a:ext cx="2475012" cy="944612"/>
          </a:xfrm>
          <a:prstGeom prst="rect">
            <a:avLst/>
          </a:prstGeom>
          <a:noFill/>
          <a:ln/>
        </p:spPr>
        <p:txBody>
          <a:bodyPr wrap="square" lIns="114300" tIns="0" rIns="0" bIns="0" rtlCol="0" anchor="t"/>
          <a:lstStyle/>
          <a:p>
            <a:pPr marL="114300" indent="-114300" algn="l">
              <a:lnSpc>
                <a:spcPts val="1560"/>
              </a:lnSpc>
              <a:spcAft>
                <a:spcPts val="400"/>
              </a:spcAft>
              <a:buSzPct val="100000"/>
              <a:buChar char="•"/>
            </a:pPr>
            <a:r>
              <a:rPr lang="en-US" sz="1200" dirty="0">
                <a:solidFill>
                  <a:srgbClr val="264653"/>
                </a:solidFill>
                <a:latin typeface="Arial" pitchFamily="34" charset="0"/>
                <a:ea typeface="Arial" pitchFamily="34" charset="-122"/>
                <a:cs typeface="Arial" pitchFamily="34" charset="-120"/>
              </a:rPr>
              <a:t>Cache line address (58 bits)</a:t>
            </a:r>
            <a:endParaRPr lang="en-US" sz="1200" dirty="0"/>
          </a:p>
          <a:p>
            <a:pPr marL="114300" indent="-114300" algn="l">
              <a:lnSpc>
                <a:spcPts val="1560"/>
              </a:lnSpc>
              <a:spcAft>
                <a:spcPts val="400"/>
              </a:spcAft>
              <a:buSzPct val="100000"/>
              <a:buChar char="•"/>
            </a:pPr>
            <a:r>
              <a:rPr lang="en-US" sz="1200" dirty="0">
                <a:solidFill>
                  <a:srgbClr val="264653"/>
                </a:solidFill>
                <a:latin typeface="Arial" pitchFamily="34" charset="0"/>
                <a:ea typeface="Arial" pitchFamily="34" charset="-122"/>
                <a:cs typeface="Arial" pitchFamily="34" charset="-120"/>
              </a:rPr>
              <a:t>Confidence level (5 bits)</a:t>
            </a:r>
            <a:endParaRPr lang="en-US" sz="1200" dirty="0"/>
          </a:p>
          <a:p>
            <a:pPr marL="114300" indent="-114300" algn="l">
              <a:lnSpc>
                <a:spcPts val="1560"/>
              </a:lnSpc>
              <a:spcAft>
                <a:spcPts val="400"/>
              </a:spcAft>
              <a:buSzPct val="100000"/>
              <a:buChar char="•"/>
            </a:pPr>
            <a:r>
              <a:rPr lang="en-US" sz="1200" dirty="0">
                <a:solidFill>
                  <a:srgbClr val="264653"/>
                </a:solidFill>
                <a:latin typeface="Arial" pitchFamily="34" charset="0"/>
                <a:ea typeface="Arial" pitchFamily="34" charset="-122"/>
                <a:cs typeface="Arial" pitchFamily="34" charset="-120"/>
              </a:rPr>
              <a:t>Status, IP hash, Sequence ID</a:t>
            </a:r>
            <a:endParaRPr lang="en-US" sz="1200" dirty="0"/>
          </a:p>
          <a:p>
            <a:pPr marL="114300" indent="-114300" algn="l">
              <a:lnSpc>
                <a:spcPts val="1560"/>
              </a:lnSpc>
              <a:spcAft>
                <a:spcPts val="400"/>
              </a:spcAft>
              <a:buSzPct val="100000"/>
              <a:buChar char="•"/>
            </a:pPr>
            <a:r>
              <a:rPr lang="en-US" sz="1200" dirty="0">
                <a:solidFill>
                  <a:srgbClr val="264653"/>
                </a:solidFill>
                <a:latin typeface="Arial" pitchFamily="34" charset="0"/>
                <a:ea typeface="Arial" pitchFamily="34" charset="-122"/>
                <a:cs typeface="Arial" pitchFamily="34" charset="-120"/>
              </a:rPr>
              <a:t>Failure count (1 bit)</a:t>
            </a:r>
            <a:endParaRPr lang="en-US" sz="1200" dirty="0"/>
          </a:p>
        </p:txBody>
      </p:sp>
      <p:sp>
        <p:nvSpPr>
          <p:cNvPr id="19" name="Text 17"/>
          <p:cNvSpPr/>
          <p:nvPr/>
        </p:nvSpPr>
        <p:spPr>
          <a:xfrm>
            <a:off x="4837807" y="2671465"/>
            <a:ext cx="2675037" cy="1816894"/>
          </a:xfrm>
          <a:prstGeom prst="roundRect">
            <a:avLst>
              <a:gd name="adj" fmla="val 5592"/>
            </a:avLst>
          </a:prstGeom>
          <a:solidFill>
            <a:srgbClr val="E8F8F5"/>
          </a:solidFill>
          <a:ln/>
        </p:spPr>
        <p:txBody>
          <a:bodyPr wrap="square" rtlCol="0" anchor="ctr"/>
          <a:lstStyle/>
          <a:p>
            <a:pPr marL="0" indent="0">
              <a:buNone/>
            </a:pPr>
            <a:endParaRPr lang="en-US" dirty="0"/>
          </a:p>
        </p:txBody>
      </p:sp>
      <p:sp>
        <p:nvSpPr>
          <p:cNvPr id="20" name="Shape 18"/>
          <p:cNvSpPr/>
          <p:nvPr/>
        </p:nvSpPr>
        <p:spPr>
          <a:xfrm>
            <a:off x="4861620" y="2671465"/>
            <a:ext cx="0" cy="1816894"/>
          </a:xfrm>
          <a:prstGeom prst="line">
            <a:avLst/>
          </a:prstGeom>
          <a:noFill/>
          <a:ln w="47625">
            <a:solidFill>
              <a:srgbClr val="2A9D8F"/>
            </a:solidFill>
            <a:prstDash val="solid"/>
          </a:ln>
        </p:spPr>
      </p:sp>
      <p:sp>
        <p:nvSpPr>
          <p:cNvPr id="21" name="Text 19"/>
          <p:cNvSpPr/>
          <p:nvPr/>
        </p:nvSpPr>
        <p:spPr>
          <a:xfrm>
            <a:off x="4961632" y="2747665"/>
            <a:ext cx="2524512" cy="171450"/>
          </a:xfrm>
          <a:prstGeom prst="rect">
            <a:avLst/>
          </a:prstGeom>
          <a:noFill/>
          <a:ln/>
        </p:spPr>
        <p:txBody>
          <a:bodyPr wrap="square" lIns="0" tIns="0" rIns="0" bIns="0" rtlCol="0" anchor="t"/>
          <a:lstStyle/>
          <a:p>
            <a:pPr marL="0" indent="0" algn="l">
              <a:spcAft>
                <a:spcPts val="800"/>
              </a:spcAft>
              <a:buNone/>
            </a:pPr>
            <a:r>
              <a:rPr lang="en-US" sz="1200" b="1" dirty="0">
                <a:solidFill>
                  <a:srgbClr val="5B4B9E"/>
                </a:solidFill>
                <a:latin typeface="Arial" pitchFamily="34" charset="0"/>
                <a:ea typeface="Arial" pitchFamily="34" charset="-122"/>
                <a:cs typeface="Arial" pitchFamily="34" charset="-120"/>
              </a:rPr>
              <a:t>Policies</a:t>
            </a:r>
            <a:endParaRPr lang="en-US" sz="1200" dirty="0"/>
          </a:p>
        </p:txBody>
      </p:sp>
      <p:sp>
        <p:nvSpPr>
          <p:cNvPr id="22" name="Text 20"/>
          <p:cNvSpPr/>
          <p:nvPr/>
        </p:nvSpPr>
        <p:spPr>
          <a:xfrm>
            <a:off x="4961632" y="3020616"/>
            <a:ext cx="2475012" cy="1340793"/>
          </a:xfrm>
          <a:prstGeom prst="rect">
            <a:avLst/>
          </a:prstGeom>
          <a:noFill/>
          <a:ln/>
        </p:spPr>
        <p:txBody>
          <a:bodyPr wrap="square" lIns="114300" tIns="0" rIns="0" bIns="0" rtlCol="0" anchor="t"/>
          <a:lstStyle/>
          <a:p>
            <a:pPr marL="114300" indent="-114300" algn="l">
              <a:lnSpc>
                <a:spcPts val="1560"/>
              </a:lnSpc>
              <a:spcAft>
                <a:spcPts val="400"/>
              </a:spcAft>
              <a:buSzPct val="100000"/>
              <a:buChar char="•"/>
            </a:pPr>
            <a:r>
              <a:rPr lang="en-US" sz="1200" dirty="0">
                <a:solidFill>
                  <a:srgbClr val="264653"/>
                </a:solidFill>
                <a:latin typeface="Arial" pitchFamily="34" charset="0"/>
                <a:ea typeface="Arial" pitchFamily="34" charset="-122"/>
                <a:cs typeface="Arial" pitchFamily="34" charset="-120"/>
              </a:rPr>
              <a:t>Duplicate filtering within buffer</a:t>
            </a:r>
            <a:endParaRPr lang="en-US" sz="1200" dirty="0"/>
          </a:p>
          <a:p>
            <a:pPr marL="114300" indent="-114300" algn="l">
              <a:lnSpc>
                <a:spcPts val="1560"/>
              </a:lnSpc>
              <a:spcAft>
                <a:spcPts val="400"/>
              </a:spcAft>
              <a:buSzPct val="100000"/>
              <a:buChar char="•"/>
            </a:pPr>
            <a:r>
              <a:rPr lang="en-US" sz="1200" dirty="0">
                <a:solidFill>
                  <a:srgbClr val="264653"/>
                </a:solidFill>
                <a:latin typeface="Arial" pitchFamily="34" charset="0"/>
                <a:ea typeface="Arial" pitchFamily="34" charset="-122"/>
                <a:cs typeface="Arial" pitchFamily="34" charset="-120"/>
              </a:rPr>
              <a:t>Replace lowest-confidence when full</a:t>
            </a:r>
            <a:endParaRPr lang="en-US" sz="1200" dirty="0"/>
          </a:p>
          <a:p>
            <a:pPr marL="114300" indent="-114300" algn="l">
              <a:lnSpc>
                <a:spcPts val="1560"/>
              </a:lnSpc>
              <a:spcAft>
                <a:spcPts val="400"/>
              </a:spcAft>
              <a:buSzPct val="100000"/>
              <a:buChar char="•"/>
            </a:pPr>
            <a:r>
              <a:rPr lang="en-US" sz="1200" dirty="0">
                <a:solidFill>
                  <a:srgbClr val="264653"/>
                </a:solidFill>
                <a:latin typeface="Arial" pitchFamily="34" charset="0"/>
                <a:ea typeface="Arial" pitchFamily="34" charset="-122"/>
                <a:cs typeface="Arial" pitchFamily="34" charset="-120"/>
              </a:rPr>
              <a:t>Periodic eviction of old entries</a:t>
            </a:r>
            <a:endParaRPr lang="en-US" sz="1200" dirty="0"/>
          </a:p>
          <a:p>
            <a:pPr marL="114300" indent="-114300" algn="l">
              <a:lnSpc>
                <a:spcPts val="1560"/>
              </a:lnSpc>
              <a:spcAft>
                <a:spcPts val="400"/>
              </a:spcAft>
              <a:buSzPct val="100000"/>
              <a:buChar char="•"/>
            </a:pPr>
            <a:r>
              <a:rPr lang="en-US" sz="1200" dirty="0">
                <a:solidFill>
                  <a:srgbClr val="264653"/>
                </a:solidFill>
                <a:latin typeface="Arial" pitchFamily="34" charset="0"/>
                <a:ea typeface="Arial" pitchFamily="34" charset="-122"/>
                <a:cs typeface="Arial" pitchFamily="34" charset="-120"/>
              </a:rPr>
              <a:t>Evict entries with excessive failures</a:t>
            </a:r>
            <a:endParaRPr lang="en-US" sz="1200" dirty="0"/>
          </a:p>
        </p:txBody>
      </p:sp>
      <p:sp>
        <p:nvSpPr>
          <p:cNvPr id="23" name="Text 21"/>
          <p:cNvSpPr/>
          <p:nvPr/>
        </p:nvSpPr>
        <p:spPr>
          <a:xfrm>
            <a:off x="4837807" y="4564559"/>
            <a:ext cx="2675037" cy="495300"/>
          </a:xfrm>
          <a:prstGeom prst="roundRect">
            <a:avLst>
              <a:gd name="adj" fmla="val 20513"/>
            </a:avLst>
          </a:prstGeom>
          <a:solidFill>
            <a:srgbClr val="2A9D8F"/>
          </a:solidFill>
          <a:ln/>
        </p:spPr>
        <p:txBody>
          <a:bodyPr wrap="square" rtlCol="0" anchor="ctr"/>
          <a:lstStyle/>
          <a:p>
            <a:pPr marL="0" indent="0">
              <a:buNone/>
            </a:pPr>
            <a:endParaRPr lang="en-US" dirty="0"/>
          </a:p>
        </p:txBody>
      </p:sp>
      <p:sp>
        <p:nvSpPr>
          <p:cNvPr id="24" name="Text 22"/>
          <p:cNvSpPr/>
          <p:nvPr/>
        </p:nvSpPr>
        <p:spPr>
          <a:xfrm>
            <a:off x="4888781" y="4640759"/>
            <a:ext cx="2573089" cy="342900"/>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Hardware Cost: 6,884 bits (~861 bytes)</a:t>
            </a:r>
            <a:endParaRPr lang="en-US" sz="1200" dirty="0"/>
          </a:p>
        </p:txBody>
      </p:sp>
      <p:sp>
        <p:nvSpPr>
          <p:cNvPr id="25" name="文本框 24">
            <a:extLst>
              <a:ext uri="{FF2B5EF4-FFF2-40B4-BE49-F238E27FC236}">
                <a16:creationId xmlns:a16="http://schemas.microsoft.com/office/drawing/2014/main" id="{768F9B11-EE6B-60FB-50D8-25DBC62460C0}"/>
              </a:ext>
            </a:extLst>
          </p:cNvPr>
          <p:cNvSpPr txBox="1"/>
          <p:nvPr/>
        </p:nvSpPr>
        <p:spPr>
          <a:xfrm>
            <a:off x="8395452" y="4621065"/>
            <a:ext cx="529984" cy="369332"/>
          </a:xfrm>
          <a:prstGeom prst="rect">
            <a:avLst/>
          </a:prstGeom>
          <a:noFill/>
        </p:spPr>
        <p:txBody>
          <a:bodyPr wrap="square" rtlCol="0">
            <a:spAutoFit/>
          </a:bodyPr>
          <a:lstStyle/>
          <a:p>
            <a:r>
              <a:rPr lang="en-US" altLang="zh-CN"/>
              <a:t>8</a:t>
            </a: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825401"/>
          </a:xfrm>
          <a:prstGeom prst="rect">
            <a:avLst/>
          </a:prstGeom>
          <a:solidFill>
            <a:srgbClr val="5B4B9E"/>
          </a:solidFill>
          <a:ln/>
        </p:spPr>
        <p:txBody>
          <a:bodyPr wrap="square" rtlCol="0" anchor="ctr"/>
          <a:lstStyle/>
          <a:p>
            <a:pPr marL="0" indent="0">
              <a:buNone/>
            </a:pPr>
            <a:endParaRPr lang="en-US" dirty="0"/>
          </a:p>
        </p:txBody>
      </p:sp>
      <p:sp>
        <p:nvSpPr>
          <p:cNvPr id="3" name="Text 1"/>
          <p:cNvSpPr/>
          <p:nvPr/>
        </p:nvSpPr>
        <p:spPr>
          <a:xfrm>
            <a:off x="634901" y="126950"/>
            <a:ext cx="8031682" cy="409575"/>
          </a:xfrm>
          <a:prstGeom prst="rect">
            <a:avLst/>
          </a:prstGeom>
          <a:noFill/>
          <a:ln/>
        </p:spPr>
        <p:txBody>
          <a:bodyPr wrap="square" lIns="0" tIns="0" rIns="0" bIns="0" rtlCol="0" anchor="t"/>
          <a:lstStyle/>
          <a:p>
            <a:pPr marL="0" indent="0" algn="l">
              <a:buNone/>
            </a:pPr>
            <a:r>
              <a:rPr lang="en-US" sz="2800" b="1" dirty="0">
                <a:solidFill>
                  <a:srgbClr val="FFFFFF"/>
                </a:solidFill>
                <a:latin typeface="Arial" pitchFamily="34" charset="0"/>
                <a:ea typeface="Arial" pitchFamily="34" charset="-122"/>
                <a:cs typeface="Arial" pitchFamily="34" charset="-120"/>
              </a:rPr>
              <a:t>Optimization 2 - Cuckoo Filter</a:t>
            </a:r>
            <a:endParaRPr lang="en-US" sz="2800" dirty="0"/>
          </a:p>
        </p:txBody>
      </p:sp>
      <p:sp>
        <p:nvSpPr>
          <p:cNvPr id="4" name="Text 2"/>
          <p:cNvSpPr/>
          <p:nvPr/>
        </p:nvSpPr>
        <p:spPr>
          <a:xfrm>
            <a:off x="634901" y="888950"/>
            <a:ext cx="3983355" cy="209550"/>
          </a:xfrm>
          <a:prstGeom prst="rect">
            <a:avLst/>
          </a:prstGeom>
          <a:noFill/>
          <a:ln/>
        </p:spPr>
        <p:txBody>
          <a:bodyPr wrap="square" lIns="0" tIns="0" rIns="0" bIns="0" rtlCol="0" anchor="t"/>
          <a:lstStyle/>
          <a:p>
            <a:pPr marL="0" indent="0" algn="l">
              <a:spcAft>
                <a:spcPts val="1000"/>
              </a:spcAft>
              <a:buNone/>
            </a:pPr>
            <a:r>
              <a:rPr lang="en-US" sz="1400" b="1" dirty="0">
                <a:solidFill>
                  <a:srgbClr val="2A9D8F"/>
                </a:solidFill>
                <a:latin typeface="Arial" pitchFamily="34" charset="0"/>
                <a:ea typeface="Arial" pitchFamily="34" charset="-122"/>
                <a:cs typeface="Arial" pitchFamily="34" charset="-120"/>
              </a:rPr>
              <a:t>Goal</a:t>
            </a:r>
            <a:endParaRPr lang="en-US" sz="1400" dirty="0"/>
          </a:p>
        </p:txBody>
      </p:sp>
      <p:sp>
        <p:nvSpPr>
          <p:cNvPr id="5" name="Text 3"/>
          <p:cNvSpPr/>
          <p:nvPr/>
        </p:nvSpPr>
        <p:spPr>
          <a:xfrm>
            <a:off x="634901" y="1225451"/>
            <a:ext cx="3905250" cy="323850"/>
          </a:xfrm>
          <a:prstGeom prst="roundRect">
            <a:avLst>
              <a:gd name="adj" fmla="val 23529"/>
            </a:avLst>
          </a:prstGeom>
          <a:solidFill>
            <a:srgbClr val="E9ECEF"/>
          </a:solidFill>
          <a:ln/>
        </p:spPr>
        <p:txBody>
          <a:bodyPr wrap="square" rtlCol="0" anchor="ctr"/>
          <a:lstStyle/>
          <a:p>
            <a:pPr marL="0" indent="0">
              <a:buNone/>
            </a:pPr>
            <a:endParaRPr lang="en-US" dirty="0"/>
          </a:p>
        </p:txBody>
      </p:sp>
      <p:sp>
        <p:nvSpPr>
          <p:cNvPr id="6" name="Text 4"/>
          <p:cNvSpPr/>
          <p:nvPr/>
        </p:nvSpPr>
        <p:spPr>
          <a:xfrm>
            <a:off x="711101" y="1301651"/>
            <a:ext cx="3827907" cy="171450"/>
          </a:xfrm>
          <a:prstGeom prst="rect">
            <a:avLst/>
          </a:prstGeom>
          <a:noFill/>
          <a:ln/>
        </p:spPr>
        <p:txBody>
          <a:bodyPr wrap="square" lIns="0" tIns="0" rIns="0" bIns="0" rtlCol="0" anchor="t"/>
          <a:lstStyle/>
          <a:p>
            <a:pPr marL="0" indent="0" algn="l">
              <a:buNone/>
            </a:pPr>
            <a:r>
              <a:rPr lang="en-US" sz="1200" b="1" dirty="0">
                <a:solidFill>
                  <a:srgbClr val="264653"/>
                </a:solidFill>
                <a:latin typeface="Arial" pitchFamily="34" charset="0"/>
                <a:ea typeface="Arial" pitchFamily="34" charset="-122"/>
                <a:cs typeface="Arial" pitchFamily="34" charset="-120"/>
              </a:rPr>
              <a:t>Eliminate prefetches for data already in cache</a:t>
            </a:r>
            <a:endParaRPr lang="en-US" sz="1200" dirty="0"/>
          </a:p>
        </p:txBody>
      </p:sp>
      <p:sp>
        <p:nvSpPr>
          <p:cNvPr id="7" name="Text 5"/>
          <p:cNvSpPr/>
          <p:nvPr/>
        </p:nvSpPr>
        <p:spPr>
          <a:xfrm>
            <a:off x="634901" y="1625501"/>
            <a:ext cx="3983355" cy="209550"/>
          </a:xfrm>
          <a:prstGeom prst="rect">
            <a:avLst/>
          </a:prstGeom>
          <a:noFill/>
          <a:ln/>
        </p:spPr>
        <p:txBody>
          <a:bodyPr wrap="square" lIns="0" tIns="0" rIns="0" bIns="0" rtlCol="0" anchor="t"/>
          <a:lstStyle/>
          <a:p>
            <a:pPr marL="0" indent="0" algn="l">
              <a:spcBef>
                <a:spcPts val="600"/>
              </a:spcBef>
              <a:spcAft>
                <a:spcPts val="1000"/>
              </a:spcAft>
              <a:buNone/>
            </a:pPr>
            <a:r>
              <a:rPr lang="en-US" sz="1400" b="1" dirty="0">
                <a:solidFill>
                  <a:srgbClr val="2A9D8F"/>
                </a:solidFill>
                <a:latin typeface="Arial" pitchFamily="34" charset="0"/>
                <a:ea typeface="Arial" pitchFamily="34" charset="-122"/>
                <a:cs typeface="Arial" pitchFamily="34" charset="-120"/>
              </a:rPr>
              <a:t>Challenge: Direct Cache Lookup</a:t>
            </a:r>
            <a:endParaRPr lang="en-US" sz="1400" dirty="0"/>
          </a:p>
        </p:txBody>
      </p:sp>
      <p:sp>
        <p:nvSpPr>
          <p:cNvPr id="8" name="Text 6"/>
          <p:cNvSpPr/>
          <p:nvPr/>
        </p:nvSpPr>
        <p:spPr>
          <a:xfrm>
            <a:off x="634901" y="1962001"/>
            <a:ext cx="3905250" cy="1407914"/>
          </a:xfrm>
          <a:prstGeom prst="roundRect">
            <a:avLst>
              <a:gd name="adj" fmla="val 5412"/>
            </a:avLst>
          </a:prstGeom>
          <a:solidFill>
            <a:srgbClr val="FFF3E6"/>
          </a:solidFill>
          <a:ln/>
        </p:spPr>
        <p:txBody>
          <a:bodyPr wrap="square" rtlCol="0" anchor="ctr"/>
          <a:lstStyle/>
          <a:p>
            <a:pPr marL="0" indent="0">
              <a:buNone/>
            </a:pPr>
            <a:endParaRPr lang="en-US" dirty="0"/>
          </a:p>
        </p:txBody>
      </p:sp>
      <p:sp>
        <p:nvSpPr>
          <p:cNvPr id="9" name="Shape 7"/>
          <p:cNvSpPr/>
          <p:nvPr/>
        </p:nvSpPr>
        <p:spPr>
          <a:xfrm>
            <a:off x="658713" y="1962001"/>
            <a:ext cx="0" cy="1407914"/>
          </a:xfrm>
          <a:prstGeom prst="line">
            <a:avLst/>
          </a:prstGeom>
          <a:noFill/>
          <a:ln w="47625">
            <a:solidFill>
              <a:srgbClr val="E76F51"/>
            </a:solidFill>
            <a:prstDash val="solid"/>
          </a:ln>
        </p:spPr>
      </p:sp>
      <p:sp>
        <p:nvSpPr>
          <p:cNvPr id="10" name="Text 8"/>
          <p:cNvSpPr/>
          <p:nvPr/>
        </p:nvSpPr>
        <p:spPr>
          <a:xfrm>
            <a:off x="758726" y="2038201"/>
            <a:ext cx="3779329" cy="171450"/>
          </a:xfrm>
          <a:prstGeom prst="rect">
            <a:avLst/>
          </a:prstGeom>
          <a:noFill/>
          <a:ln/>
        </p:spPr>
        <p:txBody>
          <a:bodyPr wrap="square" lIns="0" tIns="0" rIns="0" bIns="0" rtlCol="0" anchor="t"/>
          <a:lstStyle/>
          <a:p>
            <a:pPr marL="0" indent="0" algn="l">
              <a:spcAft>
                <a:spcPts val="800"/>
              </a:spcAft>
              <a:buNone/>
            </a:pPr>
            <a:r>
              <a:rPr lang="en-US" sz="1200" b="1" dirty="0">
                <a:solidFill>
                  <a:srgbClr val="5B4B9E"/>
                </a:solidFill>
                <a:latin typeface="Arial" pitchFamily="34" charset="0"/>
                <a:ea typeface="Arial" pitchFamily="34" charset="-122"/>
                <a:cs typeface="Arial" pitchFamily="34" charset="-120"/>
              </a:rPr>
              <a:t>Why not just check the cache?</a:t>
            </a:r>
            <a:endParaRPr lang="en-US" sz="1200" dirty="0"/>
          </a:p>
        </p:txBody>
      </p:sp>
      <p:sp>
        <p:nvSpPr>
          <p:cNvPr id="11" name="Text 9"/>
          <p:cNvSpPr/>
          <p:nvPr/>
        </p:nvSpPr>
        <p:spPr>
          <a:xfrm>
            <a:off x="758726" y="2311152"/>
            <a:ext cx="3705225" cy="919162"/>
          </a:xfrm>
          <a:prstGeom prst="rect">
            <a:avLst/>
          </a:prstGeom>
          <a:noFill/>
          <a:ln/>
        </p:spPr>
        <p:txBody>
          <a:bodyPr wrap="square" lIns="101600" tIns="0" rIns="0" bIns="0" rtlCol="0" anchor="t"/>
          <a:lstStyle/>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Cache read port contention</a:t>
            </a:r>
            <a:endParaRPr lang="en-US" sz="1200" dirty="0"/>
          </a:p>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Additional read ports increase hardware cost</a:t>
            </a:r>
            <a:endParaRPr lang="en-US" sz="1200" dirty="0"/>
          </a:p>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Prefetcher should not interfere with cache operations</a:t>
            </a:r>
            <a:endParaRPr lang="en-US" sz="1200" dirty="0"/>
          </a:p>
        </p:txBody>
      </p:sp>
      <p:sp>
        <p:nvSpPr>
          <p:cNvPr id="12" name="Text 10"/>
          <p:cNvSpPr/>
          <p:nvPr/>
        </p:nvSpPr>
        <p:spPr>
          <a:xfrm>
            <a:off x="634901" y="3446115"/>
            <a:ext cx="3983355" cy="209550"/>
          </a:xfrm>
          <a:prstGeom prst="rect">
            <a:avLst/>
          </a:prstGeom>
          <a:noFill/>
          <a:ln/>
        </p:spPr>
        <p:txBody>
          <a:bodyPr wrap="square" lIns="0" tIns="0" rIns="0" bIns="0" rtlCol="0" anchor="t"/>
          <a:lstStyle/>
          <a:p>
            <a:pPr marL="0" indent="0" algn="l">
              <a:spcBef>
                <a:spcPts val="600"/>
              </a:spcBef>
              <a:spcAft>
                <a:spcPts val="1000"/>
              </a:spcAft>
              <a:buNone/>
            </a:pPr>
            <a:r>
              <a:rPr lang="en-US" sz="1400" b="1" dirty="0">
                <a:solidFill>
                  <a:srgbClr val="2A9D8F"/>
                </a:solidFill>
                <a:latin typeface="Arial" pitchFamily="34" charset="0"/>
                <a:ea typeface="Arial" pitchFamily="34" charset="-122"/>
                <a:cs typeface="Arial" pitchFamily="34" charset="-120"/>
              </a:rPr>
              <a:t>Solution: Cuckoo Filter</a:t>
            </a:r>
            <a:endParaRPr lang="en-US" sz="1400" dirty="0"/>
          </a:p>
        </p:txBody>
      </p:sp>
      <p:sp>
        <p:nvSpPr>
          <p:cNvPr id="13" name="Text 11"/>
          <p:cNvSpPr/>
          <p:nvPr/>
        </p:nvSpPr>
        <p:spPr>
          <a:xfrm>
            <a:off x="634901" y="3782616"/>
            <a:ext cx="3905250" cy="1209824"/>
          </a:xfrm>
          <a:prstGeom prst="roundRect">
            <a:avLst>
              <a:gd name="adj" fmla="val 6298"/>
            </a:avLst>
          </a:prstGeom>
          <a:solidFill>
            <a:srgbClr val="E8F8F5"/>
          </a:solidFill>
          <a:ln/>
        </p:spPr>
        <p:txBody>
          <a:bodyPr wrap="square" rtlCol="0" anchor="ctr"/>
          <a:lstStyle/>
          <a:p>
            <a:pPr marL="0" indent="0">
              <a:buNone/>
            </a:pPr>
            <a:endParaRPr lang="en-US" dirty="0"/>
          </a:p>
        </p:txBody>
      </p:sp>
      <p:sp>
        <p:nvSpPr>
          <p:cNvPr id="14" name="Shape 12"/>
          <p:cNvSpPr/>
          <p:nvPr/>
        </p:nvSpPr>
        <p:spPr>
          <a:xfrm>
            <a:off x="658713" y="3782616"/>
            <a:ext cx="0" cy="1209824"/>
          </a:xfrm>
          <a:prstGeom prst="line">
            <a:avLst/>
          </a:prstGeom>
          <a:noFill/>
          <a:ln w="47625">
            <a:solidFill>
              <a:srgbClr val="2A9D8F"/>
            </a:solidFill>
            <a:prstDash val="solid"/>
          </a:ln>
        </p:spPr>
      </p:sp>
      <p:sp>
        <p:nvSpPr>
          <p:cNvPr id="15" name="Text 13"/>
          <p:cNvSpPr/>
          <p:nvPr/>
        </p:nvSpPr>
        <p:spPr>
          <a:xfrm>
            <a:off x="758726" y="3858816"/>
            <a:ext cx="3779329" cy="171450"/>
          </a:xfrm>
          <a:prstGeom prst="rect">
            <a:avLst/>
          </a:prstGeom>
          <a:noFill/>
          <a:ln/>
        </p:spPr>
        <p:txBody>
          <a:bodyPr wrap="square" lIns="0" tIns="0" rIns="0" bIns="0" rtlCol="0" anchor="t"/>
          <a:lstStyle/>
          <a:p>
            <a:pPr marL="0" indent="0" algn="l">
              <a:spcAft>
                <a:spcPts val="800"/>
              </a:spcAft>
              <a:buNone/>
            </a:pPr>
            <a:r>
              <a:rPr lang="en-US" sz="1200" b="1" dirty="0">
                <a:solidFill>
                  <a:srgbClr val="5B4B9E"/>
                </a:solidFill>
                <a:latin typeface="Arial" pitchFamily="34" charset="0"/>
                <a:ea typeface="Arial" pitchFamily="34" charset="-122"/>
                <a:cs typeface="Arial" pitchFamily="34" charset="-120"/>
              </a:rPr>
              <a:t>What is it?</a:t>
            </a:r>
            <a:endParaRPr lang="en-US" sz="1200" dirty="0"/>
          </a:p>
        </p:txBody>
      </p:sp>
      <p:sp>
        <p:nvSpPr>
          <p:cNvPr id="16" name="Text 14"/>
          <p:cNvSpPr/>
          <p:nvPr/>
        </p:nvSpPr>
        <p:spPr>
          <a:xfrm>
            <a:off x="758726" y="4131766"/>
            <a:ext cx="3705225" cy="721072"/>
          </a:xfrm>
          <a:prstGeom prst="rect">
            <a:avLst/>
          </a:prstGeom>
          <a:noFill/>
          <a:ln/>
        </p:spPr>
        <p:txBody>
          <a:bodyPr wrap="square" lIns="101600" tIns="0" rIns="0" bIns="0" rtlCol="0" anchor="t"/>
          <a:lstStyle/>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Probabilistic data structure for set membership</a:t>
            </a:r>
            <a:endParaRPr lang="en-US" sz="1200" dirty="0"/>
          </a:p>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Like Bloom Filter, but supports deletions</a:t>
            </a:r>
            <a:endParaRPr lang="en-US" sz="1200" dirty="0"/>
          </a:p>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Better space efficiency</a:t>
            </a:r>
            <a:endParaRPr lang="en-US" sz="1200" dirty="0"/>
          </a:p>
        </p:txBody>
      </p:sp>
      <p:sp>
        <p:nvSpPr>
          <p:cNvPr id="17" name="Text 15"/>
          <p:cNvSpPr/>
          <p:nvPr/>
        </p:nvSpPr>
        <p:spPr>
          <a:xfrm>
            <a:off x="4730651" y="888950"/>
            <a:ext cx="3983507" cy="209550"/>
          </a:xfrm>
          <a:prstGeom prst="rect">
            <a:avLst/>
          </a:prstGeom>
          <a:noFill/>
          <a:ln/>
        </p:spPr>
        <p:txBody>
          <a:bodyPr wrap="square" lIns="0" tIns="0" rIns="0" bIns="0" rtlCol="0" anchor="t"/>
          <a:lstStyle/>
          <a:p>
            <a:pPr marL="0" indent="0" algn="l">
              <a:spcAft>
                <a:spcPts val="1000"/>
              </a:spcAft>
              <a:buNone/>
            </a:pPr>
            <a:r>
              <a:rPr lang="en-US" sz="1400" b="1" dirty="0">
                <a:solidFill>
                  <a:srgbClr val="2A9D8F"/>
                </a:solidFill>
                <a:latin typeface="Arial" pitchFamily="34" charset="0"/>
                <a:ea typeface="Arial" pitchFamily="34" charset="-122"/>
                <a:cs typeface="Arial" pitchFamily="34" charset="-120"/>
              </a:rPr>
              <a:t>Our Application</a:t>
            </a:r>
            <a:endParaRPr lang="en-US" sz="1400" dirty="0"/>
          </a:p>
        </p:txBody>
      </p:sp>
      <p:sp>
        <p:nvSpPr>
          <p:cNvPr id="18" name="Text 16"/>
          <p:cNvSpPr/>
          <p:nvPr/>
        </p:nvSpPr>
        <p:spPr>
          <a:xfrm>
            <a:off x="4730651" y="1225451"/>
            <a:ext cx="3905399" cy="1447205"/>
          </a:xfrm>
          <a:prstGeom prst="roundRect">
            <a:avLst>
              <a:gd name="adj" fmla="val 5265"/>
            </a:avLst>
          </a:prstGeom>
          <a:solidFill>
            <a:srgbClr val="E8F8F5"/>
          </a:solidFill>
          <a:ln/>
        </p:spPr>
        <p:txBody>
          <a:bodyPr wrap="square" rtlCol="0" anchor="ctr"/>
          <a:lstStyle/>
          <a:p>
            <a:pPr marL="0" indent="0">
              <a:buNone/>
            </a:pPr>
            <a:endParaRPr lang="en-US" dirty="0"/>
          </a:p>
        </p:txBody>
      </p:sp>
      <p:sp>
        <p:nvSpPr>
          <p:cNvPr id="19" name="Shape 17"/>
          <p:cNvSpPr/>
          <p:nvPr/>
        </p:nvSpPr>
        <p:spPr>
          <a:xfrm>
            <a:off x="4754463" y="1225451"/>
            <a:ext cx="0" cy="1447205"/>
          </a:xfrm>
          <a:prstGeom prst="line">
            <a:avLst/>
          </a:prstGeom>
          <a:noFill/>
          <a:ln w="47625">
            <a:solidFill>
              <a:srgbClr val="2A9D8F"/>
            </a:solidFill>
            <a:prstDash val="solid"/>
          </a:ln>
        </p:spPr>
      </p:sp>
      <p:sp>
        <p:nvSpPr>
          <p:cNvPr id="20" name="Text 18"/>
          <p:cNvSpPr/>
          <p:nvPr/>
        </p:nvSpPr>
        <p:spPr>
          <a:xfrm>
            <a:off x="4854476" y="1352401"/>
            <a:ext cx="3705374" cy="1180654"/>
          </a:xfrm>
          <a:prstGeom prst="rect">
            <a:avLst/>
          </a:prstGeom>
          <a:noFill/>
          <a:ln/>
        </p:spPr>
        <p:txBody>
          <a:bodyPr wrap="square" lIns="101600" tIns="0" rIns="0" bIns="0" rtlCol="0" anchor="t"/>
          <a:lstStyle/>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Tracks which virtual addresses are in L1D cache</a:t>
            </a:r>
            <a:endParaRPr lang="en-US" sz="1200" dirty="0"/>
          </a:p>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O(1) query time</a:t>
            </a:r>
            <a:endParaRPr lang="en-US" sz="1200" dirty="0"/>
          </a:p>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Supports insertions and deletions</a:t>
            </a:r>
            <a:endParaRPr lang="en-US" sz="1200" dirty="0"/>
          </a:p>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High accuracy, low false positive rate (zero false negatives)</a:t>
            </a:r>
            <a:endParaRPr lang="en-US" sz="1200" dirty="0"/>
          </a:p>
        </p:txBody>
      </p:sp>
      <p:sp>
        <p:nvSpPr>
          <p:cNvPr id="21" name="Text 19"/>
          <p:cNvSpPr/>
          <p:nvPr/>
        </p:nvSpPr>
        <p:spPr>
          <a:xfrm>
            <a:off x="4730651" y="2748855"/>
            <a:ext cx="3905399" cy="666750"/>
          </a:xfrm>
          <a:prstGeom prst="roundRect">
            <a:avLst>
              <a:gd name="adj" fmla="val 11429"/>
            </a:avLst>
          </a:prstGeom>
          <a:solidFill>
            <a:srgbClr val="2A9D8F"/>
          </a:solidFill>
          <a:ln/>
        </p:spPr>
        <p:txBody>
          <a:bodyPr wrap="square" rtlCol="0" anchor="ctr"/>
          <a:lstStyle/>
          <a:p>
            <a:pPr marL="0" indent="0">
              <a:buNone/>
            </a:pPr>
            <a:endParaRPr lang="en-US" dirty="0"/>
          </a:p>
        </p:txBody>
      </p:sp>
      <p:sp>
        <p:nvSpPr>
          <p:cNvPr id="22" name="Text 20"/>
          <p:cNvSpPr/>
          <p:nvPr/>
        </p:nvSpPr>
        <p:spPr>
          <a:xfrm>
            <a:off x="4769321" y="2825055"/>
            <a:ext cx="3828059" cy="171450"/>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Hardware Cost: 53,248 bits (6.5 KB)</a:t>
            </a:r>
            <a:endParaRPr lang="en-US" sz="1200" dirty="0"/>
          </a:p>
        </p:txBody>
      </p:sp>
      <p:sp>
        <p:nvSpPr>
          <p:cNvPr id="23" name="Text 21"/>
          <p:cNvSpPr/>
          <p:nvPr/>
        </p:nvSpPr>
        <p:spPr>
          <a:xfrm>
            <a:off x="4769321" y="2996505"/>
            <a:ext cx="3828059" cy="171450"/>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1024 sets x 4 ways</a:t>
            </a:r>
            <a:endParaRPr lang="en-US" sz="1200" dirty="0"/>
          </a:p>
        </p:txBody>
      </p:sp>
      <p:sp>
        <p:nvSpPr>
          <p:cNvPr id="24" name="Text 22"/>
          <p:cNvSpPr/>
          <p:nvPr/>
        </p:nvSpPr>
        <p:spPr>
          <a:xfrm>
            <a:off x="4769321" y="3167955"/>
            <a:ext cx="3828059" cy="171450"/>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Each entry: 1-bit valid + 12-bit fingerprint</a:t>
            </a:r>
            <a:endParaRPr lang="en-US" sz="1200" dirty="0"/>
          </a:p>
        </p:txBody>
      </p:sp>
      <p:sp>
        <p:nvSpPr>
          <p:cNvPr id="25" name="Text 23"/>
          <p:cNvSpPr/>
          <p:nvPr/>
        </p:nvSpPr>
        <p:spPr>
          <a:xfrm>
            <a:off x="4730651" y="3491805"/>
            <a:ext cx="3905399" cy="609600"/>
          </a:xfrm>
          <a:prstGeom prst="roundRect">
            <a:avLst>
              <a:gd name="adj" fmla="val 16667"/>
            </a:avLst>
          </a:prstGeom>
          <a:solidFill>
            <a:srgbClr val="E9ECEF"/>
          </a:solidFill>
          <a:ln/>
        </p:spPr>
        <p:txBody>
          <a:bodyPr wrap="square" rtlCol="0" anchor="ctr"/>
          <a:lstStyle/>
          <a:p>
            <a:pPr marL="0" indent="0">
              <a:buNone/>
            </a:pPr>
            <a:endParaRPr lang="en-US" dirty="0"/>
          </a:p>
        </p:txBody>
      </p:sp>
      <p:sp>
        <p:nvSpPr>
          <p:cNvPr id="26" name="Text 24"/>
          <p:cNvSpPr/>
          <p:nvPr/>
        </p:nvSpPr>
        <p:spPr>
          <a:xfrm>
            <a:off x="4806851" y="3568005"/>
            <a:ext cx="3828059" cy="457200"/>
          </a:xfrm>
          <a:prstGeom prst="rect">
            <a:avLst/>
          </a:prstGeom>
          <a:noFill/>
          <a:ln/>
        </p:spPr>
        <p:txBody>
          <a:bodyPr wrap="square" lIns="0" tIns="0" rIns="0" bIns="0" rtlCol="0" anchor="t"/>
          <a:lstStyle/>
          <a:p>
            <a:pPr marL="0" indent="0" algn="l">
              <a:lnSpc>
                <a:spcPts val="1800"/>
              </a:lnSpc>
              <a:buNone/>
            </a:pPr>
            <a:r>
              <a:rPr lang="en-US" sz="1200" b="1" dirty="0">
                <a:solidFill>
                  <a:srgbClr val="5B4B9E"/>
                </a:solidFill>
                <a:latin typeface="Arial" pitchFamily="34" charset="0"/>
                <a:ea typeface="Arial" pitchFamily="34" charset="-122"/>
                <a:cs typeface="Arial" pitchFamily="34" charset="-120"/>
              </a:rPr>
              <a:t>Key Benefit:</a:t>
            </a:r>
            <a:r>
              <a:rPr lang="en-US" sz="1200" dirty="0">
                <a:solidFill>
                  <a:srgbClr val="264653"/>
                </a:solidFill>
                <a:latin typeface="Arial" pitchFamily="34" charset="0"/>
                <a:ea typeface="Arial" pitchFamily="34" charset="-122"/>
                <a:cs typeface="Arial" pitchFamily="34" charset="-120"/>
              </a:rPr>
              <a:t> Zero false negatives - when filter says "not in cache", confidently prefetch</a:t>
            </a:r>
            <a:endParaRPr lang="en-US" sz="1200" dirty="0"/>
          </a:p>
        </p:txBody>
      </p:sp>
      <p:sp>
        <p:nvSpPr>
          <p:cNvPr id="27" name="文本框 26">
            <a:extLst>
              <a:ext uri="{FF2B5EF4-FFF2-40B4-BE49-F238E27FC236}">
                <a16:creationId xmlns:a16="http://schemas.microsoft.com/office/drawing/2014/main" id="{D34AEA53-2BFD-54DE-BBCC-4544D5EE6F71}"/>
              </a:ext>
            </a:extLst>
          </p:cNvPr>
          <p:cNvSpPr txBox="1"/>
          <p:nvPr/>
        </p:nvSpPr>
        <p:spPr>
          <a:xfrm>
            <a:off x="8395452" y="4621065"/>
            <a:ext cx="529984" cy="369332"/>
          </a:xfrm>
          <a:prstGeom prst="rect">
            <a:avLst/>
          </a:prstGeom>
          <a:noFill/>
        </p:spPr>
        <p:txBody>
          <a:bodyPr wrap="square" rtlCol="0">
            <a:spAutoFit/>
          </a:bodyPr>
          <a:lstStyle/>
          <a:p>
            <a:r>
              <a:rPr lang="en-US" altLang="zh-CN"/>
              <a:t>9</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825401"/>
          </a:xfrm>
          <a:prstGeom prst="rect">
            <a:avLst/>
          </a:prstGeom>
          <a:solidFill>
            <a:srgbClr val="5B4B9E"/>
          </a:solidFill>
          <a:ln/>
        </p:spPr>
        <p:txBody>
          <a:bodyPr wrap="square" rtlCol="0" anchor="ctr"/>
          <a:lstStyle/>
          <a:p>
            <a:pPr marL="0" indent="0">
              <a:buNone/>
            </a:pPr>
            <a:endParaRPr lang="en-US" dirty="0"/>
          </a:p>
        </p:txBody>
      </p:sp>
      <p:sp>
        <p:nvSpPr>
          <p:cNvPr id="3" name="Text 1"/>
          <p:cNvSpPr/>
          <p:nvPr/>
        </p:nvSpPr>
        <p:spPr>
          <a:xfrm>
            <a:off x="634901" y="126950"/>
            <a:ext cx="8031682" cy="819150"/>
          </a:xfrm>
          <a:prstGeom prst="rect">
            <a:avLst/>
          </a:prstGeom>
          <a:noFill/>
          <a:ln/>
        </p:spPr>
        <p:txBody>
          <a:bodyPr wrap="square" lIns="0" tIns="0" rIns="0" bIns="0" rtlCol="0" anchor="t"/>
          <a:lstStyle/>
          <a:p>
            <a:pPr marL="0" indent="0" algn="l">
              <a:buNone/>
            </a:pPr>
            <a:r>
              <a:rPr lang="en-US" sz="2800" b="1" dirty="0">
                <a:solidFill>
                  <a:srgbClr val="FFFFFF"/>
                </a:solidFill>
                <a:latin typeface="Arial" pitchFamily="34" charset="0"/>
                <a:ea typeface="Arial" pitchFamily="34" charset="-122"/>
                <a:cs typeface="Arial" pitchFamily="34" charset="-120"/>
              </a:rPr>
              <a:t>VIPT Cache Aliasing Problem for Cuckoo Filter</a:t>
            </a:r>
            <a:endParaRPr lang="en-US" sz="2800" dirty="0"/>
          </a:p>
        </p:txBody>
      </p:sp>
      <p:sp>
        <p:nvSpPr>
          <p:cNvPr id="4" name="Text 2"/>
          <p:cNvSpPr/>
          <p:nvPr/>
        </p:nvSpPr>
        <p:spPr>
          <a:xfrm>
            <a:off x="634901" y="888950"/>
            <a:ext cx="3983355" cy="209550"/>
          </a:xfrm>
          <a:prstGeom prst="rect">
            <a:avLst/>
          </a:prstGeom>
          <a:noFill/>
          <a:ln/>
        </p:spPr>
        <p:txBody>
          <a:bodyPr wrap="square" lIns="0" tIns="0" rIns="0" bIns="0" rtlCol="0" anchor="t"/>
          <a:lstStyle/>
          <a:p>
            <a:pPr marL="0" indent="0" algn="l">
              <a:spcAft>
                <a:spcPts val="1200"/>
              </a:spcAft>
              <a:buNone/>
            </a:pPr>
            <a:r>
              <a:rPr lang="en-US" sz="1400" b="1" dirty="0">
                <a:solidFill>
                  <a:srgbClr val="2A9D8F"/>
                </a:solidFill>
                <a:latin typeface="Arial" pitchFamily="34" charset="0"/>
                <a:ea typeface="Arial" pitchFamily="34" charset="-122"/>
                <a:cs typeface="Arial" pitchFamily="34" charset="-120"/>
              </a:rPr>
              <a:t>The Challenge</a:t>
            </a:r>
            <a:endParaRPr lang="en-US" sz="1400" dirty="0"/>
          </a:p>
        </p:txBody>
      </p:sp>
      <p:sp>
        <p:nvSpPr>
          <p:cNvPr id="5" name="Text 3"/>
          <p:cNvSpPr/>
          <p:nvPr/>
        </p:nvSpPr>
        <p:spPr>
          <a:xfrm>
            <a:off x="634901" y="1250900"/>
            <a:ext cx="3905250" cy="884932"/>
          </a:xfrm>
          <a:prstGeom prst="roundRect">
            <a:avLst>
              <a:gd name="adj" fmla="val 8611"/>
            </a:avLst>
          </a:prstGeom>
          <a:solidFill>
            <a:srgbClr val="FFF3E6"/>
          </a:solidFill>
          <a:ln/>
        </p:spPr>
        <p:txBody>
          <a:bodyPr wrap="square" rtlCol="0" anchor="ctr"/>
          <a:lstStyle/>
          <a:p>
            <a:pPr marL="0" indent="0">
              <a:buNone/>
            </a:pPr>
            <a:endParaRPr lang="en-US" dirty="0"/>
          </a:p>
        </p:txBody>
      </p:sp>
      <p:sp>
        <p:nvSpPr>
          <p:cNvPr id="6" name="Shape 4"/>
          <p:cNvSpPr/>
          <p:nvPr/>
        </p:nvSpPr>
        <p:spPr>
          <a:xfrm>
            <a:off x="658713" y="1250900"/>
            <a:ext cx="0" cy="884932"/>
          </a:xfrm>
          <a:prstGeom prst="line">
            <a:avLst/>
          </a:prstGeom>
          <a:noFill/>
          <a:ln w="47625">
            <a:solidFill>
              <a:srgbClr val="E76F51"/>
            </a:solidFill>
            <a:prstDash val="solid"/>
          </a:ln>
        </p:spPr>
      </p:sp>
      <p:sp>
        <p:nvSpPr>
          <p:cNvPr id="7" name="Text 5"/>
          <p:cNvSpPr/>
          <p:nvPr/>
        </p:nvSpPr>
        <p:spPr>
          <a:xfrm>
            <a:off x="758726" y="1327100"/>
            <a:ext cx="3779329" cy="171450"/>
          </a:xfrm>
          <a:prstGeom prst="rect">
            <a:avLst/>
          </a:prstGeom>
          <a:noFill/>
          <a:ln/>
        </p:spPr>
        <p:txBody>
          <a:bodyPr wrap="square" lIns="0" tIns="0" rIns="0" bIns="0" rtlCol="0" anchor="t"/>
          <a:lstStyle/>
          <a:p>
            <a:pPr marL="0" indent="0" algn="l">
              <a:spcAft>
                <a:spcPts val="800"/>
              </a:spcAft>
              <a:buNone/>
            </a:pPr>
            <a:r>
              <a:rPr lang="en-US" sz="1200" b="1" dirty="0">
                <a:solidFill>
                  <a:srgbClr val="5B4B9E"/>
                </a:solidFill>
                <a:latin typeface="Arial" pitchFamily="34" charset="0"/>
                <a:ea typeface="Arial" pitchFamily="34" charset="-122"/>
                <a:cs typeface="Arial" pitchFamily="34" charset="-120"/>
              </a:rPr>
              <a:t>Our Design Choice</a:t>
            </a:r>
            <a:endParaRPr lang="en-US" sz="1200" dirty="0"/>
          </a:p>
        </p:txBody>
      </p:sp>
      <p:sp>
        <p:nvSpPr>
          <p:cNvPr id="8" name="Text 6"/>
          <p:cNvSpPr/>
          <p:nvPr/>
        </p:nvSpPr>
        <p:spPr>
          <a:xfrm>
            <a:off x="758726" y="1600051"/>
            <a:ext cx="3705225" cy="396180"/>
          </a:xfrm>
          <a:prstGeom prst="rect">
            <a:avLst/>
          </a:prstGeom>
          <a:noFill/>
          <a:ln/>
        </p:spPr>
        <p:txBody>
          <a:bodyPr wrap="square" lIns="101600" tIns="0" rIns="0" bIns="0" rtlCol="0" anchor="t"/>
          <a:lstStyle/>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Use virtual addresses for prefetching (better performance)</a:t>
            </a:r>
            <a:endParaRPr lang="en-US" sz="1200" dirty="0"/>
          </a:p>
        </p:txBody>
      </p:sp>
      <p:sp>
        <p:nvSpPr>
          <p:cNvPr id="9" name="Text 7"/>
          <p:cNvSpPr/>
          <p:nvPr/>
        </p:nvSpPr>
        <p:spPr>
          <a:xfrm>
            <a:off x="634901" y="2199233"/>
            <a:ext cx="3905250" cy="1146423"/>
          </a:xfrm>
          <a:prstGeom prst="roundRect">
            <a:avLst>
              <a:gd name="adj" fmla="val 6647"/>
            </a:avLst>
          </a:prstGeom>
          <a:solidFill>
            <a:srgbClr val="FFF3E6"/>
          </a:solidFill>
          <a:ln/>
        </p:spPr>
        <p:txBody>
          <a:bodyPr wrap="square" rtlCol="0" anchor="ctr"/>
          <a:lstStyle/>
          <a:p>
            <a:pPr marL="0" indent="0">
              <a:buNone/>
            </a:pPr>
            <a:endParaRPr lang="en-US" dirty="0"/>
          </a:p>
        </p:txBody>
      </p:sp>
      <p:sp>
        <p:nvSpPr>
          <p:cNvPr id="10" name="Shape 8"/>
          <p:cNvSpPr/>
          <p:nvPr/>
        </p:nvSpPr>
        <p:spPr>
          <a:xfrm>
            <a:off x="658713" y="2199233"/>
            <a:ext cx="0" cy="1146423"/>
          </a:xfrm>
          <a:prstGeom prst="line">
            <a:avLst/>
          </a:prstGeom>
          <a:noFill/>
          <a:ln w="47625">
            <a:solidFill>
              <a:srgbClr val="E76F51"/>
            </a:solidFill>
            <a:prstDash val="solid"/>
          </a:ln>
        </p:spPr>
      </p:sp>
      <p:sp>
        <p:nvSpPr>
          <p:cNvPr id="11" name="Text 9"/>
          <p:cNvSpPr/>
          <p:nvPr/>
        </p:nvSpPr>
        <p:spPr>
          <a:xfrm>
            <a:off x="758726" y="2275433"/>
            <a:ext cx="3779329" cy="171450"/>
          </a:xfrm>
          <a:prstGeom prst="rect">
            <a:avLst/>
          </a:prstGeom>
          <a:noFill/>
          <a:ln/>
        </p:spPr>
        <p:txBody>
          <a:bodyPr wrap="square" lIns="0" tIns="0" rIns="0" bIns="0" rtlCol="0" anchor="t"/>
          <a:lstStyle/>
          <a:p>
            <a:pPr marL="0" indent="0" algn="l">
              <a:spcAft>
                <a:spcPts val="800"/>
              </a:spcAft>
              <a:buNone/>
            </a:pPr>
            <a:r>
              <a:rPr lang="en-US" sz="1200" b="1" dirty="0">
                <a:solidFill>
                  <a:srgbClr val="5B4B9E"/>
                </a:solidFill>
                <a:latin typeface="Arial" pitchFamily="34" charset="0"/>
                <a:ea typeface="Arial" pitchFamily="34" charset="-122"/>
                <a:cs typeface="Arial" pitchFamily="34" charset="-120"/>
              </a:rPr>
              <a:t>Hardware Reality</a:t>
            </a:r>
            <a:endParaRPr lang="en-US" sz="1200" dirty="0"/>
          </a:p>
        </p:txBody>
      </p:sp>
      <p:sp>
        <p:nvSpPr>
          <p:cNvPr id="12" name="Text 10"/>
          <p:cNvSpPr/>
          <p:nvPr/>
        </p:nvSpPr>
        <p:spPr>
          <a:xfrm>
            <a:off x="758726" y="2548384"/>
            <a:ext cx="3705225" cy="657671"/>
          </a:xfrm>
          <a:prstGeom prst="rect">
            <a:avLst/>
          </a:prstGeom>
          <a:noFill/>
          <a:ln/>
        </p:spPr>
        <p:txBody>
          <a:bodyPr wrap="square" lIns="101600" tIns="0" rIns="0" bIns="0" rtlCol="0" anchor="t"/>
          <a:lstStyle/>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L1D cache uses VIPT (Virtually Indexed, Physically Tagged)</a:t>
            </a:r>
            <a:endParaRPr lang="en-US" sz="1200" dirty="0"/>
          </a:p>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Multiple VAs can map to same PA (aliasing)</a:t>
            </a:r>
            <a:endParaRPr lang="en-US" sz="1200" dirty="0"/>
          </a:p>
        </p:txBody>
      </p:sp>
      <p:sp>
        <p:nvSpPr>
          <p:cNvPr id="13" name="Text 11"/>
          <p:cNvSpPr/>
          <p:nvPr/>
        </p:nvSpPr>
        <p:spPr>
          <a:xfrm>
            <a:off x="634901" y="3409057"/>
            <a:ext cx="3905250" cy="1583531"/>
          </a:xfrm>
          <a:prstGeom prst="roundRect">
            <a:avLst>
              <a:gd name="adj" fmla="val 4812"/>
            </a:avLst>
          </a:prstGeom>
          <a:solidFill>
            <a:srgbClr val="FFF3E6"/>
          </a:solidFill>
          <a:ln/>
        </p:spPr>
        <p:txBody>
          <a:bodyPr wrap="square" rtlCol="0" anchor="ctr"/>
          <a:lstStyle/>
          <a:p>
            <a:pPr marL="0" indent="0">
              <a:buNone/>
            </a:pPr>
            <a:endParaRPr lang="en-US" dirty="0"/>
          </a:p>
        </p:txBody>
      </p:sp>
      <p:sp>
        <p:nvSpPr>
          <p:cNvPr id="14" name="Shape 12"/>
          <p:cNvSpPr/>
          <p:nvPr/>
        </p:nvSpPr>
        <p:spPr>
          <a:xfrm>
            <a:off x="658713" y="3409057"/>
            <a:ext cx="0" cy="1583531"/>
          </a:xfrm>
          <a:prstGeom prst="line">
            <a:avLst/>
          </a:prstGeom>
          <a:noFill/>
          <a:ln w="47625">
            <a:solidFill>
              <a:srgbClr val="E76F51"/>
            </a:solidFill>
            <a:prstDash val="solid"/>
          </a:ln>
        </p:spPr>
      </p:sp>
      <p:sp>
        <p:nvSpPr>
          <p:cNvPr id="15" name="Text 13"/>
          <p:cNvSpPr/>
          <p:nvPr/>
        </p:nvSpPr>
        <p:spPr>
          <a:xfrm>
            <a:off x="758726" y="3485257"/>
            <a:ext cx="3779329" cy="171450"/>
          </a:xfrm>
          <a:prstGeom prst="rect">
            <a:avLst/>
          </a:prstGeom>
          <a:noFill/>
          <a:ln/>
        </p:spPr>
        <p:txBody>
          <a:bodyPr wrap="square" lIns="0" tIns="0" rIns="0" bIns="0" rtlCol="0" anchor="t"/>
          <a:lstStyle/>
          <a:p>
            <a:pPr marL="0" indent="0" algn="l">
              <a:spcAft>
                <a:spcPts val="800"/>
              </a:spcAft>
              <a:buNone/>
            </a:pPr>
            <a:r>
              <a:rPr lang="en-US" sz="1200" b="1" dirty="0">
                <a:solidFill>
                  <a:srgbClr val="5B4B9E"/>
                </a:solidFill>
                <a:latin typeface="Arial" pitchFamily="34" charset="0"/>
                <a:ea typeface="Arial" pitchFamily="34" charset="-122"/>
                <a:cs typeface="Arial" pitchFamily="34" charset="-120"/>
              </a:rPr>
              <a:t>Problem</a:t>
            </a:r>
            <a:endParaRPr lang="en-US" sz="1200" dirty="0"/>
          </a:p>
        </p:txBody>
      </p:sp>
      <p:sp>
        <p:nvSpPr>
          <p:cNvPr id="16" name="Text 14"/>
          <p:cNvSpPr/>
          <p:nvPr/>
        </p:nvSpPr>
        <p:spPr>
          <a:xfrm>
            <a:off x="758726" y="3758208"/>
            <a:ext cx="3705225" cy="1158180"/>
          </a:xfrm>
          <a:prstGeom prst="roundRect">
            <a:avLst>
              <a:gd name="adj" fmla="val 6579"/>
            </a:avLst>
          </a:prstGeom>
          <a:solidFill>
            <a:srgbClr val="FFFFFF"/>
          </a:solidFill>
          <a:ln/>
        </p:spPr>
        <p:txBody>
          <a:bodyPr wrap="square" rtlCol="0" anchor="ctr"/>
          <a:lstStyle/>
          <a:p>
            <a:pPr marL="0" indent="0">
              <a:buNone/>
            </a:pPr>
            <a:endParaRPr lang="en-US" dirty="0"/>
          </a:p>
        </p:txBody>
      </p:sp>
      <p:sp>
        <p:nvSpPr>
          <p:cNvPr id="17" name="Text 15"/>
          <p:cNvSpPr/>
          <p:nvPr/>
        </p:nvSpPr>
        <p:spPr>
          <a:xfrm>
            <a:off x="799398" y="3986808"/>
            <a:ext cx="3623882" cy="274290"/>
          </a:xfrm>
          <a:prstGeom prst="rect">
            <a:avLst/>
          </a:prstGeom>
          <a:noFill/>
          <a:ln/>
        </p:spPr>
        <p:txBody>
          <a:bodyPr wrap="square" lIns="0" tIns="0" rIns="0" bIns="0" rtlCol="0" anchor="t"/>
          <a:lstStyle/>
          <a:p>
            <a:pPr marL="0" indent="0" algn="ctr">
              <a:lnSpc>
                <a:spcPts val="2160"/>
              </a:lnSpc>
              <a:spcBef>
                <a:spcPts val="1200"/>
              </a:spcBef>
              <a:spcAft>
                <a:spcPts val="1200"/>
              </a:spcAft>
              <a:buNone/>
            </a:pPr>
            <a:r>
              <a:rPr lang="en-US" sz="1200" dirty="0">
                <a:solidFill>
                  <a:srgbClr val="264653"/>
                </a:solidFill>
                <a:latin typeface="Arial" pitchFamily="34" charset="0"/>
                <a:ea typeface="Arial" pitchFamily="34" charset="-122"/>
                <a:cs typeface="Arial" pitchFamily="34" charset="-120"/>
              </a:rPr>
              <a:t>VA₁ → PA → Cache Line</a:t>
            </a:r>
            <a:endParaRPr lang="en-US" sz="1200" dirty="0"/>
          </a:p>
        </p:txBody>
      </p:sp>
      <p:sp>
        <p:nvSpPr>
          <p:cNvPr id="18" name="Text 16"/>
          <p:cNvSpPr/>
          <p:nvPr/>
        </p:nvSpPr>
        <p:spPr>
          <a:xfrm>
            <a:off x="799398" y="4413498"/>
            <a:ext cx="3623882" cy="274290"/>
          </a:xfrm>
          <a:prstGeom prst="rect">
            <a:avLst/>
          </a:prstGeom>
          <a:noFill/>
          <a:ln/>
        </p:spPr>
        <p:txBody>
          <a:bodyPr wrap="square" lIns="0" tIns="0" rIns="0" bIns="0" rtlCol="0" anchor="t"/>
          <a:lstStyle/>
          <a:p>
            <a:pPr marL="0" indent="0" algn="ctr">
              <a:lnSpc>
                <a:spcPts val="2160"/>
              </a:lnSpc>
              <a:spcBef>
                <a:spcPts val="1200"/>
              </a:spcBef>
              <a:spcAft>
                <a:spcPts val="1200"/>
              </a:spcAft>
              <a:buNone/>
            </a:pPr>
            <a:r>
              <a:rPr lang="en-US" sz="1200" dirty="0">
                <a:solidFill>
                  <a:srgbClr val="264653"/>
                </a:solidFill>
                <a:latin typeface="Arial" pitchFamily="34" charset="0"/>
                <a:ea typeface="Arial" pitchFamily="34" charset="-122"/>
                <a:cs typeface="Arial" pitchFamily="34" charset="-120"/>
              </a:rPr>
              <a:t>VA₂ → PA → Same Cache Line </a:t>
            </a:r>
            <a:r>
              <a:rPr lang="en-US" sz="1200" b="1" dirty="0">
                <a:solidFill>
                  <a:srgbClr val="E76F51"/>
                </a:solidFill>
                <a:latin typeface="Arial" pitchFamily="34" charset="0"/>
                <a:ea typeface="Arial" pitchFamily="34" charset="-122"/>
                <a:cs typeface="Arial" pitchFamily="34" charset="-120"/>
              </a:rPr>
              <a:t>(aliasing!)</a:t>
            </a:r>
            <a:endParaRPr lang="en-US" sz="1200" dirty="0"/>
          </a:p>
        </p:txBody>
      </p:sp>
      <p:sp>
        <p:nvSpPr>
          <p:cNvPr id="19" name="Text 17"/>
          <p:cNvSpPr/>
          <p:nvPr/>
        </p:nvSpPr>
        <p:spPr>
          <a:xfrm>
            <a:off x="4730651" y="888950"/>
            <a:ext cx="3983507" cy="209550"/>
          </a:xfrm>
          <a:prstGeom prst="rect">
            <a:avLst/>
          </a:prstGeom>
          <a:noFill/>
          <a:ln/>
        </p:spPr>
        <p:txBody>
          <a:bodyPr wrap="square" lIns="0" tIns="0" rIns="0" bIns="0" rtlCol="0" anchor="t"/>
          <a:lstStyle/>
          <a:p>
            <a:pPr marL="0" indent="0" algn="l">
              <a:spcAft>
                <a:spcPts val="1200"/>
              </a:spcAft>
              <a:buNone/>
            </a:pPr>
            <a:r>
              <a:rPr lang="en-US" sz="1400" b="1" dirty="0">
                <a:solidFill>
                  <a:srgbClr val="2A9D8F"/>
                </a:solidFill>
                <a:latin typeface="Arial" pitchFamily="34" charset="0"/>
                <a:ea typeface="Arial" pitchFamily="34" charset="-122"/>
                <a:cs typeface="Arial" pitchFamily="34" charset="-120"/>
              </a:rPr>
              <a:t>Our Solution</a:t>
            </a:r>
            <a:endParaRPr lang="en-US" sz="1400" dirty="0"/>
          </a:p>
        </p:txBody>
      </p:sp>
      <p:sp>
        <p:nvSpPr>
          <p:cNvPr id="20" name="Text 18"/>
          <p:cNvSpPr/>
          <p:nvPr/>
        </p:nvSpPr>
        <p:spPr>
          <a:xfrm>
            <a:off x="4730651" y="1250900"/>
            <a:ext cx="3905399" cy="1209824"/>
          </a:xfrm>
          <a:prstGeom prst="roundRect">
            <a:avLst>
              <a:gd name="adj" fmla="val 6298"/>
            </a:avLst>
          </a:prstGeom>
          <a:solidFill>
            <a:srgbClr val="E8F8F5"/>
          </a:solidFill>
          <a:ln/>
        </p:spPr>
        <p:txBody>
          <a:bodyPr wrap="square" rtlCol="0" anchor="ctr"/>
          <a:lstStyle/>
          <a:p>
            <a:pPr marL="0" indent="0">
              <a:buNone/>
            </a:pPr>
            <a:endParaRPr lang="en-US" dirty="0"/>
          </a:p>
        </p:txBody>
      </p:sp>
      <p:sp>
        <p:nvSpPr>
          <p:cNvPr id="21" name="Shape 19"/>
          <p:cNvSpPr/>
          <p:nvPr/>
        </p:nvSpPr>
        <p:spPr>
          <a:xfrm>
            <a:off x="4754463" y="1250900"/>
            <a:ext cx="0" cy="1209824"/>
          </a:xfrm>
          <a:prstGeom prst="line">
            <a:avLst/>
          </a:prstGeom>
          <a:noFill/>
          <a:ln w="47625">
            <a:solidFill>
              <a:srgbClr val="2A9D8F"/>
            </a:solidFill>
            <a:prstDash val="solid"/>
          </a:ln>
        </p:spPr>
      </p:sp>
      <p:sp>
        <p:nvSpPr>
          <p:cNvPr id="22" name="Text 20"/>
          <p:cNvSpPr/>
          <p:nvPr/>
        </p:nvSpPr>
        <p:spPr>
          <a:xfrm>
            <a:off x="4854476" y="1327100"/>
            <a:ext cx="3779481" cy="171450"/>
          </a:xfrm>
          <a:prstGeom prst="rect">
            <a:avLst/>
          </a:prstGeom>
          <a:noFill/>
          <a:ln/>
        </p:spPr>
        <p:txBody>
          <a:bodyPr wrap="square" lIns="0" tIns="0" rIns="0" bIns="0" rtlCol="0" anchor="t"/>
          <a:lstStyle/>
          <a:p>
            <a:pPr marL="0" indent="0" algn="l">
              <a:spcAft>
                <a:spcPts val="800"/>
              </a:spcAft>
              <a:buNone/>
            </a:pPr>
            <a:r>
              <a:rPr lang="en-US" sz="1200" b="1" dirty="0">
                <a:solidFill>
                  <a:srgbClr val="5B4B9E"/>
                </a:solidFill>
                <a:latin typeface="Arial" pitchFamily="34" charset="0"/>
                <a:ea typeface="Arial" pitchFamily="34" charset="-122"/>
                <a:cs typeface="Arial" pitchFamily="34" charset="-120"/>
              </a:rPr>
              <a:t>Track Last-Accessed VA</a:t>
            </a:r>
            <a:endParaRPr lang="en-US" sz="1200" dirty="0"/>
          </a:p>
        </p:txBody>
      </p:sp>
      <p:sp>
        <p:nvSpPr>
          <p:cNvPr id="23" name="Text 21"/>
          <p:cNvSpPr/>
          <p:nvPr/>
        </p:nvSpPr>
        <p:spPr>
          <a:xfrm>
            <a:off x="4854476" y="1600051"/>
            <a:ext cx="3705374" cy="721072"/>
          </a:xfrm>
          <a:prstGeom prst="rect">
            <a:avLst/>
          </a:prstGeom>
          <a:noFill/>
          <a:ln/>
        </p:spPr>
        <p:txBody>
          <a:bodyPr wrap="square" lIns="101600" tIns="0" rIns="0" bIns="0" rtlCol="0" anchor="t"/>
          <a:lstStyle/>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Cache records last-accessed VA for each cacheline</a:t>
            </a:r>
            <a:endParaRPr lang="en-US" sz="1200" dirty="0"/>
          </a:p>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Store extra 22-bit hash alongside cacheline</a:t>
            </a:r>
            <a:endParaRPr lang="en-US" sz="1200" dirty="0"/>
          </a:p>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Used for cuckoo filter updates</a:t>
            </a:r>
            <a:endParaRPr lang="en-US" sz="1200" dirty="0"/>
          </a:p>
        </p:txBody>
      </p:sp>
      <p:sp>
        <p:nvSpPr>
          <p:cNvPr id="24" name="Text 22"/>
          <p:cNvSpPr/>
          <p:nvPr/>
        </p:nvSpPr>
        <p:spPr>
          <a:xfrm>
            <a:off x="4730651" y="2524125"/>
            <a:ext cx="3905399" cy="1209824"/>
          </a:xfrm>
          <a:prstGeom prst="roundRect">
            <a:avLst>
              <a:gd name="adj" fmla="val 6298"/>
            </a:avLst>
          </a:prstGeom>
          <a:solidFill>
            <a:srgbClr val="E8F8F5"/>
          </a:solidFill>
          <a:ln/>
        </p:spPr>
        <p:txBody>
          <a:bodyPr wrap="square" rtlCol="0" anchor="ctr"/>
          <a:lstStyle/>
          <a:p>
            <a:pPr marL="0" indent="0">
              <a:buNone/>
            </a:pPr>
            <a:endParaRPr lang="en-US" dirty="0"/>
          </a:p>
        </p:txBody>
      </p:sp>
      <p:sp>
        <p:nvSpPr>
          <p:cNvPr id="25" name="Shape 23"/>
          <p:cNvSpPr/>
          <p:nvPr/>
        </p:nvSpPr>
        <p:spPr>
          <a:xfrm>
            <a:off x="4754463" y="2524125"/>
            <a:ext cx="0" cy="1209824"/>
          </a:xfrm>
          <a:prstGeom prst="line">
            <a:avLst/>
          </a:prstGeom>
          <a:noFill/>
          <a:ln w="47625">
            <a:solidFill>
              <a:srgbClr val="2A9D8F"/>
            </a:solidFill>
            <a:prstDash val="solid"/>
          </a:ln>
        </p:spPr>
      </p:sp>
      <p:sp>
        <p:nvSpPr>
          <p:cNvPr id="26" name="Text 24"/>
          <p:cNvSpPr/>
          <p:nvPr/>
        </p:nvSpPr>
        <p:spPr>
          <a:xfrm>
            <a:off x="4854476" y="2600325"/>
            <a:ext cx="3779481" cy="171450"/>
          </a:xfrm>
          <a:prstGeom prst="rect">
            <a:avLst/>
          </a:prstGeom>
          <a:noFill/>
          <a:ln/>
        </p:spPr>
        <p:txBody>
          <a:bodyPr wrap="square" lIns="0" tIns="0" rIns="0" bIns="0" rtlCol="0" anchor="t"/>
          <a:lstStyle/>
          <a:p>
            <a:pPr marL="0" indent="0" algn="l">
              <a:spcAft>
                <a:spcPts val="800"/>
              </a:spcAft>
              <a:buNone/>
            </a:pPr>
            <a:r>
              <a:rPr lang="en-US" sz="1200" b="1" dirty="0">
                <a:solidFill>
                  <a:srgbClr val="5B4B9E"/>
                </a:solidFill>
                <a:latin typeface="Arial" pitchFamily="34" charset="0"/>
                <a:ea typeface="Arial" pitchFamily="34" charset="-122"/>
                <a:cs typeface="Arial" pitchFamily="34" charset="-120"/>
              </a:rPr>
              <a:t>Implementation</a:t>
            </a:r>
            <a:endParaRPr lang="en-US" sz="1200" dirty="0"/>
          </a:p>
        </p:txBody>
      </p:sp>
      <p:sp>
        <p:nvSpPr>
          <p:cNvPr id="27" name="Text 25"/>
          <p:cNvSpPr/>
          <p:nvPr/>
        </p:nvSpPr>
        <p:spPr>
          <a:xfrm>
            <a:off x="4854476" y="2873276"/>
            <a:ext cx="3705374" cy="721072"/>
          </a:xfrm>
          <a:prstGeom prst="rect">
            <a:avLst/>
          </a:prstGeom>
          <a:noFill/>
          <a:ln/>
        </p:spPr>
        <p:txBody>
          <a:bodyPr wrap="square" lIns="101600" tIns="0" rIns="0" bIns="0" rtlCol="0" anchor="t"/>
          <a:lstStyle/>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Extra storage in Shadow Cache</a:t>
            </a:r>
            <a:endParaRPr lang="en-US" sz="1200" dirty="0"/>
          </a:p>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22-bit index+fingerprint per cacheline</a:t>
            </a:r>
            <a:endParaRPr lang="en-US" sz="1200" dirty="0"/>
          </a:p>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Handles most common cases efficiently</a:t>
            </a:r>
            <a:endParaRPr lang="en-US" sz="1200" dirty="0"/>
          </a:p>
        </p:txBody>
      </p:sp>
      <p:sp>
        <p:nvSpPr>
          <p:cNvPr id="28" name="Text 26"/>
          <p:cNvSpPr/>
          <p:nvPr/>
        </p:nvSpPr>
        <p:spPr>
          <a:xfrm>
            <a:off x="4730651" y="3797350"/>
            <a:ext cx="3905399" cy="1218456"/>
          </a:xfrm>
          <a:prstGeom prst="roundRect">
            <a:avLst>
              <a:gd name="adj" fmla="val 6254"/>
            </a:avLst>
          </a:prstGeom>
          <a:solidFill>
            <a:srgbClr val="FFF3E6"/>
          </a:solidFill>
          <a:ln/>
        </p:spPr>
        <p:txBody>
          <a:bodyPr wrap="square" rtlCol="0" anchor="ctr"/>
          <a:lstStyle/>
          <a:p>
            <a:pPr marL="0" indent="0">
              <a:buNone/>
            </a:pPr>
            <a:endParaRPr lang="en-US" dirty="0"/>
          </a:p>
        </p:txBody>
      </p:sp>
      <p:sp>
        <p:nvSpPr>
          <p:cNvPr id="29" name="Shape 27"/>
          <p:cNvSpPr/>
          <p:nvPr/>
        </p:nvSpPr>
        <p:spPr>
          <a:xfrm>
            <a:off x="4749701" y="3797350"/>
            <a:ext cx="0" cy="1218456"/>
          </a:xfrm>
          <a:prstGeom prst="line">
            <a:avLst/>
          </a:prstGeom>
          <a:noFill/>
          <a:ln w="38100">
            <a:solidFill>
              <a:srgbClr val="E76F51"/>
            </a:solidFill>
            <a:prstDash val="solid"/>
          </a:ln>
        </p:spPr>
      </p:sp>
      <p:sp>
        <p:nvSpPr>
          <p:cNvPr id="30" name="Text 28"/>
          <p:cNvSpPr/>
          <p:nvPr/>
        </p:nvSpPr>
        <p:spPr>
          <a:xfrm>
            <a:off x="4832152" y="3860750"/>
            <a:ext cx="3815307" cy="152400"/>
          </a:xfrm>
          <a:prstGeom prst="rect">
            <a:avLst/>
          </a:prstGeom>
          <a:noFill/>
          <a:ln/>
        </p:spPr>
        <p:txBody>
          <a:bodyPr wrap="square" lIns="0" tIns="0" rIns="0" bIns="0" rtlCol="0" anchor="t"/>
          <a:lstStyle/>
          <a:p>
            <a:pPr marL="0" indent="0" algn="l">
              <a:spcAft>
                <a:spcPts val="400"/>
              </a:spcAft>
              <a:buNone/>
            </a:pPr>
            <a:r>
              <a:rPr lang="en-US" sz="1100" b="1" dirty="0">
                <a:solidFill>
                  <a:srgbClr val="264653"/>
                </a:solidFill>
                <a:latin typeface="Arial" pitchFamily="34" charset="0"/>
                <a:ea typeface="Arial" pitchFamily="34" charset="-122"/>
                <a:cs typeface="Arial" pitchFamily="34" charset="-120"/>
              </a:rPr>
              <a:t>Note on False Negatives</a:t>
            </a:r>
            <a:endParaRPr lang="en-US" sz="1100" dirty="0"/>
          </a:p>
        </p:txBody>
      </p:sp>
      <p:sp>
        <p:nvSpPr>
          <p:cNvPr id="31" name="Text 29"/>
          <p:cNvSpPr/>
          <p:nvPr/>
        </p:nvSpPr>
        <p:spPr>
          <a:xfrm>
            <a:off x="4832152" y="4063901"/>
            <a:ext cx="3815307" cy="888504"/>
          </a:xfrm>
          <a:prstGeom prst="rect">
            <a:avLst/>
          </a:prstGeom>
          <a:noFill/>
          <a:ln/>
        </p:spPr>
        <p:txBody>
          <a:bodyPr wrap="square" lIns="0" tIns="0" rIns="0" bIns="0" rtlCol="0" anchor="t"/>
          <a:lstStyle/>
          <a:p>
            <a:pPr marL="0" indent="0" algn="l">
              <a:lnSpc>
                <a:spcPts val="1400"/>
              </a:lnSpc>
              <a:buNone/>
            </a:pPr>
            <a:r>
              <a:rPr lang="en-US" sz="1000" dirty="0">
                <a:solidFill>
                  <a:srgbClr val="264653"/>
                </a:solidFill>
                <a:latin typeface="Arial" pitchFamily="34" charset="0"/>
                <a:ea typeface="Arial" pitchFamily="34" charset="-122"/>
                <a:cs typeface="Arial" pitchFamily="34" charset="-120"/>
              </a:rPr>
              <a:t>Cuckoo Filter itself has zero false negatives. However, due to VIPT aliasing, we only track the last-accessed VA per cacheline. This may cause unnecessary prefetches when different VAs alias to the same cacheline, but the impact is minimal since aliasing is rare.</a:t>
            </a:r>
            <a:endParaRPr lang="en-US" sz="1000" dirty="0"/>
          </a:p>
        </p:txBody>
      </p:sp>
      <p:sp>
        <p:nvSpPr>
          <p:cNvPr id="32" name="文本框 31">
            <a:extLst>
              <a:ext uri="{FF2B5EF4-FFF2-40B4-BE49-F238E27FC236}">
                <a16:creationId xmlns:a16="http://schemas.microsoft.com/office/drawing/2014/main" id="{5234D3F9-7BEB-F7D2-326C-497948F243F8}"/>
              </a:ext>
            </a:extLst>
          </p:cNvPr>
          <p:cNvSpPr txBox="1"/>
          <p:nvPr/>
        </p:nvSpPr>
        <p:spPr>
          <a:xfrm>
            <a:off x="8395452" y="4621065"/>
            <a:ext cx="529984" cy="369332"/>
          </a:xfrm>
          <a:prstGeom prst="rect">
            <a:avLst/>
          </a:prstGeom>
          <a:noFill/>
        </p:spPr>
        <p:txBody>
          <a:bodyPr wrap="square" rtlCol="0">
            <a:spAutoFit/>
          </a:bodyPr>
          <a:lstStyle/>
          <a:p>
            <a:r>
              <a:rPr lang="en-US" altLang="zh-CN"/>
              <a:t>10</a:t>
            </a: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825401"/>
          </a:xfrm>
          <a:prstGeom prst="rect">
            <a:avLst/>
          </a:prstGeom>
          <a:solidFill>
            <a:srgbClr val="5B4B9E"/>
          </a:solidFill>
          <a:ln/>
        </p:spPr>
        <p:txBody>
          <a:bodyPr wrap="square" rtlCol="0" anchor="ctr"/>
          <a:lstStyle/>
          <a:p>
            <a:pPr marL="0" indent="0">
              <a:buNone/>
            </a:pPr>
            <a:endParaRPr lang="en-US" dirty="0"/>
          </a:p>
        </p:txBody>
      </p:sp>
      <p:sp>
        <p:nvSpPr>
          <p:cNvPr id="3" name="Text 1"/>
          <p:cNvSpPr/>
          <p:nvPr/>
        </p:nvSpPr>
        <p:spPr>
          <a:xfrm>
            <a:off x="634901" y="126950"/>
            <a:ext cx="8031682" cy="409575"/>
          </a:xfrm>
          <a:prstGeom prst="rect">
            <a:avLst/>
          </a:prstGeom>
          <a:noFill/>
          <a:ln/>
        </p:spPr>
        <p:txBody>
          <a:bodyPr wrap="square" lIns="0" tIns="0" rIns="0" bIns="0" rtlCol="0" anchor="t"/>
          <a:lstStyle/>
          <a:p>
            <a:pPr marL="0" indent="0" algn="l">
              <a:buNone/>
            </a:pPr>
            <a:r>
              <a:rPr lang="en-US" sz="2800" b="1" dirty="0">
                <a:solidFill>
                  <a:srgbClr val="FFFFFF"/>
                </a:solidFill>
                <a:latin typeface="Arial" pitchFamily="34" charset="0"/>
                <a:ea typeface="Arial" pitchFamily="34" charset="-122"/>
                <a:cs typeface="Arial" pitchFamily="34" charset="-120"/>
              </a:rPr>
              <a:t>Opt. 3 - Dynamic Confidence Threshold</a:t>
            </a:r>
            <a:endParaRPr lang="en-US" sz="2800" dirty="0"/>
          </a:p>
        </p:txBody>
      </p:sp>
      <p:sp>
        <p:nvSpPr>
          <p:cNvPr id="4" name="Text 2"/>
          <p:cNvSpPr/>
          <p:nvPr/>
        </p:nvSpPr>
        <p:spPr>
          <a:xfrm>
            <a:off x="634901" y="888950"/>
            <a:ext cx="3983355" cy="209550"/>
          </a:xfrm>
          <a:prstGeom prst="rect">
            <a:avLst/>
          </a:prstGeom>
          <a:noFill/>
          <a:ln/>
        </p:spPr>
        <p:txBody>
          <a:bodyPr wrap="square" lIns="0" tIns="0" rIns="0" bIns="0" rtlCol="0" anchor="t"/>
          <a:lstStyle/>
          <a:p>
            <a:pPr marL="0" indent="0" algn="l">
              <a:spcAft>
                <a:spcPts val="1500"/>
              </a:spcAft>
              <a:buNone/>
            </a:pPr>
            <a:r>
              <a:rPr lang="en-US" sz="1400" b="1" dirty="0">
                <a:solidFill>
                  <a:srgbClr val="2A9D8F"/>
                </a:solidFill>
                <a:latin typeface="Arial" pitchFamily="34" charset="0"/>
                <a:ea typeface="Arial" pitchFamily="34" charset="-122"/>
                <a:cs typeface="Arial" pitchFamily="34" charset="-120"/>
              </a:rPr>
              <a:t>Observation</a:t>
            </a:r>
            <a:endParaRPr lang="en-US" sz="1400" dirty="0"/>
          </a:p>
        </p:txBody>
      </p:sp>
      <p:sp>
        <p:nvSpPr>
          <p:cNvPr id="5" name="Text 3"/>
          <p:cNvSpPr/>
          <p:nvPr/>
        </p:nvSpPr>
        <p:spPr>
          <a:xfrm>
            <a:off x="634901" y="1289000"/>
            <a:ext cx="3905250" cy="1004143"/>
          </a:xfrm>
          <a:prstGeom prst="roundRect">
            <a:avLst>
              <a:gd name="adj" fmla="val 10118"/>
            </a:avLst>
          </a:prstGeom>
          <a:solidFill>
            <a:srgbClr val="FFF3E6"/>
          </a:solidFill>
          <a:ln/>
        </p:spPr>
        <p:txBody>
          <a:bodyPr wrap="square" rtlCol="0" anchor="ctr"/>
          <a:lstStyle/>
          <a:p>
            <a:pPr marL="0" indent="0">
              <a:buNone/>
            </a:pPr>
            <a:endParaRPr lang="en-US" dirty="0"/>
          </a:p>
        </p:txBody>
      </p:sp>
      <p:sp>
        <p:nvSpPr>
          <p:cNvPr id="6" name="Shape 4"/>
          <p:cNvSpPr/>
          <p:nvPr/>
        </p:nvSpPr>
        <p:spPr>
          <a:xfrm>
            <a:off x="658713" y="1289000"/>
            <a:ext cx="0" cy="1004143"/>
          </a:xfrm>
          <a:prstGeom prst="line">
            <a:avLst/>
          </a:prstGeom>
          <a:noFill/>
          <a:ln w="47625">
            <a:solidFill>
              <a:srgbClr val="E76F51"/>
            </a:solidFill>
            <a:prstDash val="solid"/>
          </a:ln>
        </p:spPr>
      </p:sp>
      <p:sp>
        <p:nvSpPr>
          <p:cNvPr id="7" name="Text 5"/>
          <p:cNvSpPr/>
          <p:nvPr/>
        </p:nvSpPr>
        <p:spPr>
          <a:xfrm>
            <a:off x="758726" y="1365200"/>
            <a:ext cx="3779329" cy="171450"/>
          </a:xfrm>
          <a:prstGeom prst="rect">
            <a:avLst/>
          </a:prstGeom>
          <a:noFill/>
          <a:ln/>
        </p:spPr>
        <p:txBody>
          <a:bodyPr wrap="square" lIns="0" tIns="0" rIns="0" bIns="0" rtlCol="0" anchor="t"/>
          <a:lstStyle/>
          <a:p>
            <a:pPr marL="0" indent="0" algn="l">
              <a:spcAft>
                <a:spcPts val="1000"/>
              </a:spcAft>
              <a:buNone/>
            </a:pPr>
            <a:r>
              <a:rPr lang="en-US" sz="1200" b="1" dirty="0">
                <a:solidFill>
                  <a:srgbClr val="5B4B9E"/>
                </a:solidFill>
                <a:latin typeface="Arial" pitchFamily="34" charset="0"/>
                <a:ea typeface="Arial" pitchFamily="34" charset="-122"/>
                <a:cs typeface="Arial" pitchFamily="34" charset="-120"/>
              </a:rPr>
              <a:t>Some Load PCs Have Semi-unpredictable Patterns</a:t>
            </a:r>
            <a:endParaRPr lang="en-US" sz="1200" dirty="0"/>
          </a:p>
        </p:txBody>
      </p:sp>
      <p:sp>
        <p:nvSpPr>
          <p:cNvPr id="8" name="Text 6"/>
          <p:cNvSpPr/>
          <p:nvPr/>
        </p:nvSpPr>
        <p:spPr>
          <a:xfrm>
            <a:off x="758726" y="1663601"/>
            <a:ext cx="3705225" cy="489942"/>
          </a:xfrm>
          <a:prstGeom prst="rect">
            <a:avLst/>
          </a:prstGeom>
          <a:noFill/>
          <a:ln/>
        </p:spPr>
        <p:txBody>
          <a:bodyPr wrap="square" lIns="114300" tIns="0" rIns="0" bIns="0" rtlCol="0" anchor="t"/>
          <a:lstStyle/>
          <a:p>
            <a:pPr marL="114300" indent="-114300" algn="l">
              <a:lnSpc>
                <a:spcPts val="168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Accesses: A, A+2, B, B+2, C, C+2, ...</a:t>
            </a:r>
            <a:endParaRPr lang="en-US" sz="1200" dirty="0"/>
          </a:p>
          <a:p>
            <a:pPr marL="114300" indent="-114300" algn="l">
              <a:lnSpc>
                <a:spcPts val="168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Where A, B, C are random addresses</a:t>
            </a:r>
            <a:endParaRPr lang="en-US" sz="1200" dirty="0"/>
          </a:p>
        </p:txBody>
      </p:sp>
      <p:sp>
        <p:nvSpPr>
          <p:cNvPr id="9" name="Text 7"/>
          <p:cNvSpPr/>
          <p:nvPr/>
        </p:nvSpPr>
        <p:spPr>
          <a:xfrm>
            <a:off x="634901" y="2356545"/>
            <a:ext cx="3905250" cy="1494086"/>
          </a:xfrm>
          <a:prstGeom prst="roundRect">
            <a:avLst>
              <a:gd name="adj" fmla="val 6800"/>
            </a:avLst>
          </a:prstGeom>
          <a:solidFill>
            <a:srgbClr val="FFF3E6"/>
          </a:solidFill>
          <a:ln/>
        </p:spPr>
        <p:txBody>
          <a:bodyPr wrap="square" rtlCol="0" anchor="ctr"/>
          <a:lstStyle/>
          <a:p>
            <a:pPr marL="0" indent="0">
              <a:buNone/>
            </a:pPr>
            <a:endParaRPr lang="en-US" dirty="0"/>
          </a:p>
        </p:txBody>
      </p:sp>
      <p:sp>
        <p:nvSpPr>
          <p:cNvPr id="10" name="Shape 8"/>
          <p:cNvSpPr/>
          <p:nvPr/>
        </p:nvSpPr>
        <p:spPr>
          <a:xfrm>
            <a:off x="658713" y="2356545"/>
            <a:ext cx="0" cy="1494086"/>
          </a:xfrm>
          <a:prstGeom prst="line">
            <a:avLst/>
          </a:prstGeom>
          <a:noFill/>
          <a:ln w="47625">
            <a:solidFill>
              <a:srgbClr val="E76F51"/>
            </a:solidFill>
            <a:prstDash val="solid"/>
          </a:ln>
        </p:spPr>
      </p:sp>
      <p:sp>
        <p:nvSpPr>
          <p:cNvPr id="11" name="Text 9"/>
          <p:cNvSpPr/>
          <p:nvPr/>
        </p:nvSpPr>
        <p:spPr>
          <a:xfrm>
            <a:off x="758726" y="2432745"/>
            <a:ext cx="3779329" cy="171450"/>
          </a:xfrm>
          <a:prstGeom prst="rect">
            <a:avLst/>
          </a:prstGeom>
          <a:noFill/>
          <a:ln/>
        </p:spPr>
        <p:txBody>
          <a:bodyPr wrap="square" lIns="0" tIns="0" rIns="0" bIns="0" rtlCol="0" anchor="t"/>
          <a:lstStyle/>
          <a:p>
            <a:pPr marL="0" indent="0" algn="l">
              <a:spcAft>
                <a:spcPts val="1000"/>
              </a:spcAft>
              <a:buNone/>
            </a:pPr>
            <a:r>
              <a:rPr lang="en-US" sz="1200" b="1" dirty="0">
                <a:solidFill>
                  <a:srgbClr val="5B4B9E"/>
                </a:solidFill>
                <a:latin typeface="Arial" pitchFamily="34" charset="0"/>
                <a:ea typeface="Arial" pitchFamily="34" charset="-122"/>
                <a:cs typeface="Arial" pitchFamily="34" charset="-120"/>
              </a:rPr>
              <a:t>Problem</a:t>
            </a:r>
            <a:endParaRPr lang="en-US" sz="1200" dirty="0"/>
          </a:p>
        </p:txBody>
      </p:sp>
      <p:sp>
        <p:nvSpPr>
          <p:cNvPr id="12" name="Text 10"/>
          <p:cNvSpPr/>
          <p:nvPr/>
        </p:nvSpPr>
        <p:spPr>
          <a:xfrm>
            <a:off x="758726" y="2731145"/>
            <a:ext cx="3705225" cy="979884"/>
          </a:xfrm>
          <a:prstGeom prst="rect">
            <a:avLst/>
          </a:prstGeom>
          <a:noFill/>
          <a:ln/>
        </p:spPr>
        <p:txBody>
          <a:bodyPr wrap="square" lIns="114300" tIns="0" rIns="0" bIns="0" rtlCol="0" anchor="t"/>
          <a:lstStyle/>
          <a:p>
            <a:pPr marL="114300" indent="-114300" algn="l">
              <a:lnSpc>
                <a:spcPts val="168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Delta=2 appears frequently</a:t>
            </a:r>
            <a:endParaRPr lang="en-US" sz="1200" dirty="0"/>
          </a:p>
          <a:p>
            <a:pPr marL="114300" indent="-114300" algn="l">
              <a:lnSpc>
                <a:spcPts val="168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Prefetches A+4, B+4, C+4 (often useless!)</a:t>
            </a:r>
            <a:endParaRPr lang="en-US" sz="1200" dirty="0"/>
          </a:p>
          <a:p>
            <a:pPr marL="114300" indent="-114300" algn="l">
              <a:lnSpc>
                <a:spcPts val="168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Short access intervals → prefetches arrive too late even for A+2, B+2, ...</a:t>
            </a:r>
            <a:endParaRPr lang="en-US" sz="1200" dirty="0"/>
          </a:p>
        </p:txBody>
      </p:sp>
      <p:sp>
        <p:nvSpPr>
          <p:cNvPr id="13" name="Text 11"/>
          <p:cNvSpPr/>
          <p:nvPr/>
        </p:nvSpPr>
        <p:spPr>
          <a:xfrm>
            <a:off x="4730651" y="888950"/>
            <a:ext cx="3983507" cy="209550"/>
          </a:xfrm>
          <a:prstGeom prst="rect">
            <a:avLst/>
          </a:prstGeom>
          <a:noFill/>
          <a:ln/>
        </p:spPr>
        <p:txBody>
          <a:bodyPr wrap="square" lIns="0" tIns="0" rIns="0" bIns="0" rtlCol="0" anchor="t"/>
          <a:lstStyle/>
          <a:p>
            <a:pPr marL="0" indent="0" algn="l">
              <a:spcAft>
                <a:spcPts val="1500"/>
              </a:spcAft>
              <a:buNone/>
            </a:pPr>
            <a:r>
              <a:rPr lang="en-US" sz="1400" b="1" dirty="0">
                <a:solidFill>
                  <a:srgbClr val="2A9D8F"/>
                </a:solidFill>
                <a:latin typeface="Arial" pitchFamily="34" charset="0"/>
                <a:ea typeface="Arial" pitchFamily="34" charset="-122"/>
                <a:cs typeface="Arial" pitchFamily="34" charset="-120"/>
              </a:rPr>
              <a:t>Solution: Per-PC Throttling</a:t>
            </a:r>
            <a:endParaRPr lang="en-US" sz="1400" dirty="0"/>
          </a:p>
        </p:txBody>
      </p:sp>
      <p:sp>
        <p:nvSpPr>
          <p:cNvPr id="14" name="Text 12"/>
          <p:cNvSpPr/>
          <p:nvPr/>
        </p:nvSpPr>
        <p:spPr>
          <a:xfrm>
            <a:off x="4730651" y="1289000"/>
            <a:ext cx="3905399" cy="1280815"/>
          </a:xfrm>
          <a:prstGeom prst="roundRect">
            <a:avLst>
              <a:gd name="adj" fmla="val 7932"/>
            </a:avLst>
          </a:prstGeom>
          <a:solidFill>
            <a:srgbClr val="E8F8F5"/>
          </a:solidFill>
          <a:ln/>
        </p:spPr>
        <p:txBody>
          <a:bodyPr wrap="square" rtlCol="0" anchor="ctr"/>
          <a:lstStyle/>
          <a:p>
            <a:pPr marL="0" indent="0">
              <a:buNone/>
            </a:pPr>
            <a:endParaRPr lang="en-US" dirty="0"/>
          </a:p>
        </p:txBody>
      </p:sp>
      <p:sp>
        <p:nvSpPr>
          <p:cNvPr id="15" name="Shape 13"/>
          <p:cNvSpPr/>
          <p:nvPr/>
        </p:nvSpPr>
        <p:spPr>
          <a:xfrm>
            <a:off x="4754463" y="1289000"/>
            <a:ext cx="0" cy="1280815"/>
          </a:xfrm>
          <a:prstGeom prst="line">
            <a:avLst/>
          </a:prstGeom>
          <a:noFill/>
          <a:ln w="47625">
            <a:solidFill>
              <a:srgbClr val="2A9D8F"/>
            </a:solidFill>
            <a:prstDash val="solid"/>
          </a:ln>
        </p:spPr>
      </p:sp>
      <p:sp>
        <p:nvSpPr>
          <p:cNvPr id="16" name="Text 14"/>
          <p:cNvSpPr/>
          <p:nvPr/>
        </p:nvSpPr>
        <p:spPr>
          <a:xfrm>
            <a:off x="4854476" y="1365200"/>
            <a:ext cx="3779481" cy="171450"/>
          </a:xfrm>
          <a:prstGeom prst="rect">
            <a:avLst/>
          </a:prstGeom>
          <a:noFill/>
          <a:ln/>
        </p:spPr>
        <p:txBody>
          <a:bodyPr wrap="square" lIns="0" tIns="0" rIns="0" bIns="0" rtlCol="0" anchor="t"/>
          <a:lstStyle/>
          <a:p>
            <a:pPr marL="0" indent="0" algn="l">
              <a:spcAft>
                <a:spcPts val="1000"/>
              </a:spcAft>
              <a:buNone/>
            </a:pPr>
            <a:r>
              <a:rPr lang="en-US" sz="1200" b="1" dirty="0">
                <a:solidFill>
                  <a:srgbClr val="5B4B9E"/>
                </a:solidFill>
                <a:latin typeface="Arial" pitchFamily="34" charset="0"/>
                <a:ea typeface="Arial" pitchFamily="34" charset="-122"/>
                <a:cs typeface="Arial" pitchFamily="34" charset="-120"/>
              </a:rPr>
              <a:t>Track Per-Load Instruction Effectiveness</a:t>
            </a:r>
            <a:endParaRPr lang="en-US" sz="1200" dirty="0"/>
          </a:p>
        </p:txBody>
      </p:sp>
      <p:sp>
        <p:nvSpPr>
          <p:cNvPr id="17" name="Text 15"/>
          <p:cNvSpPr/>
          <p:nvPr/>
        </p:nvSpPr>
        <p:spPr>
          <a:xfrm>
            <a:off x="4854476" y="1663601"/>
            <a:ext cx="3705374" cy="766614"/>
          </a:xfrm>
          <a:prstGeom prst="rect">
            <a:avLst/>
          </a:prstGeom>
          <a:noFill/>
          <a:ln/>
        </p:spPr>
        <p:txBody>
          <a:bodyPr wrap="square" lIns="114300" tIns="0" rIns="0" bIns="0" rtlCol="0" anchor="t"/>
          <a:lstStyle/>
          <a:p>
            <a:pPr marL="114300" indent="-114300" algn="l">
              <a:lnSpc>
                <a:spcPts val="168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Maintain saturating counter per load PC</a:t>
            </a:r>
            <a:endParaRPr lang="en-US" sz="1200" dirty="0"/>
          </a:p>
          <a:p>
            <a:pPr marL="114300" indent="-114300" algn="l">
              <a:lnSpc>
                <a:spcPts val="168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Increment on cache miss</a:t>
            </a:r>
            <a:endParaRPr lang="en-US" sz="1200" dirty="0"/>
          </a:p>
          <a:p>
            <a:pPr marL="114300" indent="-114300" algn="l">
              <a:lnSpc>
                <a:spcPts val="168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Decrement probabilistically on hit</a:t>
            </a:r>
            <a:endParaRPr lang="en-US" sz="1200" dirty="0"/>
          </a:p>
        </p:txBody>
      </p:sp>
      <p:sp>
        <p:nvSpPr>
          <p:cNvPr id="18" name="Text 16"/>
          <p:cNvSpPr/>
          <p:nvPr/>
        </p:nvSpPr>
        <p:spPr>
          <a:xfrm>
            <a:off x="4730651" y="2633216"/>
            <a:ext cx="3905399" cy="1430685"/>
          </a:xfrm>
          <a:prstGeom prst="roundRect">
            <a:avLst>
              <a:gd name="adj" fmla="val 7102"/>
            </a:avLst>
          </a:prstGeom>
          <a:solidFill>
            <a:srgbClr val="E8F8F5"/>
          </a:solidFill>
          <a:ln/>
        </p:spPr>
        <p:txBody>
          <a:bodyPr wrap="square" rtlCol="0" anchor="ctr"/>
          <a:lstStyle/>
          <a:p>
            <a:pPr marL="0" indent="0">
              <a:buNone/>
            </a:pPr>
            <a:endParaRPr lang="en-US" dirty="0"/>
          </a:p>
        </p:txBody>
      </p:sp>
      <p:sp>
        <p:nvSpPr>
          <p:cNvPr id="19" name="Shape 17"/>
          <p:cNvSpPr/>
          <p:nvPr/>
        </p:nvSpPr>
        <p:spPr>
          <a:xfrm>
            <a:off x="4754463" y="2633216"/>
            <a:ext cx="0" cy="1430685"/>
          </a:xfrm>
          <a:prstGeom prst="line">
            <a:avLst/>
          </a:prstGeom>
          <a:noFill/>
          <a:ln w="47625">
            <a:solidFill>
              <a:srgbClr val="2A9D8F"/>
            </a:solidFill>
            <a:prstDash val="solid"/>
          </a:ln>
        </p:spPr>
      </p:sp>
      <p:sp>
        <p:nvSpPr>
          <p:cNvPr id="20" name="Text 18"/>
          <p:cNvSpPr/>
          <p:nvPr/>
        </p:nvSpPr>
        <p:spPr>
          <a:xfrm>
            <a:off x="4854476" y="2709416"/>
            <a:ext cx="3779481" cy="171450"/>
          </a:xfrm>
          <a:prstGeom prst="rect">
            <a:avLst/>
          </a:prstGeom>
          <a:noFill/>
          <a:ln/>
        </p:spPr>
        <p:txBody>
          <a:bodyPr wrap="square" lIns="0" tIns="0" rIns="0" bIns="0" rtlCol="0" anchor="t"/>
          <a:lstStyle/>
          <a:p>
            <a:pPr marL="0" indent="0" algn="l">
              <a:spcAft>
                <a:spcPts val="1000"/>
              </a:spcAft>
              <a:buNone/>
            </a:pPr>
            <a:r>
              <a:rPr lang="en-US" sz="1200" b="1" dirty="0">
                <a:solidFill>
                  <a:srgbClr val="5B4B9E"/>
                </a:solidFill>
                <a:latin typeface="Arial" pitchFamily="34" charset="0"/>
                <a:ea typeface="Arial" pitchFamily="34" charset="-122"/>
                <a:cs typeface="Arial" pitchFamily="34" charset="-120"/>
              </a:rPr>
              <a:t>Dynamic Adjustment</a:t>
            </a:r>
            <a:endParaRPr lang="en-US" sz="1200" dirty="0"/>
          </a:p>
        </p:txBody>
      </p:sp>
      <p:sp>
        <p:nvSpPr>
          <p:cNvPr id="21" name="Text 19"/>
          <p:cNvSpPr/>
          <p:nvPr/>
        </p:nvSpPr>
        <p:spPr>
          <a:xfrm>
            <a:off x="4854476" y="3007816"/>
            <a:ext cx="3705374" cy="916484"/>
          </a:xfrm>
          <a:prstGeom prst="rect">
            <a:avLst/>
          </a:prstGeom>
          <a:noFill/>
          <a:ln/>
        </p:spPr>
        <p:txBody>
          <a:bodyPr wrap="square" lIns="114300" tIns="0" rIns="0" bIns="0" rtlCol="0" anchor="t"/>
          <a:lstStyle/>
          <a:p>
            <a:pPr marL="114300" indent="-114300" algn="l">
              <a:lnSpc>
                <a:spcPts val="1680"/>
              </a:lnSpc>
              <a:spcAft>
                <a:spcPts val="500"/>
              </a:spcAft>
              <a:buSzPct val="100000"/>
              <a:buChar char="•"/>
            </a:pPr>
            <a:r>
              <a:rPr lang="en-US" sz="1200" b="1" dirty="0">
                <a:solidFill>
                  <a:srgbClr val="E76F51"/>
                </a:solidFill>
                <a:latin typeface="Arial" pitchFamily="34" charset="0"/>
                <a:ea typeface="Arial" pitchFamily="34" charset="-122"/>
                <a:cs typeface="Arial" pitchFamily="34" charset="-120"/>
              </a:rPr>
              <a:t>High miss rate</a:t>
            </a:r>
            <a:r>
              <a:rPr lang="en-US" sz="1200" dirty="0">
                <a:solidFill>
                  <a:srgbClr val="264653"/>
                </a:solidFill>
                <a:latin typeface="Arial" pitchFamily="34" charset="0"/>
                <a:ea typeface="Arial" pitchFamily="34" charset="-122"/>
                <a:cs typeface="Arial" pitchFamily="34" charset="-120"/>
              </a:rPr>
              <a:t> → Increase threshold → Less prefetching</a:t>
            </a:r>
            <a:endParaRPr lang="en-US" sz="1200" dirty="0"/>
          </a:p>
          <a:p>
            <a:pPr marL="114300" indent="-114300" algn="l">
              <a:lnSpc>
                <a:spcPts val="1680"/>
              </a:lnSpc>
              <a:spcAft>
                <a:spcPts val="500"/>
              </a:spcAft>
              <a:buSzPct val="100000"/>
              <a:buChar char="•"/>
            </a:pPr>
            <a:r>
              <a:rPr lang="en-US" sz="1200" b="1" dirty="0">
                <a:solidFill>
                  <a:srgbClr val="2A9D8F"/>
                </a:solidFill>
                <a:latin typeface="Arial" pitchFamily="34" charset="0"/>
                <a:ea typeface="Arial" pitchFamily="34" charset="-122"/>
                <a:cs typeface="Arial" pitchFamily="34" charset="-120"/>
              </a:rPr>
              <a:t>Low miss rate</a:t>
            </a:r>
            <a:r>
              <a:rPr lang="en-US" sz="1200" dirty="0">
                <a:solidFill>
                  <a:srgbClr val="264653"/>
                </a:solidFill>
                <a:latin typeface="Arial" pitchFamily="34" charset="0"/>
                <a:ea typeface="Arial" pitchFamily="34" charset="-122"/>
                <a:cs typeface="Arial" pitchFamily="34" charset="-120"/>
              </a:rPr>
              <a:t> → Decrease threshold → Normal prefetching</a:t>
            </a:r>
            <a:endParaRPr lang="en-US" sz="1200" dirty="0"/>
          </a:p>
        </p:txBody>
      </p:sp>
      <p:sp>
        <p:nvSpPr>
          <p:cNvPr id="22" name="Text 20"/>
          <p:cNvSpPr/>
          <p:nvPr/>
        </p:nvSpPr>
        <p:spPr>
          <a:xfrm>
            <a:off x="4730651" y="4140101"/>
            <a:ext cx="3905399" cy="323850"/>
          </a:xfrm>
          <a:prstGeom prst="roundRect">
            <a:avLst>
              <a:gd name="adj" fmla="val 31373"/>
            </a:avLst>
          </a:prstGeom>
          <a:solidFill>
            <a:srgbClr val="2A9D8F"/>
          </a:solidFill>
          <a:ln/>
        </p:spPr>
        <p:txBody>
          <a:bodyPr wrap="square" rtlCol="0" anchor="ctr"/>
          <a:lstStyle/>
          <a:p>
            <a:pPr marL="0" indent="0">
              <a:buNone/>
            </a:pPr>
            <a:endParaRPr lang="en-US" dirty="0"/>
          </a:p>
        </p:txBody>
      </p:sp>
      <p:sp>
        <p:nvSpPr>
          <p:cNvPr id="23" name="Text 21"/>
          <p:cNvSpPr/>
          <p:nvPr/>
        </p:nvSpPr>
        <p:spPr>
          <a:xfrm>
            <a:off x="4769321" y="4216301"/>
            <a:ext cx="3828059" cy="171450"/>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Hardware Cost: 10-bit miss counter per entry</a:t>
            </a:r>
            <a:endParaRPr lang="en-US" sz="1200" dirty="0"/>
          </a:p>
        </p:txBody>
      </p:sp>
      <p:sp>
        <p:nvSpPr>
          <p:cNvPr id="24" name="文本框 23">
            <a:extLst>
              <a:ext uri="{FF2B5EF4-FFF2-40B4-BE49-F238E27FC236}">
                <a16:creationId xmlns:a16="http://schemas.microsoft.com/office/drawing/2014/main" id="{C4A35744-8414-A97C-6BC5-E615B5CC5F3E}"/>
              </a:ext>
            </a:extLst>
          </p:cNvPr>
          <p:cNvSpPr txBox="1"/>
          <p:nvPr/>
        </p:nvSpPr>
        <p:spPr>
          <a:xfrm>
            <a:off x="8395452" y="4621065"/>
            <a:ext cx="529984" cy="369332"/>
          </a:xfrm>
          <a:prstGeom prst="rect">
            <a:avLst/>
          </a:prstGeom>
          <a:noFill/>
        </p:spPr>
        <p:txBody>
          <a:bodyPr wrap="square" rtlCol="0">
            <a:spAutoFit/>
          </a:bodyPr>
          <a:lstStyle/>
          <a:p>
            <a:r>
              <a:rPr lang="en-US" altLang="zh-CN"/>
              <a:t>11</a:t>
            </a: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825401"/>
          </a:xfrm>
          <a:prstGeom prst="rect">
            <a:avLst/>
          </a:prstGeom>
          <a:solidFill>
            <a:srgbClr val="5B4B9E"/>
          </a:solidFill>
          <a:ln/>
        </p:spPr>
        <p:txBody>
          <a:bodyPr wrap="square" rtlCol="0" anchor="ctr"/>
          <a:lstStyle/>
          <a:p>
            <a:pPr marL="0" indent="0">
              <a:buNone/>
            </a:pPr>
            <a:endParaRPr lang="en-US" dirty="0"/>
          </a:p>
        </p:txBody>
      </p:sp>
      <p:sp>
        <p:nvSpPr>
          <p:cNvPr id="3" name="Text 1"/>
          <p:cNvSpPr/>
          <p:nvPr/>
        </p:nvSpPr>
        <p:spPr>
          <a:xfrm>
            <a:off x="634901" y="126950"/>
            <a:ext cx="8031682" cy="409575"/>
          </a:xfrm>
          <a:prstGeom prst="rect">
            <a:avLst/>
          </a:prstGeom>
          <a:noFill/>
          <a:ln/>
        </p:spPr>
        <p:txBody>
          <a:bodyPr wrap="square" lIns="0" tIns="0" rIns="0" bIns="0" rtlCol="0" anchor="t"/>
          <a:lstStyle/>
          <a:p>
            <a:pPr marL="0" indent="0" algn="l">
              <a:buNone/>
            </a:pPr>
            <a:r>
              <a:rPr lang="en-US" sz="2800" b="1" dirty="0">
                <a:solidFill>
                  <a:srgbClr val="FFFFFF"/>
                </a:solidFill>
                <a:latin typeface="Arial" pitchFamily="34" charset="0"/>
                <a:ea typeface="Arial" pitchFamily="34" charset="-122"/>
                <a:cs typeface="Arial" pitchFamily="34" charset="-120"/>
              </a:rPr>
              <a:t>Optimization 4 - L3 Fairness-based Throttling</a:t>
            </a:r>
            <a:endParaRPr lang="en-US" sz="2800" dirty="0"/>
          </a:p>
        </p:txBody>
      </p:sp>
      <p:sp>
        <p:nvSpPr>
          <p:cNvPr id="4" name="Text 2"/>
          <p:cNvSpPr/>
          <p:nvPr/>
        </p:nvSpPr>
        <p:spPr>
          <a:xfrm>
            <a:off x="634901" y="888950"/>
            <a:ext cx="4381842" cy="209550"/>
          </a:xfrm>
          <a:prstGeom prst="rect">
            <a:avLst/>
          </a:prstGeom>
          <a:noFill/>
          <a:ln/>
        </p:spPr>
        <p:txBody>
          <a:bodyPr wrap="square" lIns="0" tIns="0" rIns="0" bIns="0" rtlCol="0" anchor="t"/>
          <a:lstStyle/>
          <a:p>
            <a:pPr marL="0" indent="0" algn="l">
              <a:spcAft>
                <a:spcPts val="1200"/>
              </a:spcAft>
              <a:buNone/>
            </a:pPr>
            <a:r>
              <a:rPr lang="en-US" sz="1400" b="1" dirty="0">
                <a:solidFill>
                  <a:srgbClr val="2A9D8F"/>
                </a:solidFill>
                <a:latin typeface="Arial" pitchFamily="34" charset="0"/>
                <a:ea typeface="Arial" pitchFamily="34" charset="-122"/>
                <a:cs typeface="Arial" pitchFamily="34" charset="-120"/>
              </a:rPr>
              <a:t>Problem: Multi-core Resource Contention</a:t>
            </a:r>
            <a:endParaRPr lang="en-US" sz="1400" dirty="0"/>
          </a:p>
        </p:txBody>
      </p:sp>
      <p:sp>
        <p:nvSpPr>
          <p:cNvPr id="5" name="Text 3"/>
          <p:cNvSpPr/>
          <p:nvPr/>
        </p:nvSpPr>
        <p:spPr>
          <a:xfrm>
            <a:off x="634901" y="1250900"/>
            <a:ext cx="4295924" cy="1745307"/>
          </a:xfrm>
          <a:prstGeom prst="roundRect">
            <a:avLst>
              <a:gd name="adj" fmla="val 5821"/>
            </a:avLst>
          </a:prstGeom>
          <a:solidFill>
            <a:srgbClr val="FFF3E6"/>
          </a:solidFill>
          <a:ln/>
        </p:spPr>
        <p:txBody>
          <a:bodyPr wrap="square" rtlCol="0" anchor="ctr"/>
          <a:lstStyle/>
          <a:p>
            <a:pPr marL="0" indent="0">
              <a:buNone/>
            </a:pPr>
            <a:endParaRPr lang="en-US" dirty="0"/>
          </a:p>
        </p:txBody>
      </p:sp>
      <p:sp>
        <p:nvSpPr>
          <p:cNvPr id="6" name="Shape 4"/>
          <p:cNvSpPr/>
          <p:nvPr/>
        </p:nvSpPr>
        <p:spPr>
          <a:xfrm>
            <a:off x="658713" y="1250900"/>
            <a:ext cx="0" cy="1745307"/>
          </a:xfrm>
          <a:prstGeom prst="line">
            <a:avLst/>
          </a:prstGeom>
          <a:noFill/>
          <a:ln w="47625">
            <a:solidFill>
              <a:srgbClr val="E76F51"/>
            </a:solidFill>
            <a:prstDash val="solid"/>
          </a:ln>
        </p:spPr>
      </p:sp>
      <p:sp>
        <p:nvSpPr>
          <p:cNvPr id="7" name="Text 5"/>
          <p:cNvSpPr/>
          <p:nvPr/>
        </p:nvSpPr>
        <p:spPr>
          <a:xfrm>
            <a:off x="758726" y="1327100"/>
            <a:ext cx="4177817" cy="171450"/>
          </a:xfrm>
          <a:prstGeom prst="rect">
            <a:avLst/>
          </a:prstGeom>
          <a:noFill/>
          <a:ln/>
        </p:spPr>
        <p:txBody>
          <a:bodyPr wrap="square" lIns="0" tIns="0" rIns="0" bIns="0" rtlCol="0" anchor="t"/>
          <a:lstStyle/>
          <a:p>
            <a:pPr marL="0" indent="0" algn="l">
              <a:spcAft>
                <a:spcPts val="800"/>
              </a:spcAft>
              <a:buNone/>
            </a:pPr>
            <a:r>
              <a:rPr lang="en-US" sz="1200" b="1" dirty="0">
                <a:solidFill>
                  <a:srgbClr val="5B4B9E"/>
                </a:solidFill>
                <a:latin typeface="Arial" pitchFamily="34" charset="0"/>
                <a:ea typeface="Arial" pitchFamily="34" charset="-122"/>
                <a:cs typeface="Arial" pitchFamily="34" charset="-120"/>
              </a:rPr>
              <a:t>VBerti+Pythia is Very Aggressive</a:t>
            </a:r>
            <a:endParaRPr lang="en-US" sz="1200" dirty="0"/>
          </a:p>
        </p:txBody>
      </p:sp>
      <p:sp>
        <p:nvSpPr>
          <p:cNvPr id="8" name="Text 6"/>
          <p:cNvSpPr/>
          <p:nvPr/>
        </p:nvSpPr>
        <p:spPr>
          <a:xfrm>
            <a:off x="758726" y="1600051"/>
            <a:ext cx="4095899" cy="1256556"/>
          </a:xfrm>
          <a:prstGeom prst="rect">
            <a:avLst/>
          </a:prstGeom>
          <a:noFill/>
          <a:ln/>
        </p:spPr>
        <p:txBody>
          <a:bodyPr wrap="square" lIns="114300" tIns="0" rIns="0" bIns="0" rtlCol="0" anchor="t"/>
          <a:lstStyle/>
          <a:p>
            <a:pPr marL="114300" indent="-114300" algn="l">
              <a:lnSpc>
                <a:spcPts val="168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Single core can monopolize memory bandwidth</a:t>
            </a:r>
            <a:endParaRPr lang="en-US" sz="1200" dirty="0"/>
          </a:p>
          <a:p>
            <a:pPr marL="114300" indent="-114300" algn="l">
              <a:lnSpc>
                <a:spcPts val="168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Other cores starve for resources</a:t>
            </a:r>
            <a:endParaRPr lang="en-US" sz="1200" dirty="0"/>
          </a:p>
          <a:p>
            <a:pPr marL="114300" indent="-114300" algn="l">
              <a:lnSpc>
                <a:spcPts val="168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Poor overall multi-core performance</a:t>
            </a:r>
            <a:endParaRPr lang="en-US" sz="1200" dirty="0"/>
          </a:p>
          <a:p>
            <a:pPr marL="114300" indent="-114300" algn="l">
              <a:lnSpc>
                <a:spcPts val="168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Competition metric: Harmonic Speedup penalizes unfairness</a:t>
            </a:r>
            <a:endParaRPr lang="en-US" sz="1200" dirty="0"/>
          </a:p>
        </p:txBody>
      </p:sp>
      <p:sp>
        <p:nvSpPr>
          <p:cNvPr id="9" name="Text 7"/>
          <p:cNvSpPr/>
          <p:nvPr/>
        </p:nvSpPr>
        <p:spPr>
          <a:xfrm>
            <a:off x="634901" y="3097709"/>
            <a:ext cx="4295924" cy="838200"/>
          </a:xfrm>
          <a:prstGeom prst="roundRect">
            <a:avLst>
              <a:gd name="adj" fmla="val 12121"/>
            </a:avLst>
          </a:prstGeom>
          <a:solidFill>
            <a:srgbClr val="FFFFFF"/>
          </a:solidFill>
          <a:ln/>
        </p:spPr>
        <p:txBody>
          <a:bodyPr wrap="square" rtlCol="0" anchor="ctr"/>
          <a:lstStyle/>
          <a:p>
            <a:pPr marL="0" indent="0">
              <a:buNone/>
            </a:pPr>
            <a:endParaRPr lang="en-US" dirty="0"/>
          </a:p>
        </p:txBody>
      </p:sp>
      <p:sp>
        <p:nvSpPr>
          <p:cNvPr id="10" name="Text 8"/>
          <p:cNvSpPr/>
          <p:nvPr/>
        </p:nvSpPr>
        <p:spPr>
          <a:xfrm>
            <a:off x="711101" y="3173909"/>
            <a:ext cx="4226394" cy="171450"/>
          </a:xfrm>
          <a:prstGeom prst="rect">
            <a:avLst/>
          </a:prstGeom>
          <a:noFill/>
          <a:ln/>
        </p:spPr>
        <p:txBody>
          <a:bodyPr wrap="square" lIns="0" tIns="0" rIns="0" bIns="0" rtlCol="0" anchor="t"/>
          <a:lstStyle/>
          <a:p>
            <a:pPr marL="0" indent="0" algn="l">
              <a:buNone/>
            </a:pPr>
            <a:r>
              <a:rPr lang="en-US" sz="1200" dirty="0">
                <a:solidFill>
                  <a:srgbClr val="264653"/>
                </a:solidFill>
                <a:latin typeface="Courier New" pitchFamily="34" charset="0"/>
                <a:ea typeface="Courier New" pitchFamily="34" charset="-122"/>
                <a:cs typeface="Courier New" pitchFamily="34" charset="-120"/>
              </a:rPr>
              <a:t>Core 0: ████████████████████ (hogs)</a:t>
            </a:r>
            <a:endParaRPr lang="en-US" sz="1200" dirty="0"/>
          </a:p>
        </p:txBody>
      </p:sp>
      <p:sp>
        <p:nvSpPr>
          <p:cNvPr id="11" name="Text 9"/>
          <p:cNvSpPr/>
          <p:nvPr/>
        </p:nvSpPr>
        <p:spPr>
          <a:xfrm>
            <a:off x="711101" y="3345359"/>
            <a:ext cx="4226394" cy="171450"/>
          </a:xfrm>
          <a:prstGeom prst="rect">
            <a:avLst/>
          </a:prstGeom>
          <a:noFill/>
          <a:ln/>
        </p:spPr>
        <p:txBody>
          <a:bodyPr wrap="square" lIns="0" tIns="0" rIns="0" bIns="0" rtlCol="0" anchor="t"/>
          <a:lstStyle/>
          <a:p>
            <a:pPr marL="0" indent="0" algn="l">
              <a:buNone/>
            </a:pPr>
            <a:r>
              <a:rPr lang="en-US" sz="1200" dirty="0">
                <a:solidFill>
                  <a:srgbClr val="264653"/>
                </a:solidFill>
                <a:latin typeface="Courier New" pitchFamily="34" charset="0"/>
                <a:ea typeface="Courier New" pitchFamily="34" charset="-122"/>
                <a:cs typeface="Courier New" pitchFamily="34" charset="-120"/>
              </a:rPr>
              <a:t>Core 1: ██ (starved)</a:t>
            </a:r>
            <a:endParaRPr lang="en-US" sz="1200" dirty="0"/>
          </a:p>
        </p:txBody>
      </p:sp>
      <p:sp>
        <p:nvSpPr>
          <p:cNvPr id="12" name="Text 10"/>
          <p:cNvSpPr/>
          <p:nvPr/>
        </p:nvSpPr>
        <p:spPr>
          <a:xfrm>
            <a:off x="711101" y="3516809"/>
            <a:ext cx="4226394" cy="171450"/>
          </a:xfrm>
          <a:prstGeom prst="rect">
            <a:avLst/>
          </a:prstGeom>
          <a:noFill/>
          <a:ln/>
        </p:spPr>
        <p:txBody>
          <a:bodyPr wrap="square" lIns="0" tIns="0" rIns="0" bIns="0" rtlCol="0" anchor="t"/>
          <a:lstStyle/>
          <a:p>
            <a:pPr marL="0" indent="0" algn="l">
              <a:buNone/>
            </a:pPr>
            <a:r>
              <a:rPr lang="en-US" sz="1200" dirty="0">
                <a:solidFill>
                  <a:srgbClr val="264653"/>
                </a:solidFill>
                <a:latin typeface="Courier New" pitchFamily="34" charset="0"/>
                <a:ea typeface="Courier New" pitchFamily="34" charset="-122"/>
                <a:cs typeface="Courier New" pitchFamily="34" charset="-120"/>
              </a:rPr>
              <a:t>Core 2: █ (starved)</a:t>
            </a:r>
            <a:endParaRPr lang="en-US" sz="1200" dirty="0"/>
          </a:p>
        </p:txBody>
      </p:sp>
      <p:sp>
        <p:nvSpPr>
          <p:cNvPr id="13" name="Text 11"/>
          <p:cNvSpPr/>
          <p:nvPr/>
        </p:nvSpPr>
        <p:spPr>
          <a:xfrm>
            <a:off x="711101" y="3688259"/>
            <a:ext cx="4226394" cy="171450"/>
          </a:xfrm>
          <a:prstGeom prst="rect">
            <a:avLst/>
          </a:prstGeom>
          <a:noFill/>
          <a:ln/>
        </p:spPr>
        <p:txBody>
          <a:bodyPr wrap="square" lIns="0" tIns="0" rIns="0" bIns="0" rtlCol="0" anchor="t"/>
          <a:lstStyle/>
          <a:p>
            <a:pPr marL="0" indent="0" algn="l">
              <a:buNone/>
            </a:pPr>
            <a:r>
              <a:rPr lang="en-US" sz="1200" dirty="0">
                <a:solidFill>
                  <a:srgbClr val="264653"/>
                </a:solidFill>
                <a:latin typeface="Courier New" pitchFamily="34" charset="0"/>
                <a:ea typeface="Courier New" pitchFamily="34" charset="-122"/>
                <a:cs typeface="Courier New" pitchFamily="34" charset="-120"/>
              </a:rPr>
              <a:t>Core 3: ███ (starved)</a:t>
            </a:r>
            <a:endParaRPr lang="en-US" sz="1200" dirty="0"/>
          </a:p>
        </p:txBody>
      </p:sp>
      <p:sp>
        <p:nvSpPr>
          <p:cNvPr id="14" name="Text 12"/>
          <p:cNvSpPr/>
          <p:nvPr/>
        </p:nvSpPr>
        <p:spPr>
          <a:xfrm>
            <a:off x="5121325" y="888950"/>
            <a:ext cx="3585020" cy="209550"/>
          </a:xfrm>
          <a:prstGeom prst="rect">
            <a:avLst/>
          </a:prstGeom>
          <a:noFill/>
          <a:ln/>
        </p:spPr>
        <p:txBody>
          <a:bodyPr wrap="square" lIns="0" tIns="0" rIns="0" bIns="0" rtlCol="0" anchor="t"/>
          <a:lstStyle/>
          <a:p>
            <a:pPr marL="0" indent="0" algn="l">
              <a:spcAft>
                <a:spcPts val="1200"/>
              </a:spcAft>
              <a:buNone/>
            </a:pPr>
            <a:r>
              <a:rPr lang="en-US" sz="1400" b="1" dirty="0">
                <a:solidFill>
                  <a:srgbClr val="2A9D8F"/>
                </a:solidFill>
                <a:latin typeface="Arial" pitchFamily="34" charset="0"/>
                <a:ea typeface="Arial" pitchFamily="34" charset="-122"/>
                <a:cs typeface="Arial" pitchFamily="34" charset="-120"/>
              </a:rPr>
              <a:t>Solution: Cross-core Coordination</a:t>
            </a:r>
            <a:endParaRPr lang="en-US" sz="1400" dirty="0"/>
          </a:p>
        </p:txBody>
      </p:sp>
      <p:sp>
        <p:nvSpPr>
          <p:cNvPr id="15" name="Text 13"/>
          <p:cNvSpPr/>
          <p:nvPr/>
        </p:nvSpPr>
        <p:spPr>
          <a:xfrm>
            <a:off x="5121325" y="1250900"/>
            <a:ext cx="3514725" cy="1532037"/>
          </a:xfrm>
          <a:prstGeom prst="roundRect">
            <a:avLst>
              <a:gd name="adj" fmla="val 6632"/>
            </a:avLst>
          </a:prstGeom>
          <a:solidFill>
            <a:srgbClr val="E8F8F5"/>
          </a:solidFill>
          <a:ln/>
        </p:spPr>
        <p:txBody>
          <a:bodyPr wrap="square" rtlCol="0" anchor="ctr"/>
          <a:lstStyle/>
          <a:p>
            <a:pPr marL="0" indent="0">
              <a:buNone/>
            </a:pPr>
            <a:endParaRPr lang="en-US" dirty="0"/>
          </a:p>
        </p:txBody>
      </p:sp>
      <p:sp>
        <p:nvSpPr>
          <p:cNvPr id="16" name="Shape 14"/>
          <p:cNvSpPr/>
          <p:nvPr/>
        </p:nvSpPr>
        <p:spPr>
          <a:xfrm>
            <a:off x="5145137" y="1250900"/>
            <a:ext cx="0" cy="1532037"/>
          </a:xfrm>
          <a:prstGeom prst="line">
            <a:avLst/>
          </a:prstGeom>
          <a:noFill/>
          <a:ln w="47625">
            <a:solidFill>
              <a:srgbClr val="2A9D8F"/>
            </a:solidFill>
            <a:prstDash val="solid"/>
          </a:ln>
        </p:spPr>
      </p:sp>
      <p:sp>
        <p:nvSpPr>
          <p:cNvPr id="17" name="Text 15"/>
          <p:cNvSpPr/>
          <p:nvPr/>
        </p:nvSpPr>
        <p:spPr>
          <a:xfrm>
            <a:off x="5245150" y="1327100"/>
            <a:ext cx="3380994" cy="171450"/>
          </a:xfrm>
          <a:prstGeom prst="rect">
            <a:avLst/>
          </a:prstGeom>
          <a:noFill/>
          <a:ln/>
        </p:spPr>
        <p:txBody>
          <a:bodyPr wrap="square" lIns="0" tIns="0" rIns="0" bIns="0" rtlCol="0" anchor="t"/>
          <a:lstStyle/>
          <a:p>
            <a:pPr marL="0" indent="0" algn="l">
              <a:spcAft>
                <a:spcPts val="800"/>
              </a:spcAft>
              <a:buNone/>
            </a:pPr>
            <a:r>
              <a:rPr lang="en-US" sz="1200" b="1" dirty="0">
                <a:solidFill>
                  <a:srgbClr val="5B4B9E"/>
                </a:solidFill>
                <a:latin typeface="Arial" pitchFamily="34" charset="0"/>
                <a:ea typeface="Arial" pitchFamily="34" charset="-122"/>
                <a:cs typeface="Arial" pitchFamily="34" charset="-120"/>
              </a:rPr>
              <a:t>Mechanism</a:t>
            </a:r>
            <a:endParaRPr lang="en-US" sz="1200" dirty="0"/>
          </a:p>
        </p:txBody>
      </p:sp>
      <p:sp>
        <p:nvSpPr>
          <p:cNvPr id="18" name="Text 16"/>
          <p:cNvSpPr/>
          <p:nvPr/>
        </p:nvSpPr>
        <p:spPr>
          <a:xfrm>
            <a:off x="5245150" y="1600051"/>
            <a:ext cx="3314700" cy="1043285"/>
          </a:xfrm>
          <a:prstGeom prst="rect">
            <a:avLst/>
          </a:prstGeom>
          <a:noFill/>
          <a:ln/>
        </p:spPr>
        <p:txBody>
          <a:bodyPr wrap="square" lIns="127000" tIns="0" rIns="0" bIns="0" rtlCol="0" anchor="t"/>
          <a:lstStyle/>
          <a:p>
            <a:pPr marL="127000" indent="-127000" algn="l">
              <a:lnSpc>
                <a:spcPts val="168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L2 reports useless prefetch statistics to L3</a:t>
            </a:r>
            <a:endParaRPr lang="en-US" sz="1200" dirty="0"/>
          </a:p>
          <a:p>
            <a:pPr marL="127000" indent="-127000" algn="l">
              <a:lnSpc>
                <a:spcPts val="168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L3 aggregates statistics from all cores</a:t>
            </a:r>
            <a:endParaRPr lang="en-US" sz="1200" dirty="0"/>
          </a:p>
          <a:p>
            <a:pPr marL="127000" indent="-127000" algn="l">
              <a:lnSpc>
                <a:spcPts val="168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Identifies worst offender</a:t>
            </a:r>
            <a:endParaRPr lang="en-US" sz="1200" dirty="0"/>
          </a:p>
          <a:p>
            <a:pPr marL="127000" indent="-127000" algn="l">
              <a:lnSpc>
                <a:spcPts val="168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Throttles that core's prefetching</a:t>
            </a:r>
            <a:endParaRPr lang="en-US" sz="1200" dirty="0"/>
          </a:p>
        </p:txBody>
      </p:sp>
      <p:sp>
        <p:nvSpPr>
          <p:cNvPr id="19" name="Text 17"/>
          <p:cNvSpPr/>
          <p:nvPr/>
        </p:nvSpPr>
        <p:spPr>
          <a:xfrm>
            <a:off x="5121325" y="2846338"/>
            <a:ext cx="3514725" cy="1255365"/>
          </a:xfrm>
          <a:prstGeom prst="roundRect">
            <a:avLst>
              <a:gd name="adj" fmla="val 8093"/>
            </a:avLst>
          </a:prstGeom>
          <a:solidFill>
            <a:srgbClr val="E8F8F5"/>
          </a:solidFill>
          <a:ln/>
        </p:spPr>
        <p:txBody>
          <a:bodyPr wrap="square" rtlCol="0" anchor="ctr"/>
          <a:lstStyle/>
          <a:p>
            <a:pPr marL="0" indent="0">
              <a:buNone/>
            </a:pPr>
            <a:endParaRPr lang="en-US" dirty="0"/>
          </a:p>
        </p:txBody>
      </p:sp>
      <p:sp>
        <p:nvSpPr>
          <p:cNvPr id="20" name="Shape 18"/>
          <p:cNvSpPr/>
          <p:nvPr/>
        </p:nvSpPr>
        <p:spPr>
          <a:xfrm>
            <a:off x="5145137" y="2846338"/>
            <a:ext cx="0" cy="1255365"/>
          </a:xfrm>
          <a:prstGeom prst="line">
            <a:avLst/>
          </a:prstGeom>
          <a:noFill/>
          <a:ln w="47625">
            <a:solidFill>
              <a:srgbClr val="2A9D8F"/>
            </a:solidFill>
            <a:prstDash val="solid"/>
          </a:ln>
        </p:spPr>
      </p:sp>
      <p:sp>
        <p:nvSpPr>
          <p:cNvPr id="21" name="Text 19"/>
          <p:cNvSpPr/>
          <p:nvPr/>
        </p:nvSpPr>
        <p:spPr>
          <a:xfrm>
            <a:off x="5245150" y="2922538"/>
            <a:ext cx="3380994" cy="171450"/>
          </a:xfrm>
          <a:prstGeom prst="rect">
            <a:avLst/>
          </a:prstGeom>
          <a:noFill/>
          <a:ln/>
        </p:spPr>
        <p:txBody>
          <a:bodyPr wrap="square" lIns="0" tIns="0" rIns="0" bIns="0" rtlCol="0" anchor="t"/>
          <a:lstStyle/>
          <a:p>
            <a:pPr marL="0" indent="0" algn="l">
              <a:spcAft>
                <a:spcPts val="800"/>
              </a:spcAft>
              <a:buNone/>
            </a:pPr>
            <a:r>
              <a:rPr lang="en-US" sz="1200" b="1" dirty="0">
                <a:solidFill>
                  <a:srgbClr val="5B4B9E"/>
                </a:solidFill>
                <a:latin typeface="Arial" pitchFamily="34" charset="0"/>
                <a:ea typeface="Arial" pitchFamily="34" charset="-122"/>
                <a:cs typeface="Arial" pitchFamily="34" charset="-120"/>
              </a:rPr>
              <a:t>Metadata Exchange</a:t>
            </a:r>
            <a:endParaRPr lang="en-US" sz="1200" dirty="0"/>
          </a:p>
        </p:txBody>
      </p:sp>
      <p:sp>
        <p:nvSpPr>
          <p:cNvPr id="22" name="Text 20"/>
          <p:cNvSpPr/>
          <p:nvPr/>
        </p:nvSpPr>
        <p:spPr>
          <a:xfrm>
            <a:off x="5245150" y="3195489"/>
            <a:ext cx="3314700" cy="766614"/>
          </a:xfrm>
          <a:prstGeom prst="rect">
            <a:avLst/>
          </a:prstGeom>
          <a:noFill/>
          <a:ln/>
        </p:spPr>
        <p:txBody>
          <a:bodyPr wrap="square" lIns="114300" tIns="0" rIns="0" bIns="0" rtlCol="0" anchor="t"/>
          <a:lstStyle/>
          <a:p>
            <a:pPr marL="114300" indent="-114300" algn="l">
              <a:lnSpc>
                <a:spcPts val="168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Inter-prefetcher communication channel</a:t>
            </a:r>
            <a:endParaRPr lang="en-US" sz="1200" dirty="0"/>
          </a:p>
          <a:p>
            <a:pPr marL="114300" indent="-114300" algn="l">
              <a:lnSpc>
                <a:spcPts val="168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Periodic statistics collection</a:t>
            </a:r>
            <a:endParaRPr lang="en-US" sz="1200" dirty="0"/>
          </a:p>
          <a:p>
            <a:pPr marL="114300" indent="-114300" algn="l">
              <a:lnSpc>
                <a:spcPts val="168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Distributed throttling decisions</a:t>
            </a:r>
            <a:endParaRPr lang="en-US" sz="1200" dirty="0"/>
          </a:p>
        </p:txBody>
      </p:sp>
      <p:sp>
        <p:nvSpPr>
          <p:cNvPr id="23" name="Text 21"/>
          <p:cNvSpPr/>
          <p:nvPr/>
        </p:nvSpPr>
        <p:spPr>
          <a:xfrm>
            <a:off x="5121325" y="4177903"/>
            <a:ext cx="3514725" cy="323850"/>
          </a:xfrm>
          <a:prstGeom prst="roundRect">
            <a:avLst>
              <a:gd name="adj" fmla="val 31373"/>
            </a:avLst>
          </a:prstGeom>
          <a:solidFill>
            <a:srgbClr val="2A9D8F"/>
          </a:solidFill>
          <a:ln/>
        </p:spPr>
        <p:txBody>
          <a:bodyPr wrap="square" rtlCol="0" anchor="ctr"/>
          <a:lstStyle/>
          <a:p>
            <a:pPr marL="0" indent="0">
              <a:buNone/>
            </a:pPr>
            <a:endParaRPr lang="en-US" dirty="0"/>
          </a:p>
        </p:txBody>
      </p:sp>
      <p:sp>
        <p:nvSpPr>
          <p:cNvPr id="24" name="Text 22"/>
          <p:cNvSpPr/>
          <p:nvPr/>
        </p:nvSpPr>
        <p:spPr>
          <a:xfrm>
            <a:off x="5163901" y="4254103"/>
            <a:ext cx="3429572" cy="171450"/>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Hardware Cost: 64B counters</a:t>
            </a:r>
            <a:endParaRPr lang="en-US" sz="1200" dirty="0"/>
          </a:p>
        </p:txBody>
      </p:sp>
      <p:sp>
        <p:nvSpPr>
          <p:cNvPr id="25" name="文本框 24">
            <a:extLst>
              <a:ext uri="{FF2B5EF4-FFF2-40B4-BE49-F238E27FC236}">
                <a16:creationId xmlns:a16="http://schemas.microsoft.com/office/drawing/2014/main" id="{547D086D-49DD-9E2E-8859-0FED67C05878}"/>
              </a:ext>
            </a:extLst>
          </p:cNvPr>
          <p:cNvSpPr txBox="1"/>
          <p:nvPr/>
        </p:nvSpPr>
        <p:spPr>
          <a:xfrm>
            <a:off x="8395452" y="4621065"/>
            <a:ext cx="529984" cy="369332"/>
          </a:xfrm>
          <a:prstGeom prst="rect">
            <a:avLst/>
          </a:prstGeom>
          <a:noFill/>
        </p:spPr>
        <p:txBody>
          <a:bodyPr wrap="square" rtlCol="0">
            <a:spAutoFit/>
          </a:bodyPr>
          <a:lstStyle/>
          <a:p>
            <a:r>
              <a:rPr lang="en-US" altLang="zh-CN"/>
              <a:t>12</a:t>
            </a: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825401"/>
          </a:xfrm>
          <a:prstGeom prst="rect">
            <a:avLst/>
          </a:prstGeom>
          <a:solidFill>
            <a:srgbClr val="5B4B9E"/>
          </a:solidFill>
          <a:ln/>
        </p:spPr>
        <p:txBody>
          <a:bodyPr wrap="square" rtlCol="0" anchor="ctr"/>
          <a:lstStyle/>
          <a:p>
            <a:pPr marL="0" indent="0">
              <a:buNone/>
            </a:pPr>
            <a:endParaRPr lang="en-US" dirty="0"/>
          </a:p>
        </p:txBody>
      </p:sp>
      <p:sp>
        <p:nvSpPr>
          <p:cNvPr id="3" name="Text 1"/>
          <p:cNvSpPr/>
          <p:nvPr/>
        </p:nvSpPr>
        <p:spPr>
          <a:xfrm>
            <a:off x="634901" y="126950"/>
            <a:ext cx="8031682" cy="409575"/>
          </a:xfrm>
          <a:prstGeom prst="rect">
            <a:avLst/>
          </a:prstGeom>
          <a:noFill/>
          <a:ln/>
        </p:spPr>
        <p:txBody>
          <a:bodyPr wrap="square" lIns="0" tIns="0" rIns="0" bIns="0" rtlCol="0" anchor="t"/>
          <a:lstStyle/>
          <a:p>
            <a:pPr marL="0" indent="0" algn="l">
              <a:buNone/>
            </a:pPr>
            <a:r>
              <a:rPr lang="en-US" sz="2800" b="1" dirty="0">
                <a:solidFill>
                  <a:srgbClr val="FFFFFF"/>
                </a:solidFill>
                <a:latin typeface="Arial" pitchFamily="34" charset="0"/>
                <a:ea typeface="Arial" pitchFamily="34" charset="-122"/>
                <a:cs typeface="Arial" pitchFamily="34" charset="-120"/>
              </a:rPr>
              <a:t>Emender Architecture Overview</a:t>
            </a:r>
            <a:endParaRPr lang="en-US" sz="2800" dirty="0"/>
          </a:p>
        </p:txBody>
      </p:sp>
      <p:sp>
        <p:nvSpPr>
          <p:cNvPr id="4" name="Text 2"/>
          <p:cNvSpPr/>
          <p:nvPr/>
        </p:nvSpPr>
        <p:spPr>
          <a:xfrm>
            <a:off x="634901" y="888950"/>
            <a:ext cx="3570982" cy="2002780"/>
          </a:xfrm>
          <a:prstGeom prst="roundRect">
            <a:avLst>
              <a:gd name="adj" fmla="val 3171"/>
            </a:avLst>
          </a:prstGeom>
          <a:solidFill>
            <a:srgbClr val="E9ECEF"/>
          </a:solidFill>
          <a:ln/>
        </p:spPr>
        <p:txBody>
          <a:bodyPr wrap="square" rtlCol="0" anchor="ctr"/>
          <a:lstStyle/>
          <a:p>
            <a:pPr marL="0" indent="0">
              <a:buNone/>
            </a:pPr>
            <a:endParaRPr lang="en-US" dirty="0"/>
          </a:p>
        </p:txBody>
      </p:sp>
      <p:sp>
        <p:nvSpPr>
          <p:cNvPr id="5" name="Shape 3"/>
          <p:cNvSpPr/>
          <p:nvPr/>
        </p:nvSpPr>
        <p:spPr>
          <a:xfrm>
            <a:off x="634901" y="908000"/>
            <a:ext cx="3570982" cy="0"/>
          </a:xfrm>
          <a:prstGeom prst="line">
            <a:avLst/>
          </a:prstGeom>
          <a:noFill/>
          <a:ln w="38100">
            <a:solidFill>
              <a:srgbClr val="2A9D8F"/>
            </a:solidFill>
            <a:prstDash val="solid"/>
          </a:ln>
        </p:spPr>
      </p:sp>
      <p:sp>
        <p:nvSpPr>
          <p:cNvPr id="6" name="Text 4"/>
          <p:cNvSpPr/>
          <p:nvPr/>
        </p:nvSpPr>
        <p:spPr>
          <a:xfrm>
            <a:off x="660202" y="1091952"/>
            <a:ext cx="3590788" cy="152400"/>
          </a:xfrm>
          <a:prstGeom prst="rect">
            <a:avLst/>
          </a:prstGeom>
          <a:noFill/>
          <a:ln/>
        </p:spPr>
        <p:txBody>
          <a:bodyPr wrap="square" lIns="0" tIns="0" rIns="0" bIns="0" rtlCol="0" anchor="t"/>
          <a:lstStyle/>
          <a:p>
            <a:pPr marL="0" indent="0" algn="l">
              <a:spcBef>
                <a:spcPts val="1100"/>
              </a:spcBef>
              <a:spcAft>
                <a:spcPts val="400"/>
              </a:spcAft>
              <a:buNone/>
            </a:pPr>
            <a:r>
              <a:rPr lang="en-US" sz="1100" b="1" dirty="0">
                <a:solidFill>
                  <a:srgbClr val="5B4B9E"/>
                </a:solidFill>
                <a:latin typeface="Arial" pitchFamily="34" charset="0"/>
                <a:ea typeface="Arial" pitchFamily="34" charset="-122"/>
                <a:cs typeface="Arial" pitchFamily="34" charset="-120"/>
              </a:rPr>
              <a:t>L1D Cache (Emender-L1D)</a:t>
            </a:r>
            <a:endParaRPr lang="en-US" sz="1100" dirty="0"/>
          </a:p>
        </p:txBody>
      </p:sp>
      <p:sp>
        <p:nvSpPr>
          <p:cNvPr id="7" name="Text 5"/>
          <p:cNvSpPr/>
          <p:nvPr/>
        </p:nvSpPr>
        <p:spPr>
          <a:xfrm>
            <a:off x="660202" y="1383953"/>
            <a:ext cx="3590788" cy="152400"/>
          </a:xfrm>
          <a:prstGeom prst="rect">
            <a:avLst/>
          </a:prstGeom>
          <a:noFill/>
          <a:ln/>
        </p:spPr>
        <p:txBody>
          <a:bodyPr wrap="square" lIns="0" tIns="0" rIns="0" bIns="0" rtlCol="0" anchor="t"/>
          <a:lstStyle/>
          <a:p>
            <a:pPr marL="0" indent="0" algn="l">
              <a:spcBef>
                <a:spcPts val="1100"/>
              </a:spcBef>
              <a:spcAft>
                <a:spcPts val="400"/>
              </a:spcAft>
              <a:buNone/>
            </a:pPr>
            <a:r>
              <a:rPr lang="en-US" sz="1100" b="1" dirty="0">
                <a:solidFill>
                  <a:srgbClr val="264653"/>
                </a:solidFill>
                <a:latin typeface="Arial" pitchFamily="34" charset="0"/>
                <a:ea typeface="Arial" pitchFamily="34" charset="-122"/>
                <a:cs typeface="Arial" pitchFamily="34" charset="-120"/>
              </a:rPr>
              <a:t>Base:</a:t>
            </a:r>
            <a:r>
              <a:rPr lang="en-US" sz="1100" dirty="0">
                <a:solidFill>
                  <a:srgbClr val="264653"/>
                </a:solidFill>
                <a:latin typeface="Arial" pitchFamily="34" charset="0"/>
                <a:ea typeface="Arial" pitchFamily="34" charset="-122"/>
                <a:cs typeface="Arial" pitchFamily="34" charset="-120"/>
              </a:rPr>
              <a:t> VBerti prefetcher</a:t>
            </a:r>
            <a:endParaRPr lang="en-US" sz="1100" dirty="0"/>
          </a:p>
        </p:txBody>
      </p:sp>
      <p:sp>
        <p:nvSpPr>
          <p:cNvPr id="8" name="Text 6"/>
          <p:cNvSpPr/>
          <p:nvPr/>
        </p:nvSpPr>
        <p:spPr>
          <a:xfrm>
            <a:off x="660202" y="1675954"/>
            <a:ext cx="3590788" cy="152400"/>
          </a:xfrm>
          <a:prstGeom prst="rect">
            <a:avLst/>
          </a:prstGeom>
          <a:noFill/>
          <a:ln/>
        </p:spPr>
        <p:txBody>
          <a:bodyPr wrap="square" lIns="0" tIns="0" rIns="0" bIns="0" rtlCol="0" anchor="t"/>
          <a:lstStyle/>
          <a:p>
            <a:pPr marL="0" indent="0" algn="l">
              <a:spcBef>
                <a:spcPts val="1100"/>
              </a:spcBef>
              <a:spcAft>
                <a:spcPts val="400"/>
              </a:spcAft>
              <a:buNone/>
            </a:pPr>
            <a:r>
              <a:rPr lang="en-US" sz="1100" b="1" dirty="0">
                <a:solidFill>
                  <a:srgbClr val="264653"/>
                </a:solidFill>
                <a:latin typeface="Arial" pitchFamily="34" charset="0"/>
                <a:ea typeface="Arial" pitchFamily="34" charset="-122"/>
                <a:cs typeface="Arial" pitchFamily="34" charset="-120"/>
              </a:rPr>
              <a:t>Enhancements:</a:t>
            </a:r>
            <a:endParaRPr lang="en-US" sz="1100" dirty="0"/>
          </a:p>
        </p:txBody>
      </p:sp>
      <p:sp>
        <p:nvSpPr>
          <p:cNvPr id="9" name="Text 7"/>
          <p:cNvSpPr/>
          <p:nvPr/>
        </p:nvSpPr>
        <p:spPr>
          <a:xfrm>
            <a:off x="660202" y="1879104"/>
            <a:ext cx="3520380" cy="457200"/>
          </a:xfrm>
          <a:prstGeom prst="rect">
            <a:avLst/>
          </a:prstGeom>
          <a:noFill/>
          <a:ln/>
        </p:spPr>
        <p:txBody>
          <a:bodyPr wrap="square" lIns="76200" tIns="0" rIns="0" bIns="0" rtlCol="0" anchor="t"/>
          <a:lstStyle/>
          <a:p>
            <a:pPr marL="76200" indent="-76200" algn="l">
              <a:buSzPct val="100000"/>
              <a:buChar char="•"/>
            </a:pPr>
            <a:r>
              <a:rPr lang="en-US" sz="1100" dirty="0">
                <a:solidFill>
                  <a:srgbClr val="000000"/>
                </a:solidFill>
                <a:latin typeface="Arial" pitchFamily="34" charset="0"/>
                <a:ea typeface="Arial" pitchFamily="34" charset="-122"/>
                <a:cs typeface="Arial" pitchFamily="34" charset="-120"/>
              </a:rPr>
              <a:t>Pending Target Buffer</a:t>
            </a:r>
            <a:endParaRPr lang="en-US" sz="1100" dirty="0"/>
          </a:p>
          <a:p>
            <a:pPr marL="76200" indent="-76200" algn="l">
              <a:buSzPct val="100000"/>
              <a:buChar char="•"/>
            </a:pPr>
            <a:r>
              <a:rPr lang="en-US" sz="1100" dirty="0">
                <a:solidFill>
                  <a:srgbClr val="000000"/>
                </a:solidFill>
                <a:latin typeface="Arial" pitchFamily="34" charset="0"/>
                <a:ea typeface="Arial" pitchFamily="34" charset="-122"/>
                <a:cs typeface="Arial" pitchFamily="34" charset="-120"/>
              </a:rPr>
              <a:t>Cuckoo Filter</a:t>
            </a:r>
            <a:endParaRPr lang="en-US" sz="1100" dirty="0"/>
          </a:p>
          <a:p>
            <a:pPr marL="76200" indent="-76200" algn="l">
              <a:buSzPct val="100000"/>
              <a:buChar char="•"/>
            </a:pPr>
            <a:r>
              <a:rPr lang="en-US" sz="1100" dirty="0">
                <a:solidFill>
                  <a:srgbClr val="000000"/>
                </a:solidFill>
                <a:latin typeface="Arial" pitchFamily="34" charset="0"/>
                <a:ea typeface="Arial" pitchFamily="34" charset="-122"/>
                <a:cs typeface="Arial" pitchFamily="34" charset="-120"/>
              </a:rPr>
              <a:t>Dynamic Confidence Threshold</a:t>
            </a:r>
            <a:endParaRPr lang="en-US" sz="1100" dirty="0"/>
          </a:p>
        </p:txBody>
      </p:sp>
      <p:sp>
        <p:nvSpPr>
          <p:cNvPr id="10" name="Text 8"/>
          <p:cNvSpPr/>
          <p:nvPr/>
        </p:nvSpPr>
        <p:spPr>
          <a:xfrm>
            <a:off x="660202" y="2501354"/>
            <a:ext cx="3520380" cy="200025"/>
          </a:xfrm>
          <a:prstGeom prst="roundRect">
            <a:avLst>
              <a:gd name="adj" fmla="val 25397"/>
            </a:avLst>
          </a:prstGeom>
          <a:solidFill>
            <a:srgbClr val="2A9D8F"/>
          </a:solidFill>
          <a:ln/>
        </p:spPr>
        <p:txBody>
          <a:bodyPr wrap="square" rtlCol="0" anchor="ctr"/>
          <a:lstStyle/>
          <a:p>
            <a:pPr marL="0" indent="0">
              <a:buNone/>
            </a:pPr>
            <a:endParaRPr lang="en-US" dirty="0"/>
          </a:p>
        </p:txBody>
      </p:sp>
      <p:sp>
        <p:nvSpPr>
          <p:cNvPr id="11" name="Text 9"/>
          <p:cNvSpPr/>
          <p:nvPr/>
        </p:nvSpPr>
        <p:spPr>
          <a:xfrm>
            <a:off x="624998" y="2501354"/>
            <a:ext cx="3590788" cy="200025"/>
          </a:xfrm>
          <a:prstGeom prst="rect">
            <a:avLst/>
          </a:prstGeom>
          <a:noFill/>
          <a:ln/>
        </p:spPr>
        <p:txBody>
          <a:bodyPr wrap="square" lIns="0" tIns="0" rIns="0" bIns="0" rtlCol="0" anchor="t"/>
          <a:lstStyle/>
          <a:p>
            <a:pPr marL="0" indent="0" algn="ctr">
              <a:spcBef>
                <a:spcPts val="1300"/>
              </a:spcBef>
              <a:spcAft>
                <a:spcPts val="1300"/>
              </a:spcAft>
              <a:buNone/>
            </a:pPr>
            <a:r>
              <a:rPr lang="en-US" sz="1300" b="1" dirty="0">
                <a:solidFill>
                  <a:srgbClr val="FFFFFF"/>
                </a:solidFill>
                <a:latin typeface="Arial" pitchFamily="34" charset="0"/>
                <a:ea typeface="Arial" pitchFamily="34" charset="-122"/>
                <a:cs typeface="Arial" pitchFamily="34" charset="-120"/>
              </a:rPr>
              <a:t>22.8 KB (within 32 KB limit)</a:t>
            </a:r>
            <a:endParaRPr lang="en-US" sz="1300" dirty="0"/>
          </a:p>
        </p:txBody>
      </p:sp>
      <p:sp>
        <p:nvSpPr>
          <p:cNvPr id="12" name="Text 10"/>
          <p:cNvSpPr/>
          <p:nvPr/>
        </p:nvSpPr>
        <p:spPr>
          <a:xfrm>
            <a:off x="634901" y="2942481"/>
            <a:ext cx="3570982" cy="1850380"/>
          </a:xfrm>
          <a:prstGeom prst="roundRect">
            <a:avLst>
              <a:gd name="adj" fmla="val 3432"/>
            </a:avLst>
          </a:prstGeom>
          <a:solidFill>
            <a:srgbClr val="E9ECEF"/>
          </a:solidFill>
          <a:ln/>
        </p:spPr>
        <p:txBody>
          <a:bodyPr wrap="square" rtlCol="0" anchor="ctr"/>
          <a:lstStyle/>
          <a:p>
            <a:pPr marL="0" indent="0">
              <a:buNone/>
            </a:pPr>
            <a:endParaRPr lang="en-US" dirty="0"/>
          </a:p>
        </p:txBody>
      </p:sp>
      <p:sp>
        <p:nvSpPr>
          <p:cNvPr id="13" name="Shape 11"/>
          <p:cNvSpPr/>
          <p:nvPr/>
        </p:nvSpPr>
        <p:spPr>
          <a:xfrm>
            <a:off x="634901" y="2961531"/>
            <a:ext cx="3570982" cy="0"/>
          </a:xfrm>
          <a:prstGeom prst="line">
            <a:avLst/>
          </a:prstGeom>
          <a:noFill/>
          <a:ln w="38100">
            <a:solidFill>
              <a:srgbClr val="E76F51"/>
            </a:solidFill>
            <a:prstDash val="solid"/>
          </a:ln>
        </p:spPr>
      </p:sp>
      <p:sp>
        <p:nvSpPr>
          <p:cNvPr id="14" name="Text 12"/>
          <p:cNvSpPr/>
          <p:nvPr/>
        </p:nvSpPr>
        <p:spPr>
          <a:xfrm>
            <a:off x="660202" y="3145482"/>
            <a:ext cx="3590788" cy="152400"/>
          </a:xfrm>
          <a:prstGeom prst="rect">
            <a:avLst/>
          </a:prstGeom>
          <a:noFill/>
          <a:ln/>
        </p:spPr>
        <p:txBody>
          <a:bodyPr wrap="square" lIns="0" tIns="0" rIns="0" bIns="0" rtlCol="0" anchor="t"/>
          <a:lstStyle/>
          <a:p>
            <a:pPr marL="0" indent="0" algn="l">
              <a:spcBef>
                <a:spcPts val="1100"/>
              </a:spcBef>
              <a:spcAft>
                <a:spcPts val="400"/>
              </a:spcAft>
              <a:buNone/>
            </a:pPr>
            <a:r>
              <a:rPr lang="en-US" sz="1100" b="1" dirty="0">
                <a:solidFill>
                  <a:srgbClr val="5B4B9E"/>
                </a:solidFill>
                <a:latin typeface="Arial" pitchFamily="34" charset="0"/>
                <a:ea typeface="Arial" pitchFamily="34" charset="-122"/>
                <a:cs typeface="Arial" pitchFamily="34" charset="-120"/>
              </a:rPr>
              <a:t>L2 Cache (Emender-L2)</a:t>
            </a:r>
            <a:endParaRPr lang="en-US" sz="1100" dirty="0"/>
          </a:p>
        </p:txBody>
      </p:sp>
      <p:sp>
        <p:nvSpPr>
          <p:cNvPr id="15" name="Text 13"/>
          <p:cNvSpPr/>
          <p:nvPr/>
        </p:nvSpPr>
        <p:spPr>
          <a:xfrm>
            <a:off x="660202" y="3437483"/>
            <a:ext cx="3590788" cy="152400"/>
          </a:xfrm>
          <a:prstGeom prst="rect">
            <a:avLst/>
          </a:prstGeom>
          <a:noFill/>
          <a:ln/>
        </p:spPr>
        <p:txBody>
          <a:bodyPr wrap="square" lIns="0" tIns="0" rIns="0" bIns="0" rtlCol="0" anchor="t"/>
          <a:lstStyle/>
          <a:p>
            <a:pPr marL="0" indent="0" algn="l">
              <a:spcBef>
                <a:spcPts val="1100"/>
              </a:spcBef>
              <a:spcAft>
                <a:spcPts val="400"/>
              </a:spcAft>
              <a:buNone/>
            </a:pPr>
            <a:r>
              <a:rPr lang="en-US" sz="1100" b="1" dirty="0">
                <a:solidFill>
                  <a:srgbClr val="264653"/>
                </a:solidFill>
                <a:latin typeface="Arial" pitchFamily="34" charset="0"/>
                <a:ea typeface="Arial" pitchFamily="34" charset="-122"/>
                <a:cs typeface="Arial" pitchFamily="34" charset="-120"/>
              </a:rPr>
              <a:t>Base:</a:t>
            </a:r>
            <a:r>
              <a:rPr lang="en-US" sz="1100" dirty="0">
                <a:solidFill>
                  <a:srgbClr val="264653"/>
                </a:solidFill>
                <a:latin typeface="Arial" pitchFamily="34" charset="0"/>
                <a:ea typeface="Arial" pitchFamily="34" charset="-122"/>
                <a:cs typeface="Arial" pitchFamily="34" charset="-120"/>
              </a:rPr>
              <a:t> Pythia prefetcher</a:t>
            </a:r>
            <a:endParaRPr lang="en-US" sz="1100" dirty="0"/>
          </a:p>
        </p:txBody>
      </p:sp>
      <p:sp>
        <p:nvSpPr>
          <p:cNvPr id="16" name="Text 14"/>
          <p:cNvSpPr/>
          <p:nvPr/>
        </p:nvSpPr>
        <p:spPr>
          <a:xfrm>
            <a:off x="660202" y="3729484"/>
            <a:ext cx="3590788" cy="152400"/>
          </a:xfrm>
          <a:prstGeom prst="rect">
            <a:avLst/>
          </a:prstGeom>
          <a:noFill/>
          <a:ln/>
        </p:spPr>
        <p:txBody>
          <a:bodyPr wrap="square" lIns="0" tIns="0" rIns="0" bIns="0" rtlCol="0" anchor="t"/>
          <a:lstStyle/>
          <a:p>
            <a:pPr marL="0" indent="0" algn="l">
              <a:spcBef>
                <a:spcPts val="1100"/>
              </a:spcBef>
              <a:spcAft>
                <a:spcPts val="400"/>
              </a:spcAft>
              <a:buNone/>
            </a:pPr>
            <a:r>
              <a:rPr lang="en-US" sz="1100" b="1" dirty="0">
                <a:solidFill>
                  <a:srgbClr val="264653"/>
                </a:solidFill>
                <a:latin typeface="Arial" pitchFamily="34" charset="0"/>
                <a:ea typeface="Arial" pitchFamily="34" charset="-122"/>
                <a:cs typeface="Arial" pitchFamily="34" charset="-120"/>
              </a:rPr>
              <a:t>Enhancements:</a:t>
            </a:r>
            <a:endParaRPr lang="en-US" sz="1100" dirty="0"/>
          </a:p>
        </p:txBody>
      </p:sp>
      <p:sp>
        <p:nvSpPr>
          <p:cNvPr id="17" name="Text 15"/>
          <p:cNvSpPr/>
          <p:nvPr/>
        </p:nvSpPr>
        <p:spPr>
          <a:xfrm>
            <a:off x="660202" y="3932634"/>
            <a:ext cx="3520380" cy="304800"/>
          </a:xfrm>
          <a:prstGeom prst="rect">
            <a:avLst/>
          </a:prstGeom>
          <a:noFill/>
          <a:ln/>
        </p:spPr>
        <p:txBody>
          <a:bodyPr wrap="square" lIns="76200" tIns="0" rIns="0" bIns="0" rtlCol="0" anchor="t"/>
          <a:lstStyle/>
          <a:p>
            <a:pPr marL="76200" indent="-76200" algn="l">
              <a:buSzPct val="100000"/>
              <a:buChar char="•"/>
            </a:pPr>
            <a:r>
              <a:rPr lang="en-US" sz="1100" dirty="0">
                <a:solidFill>
                  <a:srgbClr val="000000"/>
                </a:solidFill>
                <a:latin typeface="Arial" pitchFamily="34" charset="0"/>
                <a:ea typeface="Arial" pitchFamily="34" charset="-122"/>
                <a:cs typeface="Arial" pitchFamily="34" charset="-120"/>
              </a:rPr>
              <a:t>Extended throttling response</a:t>
            </a:r>
            <a:endParaRPr lang="en-US" sz="1100" dirty="0"/>
          </a:p>
          <a:p>
            <a:pPr marL="76200" indent="-76200" algn="l">
              <a:buSzPct val="100000"/>
              <a:buChar char="•"/>
            </a:pPr>
            <a:r>
              <a:rPr lang="en-US" sz="1100" dirty="0">
                <a:solidFill>
                  <a:srgbClr val="000000"/>
                </a:solidFill>
                <a:latin typeface="Arial" pitchFamily="34" charset="0"/>
                <a:ea typeface="Arial" pitchFamily="34" charset="-122"/>
                <a:cs typeface="Arial" pitchFamily="34" charset="-120"/>
              </a:rPr>
              <a:t>Metadata exchange with L3</a:t>
            </a:r>
            <a:endParaRPr lang="en-US" sz="1100" dirty="0"/>
          </a:p>
        </p:txBody>
      </p:sp>
      <p:sp>
        <p:nvSpPr>
          <p:cNvPr id="18" name="Text 16"/>
          <p:cNvSpPr/>
          <p:nvPr/>
        </p:nvSpPr>
        <p:spPr>
          <a:xfrm>
            <a:off x="660202" y="4402485"/>
            <a:ext cx="3520380" cy="200025"/>
          </a:xfrm>
          <a:prstGeom prst="roundRect">
            <a:avLst>
              <a:gd name="adj" fmla="val 25397"/>
            </a:avLst>
          </a:prstGeom>
          <a:solidFill>
            <a:srgbClr val="E76F51"/>
          </a:solidFill>
          <a:ln/>
        </p:spPr>
        <p:txBody>
          <a:bodyPr wrap="square" rtlCol="0" anchor="ctr"/>
          <a:lstStyle/>
          <a:p>
            <a:pPr marL="0" indent="0">
              <a:buNone/>
            </a:pPr>
            <a:endParaRPr lang="en-US" dirty="0"/>
          </a:p>
        </p:txBody>
      </p:sp>
      <p:sp>
        <p:nvSpPr>
          <p:cNvPr id="19" name="Text 17"/>
          <p:cNvSpPr/>
          <p:nvPr/>
        </p:nvSpPr>
        <p:spPr>
          <a:xfrm>
            <a:off x="624998" y="4402485"/>
            <a:ext cx="3590788" cy="200025"/>
          </a:xfrm>
          <a:prstGeom prst="rect">
            <a:avLst/>
          </a:prstGeom>
          <a:noFill/>
          <a:ln/>
        </p:spPr>
        <p:txBody>
          <a:bodyPr wrap="square" lIns="0" tIns="0" rIns="0" bIns="0" rtlCol="0" anchor="t"/>
          <a:lstStyle/>
          <a:p>
            <a:pPr marL="0" indent="0" algn="ctr">
              <a:spcBef>
                <a:spcPts val="1300"/>
              </a:spcBef>
              <a:spcAft>
                <a:spcPts val="1300"/>
              </a:spcAft>
              <a:buNone/>
            </a:pPr>
            <a:r>
              <a:rPr lang="en-US" sz="1300" b="1" dirty="0">
                <a:solidFill>
                  <a:srgbClr val="FFFFFF"/>
                </a:solidFill>
                <a:latin typeface="Arial" pitchFamily="34" charset="0"/>
                <a:ea typeface="Arial" pitchFamily="34" charset="-122"/>
                <a:cs typeface="Arial" pitchFamily="34" charset="-120"/>
              </a:rPr>
              <a:t>25.5 KB (within 128 KB limit)</a:t>
            </a:r>
            <a:endParaRPr lang="en-US" sz="1300" dirty="0"/>
          </a:p>
        </p:txBody>
      </p:sp>
      <p:sp>
        <p:nvSpPr>
          <p:cNvPr id="20" name="Text 18"/>
          <p:cNvSpPr/>
          <p:nvPr/>
        </p:nvSpPr>
        <p:spPr>
          <a:xfrm>
            <a:off x="4396383" y="888950"/>
            <a:ext cx="3570982" cy="2231380"/>
          </a:xfrm>
          <a:prstGeom prst="roundRect">
            <a:avLst>
              <a:gd name="adj" fmla="val 2846"/>
            </a:avLst>
          </a:prstGeom>
          <a:solidFill>
            <a:srgbClr val="E9ECEF"/>
          </a:solidFill>
          <a:ln/>
        </p:spPr>
        <p:txBody>
          <a:bodyPr wrap="square" rtlCol="0" anchor="ctr"/>
          <a:lstStyle/>
          <a:p>
            <a:pPr marL="0" indent="0">
              <a:buNone/>
            </a:pPr>
            <a:endParaRPr lang="en-US" dirty="0"/>
          </a:p>
        </p:txBody>
      </p:sp>
      <p:sp>
        <p:nvSpPr>
          <p:cNvPr id="21" name="Shape 19"/>
          <p:cNvSpPr/>
          <p:nvPr/>
        </p:nvSpPr>
        <p:spPr>
          <a:xfrm>
            <a:off x="4396383" y="908000"/>
            <a:ext cx="3570982" cy="0"/>
          </a:xfrm>
          <a:prstGeom prst="line">
            <a:avLst/>
          </a:prstGeom>
          <a:noFill/>
          <a:ln w="38100">
            <a:solidFill>
              <a:srgbClr val="5B4B9E"/>
            </a:solidFill>
            <a:prstDash val="solid"/>
          </a:ln>
        </p:spPr>
      </p:sp>
      <p:sp>
        <p:nvSpPr>
          <p:cNvPr id="22" name="Text 20"/>
          <p:cNvSpPr/>
          <p:nvPr/>
        </p:nvSpPr>
        <p:spPr>
          <a:xfrm>
            <a:off x="4421684" y="1091952"/>
            <a:ext cx="3590788" cy="152400"/>
          </a:xfrm>
          <a:prstGeom prst="rect">
            <a:avLst/>
          </a:prstGeom>
          <a:noFill/>
          <a:ln/>
        </p:spPr>
        <p:txBody>
          <a:bodyPr wrap="square" lIns="0" tIns="0" rIns="0" bIns="0" rtlCol="0" anchor="t"/>
          <a:lstStyle/>
          <a:p>
            <a:pPr marL="0" indent="0" algn="l">
              <a:spcBef>
                <a:spcPts val="1100"/>
              </a:spcBef>
              <a:spcAft>
                <a:spcPts val="400"/>
              </a:spcAft>
              <a:buNone/>
            </a:pPr>
            <a:r>
              <a:rPr lang="en-US" sz="1100" b="1" dirty="0">
                <a:solidFill>
                  <a:srgbClr val="5B4B9E"/>
                </a:solidFill>
                <a:latin typeface="Arial" pitchFamily="34" charset="0"/>
                <a:ea typeface="Arial" pitchFamily="34" charset="-122"/>
                <a:cs typeface="Arial" pitchFamily="34" charset="-120"/>
              </a:rPr>
              <a:t>L3 Cache (Emender-L3)</a:t>
            </a:r>
            <a:endParaRPr lang="en-US" sz="1100" dirty="0"/>
          </a:p>
        </p:txBody>
      </p:sp>
      <p:sp>
        <p:nvSpPr>
          <p:cNvPr id="23" name="Text 21"/>
          <p:cNvSpPr/>
          <p:nvPr/>
        </p:nvSpPr>
        <p:spPr>
          <a:xfrm>
            <a:off x="4421684" y="1383953"/>
            <a:ext cx="3590788" cy="152400"/>
          </a:xfrm>
          <a:prstGeom prst="rect">
            <a:avLst/>
          </a:prstGeom>
          <a:noFill/>
          <a:ln/>
        </p:spPr>
        <p:txBody>
          <a:bodyPr wrap="square" lIns="0" tIns="0" rIns="0" bIns="0" rtlCol="0" anchor="t"/>
          <a:lstStyle/>
          <a:p>
            <a:pPr marL="0" indent="0" algn="l">
              <a:spcBef>
                <a:spcPts val="1100"/>
              </a:spcBef>
              <a:spcAft>
                <a:spcPts val="400"/>
              </a:spcAft>
              <a:buNone/>
            </a:pPr>
            <a:r>
              <a:rPr lang="en-US" sz="1100" b="1" dirty="0">
                <a:solidFill>
                  <a:srgbClr val="264653"/>
                </a:solidFill>
                <a:latin typeface="Arial" pitchFamily="34" charset="0"/>
                <a:ea typeface="Arial" pitchFamily="34" charset="-122"/>
                <a:cs typeface="Arial" pitchFamily="34" charset="-120"/>
              </a:rPr>
              <a:t>Design:</a:t>
            </a:r>
            <a:r>
              <a:rPr lang="en-US" sz="1100" dirty="0">
                <a:solidFill>
                  <a:srgbClr val="264653"/>
                </a:solidFill>
                <a:latin typeface="Arial" pitchFamily="34" charset="0"/>
                <a:ea typeface="Arial" pitchFamily="34" charset="-122"/>
                <a:cs typeface="Arial" pitchFamily="34" charset="-120"/>
              </a:rPr>
              <a:t> No prefetching at L3</a:t>
            </a:r>
            <a:endParaRPr lang="en-US" sz="1100" dirty="0"/>
          </a:p>
        </p:txBody>
      </p:sp>
      <p:sp>
        <p:nvSpPr>
          <p:cNvPr id="24" name="Text 22"/>
          <p:cNvSpPr/>
          <p:nvPr/>
        </p:nvSpPr>
        <p:spPr>
          <a:xfrm>
            <a:off x="4421684" y="1675954"/>
            <a:ext cx="3590788" cy="152400"/>
          </a:xfrm>
          <a:prstGeom prst="rect">
            <a:avLst/>
          </a:prstGeom>
          <a:noFill/>
          <a:ln/>
        </p:spPr>
        <p:txBody>
          <a:bodyPr wrap="square" lIns="0" tIns="0" rIns="0" bIns="0" rtlCol="0" anchor="t"/>
          <a:lstStyle/>
          <a:p>
            <a:pPr marL="0" indent="0" algn="l">
              <a:spcBef>
                <a:spcPts val="1100"/>
              </a:spcBef>
              <a:spcAft>
                <a:spcPts val="400"/>
              </a:spcAft>
              <a:buNone/>
            </a:pPr>
            <a:r>
              <a:rPr lang="en-US" sz="1100" b="1" dirty="0">
                <a:solidFill>
                  <a:srgbClr val="264653"/>
                </a:solidFill>
                <a:latin typeface="Arial" pitchFamily="34" charset="0"/>
                <a:ea typeface="Arial" pitchFamily="34" charset="-122"/>
                <a:cs typeface="Arial" pitchFamily="34" charset="-120"/>
              </a:rPr>
              <a:t>Rationale:</a:t>
            </a:r>
            <a:endParaRPr lang="en-US" sz="1100" dirty="0"/>
          </a:p>
        </p:txBody>
      </p:sp>
      <p:sp>
        <p:nvSpPr>
          <p:cNvPr id="25" name="Text 23"/>
          <p:cNvSpPr/>
          <p:nvPr/>
        </p:nvSpPr>
        <p:spPr>
          <a:xfrm>
            <a:off x="4421684" y="1879104"/>
            <a:ext cx="3520380" cy="457200"/>
          </a:xfrm>
          <a:prstGeom prst="rect">
            <a:avLst/>
          </a:prstGeom>
          <a:noFill/>
          <a:ln/>
        </p:spPr>
        <p:txBody>
          <a:bodyPr wrap="square" lIns="76200" tIns="0" rIns="0" bIns="0" rtlCol="0" anchor="t"/>
          <a:lstStyle/>
          <a:p>
            <a:pPr marL="76200" indent="-76200" algn="l">
              <a:buSzPct val="100000"/>
              <a:buChar char="•"/>
            </a:pPr>
            <a:r>
              <a:rPr lang="en-US" sz="1100" dirty="0">
                <a:solidFill>
                  <a:srgbClr val="000000"/>
                </a:solidFill>
                <a:latin typeface="Arial" pitchFamily="34" charset="0"/>
                <a:ea typeface="Arial" pitchFamily="34" charset="-122"/>
                <a:cs typeface="Arial" pitchFamily="34" charset="-120"/>
              </a:rPr>
              <a:t>L3 patterns difficult to exploit</a:t>
            </a:r>
            <a:endParaRPr lang="en-US" sz="1100" dirty="0"/>
          </a:p>
          <a:p>
            <a:pPr marL="76200" indent="-76200" algn="l">
              <a:buSzPct val="100000"/>
              <a:buChar char="•"/>
            </a:pPr>
            <a:r>
              <a:rPr lang="en-US" sz="1100" dirty="0">
                <a:solidFill>
                  <a:srgbClr val="000000"/>
                </a:solidFill>
                <a:latin typeface="Arial" pitchFamily="34" charset="0"/>
                <a:ea typeface="Arial" pitchFamily="34" charset="-122"/>
                <a:cs typeface="Arial" pitchFamily="34" charset="-120"/>
              </a:rPr>
              <a:t>Aggressive L3 prefetching hurts multi-core</a:t>
            </a:r>
            <a:endParaRPr lang="en-US" sz="1100" dirty="0"/>
          </a:p>
          <a:p>
            <a:pPr marL="76200" indent="-76200" algn="l">
              <a:buSzPct val="100000"/>
              <a:buChar char="•"/>
            </a:pPr>
            <a:r>
              <a:rPr lang="en-US" sz="1100" dirty="0">
                <a:solidFill>
                  <a:srgbClr val="000000"/>
                </a:solidFill>
                <a:latin typeface="Arial" pitchFamily="34" charset="0"/>
                <a:ea typeface="Arial" pitchFamily="34" charset="-122"/>
                <a:cs typeface="Arial" pitchFamily="34" charset="-120"/>
              </a:rPr>
              <a:t>DPC4 scoring: lowers score</a:t>
            </a:r>
            <a:endParaRPr lang="en-US" sz="1100" dirty="0"/>
          </a:p>
        </p:txBody>
      </p:sp>
      <p:sp>
        <p:nvSpPr>
          <p:cNvPr id="26" name="Text 24"/>
          <p:cNvSpPr/>
          <p:nvPr/>
        </p:nvSpPr>
        <p:spPr>
          <a:xfrm>
            <a:off x="4421684" y="2412504"/>
            <a:ext cx="3590788" cy="152400"/>
          </a:xfrm>
          <a:prstGeom prst="rect">
            <a:avLst/>
          </a:prstGeom>
          <a:noFill/>
          <a:ln/>
        </p:spPr>
        <p:txBody>
          <a:bodyPr wrap="square" lIns="0" tIns="0" rIns="0" bIns="0" rtlCol="0" anchor="t"/>
          <a:lstStyle/>
          <a:p>
            <a:pPr marL="0" indent="0" algn="l">
              <a:spcBef>
                <a:spcPts val="600"/>
              </a:spcBef>
              <a:spcAft>
                <a:spcPts val="400"/>
              </a:spcAft>
              <a:buNone/>
            </a:pPr>
            <a:r>
              <a:rPr lang="en-US" sz="1100" b="1" dirty="0">
                <a:solidFill>
                  <a:srgbClr val="264653"/>
                </a:solidFill>
                <a:latin typeface="Arial" pitchFamily="34" charset="0"/>
                <a:ea typeface="Arial" pitchFamily="34" charset="-122"/>
                <a:cs typeface="Arial" pitchFamily="34" charset="-120"/>
              </a:rPr>
              <a:t>Role:</a:t>
            </a:r>
            <a:r>
              <a:rPr lang="en-US" sz="1100" dirty="0">
                <a:solidFill>
                  <a:srgbClr val="264653"/>
                </a:solidFill>
                <a:latin typeface="Arial" pitchFamily="34" charset="0"/>
                <a:ea typeface="Arial" pitchFamily="34" charset="-122"/>
                <a:cs typeface="Arial" pitchFamily="34" charset="-120"/>
              </a:rPr>
              <a:t> Fairness-based throttling coordinator</a:t>
            </a:r>
            <a:endParaRPr lang="en-US" sz="1100" dirty="0"/>
          </a:p>
        </p:txBody>
      </p:sp>
      <p:sp>
        <p:nvSpPr>
          <p:cNvPr id="27" name="Text 25"/>
          <p:cNvSpPr/>
          <p:nvPr/>
        </p:nvSpPr>
        <p:spPr>
          <a:xfrm>
            <a:off x="4421684" y="2729954"/>
            <a:ext cx="3520380" cy="200025"/>
          </a:xfrm>
          <a:prstGeom prst="roundRect">
            <a:avLst>
              <a:gd name="adj" fmla="val 25397"/>
            </a:avLst>
          </a:prstGeom>
          <a:solidFill>
            <a:srgbClr val="5B4B9E"/>
          </a:solidFill>
          <a:ln/>
        </p:spPr>
        <p:txBody>
          <a:bodyPr wrap="square" rtlCol="0" anchor="ctr"/>
          <a:lstStyle/>
          <a:p>
            <a:pPr marL="0" indent="0">
              <a:buNone/>
            </a:pPr>
            <a:endParaRPr lang="en-US" dirty="0"/>
          </a:p>
        </p:txBody>
      </p:sp>
      <p:sp>
        <p:nvSpPr>
          <p:cNvPr id="28" name="Text 26"/>
          <p:cNvSpPr/>
          <p:nvPr/>
        </p:nvSpPr>
        <p:spPr>
          <a:xfrm>
            <a:off x="4386480" y="2729954"/>
            <a:ext cx="3590788" cy="200025"/>
          </a:xfrm>
          <a:prstGeom prst="rect">
            <a:avLst/>
          </a:prstGeom>
          <a:noFill/>
          <a:ln/>
        </p:spPr>
        <p:txBody>
          <a:bodyPr wrap="square" lIns="0" tIns="0" rIns="0" bIns="0" rtlCol="0" anchor="t"/>
          <a:lstStyle/>
          <a:p>
            <a:pPr marL="0" indent="0" algn="ctr">
              <a:spcBef>
                <a:spcPts val="1300"/>
              </a:spcBef>
              <a:spcAft>
                <a:spcPts val="1300"/>
              </a:spcAft>
              <a:buNone/>
            </a:pPr>
            <a:r>
              <a:rPr lang="en-US" sz="1300" b="1" dirty="0">
                <a:solidFill>
                  <a:srgbClr val="FFFFFF"/>
                </a:solidFill>
                <a:latin typeface="Arial" pitchFamily="34" charset="0"/>
                <a:ea typeface="Arial" pitchFamily="34" charset="-122"/>
                <a:cs typeface="Arial" pitchFamily="34" charset="-120"/>
              </a:rPr>
              <a:t>64 B (within 256 KB limit)</a:t>
            </a:r>
            <a:endParaRPr lang="en-US" sz="1300" dirty="0"/>
          </a:p>
        </p:txBody>
      </p:sp>
      <p:sp>
        <p:nvSpPr>
          <p:cNvPr id="29" name="Text 27"/>
          <p:cNvSpPr/>
          <p:nvPr/>
        </p:nvSpPr>
        <p:spPr>
          <a:xfrm>
            <a:off x="4396383" y="3183731"/>
            <a:ext cx="3570982" cy="431602"/>
          </a:xfrm>
          <a:prstGeom prst="roundRect">
            <a:avLst>
              <a:gd name="adj" fmla="val 14713"/>
            </a:avLst>
          </a:prstGeom>
          <a:solidFill>
            <a:srgbClr val="E8F8F5"/>
          </a:solidFill>
          <a:ln/>
        </p:spPr>
        <p:txBody>
          <a:bodyPr wrap="square" rtlCol="0" anchor="ctr"/>
          <a:lstStyle/>
          <a:p>
            <a:pPr marL="0" indent="0">
              <a:buNone/>
            </a:pPr>
            <a:endParaRPr lang="en-US" dirty="0"/>
          </a:p>
        </p:txBody>
      </p:sp>
      <p:sp>
        <p:nvSpPr>
          <p:cNvPr id="30" name="Shape 28"/>
          <p:cNvSpPr/>
          <p:nvPr/>
        </p:nvSpPr>
        <p:spPr>
          <a:xfrm>
            <a:off x="4420195" y="3183731"/>
            <a:ext cx="0" cy="431602"/>
          </a:xfrm>
          <a:prstGeom prst="line">
            <a:avLst/>
          </a:prstGeom>
          <a:noFill/>
          <a:ln w="47625">
            <a:solidFill>
              <a:srgbClr val="2A9D8F"/>
            </a:solidFill>
            <a:prstDash val="solid"/>
          </a:ln>
        </p:spPr>
      </p:sp>
      <p:sp>
        <p:nvSpPr>
          <p:cNvPr id="31" name="Text 29"/>
          <p:cNvSpPr/>
          <p:nvPr/>
        </p:nvSpPr>
        <p:spPr>
          <a:xfrm>
            <a:off x="4507409" y="3247132"/>
            <a:ext cx="3464487" cy="304800"/>
          </a:xfrm>
          <a:prstGeom prst="rect">
            <a:avLst/>
          </a:prstGeom>
          <a:noFill/>
          <a:ln/>
        </p:spPr>
        <p:txBody>
          <a:bodyPr wrap="square" lIns="0" tIns="0" rIns="0" bIns="0" rtlCol="0" anchor="t"/>
          <a:lstStyle/>
          <a:p>
            <a:pPr marL="0" indent="0" algn="l">
              <a:buNone/>
            </a:pPr>
            <a:r>
              <a:rPr lang="en-US" sz="1100" b="1" dirty="0">
                <a:solidFill>
                  <a:srgbClr val="5B4B9E"/>
                </a:solidFill>
                <a:latin typeface="Arial" pitchFamily="34" charset="0"/>
                <a:ea typeface="Arial" pitchFamily="34" charset="-122"/>
                <a:cs typeface="Arial" pitchFamily="34" charset="-120"/>
              </a:rPr>
              <a:t>Key Design:</a:t>
            </a:r>
            <a:r>
              <a:rPr lang="en-US" sz="1100" dirty="0">
                <a:solidFill>
                  <a:srgbClr val="264653"/>
                </a:solidFill>
                <a:latin typeface="Arial" pitchFamily="34" charset="0"/>
                <a:ea typeface="Arial" pitchFamily="34" charset="-122"/>
                <a:cs typeface="Arial" pitchFamily="34" charset="-120"/>
              </a:rPr>
              <a:t> Hierarchical optimization with coordinated metadata exchange</a:t>
            </a:r>
            <a:endParaRPr lang="en-US" sz="1100" dirty="0"/>
          </a:p>
        </p:txBody>
      </p:sp>
      <p:sp>
        <p:nvSpPr>
          <p:cNvPr id="32" name="文本框 31">
            <a:extLst>
              <a:ext uri="{FF2B5EF4-FFF2-40B4-BE49-F238E27FC236}">
                <a16:creationId xmlns:a16="http://schemas.microsoft.com/office/drawing/2014/main" id="{D18CADF3-3553-8BA3-7C50-33B6DCE5AF68}"/>
              </a:ext>
            </a:extLst>
          </p:cNvPr>
          <p:cNvSpPr txBox="1"/>
          <p:nvPr/>
        </p:nvSpPr>
        <p:spPr>
          <a:xfrm>
            <a:off x="8395452" y="4621065"/>
            <a:ext cx="529984" cy="369332"/>
          </a:xfrm>
          <a:prstGeom prst="rect">
            <a:avLst/>
          </a:prstGeom>
          <a:noFill/>
        </p:spPr>
        <p:txBody>
          <a:bodyPr wrap="square" rtlCol="0">
            <a:spAutoFit/>
          </a:bodyPr>
          <a:lstStyle/>
          <a:p>
            <a:r>
              <a:rPr lang="en-US" altLang="zh-CN"/>
              <a:t>13</a:t>
            </a: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825401"/>
          </a:xfrm>
          <a:prstGeom prst="rect">
            <a:avLst/>
          </a:prstGeom>
          <a:solidFill>
            <a:srgbClr val="5B4B9E"/>
          </a:solidFill>
          <a:ln/>
        </p:spPr>
        <p:txBody>
          <a:bodyPr wrap="square" rtlCol="0" anchor="ctr"/>
          <a:lstStyle/>
          <a:p>
            <a:pPr marL="0" indent="0">
              <a:buNone/>
            </a:pPr>
            <a:endParaRPr lang="en-US" dirty="0"/>
          </a:p>
        </p:txBody>
      </p:sp>
      <p:sp>
        <p:nvSpPr>
          <p:cNvPr id="3" name="Text 1"/>
          <p:cNvSpPr/>
          <p:nvPr/>
        </p:nvSpPr>
        <p:spPr>
          <a:xfrm>
            <a:off x="634901" y="126950"/>
            <a:ext cx="8031682" cy="409575"/>
          </a:xfrm>
          <a:prstGeom prst="rect">
            <a:avLst/>
          </a:prstGeom>
          <a:noFill/>
          <a:ln/>
        </p:spPr>
        <p:txBody>
          <a:bodyPr wrap="square" lIns="0" tIns="0" rIns="0" bIns="0" rtlCol="0" anchor="t"/>
          <a:lstStyle/>
          <a:p>
            <a:pPr marL="0" indent="0" algn="l">
              <a:buNone/>
            </a:pPr>
            <a:r>
              <a:rPr lang="en-US" sz="2800" b="1" dirty="0">
                <a:solidFill>
                  <a:srgbClr val="FFFFFF"/>
                </a:solidFill>
                <a:latin typeface="Arial" pitchFamily="34" charset="0"/>
                <a:ea typeface="Arial" pitchFamily="34" charset="-122"/>
                <a:cs typeface="Arial" pitchFamily="34" charset="-120"/>
              </a:rPr>
              <a:t>Evaluation Setup</a:t>
            </a:r>
            <a:endParaRPr lang="en-US" sz="2800" dirty="0"/>
          </a:p>
        </p:txBody>
      </p:sp>
      <p:sp>
        <p:nvSpPr>
          <p:cNvPr id="4" name="Text 2"/>
          <p:cNvSpPr/>
          <p:nvPr/>
        </p:nvSpPr>
        <p:spPr>
          <a:xfrm>
            <a:off x="634901" y="888950"/>
            <a:ext cx="3090288" cy="200025"/>
          </a:xfrm>
          <a:prstGeom prst="rect">
            <a:avLst/>
          </a:prstGeom>
          <a:noFill/>
          <a:ln/>
        </p:spPr>
        <p:txBody>
          <a:bodyPr wrap="square" lIns="0" tIns="0" rIns="0" bIns="0" rtlCol="0" anchor="t"/>
          <a:lstStyle/>
          <a:p>
            <a:pPr marL="0" indent="0" algn="l">
              <a:spcAft>
                <a:spcPts val="600"/>
              </a:spcAft>
              <a:buNone/>
            </a:pPr>
            <a:r>
              <a:rPr lang="en-US" sz="1300" b="1" dirty="0">
                <a:solidFill>
                  <a:srgbClr val="2A9D8F"/>
                </a:solidFill>
                <a:latin typeface="Arial" pitchFamily="34" charset="0"/>
                <a:ea typeface="Arial" pitchFamily="34" charset="-122"/>
                <a:cs typeface="Arial" pitchFamily="34" charset="-120"/>
              </a:rPr>
              <a:t>Platform</a:t>
            </a:r>
            <a:endParaRPr lang="en-US" sz="1300" dirty="0"/>
          </a:p>
        </p:txBody>
      </p:sp>
      <p:sp>
        <p:nvSpPr>
          <p:cNvPr id="5" name="Text 3"/>
          <p:cNvSpPr/>
          <p:nvPr/>
        </p:nvSpPr>
        <p:spPr>
          <a:xfrm>
            <a:off x="634901" y="1165175"/>
            <a:ext cx="3029694" cy="279202"/>
          </a:xfrm>
          <a:prstGeom prst="roundRect">
            <a:avLst>
              <a:gd name="adj" fmla="val 22743"/>
            </a:avLst>
          </a:prstGeom>
          <a:solidFill>
            <a:srgbClr val="E9ECEF"/>
          </a:solidFill>
          <a:ln/>
        </p:spPr>
        <p:txBody>
          <a:bodyPr wrap="square" rtlCol="0" anchor="ctr"/>
          <a:lstStyle/>
          <a:p>
            <a:pPr marL="0" indent="0">
              <a:buNone/>
            </a:pPr>
            <a:endParaRPr lang="en-US" dirty="0"/>
          </a:p>
        </p:txBody>
      </p:sp>
      <p:sp>
        <p:nvSpPr>
          <p:cNvPr id="6" name="Text 4"/>
          <p:cNvSpPr/>
          <p:nvPr/>
        </p:nvSpPr>
        <p:spPr>
          <a:xfrm>
            <a:off x="698302" y="1228576"/>
            <a:ext cx="2960950" cy="152400"/>
          </a:xfrm>
          <a:prstGeom prst="rect">
            <a:avLst/>
          </a:prstGeom>
          <a:noFill/>
          <a:ln/>
        </p:spPr>
        <p:txBody>
          <a:bodyPr wrap="square" lIns="0" tIns="0" rIns="0" bIns="0" rtlCol="0" anchor="t"/>
          <a:lstStyle/>
          <a:p>
            <a:pPr marL="0" indent="0" algn="l">
              <a:buNone/>
            </a:pPr>
            <a:r>
              <a:rPr lang="en-US" sz="1100" b="1" dirty="0">
                <a:solidFill>
                  <a:srgbClr val="264653"/>
                </a:solidFill>
                <a:latin typeface="Arial" pitchFamily="34" charset="0"/>
                <a:ea typeface="Arial" pitchFamily="34" charset="-122"/>
                <a:cs typeface="Arial" pitchFamily="34" charset="-120"/>
              </a:rPr>
              <a:t>DPC4 ChampSim Framework</a:t>
            </a:r>
            <a:endParaRPr lang="en-US" sz="1100" dirty="0"/>
          </a:p>
        </p:txBody>
      </p:sp>
      <p:sp>
        <p:nvSpPr>
          <p:cNvPr id="7" name="Text 5"/>
          <p:cNvSpPr/>
          <p:nvPr/>
        </p:nvSpPr>
        <p:spPr>
          <a:xfrm>
            <a:off x="634901" y="1520577"/>
            <a:ext cx="3090288" cy="200025"/>
          </a:xfrm>
          <a:prstGeom prst="rect">
            <a:avLst/>
          </a:prstGeom>
          <a:noFill/>
          <a:ln/>
        </p:spPr>
        <p:txBody>
          <a:bodyPr wrap="square" lIns="0" tIns="0" rIns="0" bIns="0" rtlCol="0" anchor="t"/>
          <a:lstStyle/>
          <a:p>
            <a:pPr marL="0" indent="0" algn="l">
              <a:spcBef>
                <a:spcPts val="600"/>
              </a:spcBef>
              <a:spcAft>
                <a:spcPts val="600"/>
              </a:spcAft>
              <a:buNone/>
            </a:pPr>
            <a:r>
              <a:rPr lang="en-US" sz="1300" b="1" dirty="0">
                <a:solidFill>
                  <a:srgbClr val="2A9D8F"/>
                </a:solidFill>
                <a:latin typeface="Arial" pitchFamily="34" charset="0"/>
                <a:ea typeface="Arial" pitchFamily="34" charset="-122"/>
                <a:cs typeface="Arial" pitchFamily="34" charset="-120"/>
              </a:rPr>
              <a:t>Configurations</a:t>
            </a:r>
            <a:endParaRPr lang="en-US" sz="1300" dirty="0"/>
          </a:p>
        </p:txBody>
      </p:sp>
      <p:sp>
        <p:nvSpPr>
          <p:cNvPr id="8" name="Text 6"/>
          <p:cNvSpPr/>
          <p:nvPr/>
        </p:nvSpPr>
        <p:spPr>
          <a:xfrm>
            <a:off x="634901" y="1796802"/>
            <a:ext cx="3029694" cy="715714"/>
          </a:xfrm>
          <a:prstGeom prst="roundRect">
            <a:avLst>
              <a:gd name="adj" fmla="val 8872"/>
            </a:avLst>
          </a:prstGeom>
          <a:solidFill>
            <a:srgbClr val="E8F8F5"/>
          </a:solidFill>
          <a:ln/>
        </p:spPr>
        <p:txBody>
          <a:bodyPr wrap="square" rtlCol="0" anchor="ctr"/>
          <a:lstStyle/>
          <a:p>
            <a:pPr marL="0" indent="0">
              <a:buNone/>
            </a:pPr>
            <a:endParaRPr lang="en-US" dirty="0"/>
          </a:p>
        </p:txBody>
      </p:sp>
      <p:sp>
        <p:nvSpPr>
          <p:cNvPr id="9" name="Shape 7"/>
          <p:cNvSpPr/>
          <p:nvPr/>
        </p:nvSpPr>
        <p:spPr>
          <a:xfrm>
            <a:off x="653951" y="1796802"/>
            <a:ext cx="0" cy="715714"/>
          </a:xfrm>
          <a:prstGeom prst="line">
            <a:avLst/>
          </a:prstGeom>
          <a:noFill/>
          <a:ln w="38100">
            <a:solidFill>
              <a:srgbClr val="2A9D8F"/>
            </a:solidFill>
            <a:prstDash val="solid"/>
          </a:ln>
        </p:spPr>
      </p:sp>
      <p:sp>
        <p:nvSpPr>
          <p:cNvPr id="10" name="Text 8"/>
          <p:cNvSpPr/>
          <p:nvPr/>
        </p:nvSpPr>
        <p:spPr>
          <a:xfrm>
            <a:off x="736402" y="1860203"/>
            <a:ext cx="2922088" cy="152400"/>
          </a:xfrm>
          <a:prstGeom prst="rect">
            <a:avLst/>
          </a:prstGeom>
          <a:noFill/>
          <a:ln/>
        </p:spPr>
        <p:txBody>
          <a:bodyPr wrap="square" lIns="0" tIns="0" rIns="0" bIns="0" rtlCol="0" anchor="t"/>
          <a:lstStyle/>
          <a:p>
            <a:pPr marL="0" indent="0" algn="l">
              <a:spcAft>
                <a:spcPts val="400"/>
              </a:spcAft>
              <a:buNone/>
            </a:pPr>
            <a:r>
              <a:rPr lang="en-US" sz="1100" b="1" dirty="0">
                <a:solidFill>
                  <a:srgbClr val="5B4B9E"/>
                </a:solidFill>
                <a:latin typeface="Arial" pitchFamily="34" charset="0"/>
                <a:ea typeface="Arial" pitchFamily="34" charset="-122"/>
                <a:cs typeface="Arial" pitchFamily="34" charset="-120"/>
              </a:rPr>
              <a:t>1C.fullBW (Single-core Full)</a:t>
            </a:r>
            <a:endParaRPr lang="en-US" sz="1100" dirty="0"/>
          </a:p>
        </p:txBody>
      </p:sp>
      <p:sp>
        <p:nvSpPr>
          <p:cNvPr id="11" name="Text 9"/>
          <p:cNvSpPr/>
          <p:nvPr/>
        </p:nvSpPr>
        <p:spPr>
          <a:xfrm>
            <a:off x="736402" y="2063353"/>
            <a:ext cx="2864793" cy="360462"/>
          </a:xfrm>
          <a:prstGeom prst="rect">
            <a:avLst/>
          </a:prstGeom>
          <a:noFill/>
          <a:ln/>
        </p:spPr>
        <p:txBody>
          <a:bodyPr wrap="square" lIns="76200" tIns="0" rIns="0" bIns="0" rtlCol="0" anchor="t"/>
          <a:lstStyle/>
          <a:p>
            <a:pPr marL="76200" indent="-76200" algn="l">
              <a:lnSpc>
                <a:spcPts val="1320"/>
              </a:lnSpc>
              <a:spcAft>
                <a:spcPts val="200"/>
              </a:spcAft>
              <a:buSzPct val="100000"/>
              <a:buChar char="•"/>
            </a:pPr>
            <a:r>
              <a:rPr lang="en-US" sz="1100" dirty="0">
                <a:solidFill>
                  <a:srgbClr val="264653"/>
                </a:solidFill>
                <a:latin typeface="Arial" pitchFamily="34" charset="0"/>
                <a:ea typeface="Arial" pitchFamily="34" charset="-122"/>
                <a:cs typeface="Arial" pitchFamily="34" charset="-120"/>
              </a:rPr>
              <a:t>1 core, 4800 MT/s</a:t>
            </a:r>
            <a:endParaRPr lang="en-US" sz="1100" dirty="0"/>
          </a:p>
          <a:p>
            <a:pPr marL="76200" indent="-76200" algn="l">
              <a:lnSpc>
                <a:spcPts val="1320"/>
              </a:lnSpc>
              <a:spcAft>
                <a:spcPts val="200"/>
              </a:spcAft>
              <a:buSzPct val="100000"/>
              <a:buChar char="•"/>
            </a:pPr>
            <a:r>
              <a:rPr lang="en-US" sz="1100" dirty="0">
                <a:solidFill>
                  <a:srgbClr val="264653"/>
                </a:solidFill>
                <a:latin typeface="Arial" pitchFamily="34" charset="0"/>
                <a:ea typeface="Arial" pitchFamily="34" charset="-122"/>
                <a:cs typeface="Arial" pitchFamily="34" charset="-120"/>
              </a:rPr>
              <a:t>Full memory bandwidth</a:t>
            </a:r>
            <a:endParaRPr lang="en-US" sz="1100" dirty="0"/>
          </a:p>
        </p:txBody>
      </p:sp>
      <p:sp>
        <p:nvSpPr>
          <p:cNvPr id="12" name="Text 10"/>
          <p:cNvSpPr/>
          <p:nvPr/>
        </p:nvSpPr>
        <p:spPr>
          <a:xfrm>
            <a:off x="634901" y="2563267"/>
            <a:ext cx="3029694" cy="715714"/>
          </a:xfrm>
          <a:prstGeom prst="roundRect">
            <a:avLst>
              <a:gd name="adj" fmla="val 8872"/>
            </a:avLst>
          </a:prstGeom>
          <a:solidFill>
            <a:srgbClr val="E8F8F5"/>
          </a:solidFill>
          <a:ln/>
        </p:spPr>
        <p:txBody>
          <a:bodyPr wrap="square" rtlCol="0" anchor="ctr"/>
          <a:lstStyle/>
          <a:p>
            <a:pPr marL="0" indent="0">
              <a:buNone/>
            </a:pPr>
            <a:endParaRPr lang="en-US" dirty="0"/>
          </a:p>
        </p:txBody>
      </p:sp>
      <p:sp>
        <p:nvSpPr>
          <p:cNvPr id="13" name="Shape 11"/>
          <p:cNvSpPr/>
          <p:nvPr/>
        </p:nvSpPr>
        <p:spPr>
          <a:xfrm>
            <a:off x="653951" y="2563267"/>
            <a:ext cx="0" cy="715714"/>
          </a:xfrm>
          <a:prstGeom prst="line">
            <a:avLst/>
          </a:prstGeom>
          <a:noFill/>
          <a:ln w="38100">
            <a:solidFill>
              <a:srgbClr val="2A9D8F"/>
            </a:solidFill>
            <a:prstDash val="solid"/>
          </a:ln>
        </p:spPr>
      </p:sp>
      <p:sp>
        <p:nvSpPr>
          <p:cNvPr id="14" name="Text 12"/>
          <p:cNvSpPr/>
          <p:nvPr/>
        </p:nvSpPr>
        <p:spPr>
          <a:xfrm>
            <a:off x="736402" y="2626668"/>
            <a:ext cx="2922088" cy="152400"/>
          </a:xfrm>
          <a:prstGeom prst="rect">
            <a:avLst/>
          </a:prstGeom>
          <a:noFill/>
          <a:ln/>
        </p:spPr>
        <p:txBody>
          <a:bodyPr wrap="square" lIns="0" tIns="0" rIns="0" bIns="0" rtlCol="0" anchor="t"/>
          <a:lstStyle/>
          <a:p>
            <a:pPr marL="0" indent="0" algn="l">
              <a:spcAft>
                <a:spcPts val="400"/>
              </a:spcAft>
              <a:buNone/>
            </a:pPr>
            <a:r>
              <a:rPr lang="en-US" sz="1100" b="1" dirty="0">
                <a:solidFill>
                  <a:srgbClr val="5B4B9E"/>
                </a:solidFill>
                <a:latin typeface="Arial" pitchFamily="34" charset="0"/>
                <a:ea typeface="Arial" pitchFamily="34" charset="-122"/>
                <a:cs typeface="Arial" pitchFamily="34" charset="-120"/>
              </a:rPr>
              <a:t>1C.limitBW (Single-core Limited)</a:t>
            </a:r>
            <a:endParaRPr lang="en-US" sz="1100" dirty="0"/>
          </a:p>
        </p:txBody>
      </p:sp>
      <p:sp>
        <p:nvSpPr>
          <p:cNvPr id="15" name="Text 13"/>
          <p:cNvSpPr/>
          <p:nvPr/>
        </p:nvSpPr>
        <p:spPr>
          <a:xfrm>
            <a:off x="736402" y="2829818"/>
            <a:ext cx="2864793" cy="360462"/>
          </a:xfrm>
          <a:prstGeom prst="rect">
            <a:avLst/>
          </a:prstGeom>
          <a:noFill/>
          <a:ln/>
        </p:spPr>
        <p:txBody>
          <a:bodyPr wrap="square" lIns="76200" tIns="0" rIns="0" bIns="0" rtlCol="0" anchor="t"/>
          <a:lstStyle/>
          <a:p>
            <a:pPr marL="76200" indent="-76200" algn="l">
              <a:lnSpc>
                <a:spcPts val="1320"/>
              </a:lnSpc>
              <a:spcAft>
                <a:spcPts val="200"/>
              </a:spcAft>
              <a:buSzPct val="100000"/>
              <a:buChar char="•"/>
            </a:pPr>
            <a:r>
              <a:rPr lang="en-US" sz="1100" dirty="0">
                <a:solidFill>
                  <a:srgbClr val="264653"/>
                </a:solidFill>
                <a:latin typeface="Arial" pitchFamily="34" charset="0"/>
                <a:ea typeface="Arial" pitchFamily="34" charset="-122"/>
                <a:cs typeface="Arial" pitchFamily="34" charset="-120"/>
              </a:rPr>
              <a:t>1 core, 800 MT/s</a:t>
            </a:r>
            <a:endParaRPr lang="en-US" sz="1100" dirty="0"/>
          </a:p>
          <a:p>
            <a:pPr marL="76200" indent="-76200" algn="l">
              <a:lnSpc>
                <a:spcPts val="1320"/>
              </a:lnSpc>
              <a:spcAft>
                <a:spcPts val="200"/>
              </a:spcAft>
              <a:buSzPct val="100000"/>
              <a:buChar char="•"/>
            </a:pPr>
            <a:r>
              <a:rPr lang="en-US" sz="1100" dirty="0">
                <a:solidFill>
                  <a:srgbClr val="264653"/>
                </a:solidFill>
                <a:latin typeface="Arial" pitchFamily="34" charset="0"/>
                <a:ea typeface="Arial" pitchFamily="34" charset="-122"/>
                <a:cs typeface="Arial" pitchFamily="34" charset="-120"/>
              </a:rPr>
              <a:t>Memory-constrained</a:t>
            </a:r>
            <a:endParaRPr lang="en-US" sz="1100" dirty="0"/>
          </a:p>
        </p:txBody>
      </p:sp>
      <p:sp>
        <p:nvSpPr>
          <p:cNvPr id="16" name="Text 14"/>
          <p:cNvSpPr/>
          <p:nvPr/>
        </p:nvSpPr>
        <p:spPr>
          <a:xfrm>
            <a:off x="634901" y="3329732"/>
            <a:ext cx="3029694" cy="715714"/>
          </a:xfrm>
          <a:prstGeom prst="roundRect">
            <a:avLst>
              <a:gd name="adj" fmla="val 8872"/>
            </a:avLst>
          </a:prstGeom>
          <a:solidFill>
            <a:srgbClr val="E8F8F5"/>
          </a:solidFill>
          <a:ln/>
        </p:spPr>
        <p:txBody>
          <a:bodyPr wrap="square" rtlCol="0" anchor="ctr"/>
          <a:lstStyle/>
          <a:p>
            <a:pPr marL="0" indent="0">
              <a:buNone/>
            </a:pPr>
            <a:endParaRPr lang="en-US" dirty="0"/>
          </a:p>
        </p:txBody>
      </p:sp>
      <p:sp>
        <p:nvSpPr>
          <p:cNvPr id="17" name="Shape 15"/>
          <p:cNvSpPr/>
          <p:nvPr/>
        </p:nvSpPr>
        <p:spPr>
          <a:xfrm>
            <a:off x="653951" y="3329732"/>
            <a:ext cx="0" cy="715714"/>
          </a:xfrm>
          <a:prstGeom prst="line">
            <a:avLst/>
          </a:prstGeom>
          <a:noFill/>
          <a:ln w="38100">
            <a:solidFill>
              <a:srgbClr val="2A9D8F"/>
            </a:solidFill>
            <a:prstDash val="solid"/>
          </a:ln>
        </p:spPr>
      </p:sp>
      <p:sp>
        <p:nvSpPr>
          <p:cNvPr id="18" name="Text 16"/>
          <p:cNvSpPr/>
          <p:nvPr/>
        </p:nvSpPr>
        <p:spPr>
          <a:xfrm>
            <a:off x="736402" y="3393132"/>
            <a:ext cx="2922088" cy="152400"/>
          </a:xfrm>
          <a:prstGeom prst="rect">
            <a:avLst/>
          </a:prstGeom>
          <a:noFill/>
          <a:ln/>
        </p:spPr>
        <p:txBody>
          <a:bodyPr wrap="square" lIns="0" tIns="0" rIns="0" bIns="0" rtlCol="0" anchor="t"/>
          <a:lstStyle/>
          <a:p>
            <a:pPr marL="0" indent="0" algn="l">
              <a:spcAft>
                <a:spcPts val="400"/>
              </a:spcAft>
              <a:buNone/>
            </a:pPr>
            <a:r>
              <a:rPr lang="en-US" sz="1100" b="1" dirty="0">
                <a:solidFill>
                  <a:srgbClr val="5B4B9E"/>
                </a:solidFill>
                <a:latin typeface="Arial" pitchFamily="34" charset="0"/>
                <a:ea typeface="Arial" pitchFamily="34" charset="-122"/>
                <a:cs typeface="Arial" pitchFamily="34" charset="-120"/>
              </a:rPr>
              <a:t>4C (Multi-core)</a:t>
            </a:r>
            <a:endParaRPr lang="en-US" sz="1100" dirty="0"/>
          </a:p>
        </p:txBody>
      </p:sp>
      <p:sp>
        <p:nvSpPr>
          <p:cNvPr id="19" name="Text 17"/>
          <p:cNvSpPr/>
          <p:nvPr/>
        </p:nvSpPr>
        <p:spPr>
          <a:xfrm>
            <a:off x="736402" y="3596283"/>
            <a:ext cx="2864793" cy="360462"/>
          </a:xfrm>
          <a:prstGeom prst="rect">
            <a:avLst/>
          </a:prstGeom>
          <a:noFill/>
          <a:ln/>
        </p:spPr>
        <p:txBody>
          <a:bodyPr wrap="square" lIns="76200" tIns="0" rIns="0" bIns="0" rtlCol="0" anchor="t"/>
          <a:lstStyle/>
          <a:p>
            <a:pPr marL="76200" indent="-76200" algn="l">
              <a:lnSpc>
                <a:spcPts val="1320"/>
              </a:lnSpc>
              <a:spcAft>
                <a:spcPts val="200"/>
              </a:spcAft>
              <a:buSzPct val="100000"/>
              <a:buChar char="•"/>
            </a:pPr>
            <a:r>
              <a:rPr lang="en-US" sz="1100" dirty="0">
                <a:solidFill>
                  <a:srgbClr val="264653"/>
                </a:solidFill>
                <a:latin typeface="Arial" pitchFamily="34" charset="0"/>
                <a:ea typeface="Arial" pitchFamily="34" charset="-122"/>
                <a:cs typeface="Arial" pitchFamily="34" charset="-120"/>
              </a:rPr>
              <a:t>4 cores, 4x LLC</a:t>
            </a:r>
            <a:endParaRPr lang="en-US" sz="1100" dirty="0"/>
          </a:p>
          <a:p>
            <a:pPr marL="76200" indent="-76200" algn="l">
              <a:lnSpc>
                <a:spcPts val="1320"/>
              </a:lnSpc>
              <a:spcAft>
                <a:spcPts val="200"/>
              </a:spcAft>
              <a:buSzPct val="100000"/>
              <a:buChar char="•"/>
            </a:pPr>
            <a:r>
              <a:rPr lang="en-US" sz="1100" dirty="0">
                <a:solidFill>
                  <a:srgbClr val="264653"/>
                </a:solidFill>
                <a:latin typeface="Arial" pitchFamily="34" charset="0"/>
                <a:ea typeface="Arial" pitchFamily="34" charset="-122"/>
                <a:cs typeface="Arial" pitchFamily="34" charset="-120"/>
              </a:rPr>
              <a:t>Tests fairness</a:t>
            </a:r>
            <a:endParaRPr lang="en-US" sz="1100" dirty="0"/>
          </a:p>
        </p:txBody>
      </p:sp>
      <p:sp>
        <p:nvSpPr>
          <p:cNvPr id="20" name="Text 18"/>
          <p:cNvSpPr/>
          <p:nvPr/>
        </p:nvSpPr>
        <p:spPr>
          <a:xfrm>
            <a:off x="3855095" y="888950"/>
            <a:ext cx="3090440" cy="200025"/>
          </a:xfrm>
          <a:prstGeom prst="rect">
            <a:avLst/>
          </a:prstGeom>
          <a:noFill/>
          <a:ln/>
        </p:spPr>
        <p:txBody>
          <a:bodyPr wrap="square" lIns="0" tIns="0" rIns="0" bIns="0" rtlCol="0" anchor="t"/>
          <a:lstStyle/>
          <a:p>
            <a:pPr marL="0" indent="0" algn="l">
              <a:spcAft>
                <a:spcPts val="600"/>
              </a:spcAft>
              <a:buNone/>
            </a:pPr>
            <a:r>
              <a:rPr lang="en-US" sz="1300" b="1" dirty="0">
                <a:solidFill>
                  <a:srgbClr val="2A9D8F"/>
                </a:solidFill>
                <a:latin typeface="Arial" pitchFamily="34" charset="0"/>
                <a:ea typeface="Arial" pitchFamily="34" charset="-122"/>
                <a:cs typeface="Arial" pitchFamily="34" charset="-120"/>
              </a:rPr>
              <a:t>Traces</a:t>
            </a:r>
            <a:endParaRPr lang="en-US" sz="1300" dirty="0"/>
          </a:p>
        </p:txBody>
      </p:sp>
      <p:sp>
        <p:nvSpPr>
          <p:cNvPr id="21" name="Text 19"/>
          <p:cNvSpPr/>
          <p:nvPr/>
        </p:nvSpPr>
        <p:spPr>
          <a:xfrm>
            <a:off x="3855095" y="1165175"/>
            <a:ext cx="3029843" cy="705445"/>
          </a:xfrm>
          <a:prstGeom prst="roundRect">
            <a:avLst>
              <a:gd name="adj" fmla="val 9001"/>
            </a:avLst>
          </a:prstGeom>
          <a:solidFill>
            <a:srgbClr val="E9ECEF"/>
          </a:solidFill>
          <a:ln/>
        </p:spPr>
        <p:txBody>
          <a:bodyPr wrap="square" rtlCol="0" anchor="ctr"/>
          <a:lstStyle/>
          <a:p>
            <a:pPr marL="0" indent="0">
              <a:buNone/>
            </a:pPr>
            <a:endParaRPr lang="en-US" dirty="0"/>
          </a:p>
        </p:txBody>
      </p:sp>
      <p:sp>
        <p:nvSpPr>
          <p:cNvPr id="22" name="Text 20"/>
          <p:cNvSpPr/>
          <p:nvPr/>
        </p:nvSpPr>
        <p:spPr>
          <a:xfrm>
            <a:off x="3918496" y="1228576"/>
            <a:ext cx="2903041" cy="553343"/>
          </a:xfrm>
          <a:prstGeom prst="rect">
            <a:avLst/>
          </a:prstGeom>
          <a:noFill/>
          <a:ln/>
        </p:spPr>
        <p:txBody>
          <a:bodyPr wrap="square" lIns="101600" tIns="0" rIns="0" bIns="0" rtlCol="0" anchor="t"/>
          <a:lstStyle/>
          <a:p>
            <a:pPr marL="101600" indent="-101600" algn="l">
              <a:lnSpc>
                <a:spcPts val="1320"/>
              </a:lnSpc>
              <a:spcAft>
                <a:spcPts val="200"/>
              </a:spcAft>
              <a:buSzPct val="100000"/>
              <a:buChar char="•"/>
            </a:pPr>
            <a:r>
              <a:rPr lang="en-US" sz="1100" dirty="0">
                <a:solidFill>
                  <a:srgbClr val="264653"/>
                </a:solidFill>
                <a:latin typeface="Arial" pitchFamily="34" charset="0"/>
                <a:ea typeface="Arial" pitchFamily="34" charset="-122"/>
                <a:cs typeface="Arial" pitchFamily="34" charset="-120"/>
              </a:rPr>
              <a:t>DPC4-Traces: Publicly available</a:t>
            </a:r>
            <a:endParaRPr lang="en-US" sz="1100" dirty="0"/>
          </a:p>
          <a:p>
            <a:pPr marL="101600" indent="-101600" algn="l">
              <a:lnSpc>
                <a:spcPts val="1320"/>
              </a:lnSpc>
              <a:spcAft>
                <a:spcPts val="200"/>
              </a:spcAft>
              <a:buSzPct val="100000"/>
              <a:buChar char="•"/>
            </a:pPr>
            <a:r>
              <a:rPr lang="en-US" sz="1100" dirty="0">
                <a:solidFill>
                  <a:srgbClr val="264653"/>
                </a:solidFill>
                <a:latin typeface="Arial" pitchFamily="34" charset="0"/>
                <a:ea typeface="Arial" pitchFamily="34" charset="-122"/>
                <a:cs typeface="Arial" pitchFamily="34" charset="-120"/>
              </a:rPr>
              <a:t>Subset used (time constraints)</a:t>
            </a:r>
            <a:endParaRPr lang="en-US" sz="1100" dirty="0"/>
          </a:p>
          <a:p>
            <a:pPr marL="101600" indent="-101600" algn="l">
              <a:lnSpc>
                <a:spcPts val="1320"/>
              </a:lnSpc>
              <a:spcAft>
                <a:spcPts val="200"/>
              </a:spcAft>
              <a:buSzPct val="100000"/>
              <a:buChar char="•"/>
            </a:pPr>
            <a:r>
              <a:rPr lang="en-US" sz="1100" dirty="0">
                <a:solidFill>
                  <a:srgbClr val="264653"/>
                </a:solidFill>
                <a:latin typeface="Arial" pitchFamily="34" charset="0"/>
                <a:ea typeface="Arial" pitchFamily="34" charset="-122"/>
                <a:cs typeface="Arial" pitchFamily="34" charset="-120"/>
              </a:rPr>
              <a:t>Trends consistent with full set</a:t>
            </a:r>
            <a:endParaRPr lang="en-US" sz="1100" dirty="0"/>
          </a:p>
        </p:txBody>
      </p:sp>
      <p:sp>
        <p:nvSpPr>
          <p:cNvPr id="23" name="Text 21"/>
          <p:cNvSpPr/>
          <p:nvPr/>
        </p:nvSpPr>
        <p:spPr>
          <a:xfrm>
            <a:off x="3855095" y="1946821"/>
            <a:ext cx="3090440" cy="200025"/>
          </a:xfrm>
          <a:prstGeom prst="rect">
            <a:avLst/>
          </a:prstGeom>
          <a:noFill/>
          <a:ln/>
        </p:spPr>
        <p:txBody>
          <a:bodyPr wrap="square" lIns="0" tIns="0" rIns="0" bIns="0" rtlCol="0" anchor="t"/>
          <a:lstStyle/>
          <a:p>
            <a:pPr marL="0" indent="0" algn="l">
              <a:spcBef>
                <a:spcPts val="600"/>
              </a:spcBef>
              <a:spcAft>
                <a:spcPts val="600"/>
              </a:spcAft>
              <a:buNone/>
            </a:pPr>
            <a:r>
              <a:rPr lang="en-US" sz="1300" b="1" dirty="0">
                <a:solidFill>
                  <a:srgbClr val="2A9D8F"/>
                </a:solidFill>
                <a:latin typeface="Arial" pitchFamily="34" charset="0"/>
                <a:ea typeface="Arial" pitchFamily="34" charset="-122"/>
                <a:cs typeface="Arial" pitchFamily="34" charset="-120"/>
              </a:rPr>
              <a:t>Scoring Methodology</a:t>
            </a:r>
            <a:endParaRPr lang="en-US" sz="1300" dirty="0"/>
          </a:p>
        </p:txBody>
      </p:sp>
      <p:sp>
        <p:nvSpPr>
          <p:cNvPr id="24" name="Text 22"/>
          <p:cNvSpPr/>
          <p:nvPr/>
        </p:nvSpPr>
        <p:spPr>
          <a:xfrm>
            <a:off x="3855095" y="2223046"/>
            <a:ext cx="3029843" cy="710803"/>
          </a:xfrm>
          <a:prstGeom prst="roundRect">
            <a:avLst>
              <a:gd name="adj" fmla="val 8934"/>
            </a:avLst>
          </a:prstGeom>
          <a:solidFill>
            <a:srgbClr val="FFFFFF"/>
          </a:solidFill>
          <a:ln/>
        </p:spPr>
        <p:txBody>
          <a:bodyPr wrap="square" rtlCol="0" anchor="ctr"/>
          <a:lstStyle/>
          <a:p>
            <a:pPr marL="0" indent="0">
              <a:buNone/>
            </a:pPr>
            <a:endParaRPr lang="en-US" dirty="0"/>
          </a:p>
        </p:txBody>
      </p:sp>
      <p:sp>
        <p:nvSpPr>
          <p:cNvPr id="25" name="Text 23"/>
          <p:cNvSpPr/>
          <p:nvPr/>
        </p:nvSpPr>
        <p:spPr>
          <a:xfrm>
            <a:off x="3889465" y="2426047"/>
            <a:ext cx="2961102" cy="304800"/>
          </a:xfrm>
          <a:prstGeom prst="rect">
            <a:avLst/>
          </a:prstGeom>
          <a:noFill/>
          <a:ln/>
        </p:spPr>
        <p:txBody>
          <a:bodyPr wrap="square" lIns="0" tIns="0" rIns="0" bIns="0" rtlCol="0" anchor="t"/>
          <a:lstStyle/>
          <a:p>
            <a:pPr marL="0" indent="0" algn="ctr">
              <a:spcBef>
                <a:spcPts val="1100"/>
              </a:spcBef>
              <a:spcAft>
                <a:spcPts val="1100"/>
              </a:spcAft>
              <a:buNone/>
            </a:pPr>
            <a:r>
              <a:rPr lang="en-US" sz="1100" b="1" dirty="0">
                <a:solidFill>
                  <a:srgbClr val="5B4B9E"/>
                </a:solidFill>
                <a:latin typeface="Courier New" pitchFamily="34" charset="0"/>
                <a:ea typeface="Courier New" pitchFamily="34" charset="-122"/>
                <a:cs typeface="Courier New" pitchFamily="34" charset="-120"/>
              </a:rPr>
              <a:t>Score = (1C.fullBW × 1C.limitBW × 4C)^(1/3)</a:t>
            </a:r>
            <a:endParaRPr lang="en-US" sz="1100" dirty="0"/>
          </a:p>
        </p:txBody>
      </p:sp>
      <p:sp>
        <p:nvSpPr>
          <p:cNvPr id="26" name="Text 24"/>
          <p:cNvSpPr/>
          <p:nvPr/>
        </p:nvSpPr>
        <p:spPr>
          <a:xfrm>
            <a:off x="3855095" y="3010049"/>
            <a:ext cx="3090440" cy="457200"/>
          </a:xfrm>
          <a:prstGeom prst="rect">
            <a:avLst/>
          </a:prstGeom>
          <a:noFill/>
          <a:ln/>
        </p:spPr>
        <p:txBody>
          <a:bodyPr wrap="square" lIns="0" tIns="0" rIns="0" bIns="0" rtlCol="0" anchor="t"/>
          <a:lstStyle/>
          <a:p>
            <a:pPr marL="0" indent="0" algn="l">
              <a:spcBef>
                <a:spcPts val="600"/>
              </a:spcBef>
              <a:spcAft>
                <a:spcPts val="600"/>
              </a:spcAft>
              <a:buNone/>
            </a:pPr>
            <a:r>
              <a:rPr lang="en-US" sz="1100" dirty="0">
                <a:solidFill>
                  <a:srgbClr val="264653"/>
                </a:solidFill>
                <a:latin typeface="Arial" pitchFamily="34" charset="0"/>
                <a:ea typeface="Arial" pitchFamily="34" charset="-122"/>
                <a:cs typeface="Arial" pitchFamily="34" charset="-120"/>
              </a:rPr>
              <a:t>Single-core: Geometric mean of IPC</a:t>
            </a:r>
            <a:endParaRPr lang="en-US" sz="1100" dirty="0"/>
          </a:p>
          <a:p>
            <a:pPr marL="0" indent="0" algn="l">
              <a:spcBef>
                <a:spcPts val="600"/>
              </a:spcBef>
              <a:spcAft>
                <a:spcPts val="600"/>
              </a:spcAft>
              <a:buNone/>
            </a:pPr>
            <a:r>
              <a:rPr lang="en-US" sz="1100" dirty="0">
                <a:solidFill>
                  <a:srgbClr val="264653"/>
                </a:solidFill>
                <a:latin typeface="Arial" pitchFamily="34" charset="0"/>
                <a:ea typeface="Arial" pitchFamily="34" charset="-122"/>
                <a:cs typeface="Arial" pitchFamily="34" charset="-120"/>
              </a:rPr>
              <a:t>Multi-core: Geometric mean of harmonic speedup</a:t>
            </a:r>
            <a:endParaRPr lang="en-US" sz="1100" dirty="0"/>
          </a:p>
        </p:txBody>
      </p:sp>
      <p:sp>
        <p:nvSpPr>
          <p:cNvPr id="27" name="Text 25"/>
          <p:cNvSpPr/>
          <p:nvPr/>
        </p:nvSpPr>
        <p:spPr>
          <a:xfrm>
            <a:off x="3855095" y="3670399"/>
            <a:ext cx="3090440" cy="200025"/>
          </a:xfrm>
          <a:prstGeom prst="rect">
            <a:avLst/>
          </a:prstGeom>
          <a:noFill/>
          <a:ln/>
        </p:spPr>
        <p:txBody>
          <a:bodyPr wrap="square" lIns="0" tIns="0" rIns="0" bIns="0" rtlCol="0" anchor="t"/>
          <a:lstStyle/>
          <a:p>
            <a:pPr marL="0" indent="0" algn="l">
              <a:spcBef>
                <a:spcPts val="1600"/>
              </a:spcBef>
              <a:spcAft>
                <a:spcPts val="600"/>
              </a:spcAft>
              <a:buNone/>
            </a:pPr>
            <a:r>
              <a:rPr lang="en-US" sz="1300" b="1" dirty="0">
                <a:solidFill>
                  <a:srgbClr val="2A9D8F"/>
                </a:solidFill>
                <a:latin typeface="Arial" pitchFamily="34" charset="0"/>
                <a:ea typeface="Arial" pitchFamily="34" charset="-122"/>
                <a:cs typeface="Arial" pitchFamily="34" charset="-120"/>
              </a:rPr>
              <a:t>Baselines</a:t>
            </a:r>
            <a:endParaRPr lang="en-US" sz="1300" dirty="0"/>
          </a:p>
        </p:txBody>
      </p:sp>
      <p:sp>
        <p:nvSpPr>
          <p:cNvPr id="28" name="Text 26"/>
          <p:cNvSpPr/>
          <p:nvPr/>
        </p:nvSpPr>
        <p:spPr>
          <a:xfrm>
            <a:off x="3855095" y="3946624"/>
            <a:ext cx="3029843" cy="279202"/>
          </a:xfrm>
          <a:prstGeom prst="roundRect">
            <a:avLst>
              <a:gd name="adj" fmla="val 22743"/>
            </a:avLst>
          </a:prstGeom>
          <a:solidFill>
            <a:srgbClr val="FFF3E6"/>
          </a:solidFill>
          <a:ln/>
        </p:spPr>
        <p:txBody>
          <a:bodyPr wrap="square" rtlCol="0" anchor="ctr"/>
          <a:lstStyle/>
          <a:p>
            <a:pPr marL="0" indent="0">
              <a:buNone/>
            </a:pPr>
            <a:endParaRPr lang="en-US" dirty="0"/>
          </a:p>
        </p:txBody>
      </p:sp>
      <p:sp>
        <p:nvSpPr>
          <p:cNvPr id="29" name="Shape 27"/>
          <p:cNvSpPr/>
          <p:nvPr/>
        </p:nvSpPr>
        <p:spPr>
          <a:xfrm>
            <a:off x="3874145" y="3946624"/>
            <a:ext cx="0" cy="279202"/>
          </a:xfrm>
          <a:prstGeom prst="line">
            <a:avLst/>
          </a:prstGeom>
          <a:noFill/>
          <a:ln w="38100">
            <a:solidFill>
              <a:srgbClr val="E76F51"/>
            </a:solidFill>
            <a:prstDash val="solid"/>
          </a:ln>
        </p:spPr>
      </p:sp>
      <p:sp>
        <p:nvSpPr>
          <p:cNvPr id="30" name="Text 28"/>
          <p:cNvSpPr/>
          <p:nvPr/>
        </p:nvSpPr>
        <p:spPr>
          <a:xfrm>
            <a:off x="3956596" y="4010025"/>
            <a:ext cx="2922240" cy="152400"/>
          </a:xfrm>
          <a:prstGeom prst="rect">
            <a:avLst/>
          </a:prstGeom>
          <a:noFill/>
          <a:ln/>
        </p:spPr>
        <p:txBody>
          <a:bodyPr wrap="square" lIns="0" tIns="0" rIns="0" bIns="0" rtlCol="0" anchor="t"/>
          <a:lstStyle/>
          <a:p>
            <a:pPr marL="0" indent="0" algn="l">
              <a:buNone/>
            </a:pPr>
            <a:r>
              <a:rPr lang="en-US" sz="1100" b="1" dirty="0">
                <a:solidFill>
                  <a:srgbClr val="264653"/>
                </a:solidFill>
                <a:latin typeface="Arial" pitchFamily="34" charset="0"/>
                <a:ea typeface="Arial" pitchFamily="34" charset="-122"/>
                <a:cs typeface="Arial" pitchFamily="34" charset="-120"/>
              </a:rPr>
              <a:t>Competition:</a:t>
            </a:r>
            <a:r>
              <a:rPr lang="en-US" sz="1100" dirty="0">
                <a:solidFill>
                  <a:srgbClr val="264653"/>
                </a:solidFill>
                <a:latin typeface="Arial" pitchFamily="34" charset="0"/>
                <a:ea typeface="Arial" pitchFamily="34" charset="-122"/>
                <a:cs typeface="Arial" pitchFamily="34" charset="-120"/>
              </a:rPr>
              <a:t> Berti (L1D) + Pythia (L2)</a:t>
            </a:r>
            <a:endParaRPr lang="en-US" sz="1100" dirty="0"/>
          </a:p>
        </p:txBody>
      </p:sp>
      <p:sp>
        <p:nvSpPr>
          <p:cNvPr id="32" name="文本框 31">
            <a:extLst>
              <a:ext uri="{FF2B5EF4-FFF2-40B4-BE49-F238E27FC236}">
                <a16:creationId xmlns:a16="http://schemas.microsoft.com/office/drawing/2014/main" id="{50F38ECB-9FB7-1253-55D3-11CB99B4C46B}"/>
              </a:ext>
            </a:extLst>
          </p:cNvPr>
          <p:cNvSpPr txBox="1"/>
          <p:nvPr/>
        </p:nvSpPr>
        <p:spPr>
          <a:xfrm>
            <a:off x="8395452" y="4621065"/>
            <a:ext cx="529984" cy="369332"/>
          </a:xfrm>
          <a:prstGeom prst="rect">
            <a:avLst/>
          </a:prstGeom>
          <a:noFill/>
        </p:spPr>
        <p:txBody>
          <a:bodyPr wrap="square" rtlCol="0">
            <a:spAutoFit/>
          </a:bodyPr>
          <a:lstStyle/>
          <a:p>
            <a:r>
              <a:rPr lang="en-US" altLang="zh-CN"/>
              <a:t>14</a:t>
            </a: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825401"/>
          </a:xfrm>
          <a:prstGeom prst="rect">
            <a:avLst/>
          </a:prstGeom>
          <a:solidFill>
            <a:srgbClr val="5B4B9E"/>
          </a:solidFill>
          <a:ln/>
        </p:spPr>
        <p:txBody>
          <a:bodyPr wrap="square" rtlCol="0" anchor="ctr"/>
          <a:lstStyle/>
          <a:p>
            <a:pPr marL="0" indent="0">
              <a:buNone/>
            </a:pPr>
            <a:endParaRPr lang="en-US" dirty="0"/>
          </a:p>
        </p:txBody>
      </p:sp>
      <p:sp>
        <p:nvSpPr>
          <p:cNvPr id="3" name="Text 1"/>
          <p:cNvSpPr/>
          <p:nvPr/>
        </p:nvSpPr>
        <p:spPr>
          <a:xfrm>
            <a:off x="634901" y="126950"/>
            <a:ext cx="8031682" cy="409575"/>
          </a:xfrm>
          <a:prstGeom prst="rect">
            <a:avLst/>
          </a:prstGeom>
          <a:noFill/>
          <a:ln/>
        </p:spPr>
        <p:txBody>
          <a:bodyPr wrap="square" lIns="0" tIns="0" rIns="0" bIns="0" rtlCol="0" anchor="t"/>
          <a:lstStyle/>
          <a:p>
            <a:pPr marL="0" indent="0" algn="l">
              <a:buNone/>
            </a:pPr>
            <a:r>
              <a:rPr lang="en-US" sz="2800" b="1" dirty="0">
                <a:solidFill>
                  <a:srgbClr val="FFFFFF"/>
                </a:solidFill>
                <a:latin typeface="Arial" pitchFamily="34" charset="0"/>
                <a:ea typeface="Arial" pitchFamily="34" charset="-122"/>
                <a:cs typeface="Arial" pitchFamily="34" charset="-120"/>
              </a:rPr>
              <a:t>Overall Results</a:t>
            </a:r>
            <a:endParaRPr lang="en-US" sz="2800" dirty="0"/>
          </a:p>
        </p:txBody>
      </p:sp>
      <p:sp>
        <p:nvSpPr>
          <p:cNvPr id="4" name="Text 2"/>
          <p:cNvSpPr/>
          <p:nvPr/>
        </p:nvSpPr>
        <p:spPr>
          <a:xfrm>
            <a:off x="710327" y="1052386"/>
            <a:ext cx="4348293" cy="209550"/>
          </a:xfrm>
          <a:prstGeom prst="rect">
            <a:avLst/>
          </a:prstGeom>
          <a:noFill/>
          <a:ln/>
        </p:spPr>
        <p:txBody>
          <a:bodyPr wrap="square" lIns="0" tIns="0" rIns="0" bIns="0" rtlCol="0" anchor="t"/>
          <a:lstStyle/>
          <a:p>
            <a:pPr marL="0" indent="0" algn="ctr">
              <a:spcAft>
                <a:spcPts val="800"/>
              </a:spcAft>
              <a:buNone/>
            </a:pPr>
            <a:r>
              <a:rPr lang="en-US" sz="1400" b="1" dirty="0">
                <a:solidFill>
                  <a:srgbClr val="2A9D8F"/>
                </a:solidFill>
                <a:latin typeface="Arial" pitchFamily="34" charset="0"/>
                <a:ea typeface="Arial" pitchFamily="34" charset="-122"/>
                <a:cs typeface="Arial" pitchFamily="34" charset="-120"/>
              </a:rPr>
              <a:t>Speedup vs. Baseline and other prefetchers</a:t>
            </a:r>
            <a:endParaRPr lang="en-US" sz="1400" dirty="0"/>
          </a:p>
        </p:txBody>
      </p:sp>
      <p:pic>
        <p:nvPicPr>
          <p:cNvPr id="5" name="Image 0" descr="/Volumes/Data/jiegec/dpc4-paper/pptx/workspace/figures/perf.png"/>
          <p:cNvPicPr>
            <a:picLocks noChangeAspect="1"/>
          </p:cNvPicPr>
          <p:nvPr/>
        </p:nvPicPr>
        <p:blipFill>
          <a:blip r:embed="rId3"/>
          <a:stretch>
            <a:fillRect/>
          </a:stretch>
        </p:blipFill>
        <p:spPr>
          <a:xfrm>
            <a:off x="218564" y="1289891"/>
            <a:ext cx="5174335" cy="3853609"/>
          </a:xfrm>
          <a:prstGeom prst="rect">
            <a:avLst/>
          </a:prstGeom>
        </p:spPr>
      </p:pic>
      <p:sp>
        <p:nvSpPr>
          <p:cNvPr id="6" name="文本框 5">
            <a:extLst>
              <a:ext uri="{FF2B5EF4-FFF2-40B4-BE49-F238E27FC236}">
                <a16:creationId xmlns:a16="http://schemas.microsoft.com/office/drawing/2014/main" id="{1418CCE8-C655-847F-D99E-6E1303A4AF83}"/>
              </a:ext>
            </a:extLst>
          </p:cNvPr>
          <p:cNvSpPr txBox="1"/>
          <p:nvPr/>
        </p:nvSpPr>
        <p:spPr>
          <a:xfrm>
            <a:off x="8395452" y="4621065"/>
            <a:ext cx="529984" cy="369332"/>
          </a:xfrm>
          <a:prstGeom prst="rect">
            <a:avLst/>
          </a:prstGeom>
          <a:noFill/>
        </p:spPr>
        <p:txBody>
          <a:bodyPr wrap="square" rtlCol="0">
            <a:spAutoFit/>
          </a:bodyPr>
          <a:lstStyle/>
          <a:p>
            <a:r>
              <a:rPr lang="en-US" altLang="zh-CN"/>
              <a:t>15</a:t>
            </a:r>
            <a:endParaRPr lang="zh-CN" altLang="en-US"/>
          </a:p>
        </p:txBody>
      </p:sp>
      <p:sp>
        <p:nvSpPr>
          <p:cNvPr id="7" name="Text 3">
            <a:extLst>
              <a:ext uri="{FF2B5EF4-FFF2-40B4-BE49-F238E27FC236}">
                <a16:creationId xmlns:a16="http://schemas.microsoft.com/office/drawing/2014/main" id="{D3C5632E-C2E6-AF10-6811-7ABF6135A146}"/>
              </a:ext>
            </a:extLst>
          </p:cNvPr>
          <p:cNvSpPr/>
          <p:nvPr/>
        </p:nvSpPr>
        <p:spPr>
          <a:xfrm>
            <a:off x="5851053" y="1709811"/>
            <a:ext cx="2871841" cy="209550"/>
          </a:xfrm>
          <a:prstGeom prst="rect">
            <a:avLst/>
          </a:prstGeom>
          <a:noFill/>
          <a:ln/>
        </p:spPr>
        <p:txBody>
          <a:bodyPr wrap="square" lIns="0" tIns="0" rIns="0" bIns="0" rtlCol="0" anchor="t"/>
          <a:lstStyle/>
          <a:p>
            <a:pPr marL="0" indent="0" algn="l">
              <a:spcAft>
                <a:spcPts val="800"/>
              </a:spcAft>
              <a:buNone/>
            </a:pPr>
            <a:r>
              <a:rPr lang="en-US" sz="1400" b="1" dirty="0">
                <a:solidFill>
                  <a:srgbClr val="2A9D8F"/>
                </a:solidFill>
                <a:latin typeface="Arial" pitchFamily="34" charset="0"/>
                <a:ea typeface="Arial" pitchFamily="34" charset="-122"/>
                <a:cs typeface="Arial" pitchFamily="34" charset="-120"/>
              </a:rPr>
              <a:t>Chart Interpretation</a:t>
            </a:r>
            <a:endParaRPr lang="en-US" sz="1400" dirty="0"/>
          </a:p>
        </p:txBody>
      </p:sp>
      <p:sp>
        <p:nvSpPr>
          <p:cNvPr id="8" name="Text 4">
            <a:extLst>
              <a:ext uri="{FF2B5EF4-FFF2-40B4-BE49-F238E27FC236}">
                <a16:creationId xmlns:a16="http://schemas.microsoft.com/office/drawing/2014/main" id="{7F04D8EF-F49C-B3CA-BDF9-2DA3E8833C7C}"/>
              </a:ext>
            </a:extLst>
          </p:cNvPr>
          <p:cNvSpPr/>
          <p:nvPr/>
        </p:nvSpPr>
        <p:spPr>
          <a:xfrm>
            <a:off x="5851053" y="2020862"/>
            <a:ext cx="2815530" cy="1641723"/>
          </a:xfrm>
          <a:prstGeom prst="roundRect">
            <a:avLst>
              <a:gd name="adj" fmla="val 4641"/>
            </a:avLst>
          </a:prstGeom>
          <a:solidFill>
            <a:srgbClr val="E8F8F5"/>
          </a:solidFill>
          <a:ln/>
        </p:spPr>
        <p:txBody>
          <a:bodyPr wrap="square" rtlCol="0" anchor="ctr"/>
          <a:lstStyle/>
          <a:p>
            <a:pPr marL="0" indent="0">
              <a:buNone/>
            </a:pPr>
            <a:endParaRPr lang="en-US" dirty="0"/>
          </a:p>
        </p:txBody>
      </p:sp>
      <p:sp>
        <p:nvSpPr>
          <p:cNvPr id="9" name="Shape 5">
            <a:extLst>
              <a:ext uri="{FF2B5EF4-FFF2-40B4-BE49-F238E27FC236}">
                <a16:creationId xmlns:a16="http://schemas.microsoft.com/office/drawing/2014/main" id="{956ABC1A-76CD-40AC-8550-1FFDF790262A}"/>
              </a:ext>
            </a:extLst>
          </p:cNvPr>
          <p:cNvSpPr/>
          <p:nvPr/>
        </p:nvSpPr>
        <p:spPr>
          <a:xfrm>
            <a:off x="5874866" y="2020862"/>
            <a:ext cx="0" cy="1641723"/>
          </a:xfrm>
          <a:prstGeom prst="line">
            <a:avLst/>
          </a:prstGeom>
          <a:noFill/>
          <a:ln w="47625">
            <a:solidFill>
              <a:srgbClr val="2A9D8F"/>
            </a:solidFill>
            <a:prstDash val="solid"/>
          </a:ln>
        </p:spPr>
      </p:sp>
      <p:sp>
        <p:nvSpPr>
          <p:cNvPr id="10" name="Text 6">
            <a:extLst>
              <a:ext uri="{FF2B5EF4-FFF2-40B4-BE49-F238E27FC236}">
                <a16:creationId xmlns:a16="http://schemas.microsoft.com/office/drawing/2014/main" id="{08BD6E4F-BF1B-BB14-F3D0-4EF5D66B6722}"/>
              </a:ext>
            </a:extLst>
          </p:cNvPr>
          <p:cNvSpPr/>
          <p:nvPr/>
        </p:nvSpPr>
        <p:spPr>
          <a:xfrm>
            <a:off x="5974878" y="2097062"/>
            <a:ext cx="2667816" cy="171450"/>
          </a:xfrm>
          <a:prstGeom prst="rect">
            <a:avLst/>
          </a:prstGeom>
          <a:noFill/>
          <a:ln/>
        </p:spPr>
        <p:txBody>
          <a:bodyPr wrap="square" lIns="0" tIns="0" rIns="0" bIns="0" rtlCol="0" anchor="t"/>
          <a:lstStyle/>
          <a:p>
            <a:pPr marL="0" indent="0" algn="l">
              <a:spcAft>
                <a:spcPts val="600"/>
              </a:spcAft>
              <a:buNone/>
            </a:pPr>
            <a:r>
              <a:rPr lang="en-US" sz="1200" b="1" dirty="0">
                <a:solidFill>
                  <a:srgbClr val="5B4B9E"/>
                </a:solidFill>
                <a:latin typeface="Arial" pitchFamily="34" charset="0"/>
                <a:ea typeface="Arial" pitchFamily="34" charset="-122"/>
                <a:cs typeface="Arial" pitchFamily="34" charset="-120"/>
              </a:rPr>
              <a:t>Key Observations</a:t>
            </a:r>
            <a:endParaRPr lang="en-US" sz="1200" dirty="0"/>
          </a:p>
        </p:txBody>
      </p:sp>
      <p:sp>
        <p:nvSpPr>
          <p:cNvPr id="11" name="Text 7">
            <a:extLst>
              <a:ext uri="{FF2B5EF4-FFF2-40B4-BE49-F238E27FC236}">
                <a16:creationId xmlns:a16="http://schemas.microsoft.com/office/drawing/2014/main" id="{2B0BC98C-5248-8C15-F654-177A01F03A13}"/>
              </a:ext>
            </a:extLst>
          </p:cNvPr>
          <p:cNvSpPr/>
          <p:nvPr/>
        </p:nvSpPr>
        <p:spPr>
          <a:xfrm>
            <a:off x="5974878" y="2344712"/>
            <a:ext cx="2615505" cy="1190923"/>
          </a:xfrm>
          <a:prstGeom prst="rect">
            <a:avLst/>
          </a:prstGeom>
          <a:noFill/>
          <a:ln/>
        </p:spPr>
        <p:txBody>
          <a:bodyPr wrap="square" lIns="88900" tIns="0" rIns="0" bIns="0" rtlCol="0" anchor="t"/>
          <a:lstStyle/>
          <a:p>
            <a:pPr marL="88900" indent="-88900" algn="l">
              <a:lnSpc>
                <a:spcPts val="1430"/>
              </a:lnSpc>
              <a:spcAft>
                <a:spcPts val="400"/>
              </a:spcAft>
              <a:buSzPct val="100000"/>
              <a:buChar char="•"/>
            </a:pPr>
            <a:r>
              <a:rPr lang="en-US" sz="1100" b="1" dirty="0">
                <a:solidFill>
                  <a:srgbClr val="264653"/>
                </a:solidFill>
                <a:latin typeface="Arial" pitchFamily="34" charset="0"/>
                <a:ea typeface="Arial" pitchFamily="34" charset="-122"/>
                <a:cs typeface="Arial" pitchFamily="34" charset="-120"/>
              </a:rPr>
              <a:t>Emender</a:t>
            </a:r>
            <a:r>
              <a:rPr lang="en-US" sz="1100" dirty="0">
                <a:solidFill>
                  <a:srgbClr val="264653"/>
                </a:solidFill>
                <a:latin typeface="Arial" pitchFamily="34" charset="0"/>
                <a:ea typeface="Arial" pitchFamily="34" charset="-122"/>
                <a:cs typeface="Arial" pitchFamily="34" charset="-120"/>
              </a:rPr>
              <a:t> outperforms all compared prefetchers</a:t>
            </a:r>
            <a:endParaRPr lang="en-US" sz="1100" dirty="0"/>
          </a:p>
          <a:p>
            <a:pPr marL="88900" indent="-88900" algn="l">
              <a:lnSpc>
                <a:spcPts val="1430"/>
              </a:lnSpc>
              <a:spcAft>
                <a:spcPts val="400"/>
              </a:spcAft>
              <a:buSzPct val="100000"/>
              <a:buChar char="•"/>
            </a:pPr>
            <a:r>
              <a:rPr lang="en-US" sz="1100" b="1" dirty="0">
                <a:solidFill>
                  <a:srgbClr val="264653"/>
                </a:solidFill>
                <a:latin typeface="Arial" pitchFamily="34" charset="0"/>
                <a:ea typeface="Arial" pitchFamily="34" charset="-122"/>
                <a:cs typeface="Arial" pitchFamily="34" charset="-120"/>
              </a:rPr>
              <a:t>VBerti</a:t>
            </a:r>
            <a:r>
              <a:rPr lang="en-US" sz="1100" dirty="0">
                <a:solidFill>
                  <a:srgbClr val="264653"/>
                </a:solidFill>
                <a:latin typeface="Arial" pitchFamily="34" charset="0"/>
                <a:ea typeface="Arial" pitchFamily="34" charset="-122"/>
                <a:cs typeface="Arial" pitchFamily="34" charset="-120"/>
              </a:rPr>
              <a:t> slightly better than other prefetchers</a:t>
            </a:r>
            <a:endParaRPr lang="en-US" sz="1100" dirty="0"/>
          </a:p>
          <a:p>
            <a:pPr marL="88900" indent="-88900" algn="l">
              <a:lnSpc>
                <a:spcPts val="1430"/>
              </a:lnSpc>
              <a:spcAft>
                <a:spcPts val="400"/>
              </a:spcAft>
              <a:buSzPct val="100000"/>
              <a:buChar char="•"/>
            </a:pPr>
            <a:r>
              <a:rPr lang="en-US" sz="1100" dirty="0">
                <a:solidFill>
                  <a:srgbClr val="264653"/>
                </a:solidFill>
                <a:latin typeface="Arial" pitchFamily="34" charset="0"/>
                <a:ea typeface="Arial" pitchFamily="34" charset="-122"/>
                <a:cs typeface="Arial" pitchFamily="34" charset="-120"/>
              </a:rPr>
              <a:t>Consistent gains across all three configurations</a:t>
            </a:r>
            <a:endParaRPr lang="en-US" sz="1100" dirty="0"/>
          </a:p>
        </p:txBody>
      </p:sp>
      <p:sp>
        <p:nvSpPr>
          <p:cNvPr id="12" name="Text 8">
            <a:extLst>
              <a:ext uri="{FF2B5EF4-FFF2-40B4-BE49-F238E27FC236}">
                <a16:creationId xmlns:a16="http://schemas.microsoft.com/office/drawing/2014/main" id="{2B562CBD-05E1-34BD-1AF0-574616D408A1}"/>
              </a:ext>
            </a:extLst>
          </p:cNvPr>
          <p:cNvSpPr/>
          <p:nvPr/>
        </p:nvSpPr>
        <p:spPr>
          <a:xfrm>
            <a:off x="5851053" y="3738785"/>
            <a:ext cx="2815530" cy="304800"/>
          </a:xfrm>
          <a:prstGeom prst="roundRect">
            <a:avLst>
              <a:gd name="adj" fmla="val 25000"/>
            </a:avLst>
          </a:prstGeom>
          <a:solidFill>
            <a:srgbClr val="2A9D8F"/>
          </a:solidFill>
          <a:ln/>
        </p:spPr>
        <p:txBody>
          <a:bodyPr wrap="square" rtlCol="0" anchor="ctr"/>
          <a:lstStyle/>
          <a:p>
            <a:pPr marL="0" indent="0">
              <a:buNone/>
            </a:pPr>
            <a:endParaRPr lang="en-US" dirty="0"/>
          </a:p>
        </p:txBody>
      </p:sp>
      <p:sp>
        <p:nvSpPr>
          <p:cNvPr id="13" name="Text 9">
            <a:extLst>
              <a:ext uri="{FF2B5EF4-FFF2-40B4-BE49-F238E27FC236}">
                <a16:creationId xmlns:a16="http://schemas.microsoft.com/office/drawing/2014/main" id="{7C626040-766A-E85E-82B4-11FE35C4DB47}"/>
              </a:ext>
            </a:extLst>
          </p:cNvPr>
          <p:cNvSpPr/>
          <p:nvPr/>
        </p:nvSpPr>
        <p:spPr>
          <a:xfrm>
            <a:off x="5927253" y="3814985"/>
            <a:ext cx="2716393" cy="152400"/>
          </a:xfrm>
          <a:prstGeom prst="rect">
            <a:avLst/>
          </a:prstGeom>
          <a:noFill/>
          <a:ln/>
        </p:spPr>
        <p:txBody>
          <a:bodyPr wrap="square" lIns="0" tIns="0" rIns="0" bIns="0" rtlCol="0" anchor="t"/>
          <a:lstStyle/>
          <a:p>
            <a:pPr marL="0" indent="0" algn="l">
              <a:buNone/>
            </a:pPr>
            <a:r>
              <a:rPr lang="en-US" sz="1100" b="1" dirty="0">
                <a:solidFill>
                  <a:srgbClr val="FFFFFF"/>
                </a:solidFill>
                <a:latin typeface="Arial" pitchFamily="34" charset="0"/>
                <a:ea typeface="Arial" pitchFamily="34" charset="-122"/>
                <a:cs typeface="Arial" pitchFamily="34" charset="-120"/>
              </a:rPr>
              <a:t>Overall Score: +4.8% improvement</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825401"/>
          </a:xfrm>
          <a:prstGeom prst="rect">
            <a:avLst/>
          </a:prstGeom>
          <a:solidFill>
            <a:srgbClr val="5B4B9E"/>
          </a:solidFill>
          <a:ln/>
        </p:spPr>
        <p:txBody>
          <a:bodyPr wrap="square" rtlCol="0" anchor="ctr"/>
          <a:lstStyle/>
          <a:p>
            <a:pPr marL="0" indent="0">
              <a:buNone/>
            </a:pPr>
            <a:endParaRPr lang="en-US" dirty="0"/>
          </a:p>
        </p:txBody>
      </p:sp>
      <p:sp>
        <p:nvSpPr>
          <p:cNvPr id="3" name="Text 1"/>
          <p:cNvSpPr/>
          <p:nvPr/>
        </p:nvSpPr>
        <p:spPr>
          <a:xfrm>
            <a:off x="634901" y="126950"/>
            <a:ext cx="8031682" cy="409575"/>
          </a:xfrm>
          <a:prstGeom prst="rect">
            <a:avLst/>
          </a:prstGeom>
          <a:noFill/>
          <a:ln/>
        </p:spPr>
        <p:txBody>
          <a:bodyPr wrap="square" lIns="0" tIns="0" rIns="0" bIns="0" rtlCol="0" anchor="t"/>
          <a:lstStyle/>
          <a:p>
            <a:pPr marL="0" indent="0" algn="l">
              <a:buNone/>
            </a:pPr>
            <a:r>
              <a:rPr lang="en-US" sz="2800" b="1" dirty="0">
                <a:solidFill>
                  <a:srgbClr val="FFFFFF"/>
                </a:solidFill>
                <a:latin typeface="Arial" pitchFamily="34" charset="0"/>
                <a:ea typeface="Arial" pitchFamily="34" charset="-122"/>
                <a:cs typeface="Arial" pitchFamily="34" charset="-120"/>
              </a:rPr>
              <a:t>Ablation Study</a:t>
            </a:r>
            <a:endParaRPr lang="en-US" sz="2800" dirty="0"/>
          </a:p>
        </p:txBody>
      </p:sp>
      <p:sp>
        <p:nvSpPr>
          <p:cNvPr id="4" name="Text 2"/>
          <p:cNvSpPr/>
          <p:nvPr/>
        </p:nvSpPr>
        <p:spPr>
          <a:xfrm>
            <a:off x="634901" y="888950"/>
            <a:ext cx="8161172" cy="209550"/>
          </a:xfrm>
          <a:prstGeom prst="rect">
            <a:avLst/>
          </a:prstGeom>
          <a:noFill/>
          <a:ln/>
        </p:spPr>
        <p:txBody>
          <a:bodyPr wrap="square" lIns="0" tIns="0" rIns="0" bIns="0" rtlCol="0" anchor="t"/>
          <a:lstStyle/>
          <a:p>
            <a:pPr marL="0" indent="0" algn="l">
              <a:spcAft>
                <a:spcPts val="1000"/>
              </a:spcAft>
              <a:buNone/>
            </a:pPr>
            <a:r>
              <a:rPr lang="en-US" sz="1400" b="1" dirty="0">
                <a:solidFill>
                  <a:srgbClr val="2A9D8F"/>
                </a:solidFill>
                <a:latin typeface="Arial" pitchFamily="34" charset="0"/>
                <a:ea typeface="Arial" pitchFamily="34" charset="-122"/>
                <a:cs typeface="Arial" pitchFamily="34" charset="-120"/>
              </a:rPr>
              <a:t>Individual Feature Impact</a:t>
            </a:r>
            <a:endParaRPr lang="en-US" sz="1400" dirty="0"/>
          </a:p>
        </p:txBody>
      </p:sp>
      <p:sp>
        <p:nvSpPr>
          <p:cNvPr id="5" name="Text 3"/>
          <p:cNvSpPr/>
          <p:nvPr/>
        </p:nvSpPr>
        <p:spPr>
          <a:xfrm>
            <a:off x="634901" y="1225451"/>
            <a:ext cx="8001149" cy="222052"/>
          </a:xfrm>
          <a:prstGeom prst="rect">
            <a:avLst/>
          </a:prstGeom>
          <a:solidFill>
            <a:srgbClr val="5B4B9E"/>
          </a:solidFill>
          <a:ln/>
        </p:spPr>
        <p:txBody>
          <a:bodyPr wrap="square" rtlCol="0" anchor="ctr"/>
          <a:lstStyle/>
          <a:p>
            <a:pPr marL="0" indent="0">
              <a:buNone/>
            </a:pPr>
            <a:endParaRPr lang="en-US" dirty="0"/>
          </a:p>
        </p:txBody>
      </p:sp>
      <p:sp>
        <p:nvSpPr>
          <p:cNvPr id="6" name="Text 4"/>
          <p:cNvSpPr/>
          <p:nvPr/>
        </p:nvSpPr>
        <p:spPr>
          <a:xfrm>
            <a:off x="634901" y="1225451"/>
            <a:ext cx="2616657" cy="222052"/>
          </a:xfrm>
          <a:prstGeom prst="rect">
            <a:avLst/>
          </a:prstGeom>
          <a:noFill/>
          <a:ln/>
        </p:spPr>
        <p:txBody>
          <a:bodyPr wrap="square" lIns="76200" tIns="25400" rIns="76200" bIns="25400" rtlCol="0" anchor="t"/>
          <a:lstStyle/>
          <a:p>
            <a:pPr marL="0" indent="0" algn="l">
              <a:buNone/>
            </a:pPr>
            <a:r>
              <a:rPr lang="en-US" sz="1200" b="1" dirty="0">
                <a:solidFill>
                  <a:srgbClr val="FFFFFF"/>
                </a:solidFill>
                <a:latin typeface="Arial" pitchFamily="34" charset="0"/>
                <a:ea typeface="Arial" pitchFamily="34" charset="-122"/>
                <a:cs typeface="Arial" pitchFamily="34" charset="-120"/>
              </a:rPr>
              <a:t>Feature</a:t>
            </a:r>
            <a:endParaRPr lang="en-US" sz="1200" dirty="0"/>
          </a:p>
        </p:txBody>
      </p:sp>
      <p:sp>
        <p:nvSpPr>
          <p:cNvPr id="7" name="Text 5"/>
          <p:cNvSpPr/>
          <p:nvPr/>
        </p:nvSpPr>
        <p:spPr>
          <a:xfrm>
            <a:off x="3186662" y="1225451"/>
            <a:ext cx="1386129" cy="222052"/>
          </a:xfrm>
          <a:prstGeom prst="rect">
            <a:avLst/>
          </a:prstGeom>
          <a:noFill/>
          <a:ln/>
        </p:spPr>
        <p:txBody>
          <a:bodyPr wrap="square" lIns="76200" tIns="25400" rIns="76200" bIns="2540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1C.fullBW</a:t>
            </a:r>
            <a:endParaRPr lang="en-US" sz="1200" dirty="0"/>
          </a:p>
        </p:txBody>
      </p:sp>
      <p:sp>
        <p:nvSpPr>
          <p:cNvPr id="8" name="Text 6"/>
          <p:cNvSpPr/>
          <p:nvPr/>
        </p:nvSpPr>
        <p:spPr>
          <a:xfrm>
            <a:off x="4545611" y="1225451"/>
            <a:ext cx="1386129" cy="222052"/>
          </a:xfrm>
          <a:prstGeom prst="rect">
            <a:avLst/>
          </a:prstGeom>
          <a:noFill/>
          <a:ln/>
        </p:spPr>
        <p:txBody>
          <a:bodyPr wrap="square" lIns="76200" tIns="25400" rIns="76200" bIns="2540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1C.limitBW</a:t>
            </a:r>
            <a:endParaRPr lang="en-US" sz="1200" dirty="0"/>
          </a:p>
        </p:txBody>
      </p:sp>
      <p:sp>
        <p:nvSpPr>
          <p:cNvPr id="9" name="Text 7"/>
          <p:cNvSpPr/>
          <p:nvPr/>
        </p:nvSpPr>
        <p:spPr>
          <a:xfrm>
            <a:off x="5904561" y="1225451"/>
            <a:ext cx="1386129" cy="222052"/>
          </a:xfrm>
          <a:prstGeom prst="rect">
            <a:avLst/>
          </a:prstGeom>
          <a:noFill/>
          <a:ln/>
        </p:spPr>
        <p:txBody>
          <a:bodyPr wrap="square" lIns="76200" tIns="25400" rIns="76200" bIns="2540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4C</a:t>
            </a:r>
            <a:endParaRPr lang="en-US" sz="1200" dirty="0"/>
          </a:p>
        </p:txBody>
      </p:sp>
      <p:sp>
        <p:nvSpPr>
          <p:cNvPr id="10" name="Text 8"/>
          <p:cNvSpPr/>
          <p:nvPr/>
        </p:nvSpPr>
        <p:spPr>
          <a:xfrm>
            <a:off x="7263511" y="1225451"/>
            <a:ext cx="1386129" cy="222052"/>
          </a:xfrm>
          <a:prstGeom prst="rect">
            <a:avLst/>
          </a:prstGeom>
          <a:noFill/>
          <a:ln/>
        </p:spPr>
        <p:txBody>
          <a:bodyPr wrap="square" lIns="76200" tIns="25400" rIns="76200" bIns="2540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Overall</a:t>
            </a:r>
            <a:endParaRPr lang="en-US" sz="1200" dirty="0"/>
          </a:p>
        </p:txBody>
      </p:sp>
      <p:sp>
        <p:nvSpPr>
          <p:cNvPr id="11" name="Shape 9"/>
          <p:cNvSpPr/>
          <p:nvPr/>
        </p:nvSpPr>
        <p:spPr>
          <a:xfrm>
            <a:off x="634901" y="1826716"/>
            <a:ext cx="8001149" cy="0"/>
          </a:xfrm>
          <a:prstGeom prst="line">
            <a:avLst/>
          </a:prstGeom>
          <a:noFill/>
          <a:ln w="9525">
            <a:solidFill>
              <a:srgbClr val="E0E0E0"/>
            </a:solidFill>
            <a:prstDash val="solid"/>
          </a:ln>
        </p:spPr>
      </p:sp>
      <p:sp>
        <p:nvSpPr>
          <p:cNvPr id="12" name="Text 10"/>
          <p:cNvSpPr/>
          <p:nvPr/>
        </p:nvSpPr>
        <p:spPr>
          <a:xfrm>
            <a:off x="634901" y="1447502"/>
            <a:ext cx="2616657" cy="374452"/>
          </a:xfrm>
          <a:prstGeom prst="rect">
            <a:avLst/>
          </a:prstGeom>
          <a:noFill/>
          <a:ln/>
        </p:spPr>
        <p:txBody>
          <a:bodyPr wrap="square" lIns="76200" tIns="101600" rIns="76200" bIns="101600" rtlCol="0" anchor="t"/>
          <a:lstStyle/>
          <a:p>
            <a:pPr marL="0" indent="0" algn="l">
              <a:buNone/>
            </a:pPr>
            <a:r>
              <a:rPr lang="en-US" sz="1200" dirty="0">
                <a:solidFill>
                  <a:srgbClr val="264653"/>
                </a:solidFill>
                <a:latin typeface="Arial" pitchFamily="34" charset="0"/>
                <a:ea typeface="Arial" pitchFamily="34" charset="-122"/>
                <a:cs typeface="Arial" pitchFamily="34" charset="-120"/>
              </a:rPr>
              <a:t>Cuckoo Filter</a:t>
            </a:r>
            <a:endParaRPr lang="en-US" sz="1200" dirty="0"/>
          </a:p>
        </p:txBody>
      </p:sp>
      <p:sp>
        <p:nvSpPr>
          <p:cNvPr id="13" name="Text 11"/>
          <p:cNvSpPr/>
          <p:nvPr/>
        </p:nvSpPr>
        <p:spPr>
          <a:xfrm>
            <a:off x="3186662" y="1447502"/>
            <a:ext cx="1386129" cy="374452"/>
          </a:xfrm>
          <a:prstGeom prst="rect">
            <a:avLst/>
          </a:prstGeom>
          <a:noFill/>
          <a:ln/>
        </p:spPr>
        <p:txBody>
          <a:bodyPr wrap="square" lIns="76200" tIns="101600" rIns="76200" bIns="101600" rtlCol="0" anchor="t"/>
          <a:lstStyle/>
          <a:p>
            <a:pPr marL="0" indent="0" algn="ctr">
              <a:buNone/>
            </a:pPr>
            <a:r>
              <a:rPr lang="en-US" sz="1200" dirty="0">
                <a:solidFill>
                  <a:srgbClr val="264653"/>
                </a:solidFill>
                <a:latin typeface="Arial" pitchFamily="34" charset="0"/>
                <a:ea typeface="Arial" pitchFamily="34" charset="-122"/>
                <a:cs typeface="Arial" pitchFamily="34" charset="-120"/>
              </a:rPr>
              <a:t>1.3%</a:t>
            </a:r>
            <a:endParaRPr lang="en-US" sz="1200" dirty="0"/>
          </a:p>
        </p:txBody>
      </p:sp>
      <p:sp>
        <p:nvSpPr>
          <p:cNvPr id="14" name="Text 12"/>
          <p:cNvSpPr/>
          <p:nvPr/>
        </p:nvSpPr>
        <p:spPr>
          <a:xfrm>
            <a:off x="4545611" y="1447502"/>
            <a:ext cx="1386129" cy="374452"/>
          </a:xfrm>
          <a:prstGeom prst="rect">
            <a:avLst/>
          </a:prstGeom>
          <a:noFill/>
          <a:ln/>
        </p:spPr>
        <p:txBody>
          <a:bodyPr wrap="square" lIns="76200" tIns="101600" rIns="76200" bIns="101600" rtlCol="0" anchor="t"/>
          <a:lstStyle/>
          <a:p>
            <a:pPr marL="0" indent="0" algn="ctr">
              <a:buNone/>
            </a:pPr>
            <a:r>
              <a:rPr lang="en-US" sz="1200" dirty="0">
                <a:solidFill>
                  <a:srgbClr val="264653"/>
                </a:solidFill>
                <a:latin typeface="Arial" pitchFamily="34" charset="0"/>
                <a:ea typeface="Arial" pitchFamily="34" charset="-122"/>
                <a:cs typeface="Arial" pitchFamily="34" charset="-120"/>
              </a:rPr>
              <a:t>0.2%</a:t>
            </a:r>
            <a:endParaRPr lang="en-US" sz="1200" dirty="0"/>
          </a:p>
        </p:txBody>
      </p:sp>
      <p:sp>
        <p:nvSpPr>
          <p:cNvPr id="15" name="Text 13"/>
          <p:cNvSpPr/>
          <p:nvPr/>
        </p:nvSpPr>
        <p:spPr>
          <a:xfrm>
            <a:off x="5904561" y="1447502"/>
            <a:ext cx="1386129" cy="374452"/>
          </a:xfrm>
          <a:prstGeom prst="rect">
            <a:avLst/>
          </a:prstGeom>
          <a:noFill/>
          <a:ln/>
        </p:spPr>
        <p:txBody>
          <a:bodyPr wrap="square" lIns="76200" tIns="101600" rIns="76200" bIns="101600" rtlCol="0" anchor="t"/>
          <a:lstStyle/>
          <a:p>
            <a:pPr marL="0" indent="0" algn="ctr">
              <a:buNone/>
            </a:pPr>
            <a:r>
              <a:rPr lang="en-US" sz="1200" dirty="0">
                <a:solidFill>
                  <a:srgbClr val="264653"/>
                </a:solidFill>
                <a:latin typeface="Arial" pitchFamily="34" charset="0"/>
                <a:ea typeface="Arial" pitchFamily="34" charset="-122"/>
                <a:cs typeface="Arial" pitchFamily="34" charset="-120"/>
              </a:rPr>
              <a:t>1.0%</a:t>
            </a:r>
            <a:endParaRPr lang="en-US" sz="1200" dirty="0"/>
          </a:p>
        </p:txBody>
      </p:sp>
      <p:sp>
        <p:nvSpPr>
          <p:cNvPr id="16" name="Text 14"/>
          <p:cNvSpPr/>
          <p:nvPr/>
        </p:nvSpPr>
        <p:spPr>
          <a:xfrm>
            <a:off x="7263511" y="1447502"/>
            <a:ext cx="1386129" cy="374452"/>
          </a:xfrm>
          <a:prstGeom prst="rect">
            <a:avLst/>
          </a:prstGeom>
          <a:noFill/>
          <a:ln/>
        </p:spPr>
        <p:txBody>
          <a:bodyPr wrap="square" lIns="76200" tIns="101600" rIns="76200" bIns="101600" rtlCol="0" anchor="t"/>
          <a:lstStyle/>
          <a:p>
            <a:pPr marL="0" indent="0" algn="ctr">
              <a:buNone/>
            </a:pPr>
            <a:r>
              <a:rPr lang="en-US" sz="1200" dirty="0">
                <a:solidFill>
                  <a:srgbClr val="264653"/>
                </a:solidFill>
                <a:latin typeface="Arial" pitchFamily="34" charset="0"/>
                <a:ea typeface="Arial" pitchFamily="34" charset="-122"/>
                <a:cs typeface="Arial" pitchFamily="34" charset="-120"/>
              </a:rPr>
              <a:t>0.8%</a:t>
            </a:r>
            <a:endParaRPr lang="en-US" sz="1200" dirty="0"/>
          </a:p>
        </p:txBody>
      </p:sp>
      <p:sp>
        <p:nvSpPr>
          <p:cNvPr id="17" name="Shape 15"/>
          <p:cNvSpPr/>
          <p:nvPr/>
        </p:nvSpPr>
        <p:spPr>
          <a:xfrm>
            <a:off x="634901" y="2210693"/>
            <a:ext cx="8001149" cy="0"/>
          </a:xfrm>
          <a:prstGeom prst="line">
            <a:avLst/>
          </a:prstGeom>
          <a:noFill/>
          <a:ln w="9525">
            <a:solidFill>
              <a:srgbClr val="E0E0E0"/>
            </a:solidFill>
            <a:prstDash val="solid"/>
          </a:ln>
        </p:spPr>
      </p:sp>
      <p:sp>
        <p:nvSpPr>
          <p:cNvPr id="18" name="Text 16"/>
          <p:cNvSpPr/>
          <p:nvPr/>
        </p:nvSpPr>
        <p:spPr>
          <a:xfrm>
            <a:off x="634901" y="1831479"/>
            <a:ext cx="2616657" cy="374452"/>
          </a:xfrm>
          <a:prstGeom prst="rect">
            <a:avLst/>
          </a:prstGeom>
          <a:noFill/>
          <a:ln/>
        </p:spPr>
        <p:txBody>
          <a:bodyPr wrap="square" lIns="76200" tIns="101600" rIns="76200" bIns="101600" rtlCol="0" anchor="t"/>
          <a:lstStyle/>
          <a:p>
            <a:pPr marL="0" indent="0" algn="l">
              <a:buNone/>
            </a:pPr>
            <a:r>
              <a:rPr lang="en-US" sz="1200" dirty="0">
                <a:solidFill>
                  <a:srgbClr val="264653"/>
                </a:solidFill>
                <a:latin typeface="Arial" pitchFamily="34" charset="0"/>
                <a:ea typeface="Arial" pitchFamily="34" charset="-122"/>
                <a:cs typeface="Arial" pitchFamily="34" charset="-120"/>
              </a:rPr>
              <a:t>L3 Fairness Throttling</a:t>
            </a:r>
            <a:endParaRPr lang="en-US" sz="1200" dirty="0"/>
          </a:p>
        </p:txBody>
      </p:sp>
      <p:sp>
        <p:nvSpPr>
          <p:cNvPr id="19" name="Text 17"/>
          <p:cNvSpPr/>
          <p:nvPr/>
        </p:nvSpPr>
        <p:spPr>
          <a:xfrm>
            <a:off x="3186662" y="1831479"/>
            <a:ext cx="1386129" cy="374452"/>
          </a:xfrm>
          <a:prstGeom prst="rect">
            <a:avLst/>
          </a:prstGeom>
          <a:noFill/>
          <a:ln/>
        </p:spPr>
        <p:txBody>
          <a:bodyPr wrap="square" lIns="76200" tIns="101600" rIns="76200" bIns="101600" rtlCol="0" anchor="t"/>
          <a:lstStyle/>
          <a:p>
            <a:pPr marL="0" indent="0" algn="ctr">
              <a:buNone/>
            </a:pPr>
            <a:r>
              <a:rPr lang="en-US" sz="1200" dirty="0">
                <a:solidFill>
                  <a:srgbClr val="264653"/>
                </a:solidFill>
                <a:latin typeface="Arial" pitchFamily="34" charset="0"/>
                <a:ea typeface="Arial" pitchFamily="34" charset="-122"/>
                <a:cs typeface="Arial" pitchFamily="34" charset="-120"/>
              </a:rPr>
              <a:t>0.0%</a:t>
            </a:r>
            <a:endParaRPr lang="en-US" sz="1200" dirty="0"/>
          </a:p>
        </p:txBody>
      </p:sp>
      <p:sp>
        <p:nvSpPr>
          <p:cNvPr id="20" name="Text 18"/>
          <p:cNvSpPr/>
          <p:nvPr/>
        </p:nvSpPr>
        <p:spPr>
          <a:xfrm>
            <a:off x="4545611" y="1831479"/>
            <a:ext cx="1386129" cy="374452"/>
          </a:xfrm>
          <a:prstGeom prst="rect">
            <a:avLst/>
          </a:prstGeom>
          <a:noFill/>
          <a:ln/>
        </p:spPr>
        <p:txBody>
          <a:bodyPr wrap="square" lIns="76200" tIns="101600" rIns="76200" bIns="101600" rtlCol="0" anchor="t"/>
          <a:lstStyle/>
          <a:p>
            <a:pPr marL="0" indent="0" algn="ctr">
              <a:buNone/>
            </a:pPr>
            <a:r>
              <a:rPr lang="en-US" sz="1200" dirty="0">
                <a:solidFill>
                  <a:srgbClr val="264653"/>
                </a:solidFill>
                <a:latin typeface="Arial" pitchFamily="34" charset="0"/>
                <a:ea typeface="Arial" pitchFamily="34" charset="-122"/>
                <a:cs typeface="Arial" pitchFamily="34" charset="-120"/>
              </a:rPr>
              <a:t>0.0%</a:t>
            </a:r>
            <a:endParaRPr lang="en-US" sz="1200" dirty="0"/>
          </a:p>
        </p:txBody>
      </p:sp>
      <p:sp>
        <p:nvSpPr>
          <p:cNvPr id="21" name="Text 19"/>
          <p:cNvSpPr/>
          <p:nvPr/>
        </p:nvSpPr>
        <p:spPr>
          <a:xfrm>
            <a:off x="5904561" y="1831479"/>
            <a:ext cx="1386129" cy="374452"/>
          </a:xfrm>
          <a:prstGeom prst="rect">
            <a:avLst/>
          </a:prstGeom>
          <a:noFill/>
          <a:ln/>
        </p:spPr>
        <p:txBody>
          <a:bodyPr wrap="square" lIns="76200" tIns="101600" rIns="76200" bIns="101600" rtlCol="0" anchor="t"/>
          <a:lstStyle/>
          <a:p>
            <a:pPr marL="0" indent="0" algn="ctr">
              <a:buNone/>
            </a:pPr>
            <a:r>
              <a:rPr lang="en-US" sz="1200" dirty="0">
                <a:solidFill>
                  <a:srgbClr val="264653"/>
                </a:solidFill>
                <a:latin typeface="Arial" pitchFamily="34" charset="0"/>
                <a:ea typeface="Arial" pitchFamily="34" charset="-122"/>
                <a:cs typeface="Arial" pitchFamily="34" charset="-120"/>
              </a:rPr>
              <a:t>2.6%</a:t>
            </a:r>
            <a:endParaRPr lang="en-US" sz="1200" dirty="0"/>
          </a:p>
        </p:txBody>
      </p:sp>
      <p:sp>
        <p:nvSpPr>
          <p:cNvPr id="22" name="Text 20"/>
          <p:cNvSpPr/>
          <p:nvPr/>
        </p:nvSpPr>
        <p:spPr>
          <a:xfrm>
            <a:off x="7263511" y="1831479"/>
            <a:ext cx="1386129" cy="374452"/>
          </a:xfrm>
          <a:prstGeom prst="rect">
            <a:avLst/>
          </a:prstGeom>
          <a:noFill/>
          <a:ln/>
        </p:spPr>
        <p:txBody>
          <a:bodyPr wrap="square" lIns="76200" tIns="101600" rIns="76200" bIns="101600" rtlCol="0" anchor="t"/>
          <a:lstStyle/>
          <a:p>
            <a:pPr marL="0" indent="0" algn="ctr">
              <a:buNone/>
            </a:pPr>
            <a:r>
              <a:rPr lang="en-US" sz="1200" dirty="0">
                <a:solidFill>
                  <a:srgbClr val="264653"/>
                </a:solidFill>
                <a:latin typeface="Arial" pitchFamily="34" charset="0"/>
                <a:ea typeface="Arial" pitchFamily="34" charset="-122"/>
                <a:cs typeface="Arial" pitchFamily="34" charset="-120"/>
              </a:rPr>
              <a:t>0.9%</a:t>
            </a:r>
            <a:endParaRPr lang="en-US" sz="1200" dirty="0"/>
          </a:p>
        </p:txBody>
      </p:sp>
      <p:sp>
        <p:nvSpPr>
          <p:cNvPr id="23" name="Shape 21"/>
          <p:cNvSpPr/>
          <p:nvPr/>
        </p:nvSpPr>
        <p:spPr>
          <a:xfrm>
            <a:off x="634901" y="2594670"/>
            <a:ext cx="8001149" cy="0"/>
          </a:xfrm>
          <a:prstGeom prst="line">
            <a:avLst/>
          </a:prstGeom>
          <a:noFill/>
          <a:ln w="9525">
            <a:solidFill>
              <a:srgbClr val="E0E0E0"/>
            </a:solidFill>
            <a:prstDash val="solid"/>
          </a:ln>
        </p:spPr>
      </p:sp>
      <p:sp>
        <p:nvSpPr>
          <p:cNvPr id="24" name="Text 22"/>
          <p:cNvSpPr/>
          <p:nvPr/>
        </p:nvSpPr>
        <p:spPr>
          <a:xfrm>
            <a:off x="634901" y="2215455"/>
            <a:ext cx="2616657" cy="374452"/>
          </a:xfrm>
          <a:prstGeom prst="rect">
            <a:avLst/>
          </a:prstGeom>
          <a:noFill/>
          <a:ln/>
        </p:spPr>
        <p:txBody>
          <a:bodyPr wrap="square" lIns="76200" tIns="101600" rIns="76200" bIns="101600" rtlCol="0" anchor="t"/>
          <a:lstStyle/>
          <a:p>
            <a:pPr marL="0" indent="0" algn="l">
              <a:buNone/>
            </a:pPr>
            <a:r>
              <a:rPr lang="en-US" sz="1200" dirty="0">
                <a:solidFill>
                  <a:srgbClr val="264653"/>
                </a:solidFill>
                <a:latin typeface="Arial" pitchFamily="34" charset="0"/>
                <a:ea typeface="Arial" pitchFamily="34" charset="-122"/>
                <a:cs typeface="Arial" pitchFamily="34" charset="-120"/>
              </a:rPr>
              <a:t>Dynamic Confidence Threshold</a:t>
            </a:r>
            <a:endParaRPr lang="en-US" sz="1200" dirty="0"/>
          </a:p>
        </p:txBody>
      </p:sp>
      <p:sp>
        <p:nvSpPr>
          <p:cNvPr id="25" name="Text 23"/>
          <p:cNvSpPr/>
          <p:nvPr/>
        </p:nvSpPr>
        <p:spPr>
          <a:xfrm>
            <a:off x="3186662" y="2215455"/>
            <a:ext cx="1386129" cy="374452"/>
          </a:xfrm>
          <a:prstGeom prst="rect">
            <a:avLst/>
          </a:prstGeom>
          <a:noFill/>
          <a:ln/>
        </p:spPr>
        <p:txBody>
          <a:bodyPr wrap="square" lIns="76200" tIns="101600" rIns="76200" bIns="101600" rtlCol="0" anchor="t"/>
          <a:lstStyle/>
          <a:p>
            <a:pPr marL="0" indent="0" algn="ctr">
              <a:buNone/>
            </a:pPr>
            <a:r>
              <a:rPr lang="en-US" sz="1200" dirty="0">
                <a:solidFill>
                  <a:srgbClr val="264653"/>
                </a:solidFill>
                <a:latin typeface="Arial" pitchFamily="34" charset="0"/>
                <a:ea typeface="Arial" pitchFamily="34" charset="-122"/>
                <a:cs typeface="Arial" pitchFamily="34" charset="-120"/>
              </a:rPr>
              <a:t>0.1%</a:t>
            </a:r>
            <a:endParaRPr lang="en-US" sz="1200" dirty="0"/>
          </a:p>
        </p:txBody>
      </p:sp>
      <p:sp>
        <p:nvSpPr>
          <p:cNvPr id="26" name="Text 24"/>
          <p:cNvSpPr/>
          <p:nvPr/>
        </p:nvSpPr>
        <p:spPr>
          <a:xfrm>
            <a:off x="4545611" y="2215455"/>
            <a:ext cx="1386129" cy="374452"/>
          </a:xfrm>
          <a:prstGeom prst="rect">
            <a:avLst/>
          </a:prstGeom>
          <a:noFill/>
          <a:ln/>
        </p:spPr>
        <p:txBody>
          <a:bodyPr wrap="square" lIns="76200" tIns="101600" rIns="76200" bIns="101600" rtlCol="0" anchor="t"/>
          <a:lstStyle/>
          <a:p>
            <a:pPr marL="0" indent="0" algn="ctr">
              <a:buNone/>
            </a:pPr>
            <a:r>
              <a:rPr lang="en-US" sz="1200" dirty="0">
                <a:solidFill>
                  <a:srgbClr val="264653"/>
                </a:solidFill>
                <a:latin typeface="Arial" pitchFamily="34" charset="0"/>
                <a:ea typeface="Arial" pitchFamily="34" charset="-122"/>
                <a:cs typeface="Arial" pitchFamily="34" charset="-120"/>
              </a:rPr>
              <a:t>0.2%</a:t>
            </a:r>
            <a:endParaRPr lang="en-US" sz="1200" dirty="0"/>
          </a:p>
        </p:txBody>
      </p:sp>
      <p:sp>
        <p:nvSpPr>
          <p:cNvPr id="27" name="Text 25"/>
          <p:cNvSpPr/>
          <p:nvPr/>
        </p:nvSpPr>
        <p:spPr>
          <a:xfrm>
            <a:off x="5904561" y="2215455"/>
            <a:ext cx="1386129" cy="374452"/>
          </a:xfrm>
          <a:prstGeom prst="rect">
            <a:avLst/>
          </a:prstGeom>
          <a:noFill/>
          <a:ln/>
        </p:spPr>
        <p:txBody>
          <a:bodyPr wrap="square" lIns="76200" tIns="101600" rIns="76200" bIns="101600" rtlCol="0" anchor="t"/>
          <a:lstStyle/>
          <a:p>
            <a:pPr marL="0" indent="0" algn="ctr">
              <a:buNone/>
            </a:pPr>
            <a:r>
              <a:rPr lang="en-US" sz="1200" dirty="0">
                <a:solidFill>
                  <a:srgbClr val="264653"/>
                </a:solidFill>
                <a:latin typeface="Arial" pitchFamily="34" charset="0"/>
                <a:ea typeface="Arial" pitchFamily="34" charset="-122"/>
                <a:cs typeface="Arial" pitchFamily="34" charset="-120"/>
              </a:rPr>
              <a:t>0.2%</a:t>
            </a:r>
            <a:endParaRPr lang="en-US" sz="1200" dirty="0"/>
          </a:p>
        </p:txBody>
      </p:sp>
      <p:sp>
        <p:nvSpPr>
          <p:cNvPr id="28" name="Text 26"/>
          <p:cNvSpPr/>
          <p:nvPr/>
        </p:nvSpPr>
        <p:spPr>
          <a:xfrm>
            <a:off x="7263511" y="2215455"/>
            <a:ext cx="1386129" cy="374452"/>
          </a:xfrm>
          <a:prstGeom prst="rect">
            <a:avLst/>
          </a:prstGeom>
          <a:noFill/>
          <a:ln/>
        </p:spPr>
        <p:txBody>
          <a:bodyPr wrap="square" lIns="76200" tIns="101600" rIns="76200" bIns="101600" rtlCol="0" anchor="t"/>
          <a:lstStyle/>
          <a:p>
            <a:pPr marL="0" indent="0" algn="ctr">
              <a:buNone/>
            </a:pPr>
            <a:r>
              <a:rPr lang="en-US" sz="1200" dirty="0">
                <a:solidFill>
                  <a:srgbClr val="264653"/>
                </a:solidFill>
                <a:latin typeface="Arial" pitchFamily="34" charset="0"/>
                <a:ea typeface="Arial" pitchFamily="34" charset="-122"/>
                <a:cs typeface="Arial" pitchFamily="34" charset="-120"/>
              </a:rPr>
              <a:t>0.1%</a:t>
            </a:r>
            <a:endParaRPr lang="en-US" sz="1200" dirty="0"/>
          </a:p>
        </p:txBody>
      </p:sp>
      <p:sp>
        <p:nvSpPr>
          <p:cNvPr id="29" name="Shape 27"/>
          <p:cNvSpPr/>
          <p:nvPr/>
        </p:nvSpPr>
        <p:spPr>
          <a:xfrm>
            <a:off x="634901" y="2978646"/>
            <a:ext cx="8001149" cy="0"/>
          </a:xfrm>
          <a:prstGeom prst="line">
            <a:avLst/>
          </a:prstGeom>
          <a:noFill/>
          <a:ln w="9525">
            <a:solidFill>
              <a:srgbClr val="E0E0E0"/>
            </a:solidFill>
            <a:prstDash val="solid"/>
          </a:ln>
        </p:spPr>
      </p:sp>
      <p:sp>
        <p:nvSpPr>
          <p:cNvPr id="30" name="Text 28"/>
          <p:cNvSpPr/>
          <p:nvPr/>
        </p:nvSpPr>
        <p:spPr>
          <a:xfrm>
            <a:off x="634901" y="2599432"/>
            <a:ext cx="2616657" cy="374452"/>
          </a:xfrm>
          <a:prstGeom prst="rect">
            <a:avLst/>
          </a:prstGeom>
          <a:noFill/>
          <a:ln/>
        </p:spPr>
        <p:txBody>
          <a:bodyPr wrap="square" lIns="76200" tIns="101600" rIns="76200" bIns="101600" rtlCol="0" anchor="t"/>
          <a:lstStyle/>
          <a:p>
            <a:pPr marL="0" indent="0" algn="l">
              <a:buNone/>
            </a:pPr>
            <a:r>
              <a:rPr lang="en-US" sz="1200" dirty="0">
                <a:solidFill>
                  <a:srgbClr val="264653"/>
                </a:solidFill>
                <a:latin typeface="Arial" pitchFamily="34" charset="0"/>
                <a:ea typeface="Arial" pitchFamily="34" charset="-122"/>
                <a:cs typeface="Arial" pitchFamily="34" charset="-120"/>
              </a:rPr>
              <a:t>Pending Target Buffer</a:t>
            </a:r>
            <a:endParaRPr lang="en-US" sz="1200" dirty="0"/>
          </a:p>
        </p:txBody>
      </p:sp>
      <p:sp>
        <p:nvSpPr>
          <p:cNvPr id="31" name="Text 29"/>
          <p:cNvSpPr/>
          <p:nvPr/>
        </p:nvSpPr>
        <p:spPr>
          <a:xfrm>
            <a:off x="3186662" y="2599432"/>
            <a:ext cx="1386129" cy="374452"/>
          </a:xfrm>
          <a:prstGeom prst="rect">
            <a:avLst/>
          </a:prstGeom>
          <a:noFill/>
          <a:ln/>
        </p:spPr>
        <p:txBody>
          <a:bodyPr wrap="square" lIns="76200" tIns="101600" rIns="76200" bIns="101600" rtlCol="0" anchor="t"/>
          <a:lstStyle/>
          <a:p>
            <a:pPr marL="0" indent="0" algn="ctr">
              <a:buNone/>
            </a:pPr>
            <a:r>
              <a:rPr lang="en-US" sz="1200" dirty="0">
                <a:solidFill>
                  <a:srgbClr val="264653"/>
                </a:solidFill>
                <a:latin typeface="Arial" pitchFamily="34" charset="0"/>
                <a:ea typeface="Arial" pitchFamily="34" charset="-122"/>
                <a:cs typeface="Arial" pitchFamily="34" charset="-120"/>
              </a:rPr>
              <a:t>0.4%</a:t>
            </a:r>
            <a:endParaRPr lang="en-US" sz="1200" dirty="0"/>
          </a:p>
        </p:txBody>
      </p:sp>
      <p:sp>
        <p:nvSpPr>
          <p:cNvPr id="32" name="Text 30"/>
          <p:cNvSpPr/>
          <p:nvPr/>
        </p:nvSpPr>
        <p:spPr>
          <a:xfrm>
            <a:off x="4545611" y="2599432"/>
            <a:ext cx="1386129" cy="374452"/>
          </a:xfrm>
          <a:prstGeom prst="rect">
            <a:avLst/>
          </a:prstGeom>
          <a:noFill/>
          <a:ln/>
        </p:spPr>
        <p:txBody>
          <a:bodyPr wrap="square" lIns="76200" tIns="101600" rIns="76200" bIns="101600" rtlCol="0" anchor="t"/>
          <a:lstStyle/>
          <a:p>
            <a:pPr marL="0" indent="0" algn="ctr">
              <a:buNone/>
            </a:pPr>
            <a:r>
              <a:rPr lang="en-US" sz="1200" dirty="0">
                <a:solidFill>
                  <a:srgbClr val="264653"/>
                </a:solidFill>
                <a:latin typeface="Arial" pitchFamily="34" charset="0"/>
                <a:ea typeface="Arial" pitchFamily="34" charset="-122"/>
                <a:cs typeface="Arial" pitchFamily="34" charset="-120"/>
              </a:rPr>
              <a:t>0.0%</a:t>
            </a:r>
            <a:endParaRPr lang="en-US" sz="1200" dirty="0"/>
          </a:p>
        </p:txBody>
      </p:sp>
      <p:sp>
        <p:nvSpPr>
          <p:cNvPr id="33" name="Text 31"/>
          <p:cNvSpPr/>
          <p:nvPr/>
        </p:nvSpPr>
        <p:spPr>
          <a:xfrm>
            <a:off x="5904561" y="2599432"/>
            <a:ext cx="1386129" cy="374452"/>
          </a:xfrm>
          <a:prstGeom prst="rect">
            <a:avLst/>
          </a:prstGeom>
          <a:noFill/>
          <a:ln/>
        </p:spPr>
        <p:txBody>
          <a:bodyPr wrap="square" lIns="76200" tIns="101600" rIns="76200" bIns="101600" rtlCol="0" anchor="t"/>
          <a:lstStyle/>
          <a:p>
            <a:pPr marL="0" indent="0" algn="ctr">
              <a:buNone/>
            </a:pPr>
            <a:r>
              <a:rPr lang="en-US" sz="1200" dirty="0">
                <a:solidFill>
                  <a:srgbClr val="264653"/>
                </a:solidFill>
                <a:latin typeface="Arial" pitchFamily="34" charset="0"/>
                <a:ea typeface="Arial" pitchFamily="34" charset="-122"/>
                <a:cs typeface="Arial" pitchFamily="34" charset="-120"/>
              </a:rPr>
              <a:t>0.4%</a:t>
            </a:r>
            <a:endParaRPr lang="en-US" sz="1200" dirty="0"/>
          </a:p>
        </p:txBody>
      </p:sp>
      <p:sp>
        <p:nvSpPr>
          <p:cNvPr id="34" name="Text 32"/>
          <p:cNvSpPr/>
          <p:nvPr/>
        </p:nvSpPr>
        <p:spPr>
          <a:xfrm>
            <a:off x="7263511" y="2599432"/>
            <a:ext cx="1386129" cy="374452"/>
          </a:xfrm>
          <a:prstGeom prst="rect">
            <a:avLst/>
          </a:prstGeom>
          <a:noFill/>
          <a:ln/>
        </p:spPr>
        <p:txBody>
          <a:bodyPr wrap="square" lIns="76200" tIns="101600" rIns="76200" bIns="101600" rtlCol="0" anchor="t"/>
          <a:lstStyle/>
          <a:p>
            <a:pPr marL="0" indent="0" algn="ctr">
              <a:buNone/>
            </a:pPr>
            <a:r>
              <a:rPr lang="en-US" sz="1200" dirty="0">
                <a:solidFill>
                  <a:srgbClr val="264653"/>
                </a:solidFill>
                <a:latin typeface="Arial" pitchFamily="34" charset="0"/>
                <a:ea typeface="Arial" pitchFamily="34" charset="-122"/>
                <a:cs typeface="Arial" pitchFamily="34" charset="-120"/>
              </a:rPr>
              <a:t>0.2%</a:t>
            </a:r>
            <a:endParaRPr lang="en-US" sz="1200" dirty="0"/>
          </a:p>
        </p:txBody>
      </p:sp>
      <p:sp>
        <p:nvSpPr>
          <p:cNvPr id="35" name="Shape 33"/>
          <p:cNvSpPr/>
          <p:nvPr/>
        </p:nvSpPr>
        <p:spPr>
          <a:xfrm>
            <a:off x="634901" y="3362623"/>
            <a:ext cx="8001149" cy="0"/>
          </a:xfrm>
          <a:prstGeom prst="line">
            <a:avLst/>
          </a:prstGeom>
          <a:noFill/>
          <a:ln w="9525">
            <a:solidFill>
              <a:srgbClr val="E0E0E0"/>
            </a:solidFill>
            <a:prstDash val="solid"/>
          </a:ln>
        </p:spPr>
      </p:sp>
      <p:sp>
        <p:nvSpPr>
          <p:cNvPr id="36" name="Text 34"/>
          <p:cNvSpPr/>
          <p:nvPr/>
        </p:nvSpPr>
        <p:spPr>
          <a:xfrm>
            <a:off x="634901" y="2983409"/>
            <a:ext cx="2616657" cy="374452"/>
          </a:xfrm>
          <a:prstGeom prst="rect">
            <a:avLst/>
          </a:prstGeom>
          <a:noFill/>
          <a:ln/>
        </p:spPr>
        <p:txBody>
          <a:bodyPr wrap="square" lIns="76200" tIns="101600" rIns="76200" bIns="101600" rtlCol="0" anchor="t"/>
          <a:lstStyle/>
          <a:p>
            <a:pPr marL="0" indent="0" algn="l">
              <a:buNone/>
            </a:pPr>
            <a:r>
              <a:rPr lang="en-US" sz="1200" dirty="0">
                <a:solidFill>
                  <a:srgbClr val="264653"/>
                </a:solidFill>
                <a:latin typeface="Arial" pitchFamily="34" charset="0"/>
                <a:ea typeface="Arial" pitchFamily="34" charset="-122"/>
                <a:cs typeface="Arial" pitchFamily="34" charset="-120"/>
              </a:rPr>
              <a:t>Combined (Emender)</a:t>
            </a:r>
            <a:endParaRPr lang="en-US" sz="1200" dirty="0"/>
          </a:p>
        </p:txBody>
      </p:sp>
      <p:sp>
        <p:nvSpPr>
          <p:cNvPr id="37" name="Text 35"/>
          <p:cNvSpPr/>
          <p:nvPr/>
        </p:nvSpPr>
        <p:spPr>
          <a:xfrm>
            <a:off x="3186662" y="2983409"/>
            <a:ext cx="1386129" cy="374452"/>
          </a:xfrm>
          <a:prstGeom prst="rect">
            <a:avLst/>
          </a:prstGeom>
          <a:noFill/>
          <a:ln/>
        </p:spPr>
        <p:txBody>
          <a:bodyPr wrap="square" lIns="76200" tIns="101600" rIns="76200" bIns="101600" rtlCol="0" anchor="t"/>
          <a:lstStyle/>
          <a:p>
            <a:pPr marL="0" indent="0" algn="ctr">
              <a:buNone/>
            </a:pPr>
            <a:r>
              <a:rPr lang="en-US" sz="1200" dirty="0">
                <a:solidFill>
                  <a:srgbClr val="264653"/>
                </a:solidFill>
                <a:latin typeface="Arial" pitchFamily="34" charset="0"/>
                <a:ea typeface="Arial" pitchFamily="34" charset="-122"/>
                <a:cs typeface="Arial" pitchFamily="34" charset="-120"/>
              </a:rPr>
              <a:t>6.6%</a:t>
            </a:r>
            <a:endParaRPr lang="en-US" sz="1200" dirty="0"/>
          </a:p>
        </p:txBody>
      </p:sp>
      <p:sp>
        <p:nvSpPr>
          <p:cNvPr id="38" name="Text 36"/>
          <p:cNvSpPr/>
          <p:nvPr/>
        </p:nvSpPr>
        <p:spPr>
          <a:xfrm>
            <a:off x="4545611" y="2983409"/>
            <a:ext cx="1386129" cy="374452"/>
          </a:xfrm>
          <a:prstGeom prst="rect">
            <a:avLst/>
          </a:prstGeom>
          <a:noFill/>
          <a:ln/>
        </p:spPr>
        <p:txBody>
          <a:bodyPr wrap="square" lIns="76200" tIns="101600" rIns="76200" bIns="101600" rtlCol="0" anchor="t"/>
          <a:lstStyle/>
          <a:p>
            <a:pPr marL="0" indent="0" algn="ctr">
              <a:buNone/>
            </a:pPr>
            <a:r>
              <a:rPr lang="en-US" sz="1200" dirty="0">
                <a:solidFill>
                  <a:srgbClr val="264653"/>
                </a:solidFill>
                <a:latin typeface="Arial" pitchFamily="34" charset="0"/>
                <a:ea typeface="Arial" pitchFamily="34" charset="-122"/>
                <a:cs typeface="Arial" pitchFamily="34" charset="-120"/>
              </a:rPr>
              <a:t>2.0%</a:t>
            </a:r>
            <a:endParaRPr lang="en-US" sz="1200" dirty="0"/>
          </a:p>
        </p:txBody>
      </p:sp>
      <p:sp>
        <p:nvSpPr>
          <p:cNvPr id="39" name="Text 37"/>
          <p:cNvSpPr/>
          <p:nvPr/>
        </p:nvSpPr>
        <p:spPr>
          <a:xfrm>
            <a:off x="5904561" y="2983409"/>
            <a:ext cx="1386129" cy="374452"/>
          </a:xfrm>
          <a:prstGeom prst="rect">
            <a:avLst/>
          </a:prstGeom>
          <a:noFill/>
          <a:ln/>
        </p:spPr>
        <p:txBody>
          <a:bodyPr wrap="square" lIns="76200" tIns="101600" rIns="76200" bIns="101600" rtlCol="0" anchor="t"/>
          <a:lstStyle/>
          <a:p>
            <a:pPr marL="0" indent="0" algn="ctr">
              <a:buNone/>
            </a:pPr>
            <a:r>
              <a:rPr lang="en-US" sz="1200" dirty="0">
                <a:solidFill>
                  <a:srgbClr val="264653"/>
                </a:solidFill>
                <a:latin typeface="Arial" pitchFamily="34" charset="0"/>
                <a:ea typeface="Arial" pitchFamily="34" charset="-122"/>
                <a:cs typeface="Arial" pitchFamily="34" charset="-120"/>
              </a:rPr>
              <a:t>6.1%</a:t>
            </a:r>
            <a:endParaRPr lang="en-US" sz="1200" dirty="0"/>
          </a:p>
        </p:txBody>
      </p:sp>
      <p:sp>
        <p:nvSpPr>
          <p:cNvPr id="40" name="Text 38"/>
          <p:cNvSpPr/>
          <p:nvPr/>
        </p:nvSpPr>
        <p:spPr>
          <a:xfrm>
            <a:off x="7263511" y="2983409"/>
            <a:ext cx="1386129" cy="374452"/>
          </a:xfrm>
          <a:prstGeom prst="rect">
            <a:avLst/>
          </a:prstGeom>
          <a:noFill/>
          <a:ln/>
        </p:spPr>
        <p:txBody>
          <a:bodyPr wrap="square" lIns="76200" tIns="101600" rIns="76200" bIns="101600" rtlCol="0" anchor="t"/>
          <a:lstStyle/>
          <a:p>
            <a:pPr marL="0" indent="0" algn="ctr">
              <a:buNone/>
            </a:pPr>
            <a:r>
              <a:rPr lang="en-US" sz="1200" dirty="0">
                <a:solidFill>
                  <a:srgbClr val="264653"/>
                </a:solidFill>
                <a:latin typeface="Arial" pitchFamily="34" charset="0"/>
                <a:ea typeface="Arial" pitchFamily="34" charset="-122"/>
                <a:cs typeface="Arial" pitchFamily="34" charset="-120"/>
              </a:rPr>
              <a:t>4.8%</a:t>
            </a:r>
            <a:endParaRPr lang="en-US" sz="1200" dirty="0"/>
          </a:p>
        </p:txBody>
      </p:sp>
      <p:sp>
        <p:nvSpPr>
          <p:cNvPr id="41" name="Text 39"/>
          <p:cNvSpPr/>
          <p:nvPr/>
        </p:nvSpPr>
        <p:spPr>
          <a:xfrm>
            <a:off x="634901" y="3443585"/>
            <a:ext cx="2582317" cy="1644253"/>
          </a:xfrm>
          <a:prstGeom prst="roundRect">
            <a:avLst>
              <a:gd name="adj" fmla="val 4634"/>
            </a:avLst>
          </a:prstGeom>
          <a:solidFill>
            <a:srgbClr val="E9ECEF"/>
          </a:solidFill>
          <a:ln/>
        </p:spPr>
        <p:txBody>
          <a:bodyPr wrap="square" rtlCol="0" anchor="ctr"/>
          <a:lstStyle/>
          <a:p>
            <a:pPr marL="0" indent="0">
              <a:buNone/>
            </a:pPr>
            <a:endParaRPr lang="en-US" dirty="0"/>
          </a:p>
        </p:txBody>
      </p:sp>
      <p:sp>
        <p:nvSpPr>
          <p:cNvPr id="42" name="Shape 40"/>
          <p:cNvSpPr/>
          <p:nvPr/>
        </p:nvSpPr>
        <p:spPr>
          <a:xfrm>
            <a:off x="653951" y="3443585"/>
            <a:ext cx="0" cy="1644253"/>
          </a:xfrm>
          <a:prstGeom prst="line">
            <a:avLst/>
          </a:prstGeom>
          <a:noFill/>
          <a:ln w="38100">
            <a:solidFill>
              <a:srgbClr val="2A9D8F"/>
            </a:solidFill>
            <a:prstDash val="solid"/>
          </a:ln>
        </p:spPr>
      </p:sp>
      <p:sp>
        <p:nvSpPr>
          <p:cNvPr id="43" name="Text 41"/>
          <p:cNvSpPr/>
          <p:nvPr/>
        </p:nvSpPr>
        <p:spPr>
          <a:xfrm>
            <a:off x="749201" y="3608636"/>
            <a:ext cx="2439653" cy="171450"/>
          </a:xfrm>
          <a:prstGeom prst="rect">
            <a:avLst/>
          </a:prstGeom>
          <a:noFill/>
          <a:ln/>
        </p:spPr>
        <p:txBody>
          <a:bodyPr wrap="square" lIns="0" tIns="0" rIns="0" bIns="0" rtlCol="0" anchor="t"/>
          <a:lstStyle/>
          <a:p>
            <a:pPr marL="0" indent="0" algn="l">
              <a:spcBef>
                <a:spcPts val="1200"/>
              </a:spcBef>
              <a:spcAft>
                <a:spcPts val="1200"/>
              </a:spcAft>
              <a:buNone/>
            </a:pPr>
            <a:r>
              <a:rPr lang="en-US" sz="1200" b="1" dirty="0">
                <a:solidFill>
                  <a:srgbClr val="5B4B9E"/>
                </a:solidFill>
                <a:latin typeface="Arial" pitchFamily="34" charset="0"/>
                <a:ea typeface="Arial" pitchFamily="34" charset="-122"/>
                <a:cs typeface="Arial" pitchFamily="34" charset="-120"/>
              </a:rPr>
              <a:t>Cuckoo Filter</a:t>
            </a:r>
            <a:endParaRPr lang="en-US" sz="1200" dirty="0"/>
          </a:p>
        </p:txBody>
      </p:sp>
      <p:sp>
        <p:nvSpPr>
          <p:cNvPr id="44" name="Text 42"/>
          <p:cNvSpPr/>
          <p:nvPr/>
        </p:nvSpPr>
        <p:spPr>
          <a:xfrm>
            <a:off x="749201" y="3932486"/>
            <a:ext cx="2391817" cy="893862"/>
          </a:xfrm>
          <a:prstGeom prst="rect">
            <a:avLst/>
          </a:prstGeom>
          <a:noFill/>
          <a:ln/>
        </p:spPr>
        <p:txBody>
          <a:bodyPr wrap="square" lIns="101600" tIns="0" rIns="0" bIns="0" rtlCol="0" anchor="t"/>
          <a:lstStyle/>
          <a:p>
            <a:pPr marL="101600" indent="-101600" algn="l">
              <a:lnSpc>
                <a:spcPts val="1560"/>
              </a:lnSpc>
              <a:spcAft>
                <a:spcPts val="400"/>
              </a:spcAft>
              <a:buSzPct val="100000"/>
              <a:buChar char="•"/>
            </a:pPr>
            <a:r>
              <a:rPr lang="en-US" sz="1200" dirty="0">
                <a:solidFill>
                  <a:srgbClr val="264653"/>
                </a:solidFill>
                <a:latin typeface="Arial" pitchFamily="34" charset="0"/>
                <a:ea typeface="Arial" pitchFamily="34" charset="-122"/>
                <a:cs typeface="Arial" pitchFamily="34" charset="-120"/>
              </a:rPr>
              <a:t>Largest benefit for single-core</a:t>
            </a:r>
            <a:endParaRPr lang="en-US" sz="1200" dirty="0"/>
          </a:p>
          <a:p>
            <a:pPr marL="101600" indent="-101600" algn="l">
              <a:lnSpc>
                <a:spcPts val="1560"/>
              </a:lnSpc>
              <a:spcAft>
                <a:spcPts val="400"/>
              </a:spcAft>
              <a:buSzPct val="100000"/>
              <a:buChar char="•"/>
            </a:pPr>
            <a:r>
              <a:rPr lang="en-US" sz="1200" dirty="0">
                <a:solidFill>
                  <a:srgbClr val="264653"/>
                </a:solidFill>
                <a:latin typeface="Arial" pitchFamily="34" charset="0"/>
                <a:ea typeface="Arial" pitchFamily="34" charset="-122"/>
                <a:cs typeface="Arial" pitchFamily="34" charset="-120"/>
              </a:rPr>
              <a:t>Eliminates redundant prefetches</a:t>
            </a:r>
            <a:endParaRPr lang="en-US" sz="1200" dirty="0"/>
          </a:p>
          <a:p>
            <a:pPr marL="101600" indent="-101600" algn="l">
              <a:lnSpc>
                <a:spcPts val="1560"/>
              </a:lnSpc>
              <a:spcAft>
                <a:spcPts val="400"/>
              </a:spcAft>
              <a:buSzPct val="100000"/>
              <a:buChar char="•"/>
            </a:pPr>
            <a:r>
              <a:rPr lang="en-US" sz="1200" dirty="0">
                <a:solidFill>
                  <a:srgbClr val="264653"/>
                </a:solidFill>
                <a:latin typeface="Arial" pitchFamily="34" charset="0"/>
                <a:ea typeface="Arial" pitchFamily="34" charset="-122"/>
                <a:cs typeface="Arial" pitchFamily="34" charset="-120"/>
              </a:rPr>
              <a:t>More effective with plentiful bandwidth</a:t>
            </a:r>
            <a:endParaRPr lang="en-US" sz="1200" dirty="0"/>
          </a:p>
        </p:txBody>
      </p:sp>
      <p:sp>
        <p:nvSpPr>
          <p:cNvPr id="45" name="Text 43"/>
          <p:cNvSpPr/>
          <p:nvPr/>
        </p:nvSpPr>
        <p:spPr>
          <a:xfrm>
            <a:off x="3344168" y="3443585"/>
            <a:ext cx="2582466" cy="1644253"/>
          </a:xfrm>
          <a:prstGeom prst="roundRect">
            <a:avLst>
              <a:gd name="adj" fmla="val 4634"/>
            </a:avLst>
          </a:prstGeom>
          <a:solidFill>
            <a:srgbClr val="E9ECEF"/>
          </a:solidFill>
          <a:ln/>
        </p:spPr>
        <p:txBody>
          <a:bodyPr wrap="square" rtlCol="0" anchor="ctr"/>
          <a:lstStyle/>
          <a:p>
            <a:pPr marL="0" indent="0">
              <a:buNone/>
            </a:pPr>
            <a:endParaRPr lang="en-US" dirty="0"/>
          </a:p>
        </p:txBody>
      </p:sp>
      <p:sp>
        <p:nvSpPr>
          <p:cNvPr id="46" name="Shape 44"/>
          <p:cNvSpPr/>
          <p:nvPr/>
        </p:nvSpPr>
        <p:spPr>
          <a:xfrm>
            <a:off x="3363218" y="3443585"/>
            <a:ext cx="0" cy="1644253"/>
          </a:xfrm>
          <a:prstGeom prst="line">
            <a:avLst/>
          </a:prstGeom>
          <a:noFill/>
          <a:ln w="38100">
            <a:solidFill>
              <a:srgbClr val="2A9D8F"/>
            </a:solidFill>
            <a:prstDash val="solid"/>
          </a:ln>
        </p:spPr>
      </p:sp>
      <p:sp>
        <p:nvSpPr>
          <p:cNvPr id="47" name="Text 45"/>
          <p:cNvSpPr/>
          <p:nvPr/>
        </p:nvSpPr>
        <p:spPr>
          <a:xfrm>
            <a:off x="3458468" y="3608636"/>
            <a:ext cx="2439805" cy="171450"/>
          </a:xfrm>
          <a:prstGeom prst="rect">
            <a:avLst/>
          </a:prstGeom>
          <a:noFill/>
          <a:ln/>
        </p:spPr>
        <p:txBody>
          <a:bodyPr wrap="square" lIns="0" tIns="0" rIns="0" bIns="0" rtlCol="0" anchor="t"/>
          <a:lstStyle/>
          <a:p>
            <a:pPr marL="0" indent="0" algn="l">
              <a:spcBef>
                <a:spcPts val="1200"/>
              </a:spcBef>
              <a:spcAft>
                <a:spcPts val="1200"/>
              </a:spcAft>
              <a:buNone/>
            </a:pPr>
            <a:r>
              <a:rPr lang="en-US" sz="1200" b="1" dirty="0">
                <a:solidFill>
                  <a:srgbClr val="5B4B9E"/>
                </a:solidFill>
                <a:latin typeface="Arial" pitchFamily="34" charset="0"/>
                <a:ea typeface="Arial" pitchFamily="34" charset="-122"/>
                <a:cs typeface="Arial" pitchFamily="34" charset="-120"/>
              </a:rPr>
              <a:t>L3 Fairness Throttling</a:t>
            </a:r>
            <a:endParaRPr lang="en-US" sz="1200" dirty="0"/>
          </a:p>
        </p:txBody>
      </p:sp>
      <p:sp>
        <p:nvSpPr>
          <p:cNvPr id="48" name="Text 46"/>
          <p:cNvSpPr/>
          <p:nvPr/>
        </p:nvSpPr>
        <p:spPr>
          <a:xfrm>
            <a:off x="3458468" y="3932486"/>
            <a:ext cx="2391966" cy="1091952"/>
          </a:xfrm>
          <a:prstGeom prst="rect">
            <a:avLst/>
          </a:prstGeom>
          <a:noFill/>
          <a:ln/>
        </p:spPr>
        <p:txBody>
          <a:bodyPr wrap="square" lIns="101600" tIns="0" rIns="0" bIns="0" rtlCol="0" anchor="t"/>
          <a:lstStyle/>
          <a:p>
            <a:pPr marL="101600" indent="-101600" algn="l">
              <a:lnSpc>
                <a:spcPts val="1560"/>
              </a:lnSpc>
              <a:spcAft>
                <a:spcPts val="400"/>
              </a:spcAft>
              <a:buSzPct val="100000"/>
              <a:buChar char="•"/>
            </a:pPr>
            <a:r>
              <a:rPr lang="en-US" sz="1200" dirty="0">
                <a:solidFill>
                  <a:srgbClr val="264653"/>
                </a:solidFill>
                <a:latin typeface="Arial" pitchFamily="34" charset="0"/>
                <a:ea typeface="Arial" pitchFamily="34" charset="-122"/>
                <a:cs typeface="Arial" pitchFamily="34" charset="-120"/>
              </a:rPr>
              <a:t>Critical for multi-core performance</a:t>
            </a:r>
            <a:endParaRPr lang="en-US" sz="1200" dirty="0"/>
          </a:p>
          <a:p>
            <a:pPr marL="101600" indent="-101600" algn="l">
              <a:lnSpc>
                <a:spcPts val="1560"/>
              </a:lnSpc>
              <a:spcAft>
                <a:spcPts val="400"/>
              </a:spcAft>
              <a:buSzPct val="100000"/>
              <a:buChar char="•"/>
            </a:pPr>
            <a:r>
              <a:rPr lang="en-US" sz="1200" dirty="0">
                <a:solidFill>
                  <a:srgbClr val="264653"/>
                </a:solidFill>
                <a:latin typeface="Arial" pitchFamily="34" charset="0"/>
                <a:ea typeface="Arial" pitchFamily="34" charset="-122"/>
                <a:cs typeface="Arial" pitchFamily="34" charset="-120"/>
              </a:rPr>
              <a:t>No single-core impact (as expected)</a:t>
            </a:r>
            <a:endParaRPr lang="en-US" sz="1200" dirty="0"/>
          </a:p>
          <a:p>
            <a:pPr marL="101600" indent="-101600" algn="l">
              <a:lnSpc>
                <a:spcPts val="1560"/>
              </a:lnSpc>
              <a:spcAft>
                <a:spcPts val="400"/>
              </a:spcAft>
              <a:buSzPct val="100000"/>
              <a:buChar char="•"/>
            </a:pPr>
            <a:r>
              <a:rPr lang="en-US" sz="1200" dirty="0">
                <a:solidFill>
                  <a:srgbClr val="264653"/>
                </a:solidFill>
                <a:latin typeface="Arial" pitchFamily="34" charset="0"/>
                <a:ea typeface="Arial" pitchFamily="34" charset="-122"/>
                <a:cs typeface="Arial" pitchFamily="34" charset="-120"/>
              </a:rPr>
              <a:t>2.6% improvement in 4C</a:t>
            </a:r>
            <a:endParaRPr lang="en-US" sz="1200" dirty="0"/>
          </a:p>
        </p:txBody>
      </p:sp>
      <p:sp>
        <p:nvSpPr>
          <p:cNvPr id="49" name="Text 47"/>
          <p:cNvSpPr/>
          <p:nvPr/>
        </p:nvSpPr>
        <p:spPr>
          <a:xfrm>
            <a:off x="6053584" y="3443585"/>
            <a:ext cx="2582466" cy="1644253"/>
          </a:xfrm>
          <a:prstGeom prst="roundRect">
            <a:avLst>
              <a:gd name="adj" fmla="val 4634"/>
            </a:avLst>
          </a:prstGeom>
          <a:solidFill>
            <a:srgbClr val="E9ECEF"/>
          </a:solidFill>
          <a:ln/>
        </p:spPr>
        <p:txBody>
          <a:bodyPr wrap="square" rtlCol="0" anchor="ctr"/>
          <a:lstStyle/>
          <a:p>
            <a:pPr marL="0" indent="0">
              <a:buNone/>
            </a:pPr>
            <a:endParaRPr lang="en-US" dirty="0"/>
          </a:p>
        </p:txBody>
      </p:sp>
      <p:sp>
        <p:nvSpPr>
          <p:cNvPr id="50" name="Shape 48"/>
          <p:cNvSpPr/>
          <p:nvPr/>
        </p:nvSpPr>
        <p:spPr>
          <a:xfrm>
            <a:off x="6072634" y="3443585"/>
            <a:ext cx="0" cy="1644253"/>
          </a:xfrm>
          <a:prstGeom prst="line">
            <a:avLst/>
          </a:prstGeom>
          <a:noFill/>
          <a:ln w="38100">
            <a:solidFill>
              <a:srgbClr val="2A9D8F"/>
            </a:solidFill>
            <a:prstDash val="solid"/>
          </a:ln>
        </p:spPr>
      </p:sp>
      <p:sp>
        <p:nvSpPr>
          <p:cNvPr id="51" name="Text 49"/>
          <p:cNvSpPr/>
          <p:nvPr/>
        </p:nvSpPr>
        <p:spPr>
          <a:xfrm>
            <a:off x="6167884" y="3608636"/>
            <a:ext cx="2439805" cy="171450"/>
          </a:xfrm>
          <a:prstGeom prst="rect">
            <a:avLst/>
          </a:prstGeom>
          <a:noFill/>
          <a:ln/>
        </p:spPr>
        <p:txBody>
          <a:bodyPr wrap="square" lIns="0" tIns="0" rIns="0" bIns="0" rtlCol="0" anchor="t"/>
          <a:lstStyle/>
          <a:p>
            <a:pPr marL="0" indent="0" algn="l">
              <a:spcBef>
                <a:spcPts val="1200"/>
              </a:spcBef>
              <a:spcAft>
                <a:spcPts val="1200"/>
              </a:spcAft>
              <a:buNone/>
            </a:pPr>
            <a:r>
              <a:rPr lang="en-US" sz="1200" b="1" dirty="0">
                <a:solidFill>
                  <a:srgbClr val="5B4B9E"/>
                </a:solidFill>
                <a:latin typeface="Arial" pitchFamily="34" charset="0"/>
                <a:ea typeface="Arial" pitchFamily="34" charset="-122"/>
                <a:cs typeface="Arial" pitchFamily="34" charset="-120"/>
              </a:rPr>
              <a:t>Other Features</a:t>
            </a:r>
            <a:endParaRPr lang="en-US" sz="1200" dirty="0"/>
          </a:p>
        </p:txBody>
      </p:sp>
      <p:sp>
        <p:nvSpPr>
          <p:cNvPr id="52" name="Text 50"/>
          <p:cNvSpPr/>
          <p:nvPr/>
        </p:nvSpPr>
        <p:spPr>
          <a:xfrm>
            <a:off x="6167884" y="3932486"/>
            <a:ext cx="2391966" cy="695771"/>
          </a:xfrm>
          <a:prstGeom prst="rect">
            <a:avLst/>
          </a:prstGeom>
          <a:noFill/>
          <a:ln/>
        </p:spPr>
        <p:txBody>
          <a:bodyPr wrap="square" lIns="101600" tIns="0" rIns="0" bIns="0" rtlCol="0" anchor="t"/>
          <a:lstStyle/>
          <a:p>
            <a:pPr marL="101600" indent="-101600" algn="l">
              <a:lnSpc>
                <a:spcPts val="1560"/>
              </a:lnSpc>
              <a:spcAft>
                <a:spcPts val="400"/>
              </a:spcAft>
              <a:buSzPct val="100000"/>
              <a:buChar char="•"/>
            </a:pPr>
            <a:r>
              <a:rPr lang="en-US" sz="1200" dirty="0">
                <a:solidFill>
                  <a:srgbClr val="264653"/>
                </a:solidFill>
                <a:latin typeface="Arial" pitchFamily="34" charset="0"/>
                <a:ea typeface="Arial" pitchFamily="34" charset="-122"/>
                <a:cs typeface="Arial" pitchFamily="34" charset="-120"/>
              </a:rPr>
              <a:t>DCT: Modest but consistent</a:t>
            </a:r>
            <a:endParaRPr lang="en-US" sz="1200" dirty="0"/>
          </a:p>
          <a:p>
            <a:pPr marL="101600" indent="-101600" algn="l">
              <a:lnSpc>
                <a:spcPts val="1560"/>
              </a:lnSpc>
              <a:spcAft>
                <a:spcPts val="400"/>
              </a:spcAft>
              <a:buSzPct val="100000"/>
              <a:buChar char="•"/>
            </a:pPr>
            <a:r>
              <a:rPr lang="en-US" sz="1200" dirty="0">
                <a:solidFill>
                  <a:srgbClr val="264653"/>
                </a:solidFill>
                <a:latin typeface="Arial" pitchFamily="34" charset="0"/>
                <a:ea typeface="Arial" pitchFamily="34" charset="-122"/>
                <a:cs typeface="Arial" pitchFamily="34" charset="-120"/>
              </a:rPr>
              <a:t>PTB: Foundation for others</a:t>
            </a:r>
            <a:endParaRPr lang="en-US" sz="1200" dirty="0"/>
          </a:p>
          <a:p>
            <a:pPr marL="101600" indent="-101600" algn="l">
              <a:lnSpc>
                <a:spcPts val="1560"/>
              </a:lnSpc>
              <a:spcAft>
                <a:spcPts val="400"/>
              </a:spcAft>
              <a:buSzPct val="100000"/>
              <a:buChar char="•"/>
            </a:pPr>
            <a:r>
              <a:rPr lang="en-US" sz="1200" dirty="0">
                <a:solidFill>
                  <a:srgbClr val="264653"/>
                </a:solidFill>
                <a:latin typeface="Arial" pitchFamily="34" charset="0"/>
                <a:ea typeface="Arial" pitchFamily="34" charset="-122"/>
                <a:cs typeface="Arial" pitchFamily="34" charset="-120"/>
              </a:rPr>
              <a:t>All contribute positively</a:t>
            </a:r>
            <a:endParaRPr lang="en-US" sz="1200" dirty="0"/>
          </a:p>
        </p:txBody>
      </p:sp>
      <p:sp>
        <p:nvSpPr>
          <p:cNvPr id="53" name="文本框 52">
            <a:extLst>
              <a:ext uri="{FF2B5EF4-FFF2-40B4-BE49-F238E27FC236}">
                <a16:creationId xmlns:a16="http://schemas.microsoft.com/office/drawing/2014/main" id="{AEAAD71B-634A-744A-A46D-3FEEAF87FFF3}"/>
              </a:ext>
            </a:extLst>
          </p:cNvPr>
          <p:cNvSpPr txBox="1"/>
          <p:nvPr/>
        </p:nvSpPr>
        <p:spPr>
          <a:xfrm>
            <a:off x="8395452" y="4621065"/>
            <a:ext cx="529984" cy="369332"/>
          </a:xfrm>
          <a:prstGeom prst="rect">
            <a:avLst/>
          </a:prstGeom>
          <a:noFill/>
        </p:spPr>
        <p:txBody>
          <a:bodyPr wrap="square" rtlCol="0">
            <a:spAutoFit/>
          </a:bodyPr>
          <a:lstStyle/>
          <a:p>
            <a:r>
              <a:rPr lang="en-US" altLang="zh-CN"/>
              <a:t>16</a:t>
            </a: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825401"/>
          </a:xfrm>
          <a:prstGeom prst="rect">
            <a:avLst/>
          </a:prstGeom>
          <a:solidFill>
            <a:srgbClr val="5B4B9E"/>
          </a:solidFill>
          <a:ln/>
        </p:spPr>
        <p:txBody>
          <a:bodyPr wrap="square" rtlCol="0" anchor="ctr"/>
          <a:lstStyle/>
          <a:p>
            <a:pPr marL="0" indent="0">
              <a:buNone/>
            </a:pPr>
            <a:endParaRPr lang="en-US" dirty="0"/>
          </a:p>
        </p:txBody>
      </p:sp>
      <p:sp>
        <p:nvSpPr>
          <p:cNvPr id="3" name="Text 1"/>
          <p:cNvSpPr/>
          <p:nvPr/>
        </p:nvSpPr>
        <p:spPr>
          <a:xfrm>
            <a:off x="634901" y="126950"/>
            <a:ext cx="8031682" cy="409575"/>
          </a:xfrm>
          <a:prstGeom prst="rect">
            <a:avLst/>
          </a:prstGeom>
          <a:noFill/>
          <a:ln/>
        </p:spPr>
        <p:txBody>
          <a:bodyPr wrap="square" lIns="0" tIns="0" rIns="0" bIns="0" rtlCol="0" anchor="t"/>
          <a:lstStyle/>
          <a:p>
            <a:pPr marL="0" indent="0" algn="l">
              <a:buNone/>
            </a:pPr>
            <a:r>
              <a:rPr lang="en-US" sz="2800" b="1" dirty="0">
                <a:solidFill>
                  <a:srgbClr val="FFFFFF"/>
                </a:solidFill>
                <a:latin typeface="Arial" pitchFamily="34" charset="0"/>
                <a:ea typeface="Arial" pitchFamily="34" charset="-122"/>
                <a:cs typeface="Arial" pitchFamily="34" charset="-120"/>
              </a:rPr>
              <a:t>S-Curve Analysis (1C.fullBW)</a:t>
            </a:r>
            <a:endParaRPr lang="en-US" sz="2800" dirty="0"/>
          </a:p>
        </p:txBody>
      </p:sp>
      <p:sp>
        <p:nvSpPr>
          <p:cNvPr id="4" name="Text 2"/>
          <p:cNvSpPr/>
          <p:nvPr/>
        </p:nvSpPr>
        <p:spPr>
          <a:xfrm>
            <a:off x="634901" y="888950"/>
            <a:ext cx="3983355" cy="209550"/>
          </a:xfrm>
          <a:prstGeom prst="rect">
            <a:avLst/>
          </a:prstGeom>
          <a:noFill/>
          <a:ln/>
        </p:spPr>
        <p:txBody>
          <a:bodyPr wrap="square" lIns="0" tIns="0" rIns="0" bIns="0" rtlCol="0" anchor="t"/>
          <a:lstStyle/>
          <a:p>
            <a:pPr marL="0" indent="0" algn="l">
              <a:spcAft>
                <a:spcPts val="1200"/>
              </a:spcAft>
              <a:buNone/>
            </a:pPr>
            <a:r>
              <a:rPr lang="en-US" sz="1400" b="1" dirty="0">
                <a:solidFill>
                  <a:srgbClr val="2A9D8F"/>
                </a:solidFill>
                <a:latin typeface="Arial" pitchFamily="34" charset="0"/>
                <a:ea typeface="Arial" pitchFamily="34" charset="-122"/>
                <a:cs typeface="Arial" pitchFamily="34" charset="-120"/>
              </a:rPr>
              <a:t>Distribution of Speedup</a:t>
            </a:r>
            <a:endParaRPr lang="en-US" sz="1400" dirty="0"/>
          </a:p>
        </p:txBody>
      </p:sp>
      <p:sp>
        <p:nvSpPr>
          <p:cNvPr id="5" name="Text 3"/>
          <p:cNvSpPr/>
          <p:nvPr/>
        </p:nvSpPr>
        <p:spPr>
          <a:xfrm>
            <a:off x="634901" y="1250900"/>
            <a:ext cx="3905250" cy="948333"/>
          </a:xfrm>
          <a:prstGeom prst="roundRect">
            <a:avLst>
              <a:gd name="adj" fmla="val 8035"/>
            </a:avLst>
          </a:prstGeom>
          <a:solidFill>
            <a:srgbClr val="E8F8F5"/>
          </a:solidFill>
          <a:ln/>
        </p:spPr>
        <p:txBody>
          <a:bodyPr wrap="square" rtlCol="0" anchor="ctr"/>
          <a:lstStyle/>
          <a:p>
            <a:pPr marL="0" indent="0">
              <a:buNone/>
            </a:pPr>
            <a:endParaRPr lang="en-US" dirty="0"/>
          </a:p>
        </p:txBody>
      </p:sp>
      <p:sp>
        <p:nvSpPr>
          <p:cNvPr id="6" name="Shape 4"/>
          <p:cNvSpPr/>
          <p:nvPr/>
        </p:nvSpPr>
        <p:spPr>
          <a:xfrm>
            <a:off x="658713" y="1250900"/>
            <a:ext cx="0" cy="948333"/>
          </a:xfrm>
          <a:prstGeom prst="line">
            <a:avLst/>
          </a:prstGeom>
          <a:noFill/>
          <a:ln w="47625">
            <a:solidFill>
              <a:srgbClr val="2A9D8F"/>
            </a:solidFill>
            <a:prstDash val="solid"/>
          </a:ln>
        </p:spPr>
      </p:sp>
      <p:sp>
        <p:nvSpPr>
          <p:cNvPr id="7" name="Text 5"/>
          <p:cNvSpPr/>
          <p:nvPr/>
        </p:nvSpPr>
        <p:spPr>
          <a:xfrm>
            <a:off x="758726" y="1327100"/>
            <a:ext cx="3779329" cy="171450"/>
          </a:xfrm>
          <a:prstGeom prst="rect">
            <a:avLst/>
          </a:prstGeom>
          <a:noFill/>
          <a:ln/>
        </p:spPr>
        <p:txBody>
          <a:bodyPr wrap="square" lIns="0" tIns="0" rIns="0" bIns="0" rtlCol="0" anchor="t"/>
          <a:lstStyle/>
          <a:p>
            <a:pPr marL="0" indent="0" algn="l">
              <a:spcAft>
                <a:spcPts val="800"/>
              </a:spcAft>
              <a:buNone/>
            </a:pPr>
            <a:r>
              <a:rPr lang="en-US" sz="1200" b="1" dirty="0">
                <a:solidFill>
                  <a:srgbClr val="5B4B9E"/>
                </a:solidFill>
                <a:latin typeface="Arial" pitchFamily="34" charset="0"/>
                <a:ea typeface="Arial" pitchFamily="34" charset="-122"/>
                <a:cs typeface="Arial" pitchFamily="34" charset="-120"/>
              </a:rPr>
              <a:t>Best Case</a:t>
            </a:r>
            <a:endParaRPr lang="en-US" sz="1200" dirty="0"/>
          </a:p>
        </p:txBody>
      </p:sp>
      <p:sp>
        <p:nvSpPr>
          <p:cNvPr id="8" name="Text 6"/>
          <p:cNvSpPr/>
          <p:nvPr/>
        </p:nvSpPr>
        <p:spPr>
          <a:xfrm>
            <a:off x="758726" y="1600051"/>
            <a:ext cx="3705225" cy="459581"/>
          </a:xfrm>
          <a:prstGeom prst="rect">
            <a:avLst/>
          </a:prstGeom>
          <a:noFill/>
          <a:ln/>
        </p:spPr>
        <p:txBody>
          <a:bodyPr wrap="square" lIns="101600" tIns="0" rIns="0" bIns="0" rtlCol="0" anchor="t"/>
          <a:lstStyle/>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&gt;1.4x speedup</a:t>
            </a:r>
            <a:endParaRPr lang="en-US" sz="1200" dirty="0"/>
          </a:p>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Predictable workloads benefit greatly</a:t>
            </a:r>
            <a:endParaRPr lang="en-US" sz="1200" dirty="0"/>
          </a:p>
        </p:txBody>
      </p:sp>
      <p:sp>
        <p:nvSpPr>
          <p:cNvPr id="9" name="Text 7"/>
          <p:cNvSpPr/>
          <p:nvPr/>
        </p:nvSpPr>
        <p:spPr>
          <a:xfrm>
            <a:off x="634901" y="2262634"/>
            <a:ext cx="3905250" cy="948333"/>
          </a:xfrm>
          <a:prstGeom prst="roundRect">
            <a:avLst>
              <a:gd name="adj" fmla="val 8035"/>
            </a:avLst>
          </a:prstGeom>
          <a:solidFill>
            <a:srgbClr val="E8F8F5"/>
          </a:solidFill>
          <a:ln/>
        </p:spPr>
        <p:txBody>
          <a:bodyPr wrap="square" rtlCol="0" anchor="ctr"/>
          <a:lstStyle/>
          <a:p>
            <a:pPr marL="0" indent="0">
              <a:buNone/>
            </a:pPr>
            <a:endParaRPr lang="en-US" dirty="0"/>
          </a:p>
        </p:txBody>
      </p:sp>
      <p:sp>
        <p:nvSpPr>
          <p:cNvPr id="10" name="Shape 8"/>
          <p:cNvSpPr/>
          <p:nvPr/>
        </p:nvSpPr>
        <p:spPr>
          <a:xfrm>
            <a:off x="658713" y="2262634"/>
            <a:ext cx="0" cy="948333"/>
          </a:xfrm>
          <a:prstGeom prst="line">
            <a:avLst/>
          </a:prstGeom>
          <a:noFill/>
          <a:ln w="47625">
            <a:solidFill>
              <a:srgbClr val="2A9D8F"/>
            </a:solidFill>
            <a:prstDash val="solid"/>
          </a:ln>
        </p:spPr>
      </p:sp>
      <p:sp>
        <p:nvSpPr>
          <p:cNvPr id="11" name="Text 9"/>
          <p:cNvSpPr/>
          <p:nvPr/>
        </p:nvSpPr>
        <p:spPr>
          <a:xfrm>
            <a:off x="758726" y="2338834"/>
            <a:ext cx="3779329" cy="171450"/>
          </a:xfrm>
          <a:prstGeom prst="rect">
            <a:avLst/>
          </a:prstGeom>
          <a:noFill/>
          <a:ln/>
        </p:spPr>
        <p:txBody>
          <a:bodyPr wrap="square" lIns="0" tIns="0" rIns="0" bIns="0" rtlCol="0" anchor="t"/>
          <a:lstStyle/>
          <a:p>
            <a:pPr marL="0" indent="0" algn="l">
              <a:spcAft>
                <a:spcPts val="800"/>
              </a:spcAft>
              <a:buNone/>
            </a:pPr>
            <a:r>
              <a:rPr lang="en-US" sz="1200" b="1" dirty="0">
                <a:solidFill>
                  <a:srgbClr val="5B4B9E"/>
                </a:solidFill>
                <a:latin typeface="Arial" pitchFamily="34" charset="0"/>
                <a:ea typeface="Arial" pitchFamily="34" charset="-122"/>
                <a:cs typeface="Arial" pitchFamily="34" charset="-120"/>
              </a:rPr>
              <a:t>Median Case</a:t>
            </a:r>
            <a:endParaRPr lang="en-US" sz="1200" dirty="0"/>
          </a:p>
        </p:txBody>
      </p:sp>
      <p:sp>
        <p:nvSpPr>
          <p:cNvPr id="12" name="Text 10"/>
          <p:cNvSpPr/>
          <p:nvPr/>
        </p:nvSpPr>
        <p:spPr>
          <a:xfrm>
            <a:off x="758726" y="2611785"/>
            <a:ext cx="3705225" cy="459581"/>
          </a:xfrm>
          <a:prstGeom prst="rect">
            <a:avLst/>
          </a:prstGeom>
          <a:noFill/>
          <a:ln/>
        </p:spPr>
        <p:txBody>
          <a:bodyPr wrap="square" lIns="101600" tIns="0" rIns="0" bIns="0" rtlCol="0" anchor="t"/>
          <a:lstStyle/>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~1.1x speedup</a:t>
            </a:r>
            <a:endParaRPr lang="en-US" sz="1200" dirty="0"/>
          </a:p>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Majority of workloads benefit</a:t>
            </a:r>
            <a:endParaRPr lang="en-US" sz="1200" dirty="0"/>
          </a:p>
        </p:txBody>
      </p:sp>
      <p:sp>
        <p:nvSpPr>
          <p:cNvPr id="13" name="Text 11"/>
          <p:cNvSpPr/>
          <p:nvPr/>
        </p:nvSpPr>
        <p:spPr>
          <a:xfrm>
            <a:off x="634901" y="3274368"/>
            <a:ext cx="3905250" cy="1209824"/>
          </a:xfrm>
          <a:prstGeom prst="roundRect">
            <a:avLst>
              <a:gd name="adj" fmla="val 6298"/>
            </a:avLst>
          </a:prstGeom>
          <a:solidFill>
            <a:srgbClr val="E8F8F5"/>
          </a:solidFill>
          <a:ln/>
        </p:spPr>
        <p:txBody>
          <a:bodyPr wrap="square" rtlCol="0" anchor="ctr"/>
          <a:lstStyle/>
          <a:p>
            <a:pPr marL="0" indent="0">
              <a:buNone/>
            </a:pPr>
            <a:endParaRPr lang="en-US" dirty="0"/>
          </a:p>
        </p:txBody>
      </p:sp>
      <p:sp>
        <p:nvSpPr>
          <p:cNvPr id="14" name="Shape 12"/>
          <p:cNvSpPr/>
          <p:nvPr/>
        </p:nvSpPr>
        <p:spPr>
          <a:xfrm>
            <a:off x="658713" y="3274368"/>
            <a:ext cx="0" cy="1209824"/>
          </a:xfrm>
          <a:prstGeom prst="line">
            <a:avLst/>
          </a:prstGeom>
          <a:noFill/>
          <a:ln w="47625">
            <a:solidFill>
              <a:srgbClr val="2A9D8F"/>
            </a:solidFill>
            <a:prstDash val="solid"/>
          </a:ln>
        </p:spPr>
      </p:sp>
      <p:sp>
        <p:nvSpPr>
          <p:cNvPr id="15" name="Text 13"/>
          <p:cNvSpPr/>
          <p:nvPr/>
        </p:nvSpPr>
        <p:spPr>
          <a:xfrm>
            <a:off x="758726" y="3350568"/>
            <a:ext cx="3779329" cy="171450"/>
          </a:xfrm>
          <a:prstGeom prst="rect">
            <a:avLst/>
          </a:prstGeom>
          <a:noFill/>
          <a:ln/>
        </p:spPr>
        <p:txBody>
          <a:bodyPr wrap="square" lIns="0" tIns="0" rIns="0" bIns="0" rtlCol="0" anchor="t"/>
          <a:lstStyle/>
          <a:p>
            <a:pPr marL="0" indent="0" algn="l">
              <a:spcAft>
                <a:spcPts val="800"/>
              </a:spcAft>
              <a:buNone/>
            </a:pPr>
            <a:r>
              <a:rPr lang="en-US" sz="1200" b="1" dirty="0">
                <a:solidFill>
                  <a:srgbClr val="5B4B9E"/>
                </a:solidFill>
                <a:latin typeface="Arial" pitchFamily="34" charset="0"/>
                <a:ea typeface="Arial" pitchFamily="34" charset="-122"/>
                <a:cs typeface="Arial" pitchFamily="34" charset="-120"/>
              </a:rPr>
              <a:t>Worst Case</a:t>
            </a:r>
            <a:endParaRPr lang="en-US" sz="1200" dirty="0"/>
          </a:p>
        </p:txBody>
      </p:sp>
      <p:sp>
        <p:nvSpPr>
          <p:cNvPr id="16" name="Text 14"/>
          <p:cNvSpPr/>
          <p:nvPr/>
        </p:nvSpPr>
        <p:spPr>
          <a:xfrm>
            <a:off x="758726" y="3623518"/>
            <a:ext cx="3705225" cy="721072"/>
          </a:xfrm>
          <a:prstGeom prst="rect">
            <a:avLst/>
          </a:prstGeom>
          <a:noFill/>
          <a:ln/>
        </p:spPr>
        <p:txBody>
          <a:bodyPr wrap="square" lIns="101600" tIns="0" rIns="0" bIns="0" rtlCol="0" anchor="t"/>
          <a:lstStyle/>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&lt;10% slowdown</a:t>
            </a:r>
            <a:endParaRPr lang="en-US" sz="1200" dirty="0"/>
          </a:p>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Very few workloads see regression</a:t>
            </a:r>
            <a:endParaRPr lang="en-US" sz="1200" dirty="0"/>
          </a:p>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Robust design avoids significant degradation</a:t>
            </a:r>
            <a:endParaRPr lang="en-US" sz="1200" dirty="0"/>
          </a:p>
        </p:txBody>
      </p:sp>
      <p:sp>
        <p:nvSpPr>
          <p:cNvPr id="17" name="Text 15"/>
          <p:cNvSpPr/>
          <p:nvPr/>
        </p:nvSpPr>
        <p:spPr>
          <a:xfrm>
            <a:off x="4730651" y="888950"/>
            <a:ext cx="3983507" cy="209550"/>
          </a:xfrm>
          <a:prstGeom prst="rect">
            <a:avLst/>
          </a:prstGeom>
          <a:noFill/>
          <a:ln/>
        </p:spPr>
        <p:txBody>
          <a:bodyPr wrap="square" lIns="0" tIns="0" rIns="0" bIns="0" rtlCol="0" anchor="t"/>
          <a:lstStyle/>
          <a:p>
            <a:pPr marL="0" indent="0" algn="l">
              <a:spcAft>
                <a:spcPts val="1200"/>
              </a:spcAft>
              <a:buNone/>
            </a:pPr>
            <a:r>
              <a:rPr lang="en-US" sz="1400" b="1" dirty="0">
                <a:solidFill>
                  <a:srgbClr val="2A9D8F"/>
                </a:solidFill>
                <a:latin typeface="Arial" pitchFamily="34" charset="0"/>
                <a:ea typeface="Arial" pitchFamily="34" charset="-122"/>
                <a:cs typeface="Arial" pitchFamily="34" charset="-120"/>
              </a:rPr>
              <a:t>Visualize S-Curve</a:t>
            </a:r>
            <a:endParaRPr lang="en-US" sz="1400" dirty="0"/>
          </a:p>
        </p:txBody>
      </p:sp>
      <p:sp>
        <p:nvSpPr>
          <p:cNvPr id="18" name="Text 16"/>
          <p:cNvSpPr/>
          <p:nvPr/>
        </p:nvSpPr>
        <p:spPr>
          <a:xfrm>
            <a:off x="4730651" y="1250900"/>
            <a:ext cx="3905399" cy="1355675"/>
          </a:xfrm>
          <a:prstGeom prst="roundRect">
            <a:avLst>
              <a:gd name="adj" fmla="val 5621"/>
            </a:avLst>
          </a:prstGeom>
          <a:solidFill>
            <a:srgbClr val="FFFFFF"/>
          </a:solidFill>
          <a:ln/>
        </p:spPr>
        <p:txBody>
          <a:bodyPr wrap="square" rtlCol="0" anchor="ctr"/>
          <a:lstStyle/>
          <a:p>
            <a:pPr marL="0" indent="0">
              <a:buNone/>
            </a:pPr>
            <a:endParaRPr lang="en-US" dirty="0"/>
          </a:p>
        </p:txBody>
      </p:sp>
      <p:pic>
        <p:nvPicPr>
          <p:cNvPr id="19" name="Image 0" descr="/Volumes/Data/jiegec/dpc4-paper/pptx/workspace/figures/s-curve.png"/>
          <p:cNvPicPr>
            <a:picLocks noChangeAspect="1"/>
          </p:cNvPicPr>
          <p:nvPr/>
        </p:nvPicPr>
        <p:blipFill>
          <a:blip r:embed="rId3"/>
          <a:stretch>
            <a:fillRect/>
          </a:stretch>
        </p:blipFill>
        <p:spPr>
          <a:xfrm>
            <a:off x="4806851" y="1327100"/>
            <a:ext cx="3752850" cy="1203275"/>
          </a:xfrm>
          <a:prstGeom prst="rect">
            <a:avLst/>
          </a:prstGeom>
        </p:spPr>
      </p:pic>
      <p:sp>
        <p:nvSpPr>
          <p:cNvPr id="20" name="Text 17"/>
          <p:cNvSpPr/>
          <p:nvPr/>
        </p:nvSpPr>
        <p:spPr>
          <a:xfrm>
            <a:off x="4730651" y="2758976"/>
            <a:ext cx="3905399" cy="495300"/>
          </a:xfrm>
          <a:prstGeom prst="roundRect">
            <a:avLst>
              <a:gd name="adj" fmla="val 15385"/>
            </a:avLst>
          </a:prstGeom>
          <a:solidFill>
            <a:srgbClr val="2A9D8F"/>
          </a:solidFill>
          <a:ln/>
        </p:spPr>
        <p:txBody>
          <a:bodyPr wrap="square" rtlCol="0" anchor="ctr"/>
          <a:lstStyle/>
          <a:p>
            <a:pPr marL="0" indent="0">
              <a:buNone/>
            </a:pPr>
            <a:endParaRPr lang="en-US" dirty="0"/>
          </a:p>
        </p:txBody>
      </p:sp>
      <p:sp>
        <p:nvSpPr>
          <p:cNvPr id="21" name="Text 18"/>
          <p:cNvSpPr/>
          <p:nvPr/>
        </p:nvSpPr>
        <p:spPr>
          <a:xfrm>
            <a:off x="4806851" y="2835176"/>
            <a:ext cx="3828059" cy="342900"/>
          </a:xfrm>
          <a:prstGeom prst="rect">
            <a:avLst/>
          </a:prstGeom>
          <a:noFill/>
          <a:ln/>
        </p:spPr>
        <p:txBody>
          <a:bodyPr wrap="square" lIns="0" tIns="0" rIns="0" bIns="0" rtlCol="0" anchor="t"/>
          <a:lstStyle/>
          <a:p>
            <a:pPr marL="0" indent="0" algn="l">
              <a:buNone/>
            </a:pPr>
            <a:r>
              <a:rPr lang="en-US" sz="1200" b="1" dirty="0">
                <a:solidFill>
                  <a:srgbClr val="FFFFFF"/>
                </a:solidFill>
                <a:latin typeface="Arial" pitchFamily="34" charset="0"/>
                <a:ea typeface="Arial" pitchFamily="34" charset="-122"/>
                <a:cs typeface="Arial" pitchFamily="34" charset="-120"/>
              </a:rPr>
              <a:t>Interpretation: Majority of workloads see improvement, few significant regressions</a:t>
            </a:r>
            <a:endParaRPr lang="en-US" sz="1200" dirty="0"/>
          </a:p>
        </p:txBody>
      </p:sp>
      <p:sp>
        <p:nvSpPr>
          <p:cNvPr id="22" name="Text 19"/>
          <p:cNvSpPr/>
          <p:nvPr/>
        </p:nvSpPr>
        <p:spPr>
          <a:xfrm>
            <a:off x="4730651" y="3330476"/>
            <a:ext cx="3905399" cy="323850"/>
          </a:xfrm>
          <a:prstGeom prst="roundRect">
            <a:avLst>
              <a:gd name="adj" fmla="val 23529"/>
            </a:avLst>
          </a:prstGeom>
          <a:solidFill>
            <a:srgbClr val="E9ECEF"/>
          </a:solidFill>
          <a:ln/>
        </p:spPr>
        <p:txBody>
          <a:bodyPr wrap="square" rtlCol="0" anchor="ctr"/>
          <a:lstStyle/>
          <a:p>
            <a:pPr marL="0" indent="0">
              <a:buNone/>
            </a:pPr>
            <a:endParaRPr lang="en-US" dirty="0"/>
          </a:p>
        </p:txBody>
      </p:sp>
      <p:sp>
        <p:nvSpPr>
          <p:cNvPr id="23" name="Text 20"/>
          <p:cNvSpPr/>
          <p:nvPr/>
        </p:nvSpPr>
        <p:spPr>
          <a:xfrm>
            <a:off x="4806851" y="3406676"/>
            <a:ext cx="3828059" cy="171450"/>
          </a:xfrm>
          <a:prstGeom prst="rect">
            <a:avLst/>
          </a:prstGeom>
          <a:noFill/>
          <a:ln/>
        </p:spPr>
        <p:txBody>
          <a:bodyPr wrap="square" lIns="0" tIns="0" rIns="0" bIns="0" rtlCol="0" anchor="t"/>
          <a:lstStyle/>
          <a:p>
            <a:pPr marL="0" indent="0" algn="l">
              <a:buNone/>
            </a:pPr>
            <a:r>
              <a:rPr lang="en-US" sz="1200" b="1" dirty="0">
                <a:solidFill>
                  <a:srgbClr val="5B4B9E"/>
                </a:solidFill>
                <a:latin typeface="Arial" pitchFamily="34" charset="0"/>
                <a:ea typeface="Arial" pitchFamily="34" charset="-122"/>
                <a:cs typeface="Arial" pitchFamily="34" charset="-120"/>
              </a:rPr>
              <a:t>Robust across diverse applications</a:t>
            </a:r>
            <a:endParaRPr lang="en-US" sz="1200" dirty="0"/>
          </a:p>
        </p:txBody>
      </p:sp>
      <p:sp>
        <p:nvSpPr>
          <p:cNvPr id="24" name="文本框 23">
            <a:extLst>
              <a:ext uri="{FF2B5EF4-FFF2-40B4-BE49-F238E27FC236}">
                <a16:creationId xmlns:a16="http://schemas.microsoft.com/office/drawing/2014/main" id="{55B272CF-B529-2B4C-CC1F-26ECC382A386}"/>
              </a:ext>
            </a:extLst>
          </p:cNvPr>
          <p:cNvSpPr txBox="1"/>
          <p:nvPr/>
        </p:nvSpPr>
        <p:spPr>
          <a:xfrm>
            <a:off x="8395452" y="4621065"/>
            <a:ext cx="529984" cy="369332"/>
          </a:xfrm>
          <a:prstGeom prst="rect">
            <a:avLst/>
          </a:prstGeom>
          <a:noFill/>
        </p:spPr>
        <p:txBody>
          <a:bodyPr wrap="square" rtlCol="0">
            <a:spAutoFit/>
          </a:bodyPr>
          <a:lstStyle/>
          <a:p>
            <a:r>
              <a:rPr lang="en-US" altLang="zh-CN"/>
              <a:t>17</a:t>
            </a: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825401"/>
          </a:xfrm>
          <a:prstGeom prst="rect">
            <a:avLst/>
          </a:prstGeom>
          <a:solidFill>
            <a:srgbClr val="5B4B9E"/>
          </a:solidFill>
          <a:ln/>
        </p:spPr>
        <p:txBody>
          <a:bodyPr wrap="square" rtlCol="0" anchor="ctr"/>
          <a:lstStyle/>
          <a:p>
            <a:pPr marL="0" indent="0">
              <a:buNone/>
            </a:pPr>
            <a:endParaRPr lang="en-US" dirty="0"/>
          </a:p>
        </p:txBody>
      </p:sp>
      <p:sp>
        <p:nvSpPr>
          <p:cNvPr id="3" name="Text 1"/>
          <p:cNvSpPr/>
          <p:nvPr/>
        </p:nvSpPr>
        <p:spPr>
          <a:xfrm>
            <a:off x="634901" y="126950"/>
            <a:ext cx="8031682" cy="409575"/>
          </a:xfrm>
          <a:prstGeom prst="rect">
            <a:avLst/>
          </a:prstGeom>
          <a:noFill/>
          <a:ln/>
        </p:spPr>
        <p:txBody>
          <a:bodyPr wrap="square" lIns="0" tIns="0" rIns="0" bIns="0" rtlCol="0" anchor="t"/>
          <a:lstStyle/>
          <a:p>
            <a:pPr marL="0" indent="0" algn="l">
              <a:buNone/>
            </a:pPr>
            <a:r>
              <a:rPr lang="en-US" sz="2800" b="1" dirty="0">
                <a:solidFill>
                  <a:srgbClr val="FFFFFF"/>
                </a:solidFill>
                <a:latin typeface="Arial" pitchFamily="34" charset="0"/>
                <a:ea typeface="Arial" pitchFamily="34" charset="-122"/>
                <a:cs typeface="Arial" pitchFamily="34" charset="-120"/>
              </a:rPr>
              <a:t>Conclusion</a:t>
            </a:r>
            <a:endParaRPr lang="en-US" sz="2800" dirty="0"/>
          </a:p>
        </p:txBody>
      </p:sp>
      <p:sp>
        <p:nvSpPr>
          <p:cNvPr id="4" name="Text 2"/>
          <p:cNvSpPr/>
          <p:nvPr/>
        </p:nvSpPr>
        <p:spPr>
          <a:xfrm>
            <a:off x="507950" y="888950"/>
            <a:ext cx="8290661" cy="209550"/>
          </a:xfrm>
          <a:prstGeom prst="rect">
            <a:avLst/>
          </a:prstGeom>
          <a:noFill/>
          <a:ln/>
        </p:spPr>
        <p:txBody>
          <a:bodyPr wrap="square" lIns="0" tIns="0" rIns="0" bIns="0" rtlCol="0" anchor="t"/>
          <a:lstStyle/>
          <a:p>
            <a:pPr marL="0" indent="0" algn="l">
              <a:spcAft>
                <a:spcPts val="1200"/>
              </a:spcAft>
              <a:buNone/>
            </a:pPr>
            <a:r>
              <a:rPr lang="en-US" sz="1400" b="1" dirty="0">
                <a:solidFill>
                  <a:srgbClr val="2A9D8F"/>
                </a:solidFill>
                <a:latin typeface="Arial" pitchFamily="34" charset="0"/>
                <a:ea typeface="Arial" pitchFamily="34" charset="-122"/>
                <a:cs typeface="Arial" pitchFamily="34" charset="-120"/>
              </a:rPr>
              <a:t>Built upon VBerti+Pythia with Four Optimizations</a:t>
            </a:r>
            <a:endParaRPr lang="en-US" sz="1400" dirty="0"/>
          </a:p>
        </p:txBody>
      </p:sp>
      <p:sp>
        <p:nvSpPr>
          <p:cNvPr id="5" name="Text 3"/>
          <p:cNvSpPr/>
          <p:nvPr/>
        </p:nvSpPr>
        <p:spPr>
          <a:xfrm>
            <a:off x="507950" y="1250900"/>
            <a:ext cx="1936700" cy="1950988"/>
          </a:xfrm>
          <a:prstGeom prst="roundRect">
            <a:avLst>
              <a:gd name="adj" fmla="val 3935"/>
            </a:avLst>
          </a:prstGeom>
          <a:solidFill>
            <a:srgbClr val="E9ECEF"/>
          </a:solidFill>
          <a:ln/>
        </p:spPr>
        <p:txBody>
          <a:bodyPr wrap="square" rtlCol="0" anchor="ctr"/>
          <a:lstStyle/>
          <a:p>
            <a:pPr marL="0" indent="0">
              <a:buNone/>
            </a:pPr>
            <a:endParaRPr lang="en-US" dirty="0"/>
          </a:p>
        </p:txBody>
      </p:sp>
      <p:sp>
        <p:nvSpPr>
          <p:cNvPr id="6" name="Shape 4"/>
          <p:cNvSpPr/>
          <p:nvPr/>
        </p:nvSpPr>
        <p:spPr>
          <a:xfrm>
            <a:off x="507950" y="1274713"/>
            <a:ext cx="1936700" cy="0"/>
          </a:xfrm>
          <a:prstGeom prst="line">
            <a:avLst/>
          </a:prstGeom>
          <a:noFill/>
          <a:ln w="47625">
            <a:solidFill>
              <a:srgbClr val="2A9D8F"/>
            </a:solidFill>
            <a:prstDash val="solid"/>
          </a:ln>
        </p:spPr>
      </p:sp>
      <p:sp>
        <p:nvSpPr>
          <p:cNvPr id="7" name="Text 5"/>
          <p:cNvSpPr/>
          <p:nvPr/>
        </p:nvSpPr>
        <p:spPr>
          <a:xfrm>
            <a:off x="584150" y="1374725"/>
            <a:ext cx="317450" cy="317450"/>
          </a:xfrm>
          <a:prstGeom prst="roundRect">
            <a:avLst>
              <a:gd name="adj" fmla="val 288045"/>
            </a:avLst>
          </a:prstGeom>
          <a:solidFill>
            <a:srgbClr val="2A9D8F"/>
          </a:solidFill>
          <a:ln/>
        </p:spPr>
        <p:txBody>
          <a:bodyPr wrap="square" rtlCol="0" anchor="ctr"/>
          <a:lstStyle/>
          <a:p>
            <a:pPr marL="0" indent="0">
              <a:buNone/>
            </a:pPr>
            <a:endParaRPr lang="en-US" dirty="0"/>
          </a:p>
        </p:txBody>
      </p:sp>
      <p:sp>
        <p:nvSpPr>
          <p:cNvPr id="8" name="Text 6"/>
          <p:cNvSpPr/>
          <p:nvPr/>
        </p:nvSpPr>
        <p:spPr>
          <a:xfrm>
            <a:off x="700385" y="1447651"/>
            <a:ext cx="86529" cy="171450"/>
          </a:xfrm>
          <a:prstGeom prst="rect">
            <a:avLst/>
          </a:prstGeom>
          <a:noFill/>
          <a:ln/>
        </p:spPr>
        <p:txBody>
          <a:bodyPr wrap="square" lIns="0" tIns="0" rIns="0" bIns="0" rtlCol="0" anchor="t"/>
          <a:lstStyle/>
          <a:p>
            <a:pPr marL="0" indent="0" algn="l">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9" name="Text 7"/>
          <p:cNvSpPr/>
          <p:nvPr/>
        </p:nvSpPr>
        <p:spPr>
          <a:xfrm>
            <a:off x="584150" y="1907977"/>
            <a:ext cx="1819986" cy="171450"/>
          </a:xfrm>
          <a:prstGeom prst="rect">
            <a:avLst/>
          </a:prstGeom>
          <a:noFill/>
          <a:ln/>
        </p:spPr>
        <p:txBody>
          <a:bodyPr wrap="square" lIns="0" tIns="0" rIns="0" bIns="0" rtlCol="0" anchor="t"/>
          <a:lstStyle/>
          <a:p>
            <a:pPr marL="0" indent="0" algn="l">
              <a:spcBef>
                <a:spcPts val="1200"/>
              </a:spcBef>
              <a:spcAft>
                <a:spcPts val="1200"/>
              </a:spcAft>
              <a:buNone/>
            </a:pPr>
            <a:r>
              <a:rPr lang="en-US" sz="1200" b="1" dirty="0">
                <a:solidFill>
                  <a:srgbClr val="5B4B9E"/>
                </a:solidFill>
                <a:latin typeface="Arial" pitchFamily="34" charset="0"/>
                <a:ea typeface="Arial" pitchFamily="34" charset="-122"/>
                <a:cs typeface="Arial" pitchFamily="34" charset="-120"/>
              </a:rPr>
              <a:t>Pending Target Buffer</a:t>
            </a:r>
            <a:endParaRPr lang="en-US" sz="1200" dirty="0"/>
          </a:p>
        </p:txBody>
      </p:sp>
      <p:sp>
        <p:nvSpPr>
          <p:cNvPr id="10" name="Text 8"/>
          <p:cNvSpPr/>
          <p:nvPr/>
        </p:nvSpPr>
        <p:spPr>
          <a:xfrm>
            <a:off x="584150" y="2231827"/>
            <a:ext cx="1784300" cy="446931"/>
          </a:xfrm>
          <a:prstGeom prst="rect">
            <a:avLst/>
          </a:prstGeom>
          <a:noFill/>
          <a:ln/>
        </p:spPr>
        <p:txBody>
          <a:bodyPr wrap="square" lIns="88900" tIns="0" rIns="0" bIns="0" rtlCol="0" anchor="t"/>
          <a:lstStyle/>
          <a:p>
            <a:pPr marL="88900" indent="-88900" algn="l">
              <a:lnSpc>
                <a:spcPts val="1560"/>
              </a:lnSpc>
              <a:spcAft>
                <a:spcPts val="400"/>
              </a:spcAft>
              <a:buSzPct val="100000"/>
              <a:buChar char="•"/>
            </a:pPr>
            <a:r>
              <a:rPr lang="en-US" sz="1200" dirty="0">
                <a:solidFill>
                  <a:srgbClr val="264653"/>
                </a:solidFill>
                <a:latin typeface="Arial" pitchFamily="34" charset="0"/>
                <a:ea typeface="Arial" pitchFamily="34" charset="-122"/>
                <a:cs typeface="Arial" pitchFamily="34" charset="-120"/>
              </a:rPr>
              <a:t>Global prioritization</a:t>
            </a:r>
            <a:endParaRPr lang="en-US" sz="1200" dirty="0"/>
          </a:p>
          <a:p>
            <a:pPr marL="88900" indent="-88900" algn="l">
              <a:lnSpc>
                <a:spcPts val="1560"/>
              </a:lnSpc>
              <a:spcAft>
                <a:spcPts val="400"/>
              </a:spcAft>
              <a:buSzPct val="100000"/>
              <a:buChar char="•"/>
            </a:pPr>
            <a:r>
              <a:rPr lang="en-US" sz="1200" dirty="0">
                <a:solidFill>
                  <a:srgbClr val="264653"/>
                </a:solidFill>
                <a:latin typeface="Arial" pitchFamily="34" charset="0"/>
                <a:ea typeface="Arial" pitchFamily="34" charset="-122"/>
                <a:cs typeface="Arial" pitchFamily="34" charset="-120"/>
              </a:rPr>
              <a:t>~861 bytes</a:t>
            </a:r>
            <a:endParaRPr lang="en-US" sz="1200" dirty="0"/>
          </a:p>
        </p:txBody>
      </p:sp>
      <p:sp>
        <p:nvSpPr>
          <p:cNvPr id="11" name="Text 9"/>
          <p:cNvSpPr/>
          <p:nvPr/>
        </p:nvSpPr>
        <p:spPr>
          <a:xfrm>
            <a:off x="2571601" y="1250900"/>
            <a:ext cx="1936849" cy="1950988"/>
          </a:xfrm>
          <a:prstGeom prst="roundRect">
            <a:avLst>
              <a:gd name="adj" fmla="val 3934"/>
            </a:avLst>
          </a:prstGeom>
          <a:solidFill>
            <a:srgbClr val="E9ECEF"/>
          </a:solidFill>
          <a:ln/>
        </p:spPr>
        <p:txBody>
          <a:bodyPr wrap="square" rtlCol="0" anchor="ctr"/>
          <a:lstStyle/>
          <a:p>
            <a:pPr marL="0" indent="0">
              <a:buNone/>
            </a:pPr>
            <a:endParaRPr lang="en-US" dirty="0"/>
          </a:p>
        </p:txBody>
      </p:sp>
      <p:sp>
        <p:nvSpPr>
          <p:cNvPr id="12" name="Shape 10"/>
          <p:cNvSpPr/>
          <p:nvPr/>
        </p:nvSpPr>
        <p:spPr>
          <a:xfrm>
            <a:off x="2571601" y="1274713"/>
            <a:ext cx="1936849" cy="0"/>
          </a:xfrm>
          <a:prstGeom prst="line">
            <a:avLst/>
          </a:prstGeom>
          <a:noFill/>
          <a:ln w="47625">
            <a:solidFill>
              <a:srgbClr val="2A9D8F"/>
            </a:solidFill>
            <a:prstDash val="solid"/>
          </a:ln>
        </p:spPr>
      </p:sp>
      <p:sp>
        <p:nvSpPr>
          <p:cNvPr id="13" name="Text 11"/>
          <p:cNvSpPr/>
          <p:nvPr/>
        </p:nvSpPr>
        <p:spPr>
          <a:xfrm>
            <a:off x="2647801" y="1374725"/>
            <a:ext cx="317450" cy="317450"/>
          </a:xfrm>
          <a:prstGeom prst="roundRect">
            <a:avLst>
              <a:gd name="adj" fmla="val 288045"/>
            </a:avLst>
          </a:prstGeom>
          <a:solidFill>
            <a:srgbClr val="2A9D8F"/>
          </a:solidFill>
          <a:ln/>
        </p:spPr>
        <p:txBody>
          <a:bodyPr wrap="square" rtlCol="0" anchor="ctr"/>
          <a:lstStyle/>
          <a:p>
            <a:pPr marL="0" indent="0">
              <a:buNone/>
            </a:pPr>
            <a:endParaRPr lang="en-US" dirty="0"/>
          </a:p>
        </p:txBody>
      </p:sp>
      <p:sp>
        <p:nvSpPr>
          <p:cNvPr id="14" name="Text 12"/>
          <p:cNvSpPr/>
          <p:nvPr/>
        </p:nvSpPr>
        <p:spPr>
          <a:xfrm>
            <a:off x="2764036" y="1447651"/>
            <a:ext cx="86529" cy="171450"/>
          </a:xfrm>
          <a:prstGeom prst="rect">
            <a:avLst/>
          </a:prstGeom>
          <a:noFill/>
          <a:ln/>
        </p:spPr>
        <p:txBody>
          <a:bodyPr wrap="square" lIns="0" tIns="0" rIns="0" bIns="0" rtlCol="0" anchor="t"/>
          <a:lstStyle/>
          <a:p>
            <a:pPr marL="0" indent="0" algn="l">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5" name="Text 13"/>
          <p:cNvSpPr/>
          <p:nvPr/>
        </p:nvSpPr>
        <p:spPr>
          <a:xfrm>
            <a:off x="2647801" y="1907977"/>
            <a:ext cx="1820138" cy="171450"/>
          </a:xfrm>
          <a:prstGeom prst="rect">
            <a:avLst/>
          </a:prstGeom>
          <a:noFill/>
          <a:ln/>
        </p:spPr>
        <p:txBody>
          <a:bodyPr wrap="square" lIns="0" tIns="0" rIns="0" bIns="0" rtlCol="0" anchor="t"/>
          <a:lstStyle/>
          <a:p>
            <a:pPr marL="0" indent="0" algn="l">
              <a:spcBef>
                <a:spcPts val="1200"/>
              </a:spcBef>
              <a:spcAft>
                <a:spcPts val="1200"/>
              </a:spcAft>
              <a:buNone/>
            </a:pPr>
            <a:r>
              <a:rPr lang="en-US" sz="1200" b="1" dirty="0">
                <a:solidFill>
                  <a:srgbClr val="5B4B9E"/>
                </a:solidFill>
                <a:latin typeface="Arial" pitchFamily="34" charset="0"/>
                <a:ea typeface="Arial" pitchFamily="34" charset="-122"/>
                <a:cs typeface="Arial" pitchFamily="34" charset="-120"/>
              </a:rPr>
              <a:t>Cuckoo Filter</a:t>
            </a:r>
            <a:endParaRPr lang="en-US" sz="1200" dirty="0"/>
          </a:p>
        </p:txBody>
      </p:sp>
      <p:sp>
        <p:nvSpPr>
          <p:cNvPr id="16" name="Text 14"/>
          <p:cNvSpPr/>
          <p:nvPr/>
        </p:nvSpPr>
        <p:spPr>
          <a:xfrm>
            <a:off x="2647801" y="2231827"/>
            <a:ext cx="1784449" cy="843111"/>
          </a:xfrm>
          <a:prstGeom prst="rect">
            <a:avLst/>
          </a:prstGeom>
          <a:noFill/>
          <a:ln/>
        </p:spPr>
        <p:txBody>
          <a:bodyPr wrap="square" lIns="88900" tIns="0" rIns="0" bIns="0" rtlCol="0" anchor="t"/>
          <a:lstStyle/>
          <a:p>
            <a:pPr marL="88900" indent="-88900" algn="l">
              <a:lnSpc>
                <a:spcPts val="1560"/>
              </a:lnSpc>
              <a:spcAft>
                <a:spcPts val="400"/>
              </a:spcAft>
              <a:buSzPct val="100000"/>
              <a:buChar char="•"/>
            </a:pPr>
            <a:r>
              <a:rPr lang="en-US" sz="1200" dirty="0">
                <a:solidFill>
                  <a:srgbClr val="264653"/>
                </a:solidFill>
                <a:latin typeface="Arial" pitchFamily="34" charset="0"/>
                <a:ea typeface="Arial" pitchFamily="34" charset="-122"/>
                <a:cs typeface="Arial" pitchFamily="34" charset="-120"/>
              </a:rPr>
              <a:t>Eliminates redundant prefetches</a:t>
            </a:r>
            <a:endParaRPr lang="en-US" sz="1200" dirty="0"/>
          </a:p>
          <a:p>
            <a:pPr marL="88900" indent="-88900" algn="l">
              <a:lnSpc>
                <a:spcPts val="1560"/>
              </a:lnSpc>
              <a:spcAft>
                <a:spcPts val="400"/>
              </a:spcAft>
              <a:buSzPct val="100000"/>
              <a:buChar char="•"/>
            </a:pPr>
            <a:r>
              <a:rPr lang="en-US" sz="1200" dirty="0">
                <a:solidFill>
                  <a:srgbClr val="264653"/>
                </a:solidFill>
                <a:latin typeface="Arial" pitchFamily="34" charset="0"/>
                <a:ea typeface="Arial" pitchFamily="34" charset="-122"/>
                <a:cs typeface="Arial" pitchFamily="34" charset="-120"/>
              </a:rPr>
              <a:t>6.5 KB, most impactful for single-core</a:t>
            </a:r>
            <a:endParaRPr lang="en-US" sz="1200" dirty="0"/>
          </a:p>
        </p:txBody>
      </p:sp>
      <p:sp>
        <p:nvSpPr>
          <p:cNvPr id="17" name="Text 15"/>
          <p:cNvSpPr/>
          <p:nvPr/>
        </p:nvSpPr>
        <p:spPr>
          <a:xfrm>
            <a:off x="4635401" y="1250900"/>
            <a:ext cx="1936849" cy="1950988"/>
          </a:xfrm>
          <a:prstGeom prst="roundRect">
            <a:avLst>
              <a:gd name="adj" fmla="val 3934"/>
            </a:avLst>
          </a:prstGeom>
          <a:solidFill>
            <a:srgbClr val="E9ECEF"/>
          </a:solidFill>
          <a:ln/>
        </p:spPr>
        <p:txBody>
          <a:bodyPr wrap="square" rtlCol="0" anchor="ctr"/>
          <a:lstStyle/>
          <a:p>
            <a:pPr marL="0" indent="0">
              <a:buNone/>
            </a:pPr>
            <a:endParaRPr lang="en-US" dirty="0"/>
          </a:p>
        </p:txBody>
      </p:sp>
      <p:sp>
        <p:nvSpPr>
          <p:cNvPr id="18" name="Shape 16"/>
          <p:cNvSpPr/>
          <p:nvPr/>
        </p:nvSpPr>
        <p:spPr>
          <a:xfrm>
            <a:off x="4635401" y="1274713"/>
            <a:ext cx="1936849" cy="0"/>
          </a:xfrm>
          <a:prstGeom prst="line">
            <a:avLst/>
          </a:prstGeom>
          <a:noFill/>
          <a:ln w="47625">
            <a:solidFill>
              <a:srgbClr val="2A9D8F"/>
            </a:solidFill>
            <a:prstDash val="solid"/>
          </a:ln>
        </p:spPr>
      </p:sp>
      <p:sp>
        <p:nvSpPr>
          <p:cNvPr id="19" name="Text 17"/>
          <p:cNvSpPr/>
          <p:nvPr/>
        </p:nvSpPr>
        <p:spPr>
          <a:xfrm>
            <a:off x="4711601" y="1374725"/>
            <a:ext cx="317450" cy="317450"/>
          </a:xfrm>
          <a:prstGeom prst="roundRect">
            <a:avLst>
              <a:gd name="adj" fmla="val 288045"/>
            </a:avLst>
          </a:prstGeom>
          <a:solidFill>
            <a:srgbClr val="2A9D8F"/>
          </a:solidFill>
          <a:ln/>
        </p:spPr>
        <p:txBody>
          <a:bodyPr wrap="square" rtlCol="0" anchor="ctr"/>
          <a:lstStyle/>
          <a:p>
            <a:pPr marL="0" indent="0">
              <a:buNone/>
            </a:pPr>
            <a:endParaRPr lang="en-US" dirty="0"/>
          </a:p>
        </p:txBody>
      </p:sp>
      <p:sp>
        <p:nvSpPr>
          <p:cNvPr id="20" name="Text 18"/>
          <p:cNvSpPr/>
          <p:nvPr/>
        </p:nvSpPr>
        <p:spPr>
          <a:xfrm>
            <a:off x="4827836" y="1447651"/>
            <a:ext cx="86529" cy="171450"/>
          </a:xfrm>
          <a:prstGeom prst="rect">
            <a:avLst/>
          </a:prstGeom>
          <a:noFill/>
          <a:ln/>
        </p:spPr>
        <p:txBody>
          <a:bodyPr wrap="square" lIns="0" tIns="0" rIns="0" bIns="0" rtlCol="0" anchor="t"/>
          <a:lstStyle/>
          <a:p>
            <a:pPr marL="0" indent="0" algn="l">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1" name="Text 19"/>
          <p:cNvSpPr/>
          <p:nvPr/>
        </p:nvSpPr>
        <p:spPr>
          <a:xfrm>
            <a:off x="4711601" y="1907977"/>
            <a:ext cx="1820138" cy="342900"/>
          </a:xfrm>
          <a:prstGeom prst="rect">
            <a:avLst/>
          </a:prstGeom>
          <a:noFill/>
          <a:ln/>
        </p:spPr>
        <p:txBody>
          <a:bodyPr wrap="square" lIns="0" tIns="0" rIns="0" bIns="0" rtlCol="0" anchor="t"/>
          <a:lstStyle/>
          <a:p>
            <a:pPr marL="0" indent="0" algn="l">
              <a:spcBef>
                <a:spcPts val="1200"/>
              </a:spcBef>
              <a:spcAft>
                <a:spcPts val="1200"/>
              </a:spcAft>
              <a:buNone/>
            </a:pPr>
            <a:r>
              <a:rPr lang="en-US" sz="1200" b="1" dirty="0">
                <a:solidFill>
                  <a:srgbClr val="5B4B9E"/>
                </a:solidFill>
                <a:latin typeface="Arial" pitchFamily="34" charset="0"/>
                <a:ea typeface="Arial" pitchFamily="34" charset="-122"/>
                <a:cs typeface="Arial" pitchFamily="34" charset="-120"/>
              </a:rPr>
              <a:t>Dynamic Confidence Threshold</a:t>
            </a:r>
            <a:endParaRPr lang="en-US" sz="1200" dirty="0"/>
          </a:p>
        </p:txBody>
      </p:sp>
      <p:sp>
        <p:nvSpPr>
          <p:cNvPr id="22" name="Text 20"/>
          <p:cNvSpPr/>
          <p:nvPr/>
        </p:nvSpPr>
        <p:spPr>
          <a:xfrm>
            <a:off x="4711601" y="2403277"/>
            <a:ext cx="1784449" cy="446931"/>
          </a:xfrm>
          <a:prstGeom prst="rect">
            <a:avLst/>
          </a:prstGeom>
          <a:noFill/>
          <a:ln/>
        </p:spPr>
        <p:txBody>
          <a:bodyPr wrap="square" lIns="88900" tIns="0" rIns="0" bIns="0" rtlCol="0" anchor="t"/>
          <a:lstStyle/>
          <a:p>
            <a:pPr marL="88900" indent="-88900" algn="l">
              <a:lnSpc>
                <a:spcPts val="1560"/>
              </a:lnSpc>
              <a:spcAft>
                <a:spcPts val="400"/>
              </a:spcAft>
              <a:buSzPct val="100000"/>
              <a:buChar char="•"/>
            </a:pPr>
            <a:r>
              <a:rPr lang="en-US" sz="1200" dirty="0">
                <a:solidFill>
                  <a:srgbClr val="264653"/>
                </a:solidFill>
                <a:latin typeface="Arial" pitchFamily="34" charset="0"/>
                <a:ea typeface="Arial" pitchFamily="34" charset="-122"/>
                <a:cs typeface="Arial" pitchFamily="34" charset="-120"/>
              </a:rPr>
              <a:t>Per-PC throttling</a:t>
            </a:r>
            <a:endParaRPr lang="en-US" sz="1200" dirty="0"/>
          </a:p>
          <a:p>
            <a:pPr marL="88900" indent="-88900" algn="l">
              <a:lnSpc>
                <a:spcPts val="1560"/>
              </a:lnSpc>
              <a:spcAft>
                <a:spcPts val="400"/>
              </a:spcAft>
              <a:buSzPct val="100000"/>
              <a:buChar char="•"/>
            </a:pPr>
            <a:r>
              <a:rPr lang="en-US" sz="1200" dirty="0">
                <a:solidFill>
                  <a:srgbClr val="264653"/>
                </a:solidFill>
                <a:latin typeface="Arial" pitchFamily="34" charset="0"/>
                <a:ea typeface="Arial" pitchFamily="34" charset="-122"/>
                <a:cs typeface="Arial" pitchFamily="34" charset="-120"/>
              </a:rPr>
              <a:t>Self-adaptive</a:t>
            </a:r>
            <a:endParaRPr lang="en-US" sz="1200" dirty="0"/>
          </a:p>
        </p:txBody>
      </p:sp>
      <p:sp>
        <p:nvSpPr>
          <p:cNvPr id="23" name="Text 21"/>
          <p:cNvSpPr/>
          <p:nvPr/>
        </p:nvSpPr>
        <p:spPr>
          <a:xfrm>
            <a:off x="6699200" y="1250900"/>
            <a:ext cx="1936849" cy="1950988"/>
          </a:xfrm>
          <a:prstGeom prst="roundRect">
            <a:avLst>
              <a:gd name="adj" fmla="val 3934"/>
            </a:avLst>
          </a:prstGeom>
          <a:solidFill>
            <a:srgbClr val="E9ECEF"/>
          </a:solidFill>
          <a:ln/>
        </p:spPr>
        <p:txBody>
          <a:bodyPr wrap="square" rtlCol="0" anchor="ctr"/>
          <a:lstStyle/>
          <a:p>
            <a:pPr marL="0" indent="0">
              <a:buNone/>
            </a:pPr>
            <a:endParaRPr lang="en-US" dirty="0"/>
          </a:p>
        </p:txBody>
      </p:sp>
      <p:sp>
        <p:nvSpPr>
          <p:cNvPr id="24" name="Shape 22"/>
          <p:cNvSpPr/>
          <p:nvPr/>
        </p:nvSpPr>
        <p:spPr>
          <a:xfrm>
            <a:off x="6699200" y="1274713"/>
            <a:ext cx="1936849" cy="0"/>
          </a:xfrm>
          <a:prstGeom prst="line">
            <a:avLst/>
          </a:prstGeom>
          <a:noFill/>
          <a:ln w="47625">
            <a:solidFill>
              <a:srgbClr val="2A9D8F"/>
            </a:solidFill>
            <a:prstDash val="solid"/>
          </a:ln>
        </p:spPr>
      </p:sp>
      <p:sp>
        <p:nvSpPr>
          <p:cNvPr id="25" name="Text 23"/>
          <p:cNvSpPr/>
          <p:nvPr/>
        </p:nvSpPr>
        <p:spPr>
          <a:xfrm>
            <a:off x="6775400" y="1374725"/>
            <a:ext cx="317450" cy="317450"/>
          </a:xfrm>
          <a:prstGeom prst="roundRect">
            <a:avLst>
              <a:gd name="adj" fmla="val 288045"/>
            </a:avLst>
          </a:prstGeom>
          <a:solidFill>
            <a:srgbClr val="2A9D8F"/>
          </a:solidFill>
          <a:ln/>
        </p:spPr>
        <p:txBody>
          <a:bodyPr wrap="square" rtlCol="0" anchor="ctr"/>
          <a:lstStyle/>
          <a:p>
            <a:pPr marL="0" indent="0">
              <a:buNone/>
            </a:pPr>
            <a:endParaRPr lang="en-US" dirty="0"/>
          </a:p>
        </p:txBody>
      </p:sp>
      <p:sp>
        <p:nvSpPr>
          <p:cNvPr id="26" name="Text 24"/>
          <p:cNvSpPr/>
          <p:nvPr/>
        </p:nvSpPr>
        <p:spPr>
          <a:xfrm>
            <a:off x="6891635" y="1447651"/>
            <a:ext cx="86529" cy="171450"/>
          </a:xfrm>
          <a:prstGeom prst="rect">
            <a:avLst/>
          </a:prstGeom>
          <a:noFill/>
          <a:ln/>
        </p:spPr>
        <p:txBody>
          <a:bodyPr wrap="square" lIns="0" tIns="0" rIns="0" bIns="0" rtlCol="0" anchor="t"/>
          <a:lstStyle/>
          <a:p>
            <a:pPr marL="0" indent="0" algn="l">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7" name="Text 25"/>
          <p:cNvSpPr/>
          <p:nvPr/>
        </p:nvSpPr>
        <p:spPr>
          <a:xfrm>
            <a:off x="6775400" y="1907977"/>
            <a:ext cx="1820138" cy="342900"/>
          </a:xfrm>
          <a:prstGeom prst="rect">
            <a:avLst/>
          </a:prstGeom>
          <a:noFill/>
          <a:ln/>
        </p:spPr>
        <p:txBody>
          <a:bodyPr wrap="square" lIns="0" tIns="0" rIns="0" bIns="0" rtlCol="0" anchor="t"/>
          <a:lstStyle/>
          <a:p>
            <a:pPr marL="0" indent="0" algn="l">
              <a:spcBef>
                <a:spcPts val="1200"/>
              </a:spcBef>
              <a:spcAft>
                <a:spcPts val="1200"/>
              </a:spcAft>
              <a:buNone/>
            </a:pPr>
            <a:r>
              <a:rPr lang="en-US" sz="1200" b="1" dirty="0">
                <a:solidFill>
                  <a:srgbClr val="5B4B9E"/>
                </a:solidFill>
                <a:latin typeface="Arial" pitchFamily="34" charset="0"/>
                <a:ea typeface="Arial" pitchFamily="34" charset="-122"/>
                <a:cs typeface="Arial" pitchFamily="34" charset="-120"/>
              </a:rPr>
              <a:t>L3 Fairness-based Throttling</a:t>
            </a:r>
            <a:endParaRPr lang="en-US" sz="1200" dirty="0"/>
          </a:p>
        </p:txBody>
      </p:sp>
      <p:sp>
        <p:nvSpPr>
          <p:cNvPr id="28" name="Text 26"/>
          <p:cNvSpPr/>
          <p:nvPr/>
        </p:nvSpPr>
        <p:spPr>
          <a:xfrm>
            <a:off x="6775400" y="2403277"/>
            <a:ext cx="1784449" cy="446931"/>
          </a:xfrm>
          <a:prstGeom prst="rect">
            <a:avLst/>
          </a:prstGeom>
          <a:noFill/>
          <a:ln/>
        </p:spPr>
        <p:txBody>
          <a:bodyPr wrap="square" lIns="88900" tIns="0" rIns="0" bIns="0" rtlCol="0" anchor="t"/>
          <a:lstStyle/>
          <a:p>
            <a:pPr marL="88900" indent="-88900" algn="l">
              <a:lnSpc>
                <a:spcPts val="1560"/>
              </a:lnSpc>
              <a:spcAft>
                <a:spcPts val="400"/>
              </a:spcAft>
              <a:buSzPct val="100000"/>
              <a:buChar char="•"/>
            </a:pPr>
            <a:r>
              <a:rPr lang="en-US" sz="1200" dirty="0">
                <a:solidFill>
                  <a:srgbClr val="264653"/>
                </a:solidFill>
                <a:latin typeface="Arial" pitchFamily="34" charset="0"/>
                <a:ea typeface="Arial" pitchFamily="34" charset="-122"/>
                <a:cs typeface="Arial" pitchFamily="34" charset="-120"/>
              </a:rPr>
              <a:t>Multi-core coordination</a:t>
            </a:r>
            <a:endParaRPr lang="en-US" sz="1200" dirty="0"/>
          </a:p>
          <a:p>
            <a:pPr marL="88900" indent="-88900" algn="l">
              <a:lnSpc>
                <a:spcPts val="1560"/>
              </a:lnSpc>
              <a:spcAft>
                <a:spcPts val="400"/>
              </a:spcAft>
              <a:buSzPct val="100000"/>
              <a:buChar char="•"/>
            </a:pPr>
            <a:r>
              <a:rPr lang="en-US" sz="1200" dirty="0">
                <a:solidFill>
                  <a:srgbClr val="264653"/>
                </a:solidFill>
                <a:latin typeface="Arial" pitchFamily="34" charset="0"/>
                <a:ea typeface="Arial" pitchFamily="34" charset="-122"/>
                <a:cs typeface="Arial" pitchFamily="34" charset="-120"/>
              </a:rPr>
              <a:t>Critical for multi-core</a:t>
            </a:r>
            <a:endParaRPr lang="en-US" sz="1200" dirty="0"/>
          </a:p>
        </p:txBody>
      </p:sp>
      <p:sp>
        <p:nvSpPr>
          <p:cNvPr id="29" name="Text 27"/>
          <p:cNvSpPr/>
          <p:nvPr/>
        </p:nvSpPr>
        <p:spPr>
          <a:xfrm>
            <a:off x="507950" y="3392388"/>
            <a:ext cx="8128099" cy="1073051"/>
          </a:xfrm>
          <a:prstGeom prst="roundRect">
            <a:avLst>
              <a:gd name="adj" fmla="val 7101"/>
            </a:avLst>
          </a:prstGeom>
          <a:solidFill>
            <a:srgbClr val="E8F8F5"/>
          </a:solidFill>
          <a:ln/>
        </p:spPr>
        <p:txBody>
          <a:bodyPr wrap="square" rtlCol="0" anchor="ctr"/>
          <a:lstStyle/>
          <a:p>
            <a:pPr marL="0" indent="0">
              <a:buNone/>
            </a:pPr>
            <a:endParaRPr lang="en-US" dirty="0"/>
          </a:p>
        </p:txBody>
      </p:sp>
      <p:sp>
        <p:nvSpPr>
          <p:cNvPr id="30" name="Shape 28"/>
          <p:cNvSpPr/>
          <p:nvPr/>
        </p:nvSpPr>
        <p:spPr>
          <a:xfrm>
            <a:off x="536525" y="3392388"/>
            <a:ext cx="0" cy="1073051"/>
          </a:xfrm>
          <a:prstGeom prst="line">
            <a:avLst/>
          </a:prstGeom>
          <a:noFill/>
          <a:ln w="57150">
            <a:solidFill>
              <a:srgbClr val="2A9D8F"/>
            </a:solidFill>
            <a:prstDash val="solid"/>
          </a:ln>
        </p:spPr>
      </p:sp>
      <p:sp>
        <p:nvSpPr>
          <p:cNvPr id="31" name="Text 29"/>
          <p:cNvSpPr/>
          <p:nvPr/>
        </p:nvSpPr>
        <p:spPr>
          <a:xfrm>
            <a:off x="641300" y="3620988"/>
            <a:ext cx="8076920" cy="171450"/>
          </a:xfrm>
          <a:prstGeom prst="rect">
            <a:avLst/>
          </a:prstGeom>
          <a:noFill/>
          <a:ln/>
        </p:spPr>
        <p:txBody>
          <a:bodyPr wrap="square" lIns="0" tIns="0" rIns="0" bIns="0" rtlCol="0" anchor="t"/>
          <a:lstStyle/>
          <a:p>
            <a:pPr marL="0" indent="0" algn="l">
              <a:spcBef>
                <a:spcPts val="1200"/>
              </a:spcBef>
              <a:spcAft>
                <a:spcPts val="1200"/>
              </a:spcAft>
              <a:buNone/>
            </a:pPr>
            <a:r>
              <a:rPr lang="en-US" sz="1200" b="1" dirty="0">
                <a:solidFill>
                  <a:srgbClr val="5B4B9E"/>
                </a:solidFill>
                <a:latin typeface="Arial" pitchFamily="34" charset="0"/>
                <a:ea typeface="Arial" pitchFamily="34" charset="-122"/>
                <a:cs typeface="Arial" pitchFamily="34" charset="-120"/>
              </a:rPr>
              <a:t>Results: Overall Score Improvement +4.8%</a:t>
            </a:r>
            <a:endParaRPr lang="en-US" sz="1200" dirty="0"/>
          </a:p>
        </p:txBody>
      </p:sp>
      <p:sp>
        <p:nvSpPr>
          <p:cNvPr id="32" name="Text 30"/>
          <p:cNvSpPr/>
          <p:nvPr/>
        </p:nvSpPr>
        <p:spPr>
          <a:xfrm>
            <a:off x="641300" y="3944838"/>
            <a:ext cx="2605879" cy="171450"/>
          </a:xfrm>
          <a:prstGeom prst="rect">
            <a:avLst/>
          </a:prstGeom>
          <a:noFill/>
          <a:ln/>
        </p:spPr>
        <p:txBody>
          <a:bodyPr wrap="square" lIns="0" tIns="0" rIns="0" bIns="0" rtlCol="0" anchor="t"/>
          <a:lstStyle/>
          <a:p>
            <a:pPr marL="0" indent="0" algn="l">
              <a:spcAft>
                <a:spcPts val="400"/>
              </a:spcAft>
              <a:buNone/>
            </a:pPr>
            <a:r>
              <a:rPr lang="en-US" sz="1200" dirty="0">
                <a:solidFill>
                  <a:srgbClr val="264653"/>
                </a:solidFill>
                <a:latin typeface="Arial" pitchFamily="34" charset="0"/>
                <a:ea typeface="Arial" pitchFamily="34" charset="-122"/>
                <a:cs typeface="Arial" pitchFamily="34" charset="-120"/>
              </a:rPr>
              <a:t>Single-core Full BW</a:t>
            </a:r>
            <a:endParaRPr lang="en-US" sz="1200" dirty="0"/>
          </a:p>
        </p:txBody>
      </p:sp>
      <p:sp>
        <p:nvSpPr>
          <p:cNvPr id="33" name="Text 31"/>
          <p:cNvSpPr/>
          <p:nvPr/>
        </p:nvSpPr>
        <p:spPr>
          <a:xfrm>
            <a:off x="641300" y="4167039"/>
            <a:ext cx="2605879" cy="171450"/>
          </a:xfrm>
          <a:prstGeom prst="rect">
            <a:avLst/>
          </a:prstGeom>
          <a:noFill/>
          <a:ln/>
        </p:spPr>
        <p:txBody>
          <a:bodyPr wrap="square" lIns="0" tIns="0" rIns="0" bIns="0" rtlCol="0" anchor="t"/>
          <a:lstStyle/>
          <a:p>
            <a:pPr marL="0" indent="0" algn="l">
              <a:spcAft>
                <a:spcPts val="400"/>
              </a:spcAft>
              <a:buNone/>
            </a:pPr>
            <a:r>
              <a:rPr lang="en-US" sz="1200" b="1" dirty="0">
                <a:solidFill>
                  <a:srgbClr val="264653"/>
                </a:solidFill>
                <a:latin typeface="Arial" pitchFamily="34" charset="0"/>
                <a:ea typeface="Arial" pitchFamily="34" charset="-122"/>
                <a:cs typeface="Arial" pitchFamily="34" charset="-120"/>
              </a:rPr>
              <a:t>+6.6%</a:t>
            </a:r>
            <a:endParaRPr lang="en-US" sz="1200" dirty="0"/>
          </a:p>
        </p:txBody>
      </p:sp>
      <p:sp>
        <p:nvSpPr>
          <p:cNvPr id="34" name="Text 32"/>
          <p:cNvSpPr/>
          <p:nvPr/>
        </p:nvSpPr>
        <p:spPr>
          <a:xfrm>
            <a:off x="3323034" y="3944838"/>
            <a:ext cx="2606031" cy="171450"/>
          </a:xfrm>
          <a:prstGeom prst="rect">
            <a:avLst/>
          </a:prstGeom>
          <a:noFill/>
          <a:ln/>
        </p:spPr>
        <p:txBody>
          <a:bodyPr wrap="square" lIns="0" tIns="0" rIns="0" bIns="0" rtlCol="0" anchor="t"/>
          <a:lstStyle/>
          <a:p>
            <a:pPr marL="0" indent="0" algn="l">
              <a:spcAft>
                <a:spcPts val="400"/>
              </a:spcAft>
              <a:buNone/>
            </a:pPr>
            <a:r>
              <a:rPr lang="en-US" sz="1200" dirty="0">
                <a:solidFill>
                  <a:srgbClr val="264653"/>
                </a:solidFill>
                <a:latin typeface="Arial" pitchFamily="34" charset="0"/>
                <a:ea typeface="Arial" pitchFamily="34" charset="-122"/>
                <a:cs typeface="Arial" pitchFamily="34" charset="-120"/>
              </a:rPr>
              <a:t>Single-core Limited BW</a:t>
            </a:r>
            <a:endParaRPr lang="en-US" sz="1200" dirty="0"/>
          </a:p>
        </p:txBody>
      </p:sp>
      <p:sp>
        <p:nvSpPr>
          <p:cNvPr id="35" name="Text 33"/>
          <p:cNvSpPr/>
          <p:nvPr/>
        </p:nvSpPr>
        <p:spPr>
          <a:xfrm>
            <a:off x="3323034" y="4167039"/>
            <a:ext cx="2606031" cy="171450"/>
          </a:xfrm>
          <a:prstGeom prst="rect">
            <a:avLst/>
          </a:prstGeom>
          <a:noFill/>
          <a:ln/>
        </p:spPr>
        <p:txBody>
          <a:bodyPr wrap="square" lIns="0" tIns="0" rIns="0" bIns="0" rtlCol="0" anchor="t"/>
          <a:lstStyle/>
          <a:p>
            <a:pPr marL="0" indent="0" algn="l">
              <a:spcAft>
                <a:spcPts val="400"/>
              </a:spcAft>
              <a:buNone/>
            </a:pPr>
            <a:r>
              <a:rPr lang="en-US" sz="1200" b="1" dirty="0">
                <a:solidFill>
                  <a:srgbClr val="264653"/>
                </a:solidFill>
                <a:latin typeface="Arial" pitchFamily="34" charset="0"/>
                <a:ea typeface="Arial" pitchFamily="34" charset="-122"/>
                <a:cs typeface="Arial" pitchFamily="34" charset="-120"/>
              </a:rPr>
              <a:t>+2.0%</a:t>
            </a:r>
            <a:endParaRPr lang="en-US" sz="1200" dirty="0"/>
          </a:p>
        </p:txBody>
      </p:sp>
      <p:sp>
        <p:nvSpPr>
          <p:cNvPr id="36" name="Text 34"/>
          <p:cNvSpPr/>
          <p:nvPr/>
        </p:nvSpPr>
        <p:spPr>
          <a:xfrm>
            <a:off x="6004917" y="3944838"/>
            <a:ext cx="2606031" cy="171450"/>
          </a:xfrm>
          <a:prstGeom prst="rect">
            <a:avLst/>
          </a:prstGeom>
          <a:noFill/>
          <a:ln/>
        </p:spPr>
        <p:txBody>
          <a:bodyPr wrap="square" lIns="0" tIns="0" rIns="0" bIns="0" rtlCol="0" anchor="t"/>
          <a:lstStyle/>
          <a:p>
            <a:pPr marL="0" indent="0" algn="l">
              <a:spcAft>
                <a:spcPts val="400"/>
              </a:spcAft>
              <a:buNone/>
            </a:pPr>
            <a:r>
              <a:rPr lang="en-US" sz="1200" dirty="0">
                <a:solidFill>
                  <a:srgbClr val="264653"/>
                </a:solidFill>
                <a:latin typeface="Arial" pitchFamily="34" charset="0"/>
                <a:ea typeface="Arial" pitchFamily="34" charset="-122"/>
                <a:cs typeface="Arial" pitchFamily="34" charset="-120"/>
              </a:rPr>
              <a:t>Multi-core</a:t>
            </a:r>
            <a:endParaRPr lang="en-US" sz="1200" dirty="0"/>
          </a:p>
        </p:txBody>
      </p:sp>
      <p:sp>
        <p:nvSpPr>
          <p:cNvPr id="37" name="Text 35"/>
          <p:cNvSpPr/>
          <p:nvPr/>
        </p:nvSpPr>
        <p:spPr>
          <a:xfrm>
            <a:off x="6004917" y="4167039"/>
            <a:ext cx="2606031" cy="171450"/>
          </a:xfrm>
          <a:prstGeom prst="rect">
            <a:avLst/>
          </a:prstGeom>
          <a:noFill/>
          <a:ln/>
        </p:spPr>
        <p:txBody>
          <a:bodyPr wrap="square" lIns="0" tIns="0" rIns="0" bIns="0" rtlCol="0" anchor="t"/>
          <a:lstStyle/>
          <a:p>
            <a:pPr marL="0" indent="0" algn="l">
              <a:spcAft>
                <a:spcPts val="400"/>
              </a:spcAft>
              <a:buNone/>
            </a:pPr>
            <a:r>
              <a:rPr lang="en-US" sz="1200" b="1" dirty="0">
                <a:solidFill>
                  <a:srgbClr val="264653"/>
                </a:solidFill>
                <a:latin typeface="Arial" pitchFamily="34" charset="0"/>
                <a:ea typeface="Arial" pitchFamily="34" charset="-122"/>
                <a:cs typeface="Arial" pitchFamily="34" charset="-120"/>
              </a:rPr>
              <a:t>+6.1%</a:t>
            </a:r>
            <a:endParaRPr lang="en-US" sz="1200" dirty="0"/>
          </a:p>
        </p:txBody>
      </p:sp>
      <p:sp>
        <p:nvSpPr>
          <p:cNvPr id="38" name="文本框 37">
            <a:extLst>
              <a:ext uri="{FF2B5EF4-FFF2-40B4-BE49-F238E27FC236}">
                <a16:creationId xmlns:a16="http://schemas.microsoft.com/office/drawing/2014/main" id="{4F658E98-19D8-73E4-9B99-26B9D5977CE6}"/>
              </a:ext>
            </a:extLst>
          </p:cNvPr>
          <p:cNvSpPr txBox="1"/>
          <p:nvPr/>
        </p:nvSpPr>
        <p:spPr>
          <a:xfrm>
            <a:off x="8395452" y="4621065"/>
            <a:ext cx="529984" cy="369332"/>
          </a:xfrm>
          <a:prstGeom prst="rect">
            <a:avLst/>
          </a:prstGeom>
          <a:noFill/>
        </p:spPr>
        <p:txBody>
          <a:bodyPr wrap="square" rtlCol="0">
            <a:spAutoFit/>
          </a:bodyPr>
          <a:lstStyle/>
          <a:p>
            <a:r>
              <a:rPr lang="en-US" altLang="zh-CN"/>
              <a:t>18</a:t>
            </a: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0" y="0"/>
            <a:ext cx="9144000" cy="825401"/>
          </a:xfrm>
          <a:prstGeom prst="rect">
            <a:avLst/>
          </a:prstGeom>
          <a:solidFill>
            <a:srgbClr val="5B4B9E"/>
          </a:solidFill>
          <a:ln/>
        </p:spPr>
        <p:txBody>
          <a:bodyPr wrap="square" rtlCol="0" anchor="ctr"/>
          <a:lstStyle/>
          <a:p>
            <a:pPr marL="0" indent="0">
              <a:buNone/>
            </a:pPr>
            <a:endParaRPr lang="en-US" dirty="0"/>
          </a:p>
        </p:txBody>
      </p:sp>
      <p:sp>
        <p:nvSpPr>
          <p:cNvPr id="3" name="Text 1"/>
          <p:cNvSpPr/>
          <p:nvPr/>
        </p:nvSpPr>
        <p:spPr>
          <a:xfrm>
            <a:off x="634901" y="126950"/>
            <a:ext cx="8031682" cy="409575"/>
          </a:xfrm>
          <a:prstGeom prst="rect">
            <a:avLst/>
          </a:prstGeom>
          <a:noFill/>
          <a:ln/>
        </p:spPr>
        <p:txBody>
          <a:bodyPr wrap="square" lIns="0" tIns="0" rIns="0" bIns="0" rtlCol="0" anchor="t"/>
          <a:lstStyle/>
          <a:p>
            <a:pPr marL="0" indent="0" algn="l">
              <a:buNone/>
            </a:pPr>
            <a:r>
              <a:rPr lang="en-US" sz="2800" b="1" dirty="0">
                <a:solidFill>
                  <a:srgbClr val="FFFFFF"/>
                </a:solidFill>
                <a:latin typeface="Arial" pitchFamily="34" charset="0"/>
                <a:ea typeface="Arial" pitchFamily="34" charset="-122"/>
                <a:cs typeface="Arial" pitchFamily="34" charset="-120"/>
              </a:rPr>
              <a:t>Discussion and Future Work</a:t>
            </a:r>
            <a:endParaRPr lang="en-US" sz="2800" dirty="0"/>
          </a:p>
        </p:txBody>
      </p:sp>
      <p:sp>
        <p:nvSpPr>
          <p:cNvPr id="4" name="Text 2"/>
          <p:cNvSpPr/>
          <p:nvPr/>
        </p:nvSpPr>
        <p:spPr>
          <a:xfrm>
            <a:off x="634901" y="888950"/>
            <a:ext cx="3983355" cy="209550"/>
          </a:xfrm>
          <a:prstGeom prst="rect">
            <a:avLst/>
          </a:prstGeom>
          <a:noFill/>
          <a:ln/>
        </p:spPr>
        <p:txBody>
          <a:bodyPr wrap="square" lIns="0" tIns="0" rIns="0" bIns="0" rtlCol="0" anchor="t"/>
          <a:lstStyle/>
          <a:p>
            <a:pPr marL="0" indent="0" algn="l">
              <a:spcAft>
                <a:spcPts val="1200"/>
              </a:spcAft>
              <a:buNone/>
            </a:pPr>
            <a:r>
              <a:rPr lang="en-US" sz="1400" b="1" dirty="0">
                <a:solidFill>
                  <a:srgbClr val="2A9D8F"/>
                </a:solidFill>
                <a:latin typeface="Arial" pitchFamily="34" charset="0"/>
                <a:ea typeface="Arial" pitchFamily="34" charset="-122"/>
                <a:cs typeface="Arial" pitchFamily="34" charset="-120"/>
              </a:rPr>
              <a:t>Hardware Implementability</a:t>
            </a:r>
            <a:endParaRPr lang="en-US" sz="1400" dirty="0"/>
          </a:p>
        </p:txBody>
      </p:sp>
      <p:sp>
        <p:nvSpPr>
          <p:cNvPr id="5" name="Text 3"/>
          <p:cNvSpPr/>
          <p:nvPr/>
        </p:nvSpPr>
        <p:spPr>
          <a:xfrm>
            <a:off x="634901" y="1250900"/>
            <a:ext cx="3905250" cy="1606004"/>
          </a:xfrm>
          <a:prstGeom prst="roundRect">
            <a:avLst>
              <a:gd name="adj" fmla="val 4745"/>
            </a:avLst>
          </a:prstGeom>
          <a:solidFill>
            <a:srgbClr val="E8F8F5"/>
          </a:solidFill>
          <a:ln/>
        </p:spPr>
        <p:txBody>
          <a:bodyPr wrap="square" rtlCol="0" anchor="ctr"/>
          <a:lstStyle/>
          <a:p>
            <a:pPr marL="0" indent="0">
              <a:buNone/>
            </a:pPr>
            <a:endParaRPr lang="en-US" dirty="0"/>
          </a:p>
        </p:txBody>
      </p:sp>
      <p:sp>
        <p:nvSpPr>
          <p:cNvPr id="6" name="Shape 4"/>
          <p:cNvSpPr/>
          <p:nvPr/>
        </p:nvSpPr>
        <p:spPr>
          <a:xfrm>
            <a:off x="658713" y="1250900"/>
            <a:ext cx="0" cy="1606004"/>
          </a:xfrm>
          <a:prstGeom prst="line">
            <a:avLst/>
          </a:prstGeom>
          <a:noFill/>
          <a:ln w="47625">
            <a:solidFill>
              <a:srgbClr val="2A9D8F"/>
            </a:solidFill>
            <a:prstDash val="solid"/>
          </a:ln>
        </p:spPr>
      </p:sp>
      <p:sp>
        <p:nvSpPr>
          <p:cNvPr id="7" name="Text 5"/>
          <p:cNvSpPr/>
          <p:nvPr/>
        </p:nvSpPr>
        <p:spPr>
          <a:xfrm>
            <a:off x="758726" y="1327100"/>
            <a:ext cx="3779329" cy="171450"/>
          </a:xfrm>
          <a:prstGeom prst="rect">
            <a:avLst/>
          </a:prstGeom>
          <a:noFill/>
          <a:ln/>
        </p:spPr>
        <p:txBody>
          <a:bodyPr wrap="square" lIns="0" tIns="0" rIns="0" bIns="0" rtlCol="0" anchor="t"/>
          <a:lstStyle/>
          <a:p>
            <a:pPr marL="0" indent="0" algn="l">
              <a:spcAft>
                <a:spcPts val="800"/>
              </a:spcAft>
              <a:buNone/>
            </a:pPr>
            <a:r>
              <a:rPr lang="en-US" sz="1200" b="1" dirty="0">
                <a:solidFill>
                  <a:srgbClr val="5B4B9E"/>
                </a:solidFill>
                <a:latin typeface="Arial" pitchFamily="34" charset="0"/>
                <a:ea typeface="Arial" pitchFamily="34" charset="-122"/>
                <a:cs typeface="Arial" pitchFamily="34" charset="-120"/>
              </a:rPr>
              <a:t>Berti Table Design</a:t>
            </a:r>
            <a:endParaRPr lang="en-US" sz="1200" dirty="0"/>
          </a:p>
        </p:txBody>
      </p:sp>
      <p:sp>
        <p:nvSpPr>
          <p:cNvPr id="8" name="Text 6"/>
          <p:cNvSpPr/>
          <p:nvPr/>
        </p:nvSpPr>
        <p:spPr>
          <a:xfrm>
            <a:off x="758726" y="1600051"/>
            <a:ext cx="3705225" cy="1117253"/>
          </a:xfrm>
          <a:prstGeom prst="rect">
            <a:avLst/>
          </a:prstGeom>
          <a:noFill/>
          <a:ln/>
        </p:spPr>
        <p:txBody>
          <a:bodyPr wrap="square" lIns="101600" tIns="0" rIns="0" bIns="0" rtlCol="0" anchor="t"/>
          <a:lstStyle/>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Current: Fully-associative design</a:t>
            </a:r>
            <a:endParaRPr lang="en-US" sz="1200" dirty="0"/>
          </a:p>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Future: Set-associative (e.g., 16-set, 4-way with NRU)</a:t>
            </a:r>
            <a:endParaRPr lang="en-US" sz="1200" dirty="0"/>
          </a:p>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Reference: Berto approach for practical implementation</a:t>
            </a:r>
            <a:endParaRPr lang="en-US" sz="1200" dirty="0"/>
          </a:p>
        </p:txBody>
      </p:sp>
      <p:sp>
        <p:nvSpPr>
          <p:cNvPr id="9" name="Text 7"/>
          <p:cNvSpPr/>
          <p:nvPr/>
        </p:nvSpPr>
        <p:spPr>
          <a:xfrm>
            <a:off x="634901" y="2920305"/>
            <a:ext cx="3905250" cy="1209824"/>
          </a:xfrm>
          <a:prstGeom prst="roundRect">
            <a:avLst>
              <a:gd name="adj" fmla="val 6298"/>
            </a:avLst>
          </a:prstGeom>
          <a:solidFill>
            <a:srgbClr val="E8F8F5"/>
          </a:solidFill>
          <a:ln/>
        </p:spPr>
        <p:txBody>
          <a:bodyPr wrap="square" rtlCol="0" anchor="ctr"/>
          <a:lstStyle/>
          <a:p>
            <a:pPr marL="0" indent="0">
              <a:buNone/>
            </a:pPr>
            <a:endParaRPr lang="en-US" dirty="0"/>
          </a:p>
        </p:txBody>
      </p:sp>
      <p:sp>
        <p:nvSpPr>
          <p:cNvPr id="10" name="Shape 8"/>
          <p:cNvSpPr/>
          <p:nvPr/>
        </p:nvSpPr>
        <p:spPr>
          <a:xfrm>
            <a:off x="658713" y="2920305"/>
            <a:ext cx="0" cy="1209824"/>
          </a:xfrm>
          <a:prstGeom prst="line">
            <a:avLst/>
          </a:prstGeom>
          <a:noFill/>
          <a:ln w="47625">
            <a:solidFill>
              <a:srgbClr val="2A9D8F"/>
            </a:solidFill>
            <a:prstDash val="solid"/>
          </a:ln>
        </p:spPr>
      </p:sp>
      <p:sp>
        <p:nvSpPr>
          <p:cNvPr id="11" name="Text 9"/>
          <p:cNvSpPr/>
          <p:nvPr/>
        </p:nvSpPr>
        <p:spPr>
          <a:xfrm>
            <a:off x="758726" y="2996505"/>
            <a:ext cx="3779329" cy="171450"/>
          </a:xfrm>
          <a:prstGeom prst="rect">
            <a:avLst/>
          </a:prstGeom>
          <a:noFill/>
          <a:ln/>
        </p:spPr>
        <p:txBody>
          <a:bodyPr wrap="square" lIns="0" tIns="0" rIns="0" bIns="0" rtlCol="0" anchor="t"/>
          <a:lstStyle/>
          <a:p>
            <a:pPr marL="0" indent="0" algn="l">
              <a:spcAft>
                <a:spcPts val="800"/>
              </a:spcAft>
              <a:buNone/>
            </a:pPr>
            <a:r>
              <a:rPr lang="en-US" sz="1200" b="1" dirty="0">
                <a:solidFill>
                  <a:srgbClr val="5B4B9E"/>
                </a:solidFill>
                <a:latin typeface="Arial" pitchFamily="34" charset="0"/>
                <a:ea typeface="Arial" pitchFamily="34" charset="-122"/>
                <a:cs typeface="Arial" pitchFamily="34" charset="-120"/>
              </a:rPr>
              <a:t>Pending Target Buffer Sorting</a:t>
            </a:r>
            <a:endParaRPr lang="en-US" sz="1200" dirty="0"/>
          </a:p>
        </p:txBody>
      </p:sp>
      <p:sp>
        <p:nvSpPr>
          <p:cNvPr id="12" name="Text 10"/>
          <p:cNvSpPr/>
          <p:nvPr/>
        </p:nvSpPr>
        <p:spPr>
          <a:xfrm>
            <a:off x="758726" y="3269456"/>
            <a:ext cx="3705225" cy="721072"/>
          </a:xfrm>
          <a:prstGeom prst="rect">
            <a:avLst/>
          </a:prstGeom>
          <a:noFill/>
          <a:ln/>
        </p:spPr>
        <p:txBody>
          <a:bodyPr wrap="square" lIns="101600" tIns="0" rIns="0" bIns="0" rtlCol="0" anchor="t"/>
          <a:lstStyle/>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Challenge: Sorting overhead in hardware</a:t>
            </a:r>
            <a:endParaRPr lang="en-US" sz="1200" dirty="0"/>
          </a:p>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Solution: Bucket sort-like mechanism</a:t>
            </a:r>
            <a:endParaRPr lang="en-US" sz="1200" dirty="0"/>
          </a:p>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Partition entries by priority levels</a:t>
            </a:r>
            <a:endParaRPr lang="en-US" sz="1200" dirty="0"/>
          </a:p>
        </p:txBody>
      </p:sp>
      <p:sp>
        <p:nvSpPr>
          <p:cNvPr id="13" name="Text 11"/>
          <p:cNvSpPr/>
          <p:nvPr/>
        </p:nvSpPr>
        <p:spPr>
          <a:xfrm>
            <a:off x="4730651" y="888950"/>
            <a:ext cx="3983507" cy="209550"/>
          </a:xfrm>
          <a:prstGeom prst="rect">
            <a:avLst/>
          </a:prstGeom>
          <a:noFill/>
          <a:ln/>
        </p:spPr>
        <p:txBody>
          <a:bodyPr wrap="square" lIns="0" tIns="0" rIns="0" bIns="0" rtlCol="0" anchor="t"/>
          <a:lstStyle/>
          <a:p>
            <a:pPr marL="0" indent="0" algn="l">
              <a:spcAft>
                <a:spcPts val="1200"/>
              </a:spcAft>
              <a:buNone/>
            </a:pPr>
            <a:r>
              <a:rPr lang="en-US" sz="1400" b="1" dirty="0">
                <a:solidFill>
                  <a:srgbClr val="2A9D8F"/>
                </a:solidFill>
                <a:latin typeface="Arial" pitchFamily="34" charset="0"/>
                <a:ea typeface="Arial" pitchFamily="34" charset="-122"/>
                <a:cs typeface="Arial" pitchFamily="34" charset="-120"/>
              </a:rPr>
              <a:t>Prefetch Filtering Techniques</a:t>
            </a:r>
            <a:endParaRPr lang="en-US" sz="1400" dirty="0"/>
          </a:p>
        </p:txBody>
      </p:sp>
      <p:sp>
        <p:nvSpPr>
          <p:cNvPr id="14" name="Text 12"/>
          <p:cNvSpPr/>
          <p:nvPr/>
        </p:nvSpPr>
        <p:spPr>
          <a:xfrm>
            <a:off x="4730651" y="1250900"/>
            <a:ext cx="3905399" cy="1209824"/>
          </a:xfrm>
          <a:prstGeom prst="roundRect">
            <a:avLst>
              <a:gd name="adj" fmla="val 6298"/>
            </a:avLst>
          </a:prstGeom>
          <a:solidFill>
            <a:srgbClr val="E8F8F5"/>
          </a:solidFill>
          <a:ln/>
        </p:spPr>
        <p:txBody>
          <a:bodyPr wrap="square" rtlCol="0" anchor="ctr"/>
          <a:lstStyle/>
          <a:p>
            <a:pPr marL="0" indent="0">
              <a:buNone/>
            </a:pPr>
            <a:endParaRPr lang="en-US" dirty="0"/>
          </a:p>
        </p:txBody>
      </p:sp>
      <p:sp>
        <p:nvSpPr>
          <p:cNvPr id="15" name="Shape 13"/>
          <p:cNvSpPr/>
          <p:nvPr/>
        </p:nvSpPr>
        <p:spPr>
          <a:xfrm>
            <a:off x="4754463" y="1250900"/>
            <a:ext cx="0" cy="1209824"/>
          </a:xfrm>
          <a:prstGeom prst="line">
            <a:avLst/>
          </a:prstGeom>
          <a:noFill/>
          <a:ln w="47625">
            <a:solidFill>
              <a:srgbClr val="2A9D8F"/>
            </a:solidFill>
            <a:prstDash val="solid"/>
          </a:ln>
        </p:spPr>
      </p:sp>
      <p:sp>
        <p:nvSpPr>
          <p:cNvPr id="16" name="Text 14"/>
          <p:cNvSpPr/>
          <p:nvPr/>
        </p:nvSpPr>
        <p:spPr>
          <a:xfrm>
            <a:off x="4854476" y="1327100"/>
            <a:ext cx="3779481" cy="171450"/>
          </a:xfrm>
          <a:prstGeom prst="rect">
            <a:avLst/>
          </a:prstGeom>
          <a:noFill/>
          <a:ln/>
        </p:spPr>
        <p:txBody>
          <a:bodyPr wrap="square" lIns="0" tIns="0" rIns="0" bIns="0" rtlCol="0" anchor="t"/>
          <a:lstStyle/>
          <a:p>
            <a:pPr marL="0" indent="0" algn="l">
              <a:spcAft>
                <a:spcPts val="800"/>
              </a:spcAft>
              <a:buNone/>
            </a:pPr>
            <a:r>
              <a:rPr lang="en-US" sz="1200" b="1" dirty="0">
                <a:solidFill>
                  <a:srgbClr val="5B4B9E"/>
                </a:solidFill>
                <a:latin typeface="Arial" pitchFamily="34" charset="0"/>
                <a:ea typeface="Arial" pitchFamily="34" charset="-122"/>
                <a:cs typeface="Arial" pitchFamily="34" charset="-120"/>
              </a:rPr>
              <a:t>Multiple Filtering Layers in Emender</a:t>
            </a:r>
            <a:endParaRPr lang="en-US" sz="1200" dirty="0"/>
          </a:p>
        </p:txBody>
      </p:sp>
      <p:sp>
        <p:nvSpPr>
          <p:cNvPr id="17" name="Text 15"/>
          <p:cNvSpPr/>
          <p:nvPr/>
        </p:nvSpPr>
        <p:spPr>
          <a:xfrm>
            <a:off x="4854476" y="1600051"/>
            <a:ext cx="3705374" cy="721072"/>
          </a:xfrm>
          <a:prstGeom prst="rect">
            <a:avLst/>
          </a:prstGeom>
          <a:noFill/>
          <a:ln/>
        </p:spPr>
        <p:txBody>
          <a:bodyPr wrap="square" lIns="101600" tIns="0" rIns="0" bIns="0" rtlCol="0" anchor="t"/>
          <a:lstStyle/>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Cuckoo Filter: Eliminates redundant L1D prefetches</a:t>
            </a:r>
            <a:endParaRPr lang="en-US" sz="1200" dirty="0"/>
          </a:p>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Pending Target Buffer: Deduplication</a:t>
            </a:r>
            <a:endParaRPr lang="en-US" sz="1200" dirty="0"/>
          </a:p>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Prefetch Queue: Additional filtering</a:t>
            </a:r>
            <a:endParaRPr lang="en-US" sz="1200" dirty="0"/>
          </a:p>
        </p:txBody>
      </p:sp>
      <p:sp>
        <p:nvSpPr>
          <p:cNvPr id="18" name="Text 16"/>
          <p:cNvSpPr/>
          <p:nvPr/>
        </p:nvSpPr>
        <p:spPr>
          <a:xfrm>
            <a:off x="4730651" y="2524125"/>
            <a:ext cx="3905399" cy="1209824"/>
          </a:xfrm>
          <a:prstGeom prst="roundRect">
            <a:avLst>
              <a:gd name="adj" fmla="val 6298"/>
            </a:avLst>
          </a:prstGeom>
          <a:solidFill>
            <a:srgbClr val="FFF3E6"/>
          </a:solidFill>
          <a:ln/>
        </p:spPr>
        <p:txBody>
          <a:bodyPr wrap="square" rtlCol="0" anchor="ctr"/>
          <a:lstStyle/>
          <a:p>
            <a:pPr marL="0" indent="0">
              <a:buNone/>
            </a:pPr>
            <a:endParaRPr lang="en-US" dirty="0"/>
          </a:p>
        </p:txBody>
      </p:sp>
      <p:sp>
        <p:nvSpPr>
          <p:cNvPr id="19" name="Shape 17"/>
          <p:cNvSpPr/>
          <p:nvPr/>
        </p:nvSpPr>
        <p:spPr>
          <a:xfrm>
            <a:off x="4754463" y="2524125"/>
            <a:ext cx="0" cy="1209824"/>
          </a:xfrm>
          <a:prstGeom prst="line">
            <a:avLst/>
          </a:prstGeom>
          <a:noFill/>
          <a:ln w="47625">
            <a:solidFill>
              <a:srgbClr val="E76F51"/>
            </a:solidFill>
            <a:prstDash val="solid"/>
          </a:ln>
        </p:spPr>
      </p:sp>
      <p:sp>
        <p:nvSpPr>
          <p:cNvPr id="20" name="Text 18"/>
          <p:cNvSpPr/>
          <p:nvPr/>
        </p:nvSpPr>
        <p:spPr>
          <a:xfrm>
            <a:off x="4854476" y="2600325"/>
            <a:ext cx="3779481" cy="171450"/>
          </a:xfrm>
          <a:prstGeom prst="rect">
            <a:avLst/>
          </a:prstGeom>
          <a:noFill/>
          <a:ln/>
        </p:spPr>
        <p:txBody>
          <a:bodyPr wrap="square" lIns="0" tIns="0" rIns="0" bIns="0" rtlCol="0" anchor="t"/>
          <a:lstStyle/>
          <a:p>
            <a:pPr marL="0" indent="0" algn="l">
              <a:spcAft>
                <a:spcPts val="800"/>
              </a:spcAft>
              <a:buNone/>
            </a:pPr>
            <a:r>
              <a:rPr lang="en-US" sz="1200" b="1" dirty="0">
                <a:solidFill>
                  <a:srgbClr val="5B4B9E"/>
                </a:solidFill>
                <a:latin typeface="Arial" pitchFamily="34" charset="0"/>
                <a:ea typeface="Arial" pitchFamily="34" charset="-122"/>
                <a:cs typeface="Arial" pitchFamily="34" charset="-120"/>
              </a:rPr>
              <a:t>Existing Techniques</a:t>
            </a:r>
            <a:endParaRPr lang="en-US" sz="1200" dirty="0"/>
          </a:p>
        </p:txBody>
      </p:sp>
      <p:sp>
        <p:nvSpPr>
          <p:cNvPr id="21" name="Text 19"/>
          <p:cNvSpPr/>
          <p:nvPr/>
        </p:nvSpPr>
        <p:spPr>
          <a:xfrm>
            <a:off x="4854476" y="2873276"/>
            <a:ext cx="3705374" cy="721072"/>
          </a:xfrm>
          <a:prstGeom prst="rect">
            <a:avLst/>
          </a:prstGeom>
          <a:noFill/>
          <a:ln/>
        </p:spPr>
        <p:txBody>
          <a:bodyPr wrap="square" lIns="101600" tIns="0" rIns="0" bIns="0" rtlCol="0" anchor="t"/>
          <a:lstStyle/>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T-SKID: Shadow Cache + Prefetch Queue filtering</a:t>
            </a:r>
            <a:endParaRPr lang="en-US" sz="1200" dirty="0"/>
          </a:p>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Sangam: 40-entry Recent Access Filter</a:t>
            </a:r>
            <a:endParaRPr lang="en-US" sz="1200" dirty="0"/>
          </a:p>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PPF: Perceptron-based filtering</a:t>
            </a:r>
            <a:endParaRPr lang="en-US" sz="1200" dirty="0"/>
          </a:p>
        </p:txBody>
      </p:sp>
      <p:sp>
        <p:nvSpPr>
          <p:cNvPr id="22" name="Text 20"/>
          <p:cNvSpPr/>
          <p:nvPr/>
        </p:nvSpPr>
        <p:spPr>
          <a:xfrm>
            <a:off x="4730651" y="3797350"/>
            <a:ext cx="3905399" cy="746671"/>
          </a:xfrm>
          <a:prstGeom prst="roundRect">
            <a:avLst>
              <a:gd name="adj" fmla="val 10205"/>
            </a:avLst>
          </a:prstGeom>
          <a:solidFill>
            <a:srgbClr val="E9ECEF"/>
          </a:solidFill>
          <a:ln/>
        </p:spPr>
        <p:txBody>
          <a:bodyPr wrap="square" rtlCol="0" anchor="ctr"/>
          <a:lstStyle/>
          <a:p>
            <a:pPr marL="0" indent="0">
              <a:buNone/>
            </a:pPr>
            <a:endParaRPr lang="en-US" dirty="0"/>
          </a:p>
        </p:txBody>
      </p:sp>
      <p:sp>
        <p:nvSpPr>
          <p:cNvPr id="23" name="Text 21"/>
          <p:cNvSpPr/>
          <p:nvPr/>
        </p:nvSpPr>
        <p:spPr>
          <a:xfrm>
            <a:off x="4806851" y="3873550"/>
            <a:ext cx="3828059" cy="594271"/>
          </a:xfrm>
          <a:prstGeom prst="rect">
            <a:avLst/>
          </a:prstGeom>
          <a:noFill/>
          <a:ln/>
        </p:spPr>
        <p:txBody>
          <a:bodyPr wrap="square" lIns="0" tIns="0" rIns="0" bIns="0" rtlCol="0" anchor="t"/>
          <a:lstStyle/>
          <a:p>
            <a:pPr marL="0" indent="0" algn="l">
              <a:lnSpc>
                <a:spcPts val="1560"/>
              </a:lnSpc>
              <a:buNone/>
            </a:pPr>
            <a:r>
              <a:rPr lang="en-US" sz="1200" b="1" dirty="0">
                <a:solidFill>
                  <a:srgbClr val="5B4B9E"/>
                </a:solidFill>
                <a:latin typeface="Arial" pitchFamily="34" charset="0"/>
                <a:ea typeface="Arial" pitchFamily="34" charset="-122"/>
                <a:cs typeface="Arial" pitchFamily="34" charset="-120"/>
              </a:rPr>
              <a:t>Future Research:</a:t>
            </a:r>
            <a:r>
              <a:rPr lang="en-US" sz="1200" dirty="0">
                <a:solidFill>
                  <a:srgbClr val="264653"/>
                </a:solidFill>
                <a:latin typeface="Arial" pitchFamily="34" charset="0"/>
                <a:ea typeface="Arial" pitchFamily="34" charset="-122"/>
                <a:cs typeface="Arial" pitchFamily="34" charset="-120"/>
              </a:rPr>
              <a:t> Comprehensive comparison of trade-offs in hardware overhead, accuracy, and performance impact.</a:t>
            </a:r>
            <a:endParaRPr lang="en-US" sz="1200" dirty="0"/>
          </a:p>
        </p:txBody>
      </p:sp>
      <p:sp>
        <p:nvSpPr>
          <p:cNvPr id="24" name="文本框 23">
            <a:extLst>
              <a:ext uri="{FF2B5EF4-FFF2-40B4-BE49-F238E27FC236}">
                <a16:creationId xmlns:a16="http://schemas.microsoft.com/office/drawing/2014/main" id="{B5D20A18-11BD-F47C-F16B-E697A943926A}"/>
              </a:ext>
            </a:extLst>
          </p:cNvPr>
          <p:cNvSpPr txBox="1"/>
          <p:nvPr/>
        </p:nvSpPr>
        <p:spPr>
          <a:xfrm>
            <a:off x="8395452" y="4621065"/>
            <a:ext cx="529984" cy="369332"/>
          </a:xfrm>
          <a:prstGeom prst="rect">
            <a:avLst/>
          </a:prstGeom>
          <a:noFill/>
        </p:spPr>
        <p:txBody>
          <a:bodyPr wrap="square" rtlCol="0">
            <a:spAutoFit/>
          </a:bodyPr>
          <a:lstStyle/>
          <a:p>
            <a:r>
              <a:rPr lang="en-US" altLang="zh-CN"/>
              <a:t>19</a:t>
            </a:r>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295690" y="1227386"/>
            <a:ext cx="4552471" cy="819150"/>
          </a:xfrm>
          <a:prstGeom prst="rect">
            <a:avLst/>
          </a:prstGeom>
          <a:noFill/>
          <a:ln/>
        </p:spPr>
        <p:txBody>
          <a:bodyPr wrap="square" lIns="0" tIns="0" rIns="0" bIns="0" rtlCol="0" anchor="t"/>
          <a:lstStyle/>
          <a:p>
            <a:pPr marL="0" indent="0" algn="ctr">
              <a:spcAft>
                <a:spcPts val="3000"/>
              </a:spcAft>
              <a:buNone/>
            </a:pPr>
            <a:r>
              <a:rPr lang="en-US" sz="5600" b="1" dirty="0">
                <a:solidFill>
                  <a:srgbClr val="FFFFFF"/>
                </a:solidFill>
                <a:latin typeface="Arial" pitchFamily="34" charset="0"/>
                <a:ea typeface="Arial" pitchFamily="34" charset="-122"/>
                <a:cs typeface="Arial" pitchFamily="34" charset="-120"/>
              </a:rPr>
              <a:t>Thank You!</a:t>
            </a:r>
            <a:endParaRPr lang="en-US" sz="5600" dirty="0"/>
          </a:p>
        </p:txBody>
      </p:sp>
      <p:sp>
        <p:nvSpPr>
          <p:cNvPr id="3" name="Text 1"/>
          <p:cNvSpPr/>
          <p:nvPr/>
        </p:nvSpPr>
        <p:spPr>
          <a:xfrm>
            <a:off x="2848273" y="2427536"/>
            <a:ext cx="3447306" cy="1240929"/>
          </a:xfrm>
          <a:prstGeom prst="roundRect">
            <a:avLst>
              <a:gd name="adj" fmla="val 12281"/>
            </a:avLst>
          </a:prstGeom>
          <a:solidFill>
            <a:srgbClr val="FFFFFF">
              <a:alpha val="15000"/>
            </a:srgbClr>
          </a:solidFill>
          <a:ln/>
        </p:spPr>
        <p:txBody>
          <a:bodyPr wrap="square" rtlCol="0" anchor="ctr"/>
          <a:lstStyle/>
          <a:p>
            <a:pPr marL="0" indent="0">
              <a:buNone/>
            </a:pPr>
            <a:endParaRPr lang="en-US" dirty="0"/>
          </a:p>
        </p:txBody>
      </p:sp>
      <p:sp>
        <p:nvSpPr>
          <p:cNvPr id="4" name="Text 2"/>
          <p:cNvSpPr/>
          <p:nvPr/>
        </p:nvSpPr>
        <p:spPr>
          <a:xfrm>
            <a:off x="2891524" y="2651224"/>
            <a:ext cx="3360804" cy="209550"/>
          </a:xfrm>
          <a:prstGeom prst="rect">
            <a:avLst/>
          </a:prstGeom>
          <a:noFill/>
          <a:ln/>
        </p:spPr>
        <p:txBody>
          <a:bodyPr wrap="square" lIns="0" tIns="0" rIns="0" bIns="0" rtlCol="0" anchor="t"/>
          <a:lstStyle/>
          <a:p>
            <a:pPr marL="0" indent="0" algn="ctr">
              <a:spcBef>
                <a:spcPts val="1162"/>
              </a:spcBef>
              <a:spcAft>
                <a:spcPts val="1162"/>
              </a:spcAft>
              <a:buNone/>
            </a:pPr>
            <a:r>
              <a:rPr lang="en-US" sz="1400" b="1" dirty="0">
                <a:solidFill>
                  <a:srgbClr val="FFFFFF"/>
                </a:solidFill>
                <a:latin typeface="Arial" pitchFamily="34" charset="0"/>
                <a:ea typeface="Arial" pitchFamily="34" charset="-122"/>
                <a:cs typeface="Arial" pitchFamily="34" charset="-120"/>
              </a:rPr>
              <a:t>Acknowledgments</a:t>
            </a:r>
            <a:endParaRPr lang="en-US" sz="1400" dirty="0"/>
          </a:p>
        </p:txBody>
      </p:sp>
      <p:sp>
        <p:nvSpPr>
          <p:cNvPr id="5" name="Text 3"/>
          <p:cNvSpPr/>
          <p:nvPr/>
        </p:nvSpPr>
        <p:spPr>
          <a:xfrm>
            <a:off x="2924473" y="3008263"/>
            <a:ext cx="3294906" cy="520601"/>
          </a:xfrm>
          <a:prstGeom prst="rect">
            <a:avLst/>
          </a:prstGeom>
          <a:noFill/>
          <a:ln/>
        </p:spPr>
        <p:txBody>
          <a:bodyPr wrap="square" lIns="127000" tIns="0" rIns="0" bIns="0" rtlCol="0" anchor="t"/>
          <a:lstStyle/>
          <a:p>
            <a:pPr marL="127000" indent="-127000" algn="l">
              <a:lnSpc>
                <a:spcPts val="1800"/>
              </a:lnSpc>
              <a:spcAft>
                <a:spcPts val="500"/>
              </a:spcAft>
              <a:buSzPct val="100000"/>
              <a:buChar char="•"/>
            </a:pPr>
            <a:r>
              <a:rPr lang="en-US" sz="1200" dirty="0">
                <a:solidFill>
                  <a:srgbClr val="FFFFFF"/>
                </a:solidFill>
                <a:latin typeface="Arial" pitchFamily="34" charset="0"/>
                <a:ea typeface="Arial" pitchFamily="34" charset="-122"/>
                <a:cs typeface="Arial" pitchFamily="34" charset="-120"/>
              </a:rPr>
              <a:t>DPC4 organizers and ChampSim developers</a:t>
            </a:r>
            <a:endParaRPr lang="en-US" sz="1200" dirty="0"/>
          </a:p>
          <a:p>
            <a:pPr marL="127000" indent="-127000" algn="l">
              <a:lnSpc>
                <a:spcPts val="1800"/>
              </a:lnSpc>
              <a:spcAft>
                <a:spcPts val="500"/>
              </a:spcAft>
              <a:buSzPct val="100000"/>
              <a:buChar char="•"/>
            </a:pPr>
            <a:r>
              <a:rPr lang="en-US" sz="1200" dirty="0">
                <a:solidFill>
                  <a:srgbClr val="FFFFFF"/>
                </a:solidFill>
                <a:latin typeface="Arial" pitchFamily="34" charset="0"/>
                <a:ea typeface="Arial" pitchFamily="34" charset="-122"/>
                <a:cs typeface="Arial" pitchFamily="34" charset="-120"/>
              </a:rPr>
              <a:t>Authors of VBerti and Pythia prefetchers</a:t>
            </a:r>
            <a:endParaRPr lang="en-US" sz="1200" dirty="0"/>
          </a:p>
        </p:txBody>
      </p:sp>
      <p:sp>
        <p:nvSpPr>
          <p:cNvPr id="6" name="Text 4"/>
          <p:cNvSpPr/>
          <p:nvPr/>
        </p:nvSpPr>
        <p:spPr>
          <a:xfrm>
            <a:off x="2295690" y="3744664"/>
            <a:ext cx="4552471" cy="171450"/>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Questions?</a:t>
            </a:r>
            <a:endParaRPr lang="en-US" sz="1200" dirty="0"/>
          </a:p>
        </p:txBody>
      </p:sp>
      <p:sp>
        <p:nvSpPr>
          <p:cNvPr id="7" name="文本框 6">
            <a:extLst>
              <a:ext uri="{FF2B5EF4-FFF2-40B4-BE49-F238E27FC236}">
                <a16:creationId xmlns:a16="http://schemas.microsoft.com/office/drawing/2014/main" id="{01830F38-1853-5507-5EDC-D9215DE629EF}"/>
              </a:ext>
            </a:extLst>
          </p:cNvPr>
          <p:cNvSpPr txBox="1"/>
          <p:nvPr/>
        </p:nvSpPr>
        <p:spPr>
          <a:xfrm>
            <a:off x="8395452" y="4621065"/>
            <a:ext cx="529984" cy="369332"/>
          </a:xfrm>
          <a:prstGeom prst="rect">
            <a:avLst/>
          </a:prstGeom>
          <a:noFill/>
        </p:spPr>
        <p:txBody>
          <a:bodyPr wrap="square" rtlCol="0">
            <a:spAutoFit/>
          </a:bodyPr>
          <a:lstStyle/>
          <a:p>
            <a:r>
              <a:rPr lang="en-US" altLang="zh-CN"/>
              <a:t>20</a:t>
            </a: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0" y="0"/>
            <a:ext cx="9144000" cy="825401"/>
          </a:xfrm>
          <a:prstGeom prst="rect">
            <a:avLst/>
          </a:prstGeom>
          <a:solidFill>
            <a:srgbClr val="5B4B9E"/>
          </a:solidFill>
          <a:ln/>
        </p:spPr>
        <p:txBody>
          <a:bodyPr wrap="square" rtlCol="0" anchor="ctr"/>
          <a:lstStyle/>
          <a:p>
            <a:pPr marL="0" indent="0">
              <a:buNone/>
            </a:pPr>
            <a:endParaRPr lang="en-US" dirty="0"/>
          </a:p>
        </p:txBody>
      </p:sp>
      <p:sp>
        <p:nvSpPr>
          <p:cNvPr id="3" name="Text 1"/>
          <p:cNvSpPr/>
          <p:nvPr/>
        </p:nvSpPr>
        <p:spPr>
          <a:xfrm>
            <a:off x="634901" y="126950"/>
            <a:ext cx="8031682" cy="409575"/>
          </a:xfrm>
          <a:prstGeom prst="rect">
            <a:avLst/>
          </a:prstGeom>
          <a:noFill/>
          <a:ln/>
        </p:spPr>
        <p:txBody>
          <a:bodyPr wrap="square" lIns="0" tIns="0" rIns="0" bIns="0" rtlCol="0" anchor="t"/>
          <a:lstStyle/>
          <a:p>
            <a:pPr marL="0" indent="0" algn="l">
              <a:buNone/>
            </a:pPr>
            <a:r>
              <a:rPr lang="en-US" sz="2800" b="1" dirty="0">
                <a:solidFill>
                  <a:srgbClr val="FFFFFF"/>
                </a:solidFill>
                <a:latin typeface="Arial" pitchFamily="34" charset="0"/>
                <a:ea typeface="Arial" pitchFamily="34" charset="-122"/>
                <a:cs typeface="Arial" pitchFamily="34" charset="-120"/>
              </a:rPr>
              <a:t>Appendix: Evaluation on DPC4-All-Traces</a:t>
            </a:r>
            <a:endParaRPr lang="en-US" sz="2800" dirty="0"/>
          </a:p>
        </p:txBody>
      </p:sp>
      <p:sp>
        <p:nvSpPr>
          <p:cNvPr id="4" name="Text 2"/>
          <p:cNvSpPr/>
          <p:nvPr/>
        </p:nvSpPr>
        <p:spPr>
          <a:xfrm>
            <a:off x="634901" y="888950"/>
            <a:ext cx="3983355" cy="209550"/>
          </a:xfrm>
          <a:prstGeom prst="rect">
            <a:avLst/>
          </a:prstGeom>
          <a:noFill/>
          <a:ln/>
        </p:spPr>
        <p:txBody>
          <a:bodyPr wrap="square" lIns="0" tIns="0" rIns="0" bIns="0" rtlCol="0" anchor="t"/>
          <a:lstStyle/>
          <a:p>
            <a:pPr marL="0" indent="0" algn="l">
              <a:spcAft>
                <a:spcPts val="1200"/>
              </a:spcAft>
              <a:buNone/>
            </a:pPr>
            <a:r>
              <a:rPr lang="en-US" sz="1400" b="1" dirty="0">
                <a:solidFill>
                  <a:srgbClr val="2A9D8F"/>
                </a:solidFill>
                <a:latin typeface="Arial" pitchFamily="34" charset="0"/>
                <a:ea typeface="Arial" pitchFamily="34" charset="-122"/>
                <a:cs typeface="Arial" pitchFamily="34" charset="-120"/>
              </a:rPr>
              <a:t>Performance Results</a:t>
            </a:r>
            <a:endParaRPr lang="en-US" sz="1400" dirty="0"/>
          </a:p>
        </p:txBody>
      </p:sp>
      <p:sp>
        <p:nvSpPr>
          <p:cNvPr id="5" name="Text 3"/>
          <p:cNvSpPr/>
          <p:nvPr/>
        </p:nvSpPr>
        <p:spPr>
          <a:xfrm>
            <a:off x="634901" y="1250900"/>
            <a:ext cx="3905250" cy="2538264"/>
          </a:xfrm>
          <a:prstGeom prst="roundRect">
            <a:avLst>
              <a:gd name="adj" fmla="val 3002"/>
            </a:avLst>
          </a:prstGeom>
          <a:solidFill>
            <a:srgbClr val="FFFFFF"/>
          </a:solidFill>
          <a:ln/>
        </p:spPr>
        <p:txBody>
          <a:bodyPr wrap="square" rtlCol="0" anchor="ctr"/>
          <a:lstStyle/>
          <a:p>
            <a:pPr marL="0" indent="0">
              <a:buNone/>
            </a:pPr>
            <a:endParaRPr lang="en-US" dirty="0"/>
          </a:p>
        </p:txBody>
      </p:sp>
      <p:pic>
        <p:nvPicPr>
          <p:cNvPr id="6" name="Image 0" descr="/Volumes/Data/jiegec/dpc4-paper/pptx/workspace/figures/perf-eval.png"/>
          <p:cNvPicPr>
            <a:picLocks noChangeAspect="1"/>
          </p:cNvPicPr>
          <p:nvPr/>
        </p:nvPicPr>
        <p:blipFill>
          <a:blip r:embed="rId3"/>
          <a:stretch>
            <a:fillRect/>
          </a:stretch>
        </p:blipFill>
        <p:spPr>
          <a:xfrm>
            <a:off x="711101" y="1327100"/>
            <a:ext cx="3752701" cy="2385864"/>
          </a:xfrm>
          <a:prstGeom prst="rect">
            <a:avLst/>
          </a:prstGeom>
        </p:spPr>
      </p:pic>
      <p:sp>
        <p:nvSpPr>
          <p:cNvPr id="7" name="Text 4"/>
          <p:cNvSpPr/>
          <p:nvPr/>
        </p:nvSpPr>
        <p:spPr>
          <a:xfrm>
            <a:off x="4730651" y="888950"/>
            <a:ext cx="3983507" cy="209550"/>
          </a:xfrm>
          <a:prstGeom prst="rect">
            <a:avLst/>
          </a:prstGeom>
          <a:noFill/>
          <a:ln/>
        </p:spPr>
        <p:txBody>
          <a:bodyPr wrap="square" lIns="0" tIns="0" rIns="0" bIns="0" rtlCol="0" anchor="t"/>
          <a:lstStyle/>
          <a:p>
            <a:pPr marL="0" indent="0" algn="l">
              <a:spcAft>
                <a:spcPts val="1200"/>
              </a:spcAft>
              <a:buNone/>
            </a:pPr>
            <a:r>
              <a:rPr lang="en-US" sz="1400" b="1" dirty="0">
                <a:solidFill>
                  <a:srgbClr val="2A9D8F"/>
                </a:solidFill>
                <a:latin typeface="Arial" pitchFamily="34" charset="0"/>
                <a:ea typeface="Arial" pitchFamily="34" charset="-122"/>
                <a:cs typeface="Arial" pitchFamily="34" charset="-120"/>
              </a:rPr>
              <a:t>Methodology</a:t>
            </a:r>
            <a:endParaRPr lang="en-US" sz="1400" dirty="0"/>
          </a:p>
        </p:txBody>
      </p:sp>
      <p:sp>
        <p:nvSpPr>
          <p:cNvPr id="8" name="Text 5"/>
          <p:cNvSpPr/>
          <p:nvPr/>
        </p:nvSpPr>
        <p:spPr>
          <a:xfrm>
            <a:off x="4730651" y="1250900"/>
            <a:ext cx="3905399" cy="1471315"/>
          </a:xfrm>
          <a:prstGeom prst="roundRect">
            <a:avLst>
              <a:gd name="adj" fmla="val 5179"/>
            </a:avLst>
          </a:prstGeom>
          <a:solidFill>
            <a:srgbClr val="E8F8F5"/>
          </a:solidFill>
          <a:ln/>
        </p:spPr>
        <p:txBody>
          <a:bodyPr wrap="square" rtlCol="0" anchor="ctr"/>
          <a:lstStyle/>
          <a:p>
            <a:pPr marL="0" indent="0">
              <a:buNone/>
            </a:pPr>
            <a:endParaRPr lang="en-US" dirty="0"/>
          </a:p>
        </p:txBody>
      </p:sp>
      <p:sp>
        <p:nvSpPr>
          <p:cNvPr id="9" name="Shape 6"/>
          <p:cNvSpPr/>
          <p:nvPr/>
        </p:nvSpPr>
        <p:spPr>
          <a:xfrm>
            <a:off x="4754463" y="1250900"/>
            <a:ext cx="0" cy="1471315"/>
          </a:xfrm>
          <a:prstGeom prst="line">
            <a:avLst/>
          </a:prstGeom>
          <a:noFill/>
          <a:ln w="47625">
            <a:solidFill>
              <a:srgbClr val="2A9D8F"/>
            </a:solidFill>
            <a:prstDash val="solid"/>
          </a:ln>
        </p:spPr>
      </p:sp>
      <p:sp>
        <p:nvSpPr>
          <p:cNvPr id="10" name="Text 7"/>
          <p:cNvSpPr/>
          <p:nvPr/>
        </p:nvSpPr>
        <p:spPr>
          <a:xfrm>
            <a:off x="4854476" y="1327100"/>
            <a:ext cx="3779481" cy="171450"/>
          </a:xfrm>
          <a:prstGeom prst="rect">
            <a:avLst/>
          </a:prstGeom>
          <a:noFill/>
          <a:ln/>
        </p:spPr>
        <p:txBody>
          <a:bodyPr wrap="square" lIns="0" tIns="0" rIns="0" bIns="0" rtlCol="0" anchor="t"/>
          <a:lstStyle/>
          <a:p>
            <a:pPr marL="0" indent="0" algn="l">
              <a:spcAft>
                <a:spcPts val="800"/>
              </a:spcAft>
              <a:buNone/>
            </a:pPr>
            <a:r>
              <a:rPr lang="en-US" sz="1200" b="1" dirty="0">
                <a:solidFill>
                  <a:srgbClr val="5B4B9E"/>
                </a:solidFill>
                <a:latin typeface="Arial" pitchFamily="34" charset="0"/>
                <a:ea typeface="Arial" pitchFamily="34" charset="-122"/>
                <a:cs typeface="Arial" pitchFamily="34" charset="-120"/>
              </a:rPr>
              <a:t>Training vs Evaluation Traces</a:t>
            </a:r>
            <a:endParaRPr lang="en-US" sz="1200" dirty="0"/>
          </a:p>
        </p:txBody>
      </p:sp>
      <p:sp>
        <p:nvSpPr>
          <p:cNvPr id="11" name="Text 8"/>
          <p:cNvSpPr/>
          <p:nvPr/>
        </p:nvSpPr>
        <p:spPr>
          <a:xfrm>
            <a:off x="4854476" y="1600051"/>
            <a:ext cx="3705374" cy="982563"/>
          </a:xfrm>
          <a:prstGeom prst="rect">
            <a:avLst/>
          </a:prstGeom>
          <a:noFill/>
          <a:ln/>
        </p:spPr>
        <p:txBody>
          <a:bodyPr wrap="square" lIns="101600" tIns="0" rIns="0" bIns="0" rtlCol="0" anchor="t"/>
          <a:lstStyle/>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Training: DPC4-Traces (public)</a:t>
            </a:r>
            <a:endParaRPr lang="en-US" sz="1200" dirty="0"/>
          </a:p>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Evaluation: DPC4-All-Traces (official)</a:t>
            </a:r>
            <a:endParaRPr lang="en-US" sz="1200" dirty="0"/>
          </a:p>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Earlier: 1% instruction subset</a:t>
            </a:r>
            <a:endParaRPr lang="en-US" sz="1200" dirty="0"/>
          </a:p>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Appendix: Complete traces tested</a:t>
            </a:r>
            <a:endParaRPr lang="en-US" sz="1200" dirty="0"/>
          </a:p>
        </p:txBody>
      </p:sp>
      <p:sp>
        <p:nvSpPr>
          <p:cNvPr id="12" name="Text 9"/>
          <p:cNvSpPr/>
          <p:nvPr/>
        </p:nvSpPr>
        <p:spPr>
          <a:xfrm>
            <a:off x="4730651" y="2785616"/>
            <a:ext cx="3905399" cy="1407914"/>
          </a:xfrm>
          <a:prstGeom prst="roundRect">
            <a:avLst>
              <a:gd name="adj" fmla="val 5412"/>
            </a:avLst>
          </a:prstGeom>
          <a:solidFill>
            <a:srgbClr val="E8F8F5"/>
          </a:solidFill>
          <a:ln/>
        </p:spPr>
        <p:txBody>
          <a:bodyPr wrap="square" rtlCol="0" anchor="ctr"/>
          <a:lstStyle/>
          <a:p>
            <a:pPr marL="0" indent="0">
              <a:buNone/>
            </a:pPr>
            <a:endParaRPr lang="en-US" dirty="0"/>
          </a:p>
        </p:txBody>
      </p:sp>
      <p:sp>
        <p:nvSpPr>
          <p:cNvPr id="13" name="Shape 10"/>
          <p:cNvSpPr/>
          <p:nvPr/>
        </p:nvSpPr>
        <p:spPr>
          <a:xfrm>
            <a:off x="4754463" y="2785616"/>
            <a:ext cx="0" cy="1407914"/>
          </a:xfrm>
          <a:prstGeom prst="line">
            <a:avLst/>
          </a:prstGeom>
          <a:noFill/>
          <a:ln w="47625">
            <a:solidFill>
              <a:srgbClr val="2A9D8F"/>
            </a:solidFill>
            <a:prstDash val="solid"/>
          </a:ln>
        </p:spPr>
      </p:sp>
      <p:sp>
        <p:nvSpPr>
          <p:cNvPr id="14" name="Text 11"/>
          <p:cNvSpPr/>
          <p:nvPr/>
        </p:nvSpPr>
        <p:spPr>
          <a:xfrm>
            <a:off x="4854476" y="2861816"/>
            <a:ext cx="3779481" cy="171450"/>
          </a:xfrm>
          <a:prstGeom prst="rect">
            <a:avLst/>
          </a:prstGeom>
          <a:noFill/>
          <a:ln/>
        </p:spPr>
        <p:txBody>
          <a:bodyPr wrap="square" lIns="0" tIns="0" rIns="0" bIns="0" rtlCol="0" anchor="t"/>
          <a:lstStyle/>
          <a:p>
            <a:pPr marL="0" indent="0" algn="l">
              <a:spcAft>
                <a:spcPts val="800"/>
              </a:spcAft>
              <a:buNone/>
            </a:pPr>
            <a:r>
              <a:rPr lang="en-US" sz="1200" b="1" dirty="0">
                <a:solidFill>
                  <a:srgbClr val="5B4B9E"/>
                </a:solidFill>
                <a:latin typeface="Arial" pitchFamily="34" charset="0"/>
                <a:ea typeface="Arial" pitchFamily="34" charset="-122"/>
                <a:cs typeface="Arial" pitchFamily="34" charset="-120"/>
              </a:rPr>
              <a:t>Key Differences in Trace Composition</a:t>
            </a:r>
            <a:endParaRPr lang="en-US" sz="1200" dirty="0"/>
          </a:p>
        </p:txBody>
      </p:sp>
      <p:sp>
        <p:nvSpPr>
          <p:cNvPr id="15" name="Text 12"/>
          <p:cNvSpPr/>
          <p:nvPr/>
        </p:nvSpPr>
        <p:spPr>
          <a:xfrm>
            <a:off x="4854476" y="3134767"/>
            <a:ext cx="3705374" cy="919162"/>
          </a:xfrm>
          <a:prstGeom prst="rect">
            <a:avLst/>
          </a:prstGeom>
          <a:noFill/>
          <a:ln/>
        </p:spPr>
        <p:txBody>
          <a:bodyPr wrap="square" lIns="101600" tIns="0" rIns="0" bIns="0" rtlCol="0" anchor="t"/>
          <a:lstStyle/>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Different benchmark distribution</a:t>
            </a:r>
            <a:endParaRPr lang="en-US" sz="1200" dirty="0"/>
          </a:p>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Google-Traces-v2 proportion: 32% → 59%</a:t>
            </a:r>
            <a:endParaRPr lang="en-US" sz="1200" dirty="0"/>
          </a:p>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More SPEC17 benchmarks with non-memory bottlenecks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0" y="0"/>
            <a:ext cx="9144000" cy="825401"/>
          </a:xfrm>
          <a:prstGeom prst="rect">
            <a:avLst/>
          </a:prstGeom>
          <a:solidFill>
            <a:srgbClr val="5B4B9E"/>
          </a:solidFill>
          <a:ln/>
        </p:spPr>
        <p:txBody>
          <a:bodyPr wrap="square" rtlCol="0" anchor="ctr"/>
          <a:lstStyle/>
          <a:p>
            <a:pPr marL="0" indent="0">
              <a:buNone/>
            </a:pPr>
            <a:endParaRPr lang="en-US" dirty="0"/>
          </a:p>
        </p:txBody>
      </p:sp>
      <p:sp>
        <p:nvSpPr>
          <p:cNvPr id="3" name="Text 1"/>
          <p:cNvSpPr/>
          <p:nvPr/>
        </p:nvSpPr>
        <p:spPr>
          <a:xfrm>
            <a:off x="634901" y="126950"/>
            <a:ext cx="8031682" cy="409575"/>
          </a:xfrm>
          <a:prstGeom prst="rect">
            <a:avLst/>
          </a:prstGeom>
          <a:noFill/>
          <a:ln/>
        </p:spPr>
        <p:txBody>
          <a:bodyPr wrap="square" lIns="0" tIns="0" rIns="0" bIns="0" rtlCol="0" anchor="t"/>
          <a:lstStyle/>
          <a:p>
            <a:pPr marL="0" indent="0" algn="l">
              <a:buNone/>
            </a:pPr>
            <a:r>
              <a:rPr lang="en-US" sz="2800" b="1" dirty="0">
                <a:solidFill>
                  <a:srgbClr val="FFFFFF"/>
                </a:solidFill>
                <a:latin typeface="Arial" pitchFamily="34" charset="0"/>
                <a:ea typeface="Arial" pitchFamily="34" charset="-122"/>
                <a:cs typeface="Arial" pitchFamily="34" charset="-120"/>
              </a:rPr>
              <a:t>Appendix: Analysis and Insights</a:t>
            </a:r>
            <a:endParaRPr lang="en-US" sz="2800" dirty="0"/>
          </a:p>
        </p:txBody>
      </p:sp>
      <p:sp>
        <p:nvSpPr>
          <p:cNvPr id="4" name="Text 2"/>
          <p:cNvSpPr/>
          <p:nvPr/>
        </p:nvSpPr>
        <p:spPr>
          <a:xfrm>
            <a:off x="634901" y="888950"/>
            <a:ext cx="3983355" cy="209550"/>
          </a:xfrm>
          <a:prstGeom prst="rect">
            <a:avLst/>
          </a:prstGeom>
          <a:noFill/>
          <a:ln/>
        </p:spPr>
        <p:txBody>
          <a:bodyPr wrap="square" lIns="0" tIns="0" rIns="0" bIns="0" rtlCol="0" anchor="t"/>
          <a:lstStyle/>
          <a:p>
            <a:pPr marL="0" indent="0" algn="l">
              <a:spcAft>
                <a:spcPts val="1200"/>
              </a:spcAft>
              <a:buNone/>
            </a:pPr>
            <a:r>
              <a:rPr lang="en-US" sz="1400" b="1" dirty="0">
                <a:solidFill>
                  <a:srgbClr val="2A9D8F"/>
                </a:solidFill>
                <a:latin typeface="Arial" pitchFamily="34" charset="0"/>
                <a:ea typeface="Arial" pitchFamily="34" charset="-122"/>
                <a:cs typeface="Arial" pitchFamily="34" charset="-120"/>
              </a:rPr>
              <a:t>Single-Core Performance</a:t>
            </a:r>
            <a:endParaRPr lang="en-US" sz="1400" dirty="0"/>
          </a:p>
        </p:txBody>
      </p:sp>
      <p:sp>
        <p:nvSpPr>
          <p:cNvPr id="5" name="Text 3"/>
          <p:cNvSpPr/>
          <p:nvPr/>
        </p:nvSpPr>
        <p:spPr>
          <a:xfrm>
            <a:off x="634901" y="1250900"/>
            <a:ext cx="3905250" cy="1209824"/>
          </a:xfrm>
          <a:prstGeom prst="roundRect">
            <a:avLst>
              <a:gd name="adj" fmla="val 6298"/>
            </a:avLst>
          </a:prstGeom>
          <a:solidFill>
            <a:srgbClr val="E8F8F5"/>
          </a:solidFill>
          <a:ln/>
        </p:spPr>
        <p:txBody>
          <a:bodyPr wrap="square" rtlCol="0" anchor="ctr"/>
          <a:lstStyle/>
          <a:p>
            <a:pPr marL="0" indent="0">
              <a:buNone/>
            </a:pPr>
            <a:endParaRPr lang="en-US" dirty="0"/>
          </a:p>
        </p:txBody>
      </p:sp>
      <p:sp>
        <p:nvSpPr>
          <p:cNvPr id="6" name="Shape 4"/>
          <p:cNvSpPr/>
          <p:nvPr/>
        </p:nvSpPr>
        <p:spPr>
          <a:xfrm>
            <a:off x="658713" y="1250900"/>
            <a:ext cx="0" cy="1209824"/>
          </a:xfrm>
          <a:prstGeom prst="line">
            <a:avLst/>
          </a:prstGeom>
          <a:noFill/>
          <a:ln w="47625">
            <a:solidFill>
              <a:srgbClr val="2A9D8F"/>
            </a:solidFill>
            <a:prstDash val="solid"/>
          </a:ln>
        </p:spPr>
      </p:sp>
      <p:sp>
        <p:nvSpPr>
          <p:cNvPr id="7" name="Text 5"/>
          <p:cNvSpPr/>
          <p:nvPr/>
        </p:nvSpPr>
        <p:spPr>
          <a:xfrm>
            <a:off x="758726" y="1327100"/>
            <a:ext cx="3779329" cy="171450"/>
          </a:xfrm>
          <a:prstGeom prst="rect">
            <a:avLst/>
          </a:prstGeom>
          <a:noFill/>
          <a:ln/>
        </p:spPr>
        <p:txBody>
          <a:bodyPr wrap="square" lIns="0" tIns="0" rIns="0" bIns="0" rtlCol="0" anchor="t"/>
          <a:lstStyle/>
          <a:p>
            <a:pPr marL="0" indent="0" algn="l">
              <a:spcAft>
                <a:spcPts val="800"/>
              </a:spcAft>
              <a:buNone/>
            </a:pPr>
            <a:r>
              <a:rPr lang="en-US" sz="1200" b="1" dirty="0">
                <a:solidFill>
                  <a:srgbClr val="5B4B9E"/>
                </a:solidFill>
                <a:latin typeface="Arial" pitchFamily="34" charset="0"/>
                <a:ea typeface="Arial" pitchFamily="34" charset="-122"/>
                <a:cs typeface="Arial" pitchFamily="34" charset="-120"/>
              </a:rPr>
              <a:t>Trends Consistent with Training</a:t>
            </a:r>
            <a:endParaRPr lang="en-US" sz="1200" dirty="0"/>
          </a:p>
        </p:txBody>
      </p:sp>
      <p:sp>
        <p:nvSpPr>
          <p:cNvPr id="8" name="Text 6"/>
          <p:cNvSpPr/>
          <p:nvPr/>
        </p:nvSpPr>
        <p:spPr>
          <a:xfrm>
            <a:off x="758726" y="1600051"/>
            <a:ext cx="3705225" cy="721072"/>
          </a:xfrm>
          <a:prstGeom prst="rect">
            <a:avLst/>
          </a:prstGeom>
          <a:noFill/>
          <a:ln/>
        </p:spPr>
        <p:txBody>
          <a:bodyPr wrap="square" lIns="101600" tIns="0" rIns="0" bIns="0" rtlCol="0" anchor="t"/>
          <a:lstStyle/>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Most categories match training trace results</a:t>
            </a:r>
            <a:endParaRPr lang="en-US" sz="1200" dirty="0"/>
          </a:p>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SPEC17 shows slight regression</a:t>
            </a:r>
            <a:endParaRPr lang="en-US" sz="1200" dirty="0"/>
          </a:p>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Due to non-memory-bound benchmarks (e.g., leela)</a:t>
            </a:r>
            <a:endParaRPr lang="en-US" sz="1200" dirty="0"/>
          </a:p>
        </p:txBody>
      </p:sp>
      <p:sp>
        <p:nvSpPr>
          <p:cNvPr id="9" name="Text 7"/>
          <p:cNvSpPr/>
          <p:nvPr/>
        </p:nvSpPr>
        <p:spPr>
          <a:xfrm>
            <a:off x="634901" y="2524125"/>
            <a:ext cx="3905250" cy="1407914"/>
          </a:xfrm>
          <a:prstGeom prst="roundRect">
            <a:avLst>
              <a:gd name="adj" fmla="val 5412"/>
            </a:avLst>
          </a:prstGeom>
          <a:solidFill>
            <a:srgbClr val="FFF3E6"/>
          </a:solidFill>
          <a:ln/>
        </p:spPr>
        <p:txBody>
          <a:bodyPr wrap="square" rtlCol="0" anchor="ctr"/>
          <a:lstStyle/>
          <a:p>
            <a:pPr marL="0" indent="0">
              <a:buNone/>
            </a:pPr>
            <a:endParaRPr lang="en-US" dirty="0"/>
          </a:p>
        </p:txBody>
      </p:sp>
      <p:sp>
        <p:nvSpPr>
          <p:cNvPr id="10" name="Shape 8"/>
          <p:cNvSpPr/>
          <p:nvPr/>
        </p:nvSpPr>
        <p:spPr>
          <a:xfrm>
            <a:off x="658713" y="2524125"/>
            <a:ext cx="0" cy="1407914"/>
          </a:xfrm>
          <a:prstGeom prst="line">
            <a:avLst/>
          </a:prstGeom>
          <a:noFill/>
          <a:ln w="47625">
            <a:solidFill>
              <a:srgbClr val="E76F51"/>
            </a:solidFill>
            <a:prstDash val="solid"/>
          </a:ln>
        </p:spPr>
      </p:sp>
      <p:sp>
        <p:nvSpPr>
          <p:cNvPr id="11" name="Text 9"/>
          <p:cNvSpPr/>
          <p:nvPr/>
        </p:nvSpPr>
        <p:spPr>
          <a:xfrm>
            <a:off x="758726" y="2600325"/>
            <a:ext cx="3779329" cy="171450"/>
          </a:xfrm>
          <a:prstGeom prst="rect">
            <a:avLst/>
          </a:prstGeom>
          <a:noFill/>
          <a:ln/>
        </p:spPr>
        <p:txBody>
          <a:bodyPr wrap="square" lIns="0" tIns="0" rIns="0" bIns="0" rtlCol="0" anchor="t"/>
          <a:lstStyle/>
          <a:p>
            <a:pPr marL="0" indent="0" algn="l">
              <a:spcAft>
                <a:spcPts val="800"/>
              </a:spcAft>
              <a:buNone/>
            </a:pPr>
            <a:r>
              <a:rPr lang="en-US" sz="1200" b="1" dirty="0">
                <a:solidFill>
                  <a:srgbClr val="5B4B9E"/>
                </a:solidFill>
                <a:latin typeface="Arial" pitchFamily="34" charset="0"/>
                <a:ea typeface="Arial" pitchFamily="34" charset="-122"/>
                <a:cs typeface="Arial" pitchFamily="34" charset="-120"/>
              </a:rPr>
              <a:t>Overall Score Reduction Factor</a:t>
            </a:r>
            <a:endParaRPr lang="en-US" sz="1200" dirty="0"/>
          </a:p>
        </p:txBody>
      </p:sp>
      <p:sp>
        <p:nvSpPr>
          <p:cNvPr id="12" name="Text 10"/>
          <p:cNvSpPr/>
          <p:nvPr/>
        </p:nvSpPr>
        <p:spPr>
          <a:xfrm>
            <a:off x="758726" y="2873276"/>
            <a:ext cx="3705225" cy="919162"/>
          </a:xfrm>
          <a:prstGeom prst="rect">
            <a:avLst/>
          </a:prstGeom>
          <a:noFill/>
          <a:ln/>
        </p:spPr>
        <p:txBody>
          <a:bodyPr wrap="square" lIns="101600" tIns="0" rIns="0" bIns="0" rtlCol="0" anchor="t"/>
          <a:lstStyle/>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Google-Traces-v2 proportion increased</a:t>
            </a:r>
            <a:endParaRPr lang="en-US" sz="1200" dirty="0"/>
          </a:p>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From 32% to 59% in evaluation traces</a:t>
            </a:r>
            <a:endParaRPr lang="en-US" sz="1200" dirty="0"/>
          </a:p>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Our optimizations provide minimal benefits for these traces</a:t>
            </a:r>
            <a:endParaRPr lang="en-US" sz="1200" dirty="0"/>
          </a:p>
        </p:txBody>
      </p:sp>
      <p:sp>
        <p:nvSpPr>
          <p:cNvPr id="13" name="Text 11"/>
          <p:cNvSpPr/>
          <p:nvPr/>
        </p:nvSpPr>
        <p:spPr>
          <a:xfrm>
            <a:off x="4730651" y="888950"/>
            <a:ext cx="3983507" cy="209550"/>
          </a:xfrm>
          <a:prstGeom prst="rect">
            <a:avLst/>
          </a:prstGeom>
          <a:noFill/>
          <a:ln/>
        </p:spPr>
        <p:txBody>
          <a:bodyPr wrap="square" lIns="0" tIns="0" rIns="0" bIns="0" rtlCol="0" anchor="t"/>
          <a:lstStyle/>
          <a:p>
            <a:pPr marL="0" indent="0" algn="l">
              <a:spcAft>
                <a:spcPts val="1200"/>
              </a:spcAft>
              <a:buNone/>
            </a:pPr>
            <a:r>
              <a:rPr lang="en-US" sz="1400" b="1" dirty="0">
                <a:solidFill>
                  <a:srgbClr val="2A9D8F"/>
                </a:solidFill>
                <a:latin typeface="Arial" pitchFamily="34" charset="0"/>
                <a:ea typeface="Arial" pitchFamily="34" charset="-122"/>
                <a:cs typeface="Arial" pitchFamily="34" charset="-120"/>
              </a:rPr>
              <a:t>Multi-Core Performance</a:t>
            </a:r>
            <a:endParaRPr lang="en-US" sz="1400" dirty="0"/>
          </a:p>
        </p:txBody>
      </p:sp>
      <p:sp>
        <p:nvSpPr>
          <p:cNvPr id="14" name="Text 12"/>
          <p:cNvSpPr/>
          <p:nvPr/>
        </p:nvSpPr>
        <p:spPr>
          <a:xfrm>
            <a:off x="4730651" y="1250900"/>
            <a:ext cx="3905399" cy="1407914"/>
          </a:xfrm>
          <a:prstGeom prst="roundRect">
            <a:avLst>
              <a:gd name="adj" fmla="val 5412"/>
            </a:avLst>
          </a:prstGeom>
          <a:solidFill>
            <a:srgbClr val="E8F8F5"/>
          </a:solidFill>
          <a:ln/>
        </p:spPr>
        <p:txBody>
          <a:bodyPr wrap="square" rtlCol="0" anchor="ctr"/>
          <a:lstStyle/>
          <a:p>
            <a:pPr marL="0" indent="0">
              <a:buNone/>
            </a:pPr>
            <a:endParaRPr lang="en-US" dirty="0"/>
          </a:p>
        </p:txBody>
      </p:sp>
      <p:sp>
        <p:nvSpPr>
          <p:cNvPr id="15" name="Shape 13"/>
          <p:cNvSpPr/>
          <p:nvPr/>
        </p:nvSpPr>
        <p:spPr>
          <a:xfrm>
            <a:off x="4754463" y="1250900"/>
            <a:ext cx="0" cy="1407914"/>
          </a:xfrm>
          <a:prstGeom prst="line">
            <a:avLst/>
          </a:prstGeom>
          <a:noFill/>
          <a:ln w="47625">
            <a:solidFill>
              <a:srgbClr val="2A9D8F"/>
            </a:solidFill>
            <a:prstDash val="solid"/>
          </a:ln>
        </p:spPr>
      </p:sp>
      <p:sp>
        <p:nvSpPr>
          <p:cNvPr id="16" name="Text 14"/>
          <p:cNvSpPr/>
          <p:nvPr/>
        </p:nvSpPr>
        <p:spPr>
          <a:xfrm>
            <a:off x="4854476" y="1327100"/>
            <a:ext cx="3779481" cy="171450"/>
          </a:xfrm>
          <a:prstGeom prst="rect">
            <a:avLst/>
          </a:prstGeom>
          <a:noFill/>
          <a:ln/>
        </p:spPr>
        <p:txBody>
          <a:bodyPr wrap="square" lIns="0" tIns="0" rIns="0" bIns="0" rtlCol="0" anchor="t"/>
          <a:lstStyle/>
          <a:p>
            <a:pPr marL="0" indent="0" algn="l">
              <a:spcAft>
                <a:spcPts val="800"/>
              </a:spcAft>
              <a:buNone/>
            </a:pPr>
            <a:r>
              <a:rPr lang="en-US" sz="1200" b="1" dirty="0">
                <a:solidFill>
                  <a:srgbClr val="5B4B9E"/>
                </a:solidFill>
                <a:latin typeface="Arial" pitchFamily="34" charset="0"/>
                <a:ea typeface="Arial" pitchFamily="34" charset="-122"/>
                <a:cs typeface="Arial" pitchFamily="34" charset="-120"/>
              </a:rPr>
              <a:t>Divergent Characteristics</a:t>
            </a:r>
            <a:endParaRPr lang="en-US" sz="1200" dirty="0"/>
          </a:p>
        </p:txBody>
      </p:sp>
      <p:sp>
        <p:nvSpPr>
          <p:cNvPr id="17" name="Text 15"/>
          <p:cNvSpPr/>
          <p:nvPr/>
        </p:nvSpPr>
        <p:spPr>
          <a:xfrm>
            <a:off x="4854476" y="1600051"/>
            <a:ext cx="3705374" cy="919162"/>
          </a:xfrm>
          <a:prstGeom prst="rect">
            <a:avLst/>
          </a:prstGeom>
          <a:noFill/>
          <a:ln/>
        </p:spPr>
        <p:txBody>
          <a:bodyPr wrap="square" lIns="101600" tIns="0" rIns="0" bIns="0" rtlCol="0" anchor="t"/>
          <a:lstStyle/>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Training: Random sampling across all benchmarks</a:t>
            </a:r>
            <a:endParaRPr lang="en-US" sz="1200" dirty="0"/>
          </a:p>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Evaluation: Category-independent sampling</a:t>
            </a:r>
            <a:endParaRPr lang="en-US" sz="1200" dirty="0"/>
          </a:p>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Results in more homogeneous behavior across cores</a:t>
            </a:r>
            <a:endParaRPr lang="en-US" sz="1200" dirty="0"/>
          </a:p>
        </p:txBody>
      </p:sp>
      <p:sp>
        <p:nvSpPr>
          <p:cNvPr id="18" name="Text 16"/>
          <p:cNvSpPr/>
          <p:nvPr/>
        </p:nvSpPr>
        <p:spPr>
          <a:xfrm>
            <a:off x="4730651" y="2722215"/>
            <a:ext cx="3905399" cy="1804095"/>
          </a:xfrm>
          <a:prstGeom prst="roundRect">
            <a:avLst>
              <a:gd name="adj" fmla="val 4224"/>
            </a:avLst>
          </a:prstGeom>
          <a:solidFill>
            <a:srgbClr val="FFF3E6"/>
          </a:solidFill>
          <a:ln/>
        </p:spPr>
        <p:txBody>
          <a:bodyPr wrap="square" rtlCol="0" anchor="ctr"/>
          <a:lstStyle/>
          <a:p>
            <a:pPr marL="0" indent="0">
              <a:buNone/>
            </a:pPr>
            <a:endParaRPr lang="en-US" dirty="0"/>
          </a:p>
        </p:txBody>
      </p:sp>
      <p:sp>
        <p:nvSpPr>
          <p:cNvPr id="19" name="Shape 17"/>
          <p:cNvSpPr/>
          <p:nvPr/>
        </p:nvSpPr>
        <p:spPr>
          <a:xfrm>
            <a:off x="4754463" y="2722215"/>
            <a:ext cx="0" cy="1804095"/>
          </a:xfrm>
          <a:prstGeom prst="line">
            <a:avLst/>
          </a:prstGeom>
          <a:noFill/>
          <a:ln w="47625">
            <a:solidFill>
              <a:srgbClr val="E76F51"/>
            </a:solidFill>
            <a:prstDash val="solid"/>
          </a:ln>
        </p:spPr>
      </p:sp>
      <p:sp>
        <p:nvSpPr>
          <p:cNvPr id="20" name="Text 18"/>
          <p:cNvSpPr/>
          <p:nvPr/>
        </p:nvSpPr>
        <p:spPr>
          <a:xfrm>
            <a:off x="4854476" y="2798415"/>
            <a:ext cx="3779481" cy="171450"/>
          </a:xfrm>
          <a:prstGeom prst="rect">
            <a:avLst/>
          </a:prstGeom>
          <a:noFill/>
          <a:ln/>
        </p:spPr>
        <p:txBody>
          <a:bodyPr wrap="square" lIns="0" tIns="0" rIns="0" bIns="0" rtlCol="0" anchor="t"/>
          <a:lstStyle/>
          <a:p>
            <a:pPr marL="0" indent="0" algn="l">
              <a:spcAft>
                <a:spcPts val="800"/>
              </a:spcAft>
              <a:buNone/>
            </a:pPr>
            <a:r>
              <a:rPr lang="en-US" sz="1200" b="1" dirty="0">
                <a:solidFill>
                  <a:srgbClr val="5B4B9E"/>
                </a:solidFill>
                <a:latin typeface="Arial" pitchFamily="34" charset="0"/>
                <a:ea typeface="Arial" pitchFamily="34" charset="-122"/>
                <a:cs typeface="Arial" pitchFamily="34" charset="-120"/>
              </a:rPr>
              <a:t>Throttling Mechanism Impact</a:t>
            </a:r>
            <a:endParaRPr lang="en-US" sz="1200" dirty="0"/>
          </a:p>
        </p:txBody>
      </p:sp>
      <p:sp>
        <p:nvSpPr>
          <p:cNvPr id="21" name="Text 19"/>
          <p:cNvSpPr/>
          <p:nvPr/>
        </p:nvSpPr>
        <p:spPr>
          <a:xfrm>
            <a:off x="4854476" y="3071366"/>
            <a:ext cx="3705374" cy="1315343"/>
          </a:xfrm>
          <a:prstGeom prst="rect">
            <a:avLst/>
          </a:prstGeom>
          <a:noFill/>
          <a:ln/>
        </p:spPr>
        <p:txBody>
          <a:bodyPr wrap="square" lIns="101600" tIns="0" rIns="0" bIns="0" rtlCol="0" anchor="t"/>
          <a:lstStyle/>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Training: High diversity amplifies throttling effectiveness</a:t>
            </a:r>
            <a:endParaRPr lang="en-US" sz="1200" dirty="0"/>
          </a:p>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Evaluation: Homogeneous behavior reduces throttling benefits</a:t>
            </a:r>
            <a:endParaRPr lang="en-US" sz="1200" dirty="0"/>
          </a:p>
          <a:p>
            <a:pPr marL="101600" indent="-101600" algn="l">
              <a:lnSpc>
                <a:spcPts val="1560"/>
              </a:lnSpc>
              <a:spcAft>
                <a:spcPts val="500"/>
              </a:spcAft>
              <a:buSzPct val="100000"/>
              <a:buChar char="•"/>
            </a:pPr>
            <a:r>
              <a:rPr lang="en-US" sz="1200" dirty="0">
                <a:solidFill>
                  <a:srgbClr val="264653"/>
                </a:solidFill>
                <a:latin typeface="Arial" pitchFamily="34" charset="0"/>
                <a:ea typeface="Arial" pitchFamily="34" charset="-122"/>
                <a:cs typeface="Arial" pitchFamily="34" charset="-120"/>
              </a:rPr>
              <a:t>Current throttling proves suboptimal in evaluation scenario</a:t>
            </a:r>
            <a:endParaRPr lang="en-US" sz="1200" dirty="0"/>
          </a:p>
        </p:txBody>
      </p:sp>
      <p:sp>
        <p:nvSpPr>
          <p:cNvPr id="22" name="Text 20"/>
          <p:cNvSpPr/>
          <p:nvPr/>
        </p:nvSpPr>
        <p:spPr>
          <a:xfrm>
            <a:off x="4730651" y="4589711"/>
            <a:ext cx="3905399" cy="548580"/>
          </a:xfrm>
          <a:prstGeom prst="roundRect">
            <a:avLst>
              <a:gd name="adj" fmla="val 13890"/>
            </a:avLst>
          </a:prstGeom>
          <a:solidFill>
            <a:srgbClr val="E9ECEF"/>
          </a:solidFill>
          <a:ln/>
        </p:spPr>
        <p:txBody>
          <a:bodyPr wrap="square" rtlCol="0" anchor="ctr"/>
          <a:lstStyle/>
          <a:p>
            <a:pPr marL="0" indent="0">
              <a:buNone/>
            </a:pPr>
            <a:endParaRPr lang="en-US" dirty="0"/>
          </a:p>
        </p:txBody>
      </p:sp>
      <p:sp>
        <p:nvSpPr>
          <p:cNvPr id="23" name="Text 21"/>
          <p:cNvSpPr/>
          <p:nvPr/>
        </p:nvSpPr>
        <p:spPr>
          <a:xfrm>
            <a:off x="4806851" y="4665911"/>
            <a:ext cx="3828059" cy="396180"/>
          </a:xfrm>
          <a:prstGeom prst="rect">
            <a:avLst/>
          </a:prstGeom>
          <a:noFill/>
          <a:ln/>
        </p:spPr>
        <p:txBody>
          <a:bodyPr wrap="square" lIns="0" tIns="0" rIns="0" bIns="0" rtlCol="0" anchor="t"/>
          <a:lstStyle/>
          <a:p>
            <a:pPr marL="0" indent="0" algn="l">
              <a:lnSpc>
                <a:spcPts val="1560"/>
              </a:lnSpc>
              <a:buNone/>
            </a:pPr>
            <a:r>
              <a:rPr lang="en-US" sz="1200" b="1" dirty="0">
                <a:solidFill>
                  <a:srgbClr val="5B4B9E"/>
                </a:solidFill>
                <a:latin typeface="Arial" pitchFamily="34" charset="0"/>
                <a:ea typeface="Arial" pitchFamily="34" charset="-122"/>
                <a:cs typeface="Arial" pitchFamily="34" charset="-120"/>
              </a:rPr>
              <a:t>Insight:</a:t>
            </a:r>
            <a:r>
              <a:rPr lang="en-US" sz="1200" dirty="0">
                <a:solidFill>
                  <a:srgbClr val="264653"/>
                </a:solidFill>
                <a:latin typeface="Arial" pitchFamily="34" charset="0"/>
                <a:ea typeface="Arial" pitchFamily="34" charset="-122"/>
                <a:cs typeface="Arial" pitchFamily="34" charset="-120"/>
              </a:rPr>
              <a:t> Throttling effectiveness depends on workload diversity across cores.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772</TotalTime>
  <Words>4267</Words>
  <Application>Microsoft Office PowerPoint</Application>
  <PresentationFormat>全屏显示(16:9)</PresentationFormat>
  <Paragraphs>545</Paragraphs>
  <Slides>22</Slides>
  <Notes>22</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22</vt:i4>
      </vt:variant>
    </vt:vector>
  </HeadingPairs>
  <TitlesOfParts>
    <vt:vector size="25" baseType="lpstr">
      <vt:lpstr>Arial</vt:lpstr>
      <vt:lpstr>Courier New</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Emender: Optimizing Prefetch Priority and Throttling in VBerti+Pythia</dc:title>
  <dc:subject>DPC4 Championship</dc:subject>
  <dc:creator>Jiajie Chen, Tingji Zhang, et al.</dc:creator>
  <cp:lastModifiedBy>杉 柏</cp:lastModifiedBy>
  <cp:revision>96</cp:revision>
  <dcterms:created xsi:type="dcterms:W3CDTF">2026-01-16T04:27:25Z</dcterms:created>
  <dcterms:modified xsi:type="dcterms:W3CDTF">2026-02-01T00:52:30Z</dcterms:modified>
</cp:coreProperties>
</file>