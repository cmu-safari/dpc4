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379" r:id="rId2"/>
    <p:sldId id="2165" r:id="rId3"/>
    <p:sldId id="2166" r:id="rId4"/>
    <p:sldId id="2148" r:id="rId5"/>
    <p:sldId id="2167" r:id="rId6"/>
    <p:sldId id="2149" r:id="rId7"/>
    <p:sldId id="2169" r:id="rId8"/>
    <p:sldId id="2170" r:id="rId9"/>
    <p:sldId id="2150" r:id="rId10"/>
    <p:sldId id="2153" r:id="rId11"/>
    <p:sldId id="2152" r:id="rId12"/>
    <p:sldId id="346" r:id="rId13"/>
  </p:sldIdLst>
  <p:sldSz cx="12192000" cy="6858000"/>
  <p:notesSz cx="7099300" cy="102346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사용자" initials="W사" lastIdx="4" clrIdx="0">
    <p:extLst>
      <p:ext uri="{19B8F6BF-5375-455C-9EA6-DF929625EA0E}">
        <p15:presenceInfo xmlns:p15="http://schemas.microsoft.com/office/powerpoint/2012/main" userId="Windows 사용자" providerId="None"/>
      </p:ext>
    </p:extLst>
  </p:cmAuthor>
  <p:cmAuthor id="2" name="고건" initials="고" lastIdx="2" clrIdx="1">
    <p:extLst>
      <p:ext uri="{19B8F6BF-5375-455C-9EA6-DF929625EA0E}">
        <p15:presenceInfo xmlns:p15="http://schemas.microsoft.com/office/powerpoint/2012/main" userId="S::gun.ko@o365.yonsei.ac.kr::070d82b2-e28f-4206-9321-9ab5ead92c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0000"/>
    <a:srgbClr val="264C77"/>
    <a:srgbClr val="00457C"/>
    <a:srgbClr val="02355F"/>
    <a:srgbClr val="DC8167"/>
    <a:srgbClr val="467B9C"/>
    <a:srgbClr val="15334B"/>
    <a:srgbClr val="004275"/>
    <a:srgbClr val="ECECEC"/>
    <a:srgbClr val="467B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59" autoAdjust="0"/>
    <p:restoredTop sz="74965" autoAdjust="0"/>
  </p:normalViewPr>
  <p:slideViewPr>
    <p:cSldViewPr snapToGrid="0">
      <p:cViewPr varScale="1">
        <p:scale>
          <a:sx n="92" d="100"/>
          <a:sy n="92" d="100"/>
        </p:scale>
        <p:origin x="2064" y="176"/>
      </p:cViewPr>
      <p:guideLst/>
    </p:cSldViewPr>
  </p:slideViewPr>
  <p:notesTextViewPr>
    <p:cViewPr>
      <p:scale>
        <a:sx n="150" d="100"/>
        <a:sy n="150" d="100"/>
      </p:scale>
      <p:origin x="0" y="0"/>
    </p:cViewPr>
  </p:notesTextViewPr>
  <p:notesViewPr>
    <p:cSldViewPr snapToGrid="0">
      <p:cViewPr varScale="1">
        <p:scale>
          <a:sx n="87" d="100"/>
          <a:sy n="87" d="100"/>
        </p:scale>
        <p:origin x="289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ko-KR" altLang="en-US"/>
          </a:p>
        </p:txBody>
      </p:sp>
      <p:sp>
        <p:nvSpPr>
          <p:cNvPr id="3" name="날짜 개체 틀 2"/>
          <p:cNvSpPr>
            <a:spLocks noGrp="1"/>
          </p:cNvSpPr>
          <p:nvPr>
            <p:ph type="dt" sz="quarter" idx="1"/>
          </p:nvPr>
        </p:nvSpPr>
        <p:spPr>
          <a:xfrm>
            <a:off x="4021294" y="0"/>
            <a:ext cx="3076363" cy="513508"/>
          </a:xfrm>
          <a:prstGeom prst="rect">
            <a:avLst/>
          </a:prstGeom>
        </p:spPr>
        <p:txBody>
          <a:bodyPr vert="horz" lIns="99048" tIns="49524" rIns="99048" bIns="49524" rtlCol="0"/>
          <a:lstStyle>
            <a:lvl1pPr algn="r">
              <a:defRPr sz="1300"/>
            </a:lvl1pPr>
          </a:lstStyle>
          <a:p>
            <a:fld id="{8BEFBDAA-E52C-4169-9372-7FA853BBBB6D}" type="datetimeFigureOut">
              <a:rPr lang="ko-KR" altLang="en-US" smtClean="0"/>
              <a:t>2026. 2. 1.</a:t>
            </a:fld>
            <a:endParaRPr lang="ko-KR" altLang="en-US"/>
          </a:p>
        </p:txBody>
      </p:sp>
      <p:sp>
        <p:nvSpPr>
          <p:cNvPr id="4" name="바닥글 개체 틀 3"/>
          <p:cNvSpPr>
            <a:spLocks noGrp="1"/>
          </p:cNvSpPr>
          <p:nvPr>
            <p:ph type="ftr" sz="quarter" idx="2"/>
          </p:nvPr>
        </p:nvSpPr>
        <p:spPr>
          <a:xfrm>
            <a:off x="0" y="9721107"/>
            <a:ext cx="3076363" cy="513507"/>
          </a:xfrm>
          <a:prstGeom prst="rect">
            <a:avLst/>
          </a:prstGeom>
        </p:spPr>
        <p:txBody>
          <a:bodyPr vert="horz" lIns="99048" tIns="49524" rIns="99048" bIns="49524" rtlCol="0" anchor="b"/>
          <a:lstStyle>
            <a:lvl1pPr algn="l">
              <a:defRPr sz="1300"/>
            </a:lvl1pPr>
          </a:lstStyle>
          <a:p>
            <a:endParaRPr lang="ko-KR" altLang="en-US"/>
          </a:p>
        </p:txBody>
      </p:sp>
      <p:sp>
        <p:nvSpPr>
          <p:cNvPr id="5" name="슬라이드 번호 개체 틀 4"/>
          <p:cNvSpPr>
            <a:spLocks noGrp="1"/>
          </p:cNvSpPr>
          <p:nvPr>
            <p:ph type="sldNum" sz="quarter" idx="3"/>
          </p:nvPr>
        </p:nvSpPr>
        <p:spPr>
          <a:xfrm>
            <a:off x="4021294" y="9721107"/>
            <a:ext cx="3076363" cy="513507"/>
          </a:xfrm>
          <a:prstGeom prst="rect">
            <a:avLst/>
          </a:prstGeom>
        </p:spPr>
        <p:txBody>
          <a:bodyPr vert="horz" lIns="99048" tIns="49524" rIns="99048" bIns="49524" rtlCol="0" anchor="b"/>
          <a:lstStyle>
            <a:lvl1pPr algn="r">
              <a:defRPr sz="1300"/>
            </a:lvl1pPr>
          </a:lstStyle>
          <a:p>
            <a:fld id="{2D826C17-78E2-49A7-BE33-02D96E6D190B}" type="slidenum">
              <a:rPr lang="ko-KR" altLang="en-US" smtClean="0"/>
              <a:t>‹#›</a:t>
            </a:fld>
            <a:endParaRPr lang="ko-KR" altLang="en-US"/>
          </a:p>
        </p:txBody>
      </p:sp>
    </p:spTree>
    <p:extLst>
      <p:ext uri="{BB962C8B-B14F-4D97-AF65-F5344CB8AC3E}">
        <p14:creationId xmlns:p14="http://schemas.microsoft.com/office/powerpoint/2010/main" val="41907926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ko-KR" altLang="en-US"/>
          </a:p>
        </p:txBody>
      </p:sp>
      <p:sp>
        <p:nvSpPr>
          <p:cNvPr id="3" name="날짜 개체 틀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C1EC6CFB-8D07-4CDE-9B61-8217817852B8}" type="datetimeFigureOut">
              <a:rPr lang="ko-KR" altLang="en-US" smtClean="0"/>
              <a:t>2026. 1. 31.</a:t>
            </a:fld>
            <a:endParaRPr lang="ko-KR" altLang="en-US"/>
          </a:p>
        </p:txBody>
      </p:sp>
      <p:sp>
        <p:nvSpPr>
          <p:cNvPr id="4" name="슬라이드 이미지 개체 틀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ko-KR" altLang="en-US"/>
          </a:p>
        </p:txBody>
      </p:sp>
      <p:sp>
        <p:nvSpPr>
          <p:cNvPr id="5" name="슬라이드 노트 개체 틀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ko-KR" altLang="en-US"/>
          </a:p>
        </p:txBody>
      </p:sp>
      <p:sp>
        <p:nvSpPr>
          <p:cNvPr id="7" name="슬라이드 번호 개체 틀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D0C664DC-C26E-465D-99FF-B6F4031E277D}" type="slidenum">
              <a:rPr lang="ko-KR" altLang="en-US" smtClean="0"/>
              <a:t>‹#›</a:t>
            </a:fld>
            <a:endParaRPr lang="ko-KR" altLang="en-US"/>
          </a:p>
        </p:txBody>
      </p:sp>
    </p:spTree>
    <p:extLst>
      <p:ext uri="{BB962C8B-B14F-4D97-AF65-F5344CB8AC3E}">
        <p14:creationId xmlns:p14="http://schemas.microsoft.com/office/powerpoint/2010/main" val="100212990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1</a:t>
            </a:fld>
            <a:endParaRPr lang="ko-KR" altLang="en-US"/>
          </a:p>
        </p:txBody>
      </p:sp>
    </p:spTree>
    <p:extLst>
      <p:ext uri="{BB962C8B-B14F-4D97-AF65-F5344CB8AC3E}">
        <p14:creationId xmlns:p14="http://schemas.microsoft.com/office/powerpoint/2010/main" val="108219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F40FD-B43B-B2A7-10CE-80531B4E2BC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77965FB-C01D-BB1B-8EB8-B9DA84572E8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195071A-8FB7-230A-492B-EB72E53CA21E}"/>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1" lang="en-US" altLang="ko-KR" dirty="0"/>
              <a:t> Let’s start with how multi-level prefetchers work. </a:t>
            </a:r>
            <a:br>
              <a:rPr kumimoji="1" lang="en-US" altLang="ko-KR" dirty="0"/>
            </a:br>
            <a:br>
              <a:rPr kumimoji="1" lang="en-US" altLang="ko-KR" dirty="0"/>
            </a:br>
            <a:r>
              <a:rPr kumimoji="1" lang="en-US" altLang="ko-KR" dirty="0"/>
              <a:t>A prefetcher’s characteristic and behavior depends on where the prefetcher is placed. </a:t>
            </a:r>
            <a:br>
              <a:rPr kumimoji="1" lang="en-US" altLang="ko-KR" dirty="0"/>
            </a:br>
            <a:br>
              <a:rPr kumimoji="1" lang="en-US" altLang="ko-KR" dirty="0"/>
            </a:br>
            <a:r>
              <a:rPr kumimoji="1" lang="en-US" altLang="ko-KR" dirty="0"/>
              <a:t>If a prefetcher is placed at the L1, the prefetcher can see all memory accesses, and works on virtual address. However, because of the limited capacity of the L1 and the view of full memory stream, the prefetcher works more conservatively. </a:t>
            </a:r>
            <a:br>
              <a:rPr kumimoji="1" lang="en-US" altLang="ko-KR" dirty="0"/>
            </a:br>
            <a:br>
              <a:rPr kumimoji="1" lang="en-US" altLang="ko-KR" dirty="0"/>
            </a:br>
            <a:r>
              <a:rPr kumimoji="1" lang="en-US" altLang="ko-KR" dirty="0"/>
              <a:t>On the other hand, if the prefetcher is placed along with the L2,  the prefetcher sees a sparser memory stream, the miss stream in the L1 cache, and works on physical addresses. But because of the sufficient capacity of the L2 cache and a view of sparser memory streams, the prefetcher works more aggressively. </a:t>
            </a:r>
            <a:br>
              <a:rPr kumimoji="1" lang="en-US" altLang="ko-KR" dirty="0"/>
            </a:br>
            <a:br>
              <a:rPr kumimoji="1" lang="en-US" altLang="ko-KR" dirty="0"/>
            </a:br>
            <a:r>
              <a:rPr lang="en" altLang="ko-KR" b="1" dirty="0"/>
              <a:t>Because of these characteristics and behaviors, each prefetcher naturally exhibits a different effect:</a:t>
            </a:r>
            <a:br>
              <a:rPr lang="en" altLang="ko-KR" dirty="0"/>
            </a:br>
            <a:r>
              <a:rPr lang="en" altLang="ko-KR" dirty="0"/>
              <a:t>the L1 prefetcher mainly reduces L1 MPKI, while the L2 prefetcher mainly reduces L2 MPKI.</a:t>
            </a:r>
            <a:br>
              <a:rPr kumimoji="1" lang="en-US" altLang="ko-KR" dirty="0"/>
            </a:br>
            <a:br>
              <a:rPr kumimoji="1" lang="en-US" altLang="ko-KR" dirty="0"/>
            </a:br>
            <a:endParaRPr kumimoji="1" lang="ko-KR" altLang="en-US" dirty="0"/>
          </a:p>
        </p:txBody>
      </p:sp>
      <p:sp>
        <p:nvSpPr>
          <p:cNvPr id="4" name="슬라이드 번호 개체 틀 3">
            <a:extLst>
              <a:ext uri="{FF2B5EF4-FFF2-40B4-BE49-F238E27FC236}">
                <a16:creationId xmlns:a16="http://schemas.microsoft.com/office/drawing/2014/main" id="{4865F4D8-CAEA-EAC8-C059-851E18641B91}"/>
              </a:ext>
            </a:extLst>
          </p:cNvPr>
          <p:cNvSpPr>
            <a:spLocks noGrp="1"/>
          </p:cNvSpPr>
          <p:nvPr>
            <p:ph type="sldNum" sz="quarter" idx="5"/>
          </p:nvPr>
        </p:nvSpPr>
        <p:spPr/>
        <p:txBody>
          <a:bodyPr/>
          <a:lstStyle/>
          <a:p>
            <a:fld id="{D0C664DC-C26E-465D-99FF-B6F4031E277D}" type="slidenum">
              <a:rPr lang="ko-KR" altLang="en-US" smtClean="0"/>
              <a:t>2</a:t>
            </a:fld>
            <a:endParaRPr lang="ko-KR" altLang="en-US"/>
          </a:p>
        </p:txBody>
      </p:sp>
    </p:spTree>
    <p:extLst>
      <p:ext uri="{BB962C8B-B14F-4D97-AF65-F5344CB8AC3E}">
        <p14:creationId xmlns:p14="http://schemas.microsoft.com/office/powerpoint/2010/main" val="3594515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 altLang="ko-KR" b="1" dirty="0"/>
              <a:t>This can be supported by a very simple experiment.</a:t>
            </a:r>
            <a:br>
              <a:rPr lang="en" altLang="ko-KR" dirty="0"/>
            </a:br>
            <a:r>
              <a:rPr lang="en" altLang="ko-KR" dirty="0"/>
              <a:t>We measure the MPKI at each cache level under different prefetcher configurations.</a:t>
            </a:r>
          </a:p>
          <a:p>
            <a:pPr>
              <a:buNone/>
            </a:pPr>
            <a:r>
              <a:rPr lang="en" altLang="ko-KR" dirty="0"/>
              <a:t>Here, we compare L1-only prefetcher with Berti, L2-only prefetcher with Pythia, and a multi-level prefetcher that combines both. The MPKI is normalized to a no prefetcher </a:t>
            </a:r>
            <a:r>
              <a:rPr lang="en" altLang="ko-KR" dirty="0" err="1"/>
              <a:t>configurtion</a:t>
            </a:r>
            <a:r>
              <a:rPr lang="en" altLang="ko-KR" dirty="0"/>
              <a:t>. </a:t>
            </a:r>
          </a:p>
          <a:p>
            <a:pPr>
              <a:buNone/>
            </a:pPr>
            <a:endParaRPr lang="en" altLang="ko-KR" dirty="0"/>
          </a:p>
          <a:p>
            <a:pPr>
              <a:buNone/>
            </a:pPr>
            <a:r>
              <a:rPr lang="en" altLang="ko-KR" dirty="0"/>
              <a:t>As shown in the figure, the multi-level design achieves L1 MPKI reduction identical to L1-only prefetcher. This is very straightforward because an L2 prefetcher doesn’t prefetch to L1. But also, we can see that the L2/LLC MPKI reduction comparable to L2-only prefetcher.</a:t>
            </a:r>
          </a:p>
          <a:p>
            <a:pPr>
              <a:buNone/>
            </a:pPr>
            <a:endParaRPr lang="en" altLang="ko-KR" dirty="0"/>
          </a:p>
          <a:p>
            <a:r>
              <a:rPr lang="en" altLang="ko-KR" dirty="0"/>
              <a:t>This indicates that each prefetcher remains effective at its target cache level, showing clearly distinct effects. </a:t>
            </a:r>
            <a:br>
              <a:rPr lang="en" altLang="ko-KR" dirty="0"/>
            </a:br>
            <a:r>
              <a:rPr lang="en" altLang="ko-KR" dirty="0"/>
              <a:t>So, we can see that the L2 prefetcher </a:t>
            </a:r>
            <a:r>
              <a:rPr lang="en-US" altLang="ko-KR" dirty="0"/>
              <a:t>reduces the L2/LLC MPKI more effectively than the L1 prefetcher</a:t>
            </a:r>
            <a:r>
              <a:rPr lang="ko-KR" altLang="en-US" dirty="0"/>
              <a:t> </a:t>
            </a:r>
            <a:r>
              <a:rPr lang="en-US" altLang="ko-KR" dirty="0"/>
              <a:t>by </a:t>
            </a:r>
            <a:r>
              <a:rPr lang="en" altLang="ko-KR" dirty="0"/>
              <a:t>capturing long-range access patterns</a:t>
            </a:r>
            <a:r>
              <a:rPr lang="en-US" altLang="ko-KR" dirty="0"/>
              <a:t>. </a:t>
            </a:r>
            <a:endParaRPr kumimoji="1" lang="ko-KR" altLang="en-US" dirty="0"/>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3</a:t>
            </a:fld>
            <a:endParaRPr lang="ko-KR" altLang="en-US"/>
          </a:p>
        </p:txBody>
      </p:sp>
    </p:spTree>
    <p:extLst>
      <p:ext uri="{BB962C8B-B14F-4D97-AF65-F5344CB8AC3E}">
        <p14:creationId xmlns:p14="http://schemas.microsoft.com/office/powerpoint/2010/main" val="2386170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 altLang="ko-KR" dirty="0"/>
              <a:t>However, the fact of the matter is that there is an inherent limitation in physical-address–based prefetchers.</a:t>
            </a:r>
            <a:br>
              <a:rPr lang="en" altLang="ko-KR" dirty="0"/>
            </a:br>
            <a:r>
              <a:rPr lang="en" altLang="ko-KR" dirty="0"/>
              <a:t>Because L2 prefetchers operate on physical addresses, they cannot safely cross page boundaries.</a:t>
            </a:r>
          </a:p>
          <a:p>
            <a:pPr>
              <a:buNone/>
            </a:pPr>
            <a:endParaRPr lang="en" altLang="ko-KR" dirty="0"/>
          </a:p>
          <a:p>
            <a:pPr>
              <a:buNone/>
            </a:pPr>
            <a:r>
              <a:rPr lang="en-US" altLang="ko-KR" b="1" dirty="0"/>
              <a:t>The</a:t>
            </a:r>
            <a:r>
              <a:rPr lang="en" altLang="ko-KR" b="1" dirty="0"/>
              <a:t> hardware doesn’t have information about whether the next page belongs to the same process, whether it has the required permissions, or whether it is part of a large page mapping.</a:t>
            </a:r>
          </a:p>
          <a:p>
            <a:pPr>
              <a:buNone/>
            </a:pPr>
            <a:r>
              <a:rPr lang="en" altLang="ko-KR" dirty="0"/>
              <a:t>Allowing these prefetches could lead to security risks, including potential side-channel attacks.</a:t>
            </a:r>
          </a:p>
          <a:p>
            <a:pPr>
              <a:buNone/>
            </a:pPr>
            <a:endParaRPr lang="en" altLang="ko-KR" dirty="0"/>
          </a:p>
          <a:p>
            <a:pPr>
              <a:buNone/>
            </a:pPr>
            <a:r>
              <a:rPr lang="en" altLang="ko-KR" dirty="0"/>
              <a:t>As a result, hardware drops prefetches beyond the 4KB boundary, even when the access pattern is predictable.</a:t>
            </a:r>
            <a:br>
              <a:rPr lang="en" altLang="ko-KR" dirty="0"/>
            </a:br>
            <a:r>
              <a:rPr lang="en" altLang="ko-KR" dirty="0"/>
              <a:t>This inherent limitation fundamentally limits the long-range coverage of deeper-level prefetchers.</a:t>
            </a:r>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4</a:t>
            </a:fld>
            <a:endParaRPr lang="ko-KR" altLang="en-US"/>
          </a:p>
        </p:txBody>
      </p:sp>
    </p:spTree>
    <p:extLst>
      <p:ext uri="{BB962C8B-B14F-4D97-AF65-F5344CB8AC3E}">
        <p14:creationId xmlns:p14="http://schemas.microsoft.com/office/powerpoint/2010/main" val="811928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 altLang="ko-KR" dirty="0"/>
              <a:t>To illustrate the missed benefits of page-cross prefetching, let’s consider a very simple example.</a:t>
            </a:r>
            <a:br>
              <a:rPr lang="en" altLang="ko-KR" dirty="0"/>
            </a:br>
            <a:r>
              <a:rPr lang="en" altLang="ko-KR" dirty="0"/>
              <a:t>Suppose an application generates a continuous data access stream that is highly predictable and spans multiple pages.</a:t>
            </a:r>
          </a:p>
          <a:p>
            <a:pPr>
              <a:buNone/>
            </a:pPr>
            <a:r>
              <a:rPr lang="en" altLang="ko-KR" dirty="0"/>
              <a:t>Even though the access pattern itself is easy to predict, physical-address–based prefetchers are constrained by page boundaries.</a:t>
            </a:r>
            <a:br>
              <a:rPr lang="en" altLang="ko-KR" dirty="0"/>
            </a:br>
            <a:r>
              <a:rPr lang="en" altLang="ko-KR" dirty="0"/>
              <a:t>They must wait for an access to arrive in the next page before issuing any prefetches within that page.</a:t>
            </a:r>
          </a:p>
          <a:p>
            <a:pPr>
              <a:buNone/>
            </a:pPr>
            <a:r>
              <a:rPr lang="en" altLang="ko-KR" dirty="0"/>
              <a:t>As a result, prefetching is delayed at every page boundary, breaking the continuity of the access stream and hiding long-range patterns.</a:t>
            </a:r>
          </a:p>
          <a:p>
            <a:pPr>
              <a:buNone/>
            </a:pPr>
            <a:br>
              <a:rPr lang="en" altLang="ko-KR" dirty="0"/>
            </a:br>
            <a:r>
              <a:rPr lang="en" altLang="ko-KR" b="1" dirty="0"/>
              <a:t>This effect is reflected in the results shown on the right.</a:t>
            </a:r>
            <a:br>
              <a:rPr lang="en" altLang="ko-KR" dirty="0"/>
            </a:br>
            <a:r>
              <a:rPr lang="en" altLang="ko-KR" dirty="0"/>
              <a:t>To quantify the potential benefit of page-cross prefetching, we run an experiment where we modify Pythia to operate in the virtual-address domain and enable page-cross prefetching.</a:t>
            </a:r>
          </a:p>
          <a:p>
            <a:pPr>
              <a:buNone/>
            </a:pPr>
            <a:r>
              <a:rPr lang="en" altLang="ko-KR" b="1" dirty="0"/>
              <a:t>This configuration is not architecturally realistic</a:t>
            </a:r>
            <a:r>
              <a:rPr lang="en" altLang="ko-KR" dirty="0"/>
              <a:t>, but we </a:t>
            </a:r>
            <a:r>
              <a:rPr lang="en-US" altLang="ko-KR" dirty="0"/>
              <a:t>just </a:t>
            </a:r>
            <a:r>
              <a:rPr lang="en" altLang="ko-KR" dirty="0"/>
              <a:t>use it for an oracle experiment to estimate the </a:t>
            </a:r>
            <a:r>
              <a:rPr lang="en" altLang="ko-KR" i="1" dirty="0"/>
              <a:t>performance headroom</a:t>
            </a:r>
            <a:r>
              <a:rPr lang="en-US" altLang="ko-KR" i="1" dirty="0"/>
              <a:t>.</a:t>
            </a:r>
            <a:endParaRPr lang="en" altLang="ko-KR" dirty="0"/>
          </a:p>
          <a:p>
            <a:r>
              <a:rPr lang="en" altLang="ko-KR" dirty="0"/>
              <a:t>As shown in the figure, enabling page-cross prefetching significantly reduces MPKI at both L2 and LLC, revealing substantial headroom that is otherwise left untapped by conventional multi level prefetchers.</a:t>
            </a:r>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5</a:t>
            </a:fld>
            <a:endParaRPr lang="ko-KR" altLang="en-US"/>
          </a:p>
        </p:txBody>
      </p:sp>
    </p:spTree>
    <p:extLst>
      <p:ext uri="{BB962C8B-B14F-4D97-AF65-F5344CB8AC3E}">
        <p14:creationId xmlns:p14="http://schemas.microsoft.com/office/powerpoint/2010/main" val="4113602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 altLang="ko-KR" dirty="0"/>
              <a:t>Furthermore, to gain deeper insight into the impact of page-cross prefetching, we compare three L2 prefetcher variants on top of the multi-level </a:t>
            </a:r>
            <a:r>
              <a:rPr lang="en" altLang="ko-KR" dirty="0" err="1"/>
              <a:t>prefetc</a:t>
            </a:r>
            <a:r>
              <a:rPr lang="en-US" altLang="ko-KR" dirty="0"/>
              <a:t>er</a:t>
            </a:r>
            <a:r>
              <a:rPr lang="en" altLang="ko-KR" dirty="0"/>
              <a:t> baseline with Berti (L1D) and Pythia (L2C). We also enable large page allocation. </a:t>
            </a:r>
            <a:br>
              <a:rPr lang="en" altLang="ko-KR" dirty="0"/>
            </a:br>
            <a:r>
              <a:rPr lang="en" altLang="ko-KR" dirty="0"/>
              <a:t>We evaluate Pythia operating on physical addresses, and on virtual addresses with and without page crossing</a:t>
            </a:r>
            <a:r>
              <a:rPr lang="en-US" altLang="ko-KR" dirty="0"/>
              <a:t>.</a:t>
            </a:r>
            <a:r>
              <a:rPr lang="en" altLang="ko-KR" dirty="0"/>
              <a:t> </a:t>
            </a:r>
            <a:r>
              <a:rPr lang="en-US" altLang="ko-KR" dirty="0"/>
              <a:t>A</a:t>
            </a:r>
            <a:r>
              <a:rPr lang="en" altLang="ko-KR" dirty="0" err="1"/>
              <a:t>ll</a:t>
            </a:r>
            <a:r>
              <a:rPr lang="en" altLang="ko-KR" dirty="0"/>
              <a:t> speedups are normalized to the physical-address–based multi-level prefetcher without page crossing. </a:t>
            </a:r>
            <a:r>
              <a:rPr lang="en-US" altLang="ko-KR" dirty="0"/>
              <a:t>Note that these </a:t>
            </a:r>
            <a:r>
              <a:rPr lang="en" altLang="ko-KR" dirty="0"/>
              <a:t>setups are also not realistic—they’re just used to get some insights.</a:t>
            </a:r>
          </a:p>
          <a:p>
            <a:pPr>
              <a:buNone/>
            </a:pPr>
            <a:endParaRPr lang="en" altLang="ko-KR" dirty="0"/>
          </a:p>
          <a:p>
            <a:pPr>
              <a:buNone/>
            </a:pPr>
            <a:r>
              <a:rPr lang="en" altLang="ko-KR" dirty="0"/>
              <a:t>What we observe is that using virtual addresses </a:t>
            </a:r>
            <a:r>
              <a:rPr lang="en" altLang="ko-KR" b="1" dirty="0"/>
              <a:t>without page-crossing</a:t>
            </a:r>
            <a:r>
              <a:rPr lang="en" altLang="ko-KR" dirty="0"/>
              <a:t> provides little benefit and behaves similarly to the baseline.</a:t>
            </a:r>
            <a:br>
              <a:rPr lang="en" altLang="ko-KR" dirty="0"/>
            </a:br>
            <a:r>
              <a:rPr lang="en" altLang="ko-KR" dirty="0"/>
              <a:t>Once page-cross prefetching is enabled, both physical- and virtual-address–based prefetchers see clear performance gains.</a:t>
            </a:r>
            <a:br>
              <a:rPr lang="en" altLang="ko-KR" dirty="0"/>
            </a:br>
            <a:r>
              <a:rPr lang="en" altLang="ko-KR" dirty="0"/>
              <a:t>But also, the virtual-address–based prefetcher consistently outperforms the physical-address one.</a:t>
            </a:r>
            <a:br>
              <a:rPr lang="en" altLang="ko-KR" dirty="0"/>
            </a:br>
            <a:r>
              <a:rPr lang="en" altLang="ko-KR" dirty="0"/>
              <a:t>This is because virtual addresses preserve access continuity across pages, giving the prefetcher a cleaner and more stable view of the access stream.</a:t>
            </a:r>
            <a:br>
              <a:rPr lang="en" altLang="ko-KR" dirty="0"/>
            </a:br>
            <a:r>
              <a:rPr lang="en" altLang="ko-KR" dirty="0"/>
              <a:t>In contrast, physical addresses fragment streams at page boundaries, resulting in noisier training, less accurate prefetches, and increased cache pollution.</a:t>
            </a:r>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6</a:t>
            </a:fld>
            <a:endParaRPr lang="ko-KR" altLang="en-US"/>
          </a:p>
        </p:txBody>
      </p:sp>
    </p:spTree>
    <p:extLst>
      <p:ext uri="{BB962C8B-B14F-4D97-AF65-F5344CB8AC3E}">
        <p14:creationId xmlns:p14="http://schemas.microsoft.com/office/powerpoint/2010/main" val="2787204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US" altLang="ko-KR" dirty="0"/>
              <a:t>So,</a:t>
            </a:r>
            <a:r>
              <a:rPr lang="ko-KR" altLang="en-US" dirty="0"/>
              <a:t> </a:t>
            </a:r>
            <a:r>
              <a:rPr lang="en" altLang="ko-KR" dirty="0"/>
              <a:t>To exploit the performance headroom of page-cross prefetching, we must address the structural blind spot in current multi-level prefetchers.</a:t>
            </a:r>
            <a:br>
              <a:rPr lang="en" altLang="ko-KR" dirty="0"/>
            </a:br>
            <a:r>
              <a:rPr lang="en" altLang="ko-KR" dirty="0"/>
              <a:t>L1 prefetchers observe virtual address but lack sufficient lookahead, while L2 prefetchers provide lookahead but operate only on physical </a:t>
            </a:r>
            <a:r>
              <a:rPr lang="en" altLang="ko-KR" dirty="0" err="1"/>
              <a:t>addresse</a:t>
            </a:r>
            <a:r>
              <a:rPr lang="en-US" altLang="ko-KR" dirty="0"/>
              <a:t>s.</a:t>
            </a:r>
            <a:br>
              <a:rPr lang="en" altLang="ko-KR" dirty="0"/>
            </a:br>
            <a:r>
              <a:rPr lang="en" altLang="ko-KR" dirty="0"/>
              <a:t>As a result, huge performance headroom is left untouched. </a:t>
            </a:r>
          </a:p>
          <a:p>
            <a:pPr>
              <a:buNone/>
            </a:pPr>
            <a:endParaRPr lang="en" altLang="ko-KR" dirty="0"/>
          </a:p>
          <a:p>
            <a:r>
              <a:rPr lang="en" altLang="ko-KR" dirty="0"/>
              <a:t>There are two possible ways to resolve this limitation: either making the L2 prefetcher virtual-address aware, or providing additional lookahead capability to the L1 prefetcher.</a:t>
            </a:r>
            <a:br>
              <a:rPr lang="en" altLang="ko-KR" dirty="0"/>
            </a:br>
            <a:r>
              <a:rPr lang="en" altLang="ko-KR" dirty="0"/>
              <a:t>However, enabling virtual-address operation at L2 requires additional </a:t>
            </a:r>
            <a:r>
              <a:rPr lang="en" altLang="ko-KR" dirty="0" err="1"/>
              <a:t>datapaths</a:t>
            </a:r>
            <a:r>
              <a:rPr lang="en" altLang="ko-KR" dirty="0"/>
              <a:t>, TLB access ports, and careful handling when the L2 cache is shared across a lot of cores, making it architecturally complex.</a:t>
            </a:r>
            <a:br>
              <a:rPr lang="en" altLang="ko-KR" dirty="0"/>
            </a:br>
            <a:r>
              <a:rPr lang="en" altLang="ko-KR" dirty="0"/>
              <a:t>Instead, we choose to increase the lookahead of the L1 prefetcher, which already sees virtual addresses and does not require </a:t>
            </a:r>
            <a:r>
              <a:rPr lang="en-US" altLang="ko-KR" dirty="0"/>
              <a:t>much</a:t>
            </a:r>
            <a:r>
              <a:rPr lang="en" altLang="ko-KR" dirty="0"/>
              <a:t> architectural changes.</a:t>
            </a:r>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7</a:t>
            </a:fld>
            <a:endParaRPr lang="ko-KR" altLang="en-US"/>
          </a:p>
        </p:txBody>
      </p:sp>
    </p:spTree>
    <p:extLst>
      <p:ext uri="{BB962C8B-B14F-4D97-AF65-F5344CB8AC3E}">
        <p14:creationId xmlns:p14="http://schemas.microsoft.com/office/powerpoint/2010/main" val="2547328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E44A0-8BC9-A550-69CB-61050CB8DF8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7EA0E92-8002-A19F-7731-A250107CEC1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7A49A1A-81B2-2E4B-621E-44878F79DB67}"/>
              </a:ext>
            </a:extLst>
          </p:cNvPr>
          <p:cNvSpPr>
            <a:spLocks noGrp="1"/>
          </p:cNvSpPr>
          <p:nvPr>
            <p:ph type="body" idx="1"/>
          </p:nvPr>
        </p:nvSpPr>
        <p:spPr/>
        <p:txBody>
          <a:bodyPr/>
          <a:lstStyle/>
          <a:p>
            <a:pPr>
              <a:buNone/>
            </a:pPr>
            <a:r>
              <a:rPr lang="en" altLang="ko-KR" dirty="0"/>
              <a:t>However, simply making the L1 prefetcher more aggressive is not sufficient—it must be done carefully under several practical constraints.</a:t>
            </a:r>
          </a:p>
          <a:p>
            <a:pPr>
              <a:buNone/>
            </a:pPr>
            <a:r>
              <a:rPr lang="en" altLang="ko-KR" dirty="0"/>
              <a:t>First and foremost, the L1 cache has a very limited storage budget and must coexist with existing L1 prefetchers.</a:t>
            </a:r>
            <a:br>
              <a:rPr lang="en" altLang="ko-KR" dirty="0"/>
            </a:br>
            <a:r>
              <a:rPr lang="en" altLang="ko-KR" dirty="0"/>
              <a:t>Therefore, we choose a simple IP-stride prefetcher that can capture contiguous streams across pages with minimal state.</a:t>
            </a:r>
          </a:p>
          <a:p>
            <a:pPr>
              <a:buNone/>
            </a:pPr>
            <a:r>
              <a:rPr lang="en" altLang="ko-KR" dirty="0"/>
              <a:t>At the same time, we need deeper lookahead to exploit page-cross locality, but without significantly increasing bandwidth consumption.</a:t>
            </a:r>
            <a:br>
              <a:rPr lang="en" altLang="ko-KR" dirty="0"/>
            </a:br>
            <a:r>
              <a:rPr lang="en" altLang="ko-KR" dirty="0"/>
              <a:t>To achieve this, we increase the prefetch degree while operating only on the L1 miss stream, which is much sparser than the full access stream.</a:t>
            </a:r>
          </a:p>
          <a:p>
            <a:r>
              <a:rPr lang="en" altLang="ko-KR" dirty="0"/>
              <a:t>Finally, aggressive prefetching must not pollute the L1 cache.</a:t>
            </a:r>
            <a:br>
              <a:rPr lang="en" altLang="ko-KR" dirty="0"/>
            </a:br>
            <a:r>
              <a:rPr lang="en" altLang="ko-KR" dirty="0"/>
              <a:t>Therefore, prefetched lines are filled into L2 rather than L1, preserving the L1 capacity.</a:t>
            </a:r>
            <a:endParaRPr kumimoji="1" lang="ko-KR" altLang="en-US" dirty="0"/>
          </a:p>
        </p:txBody>
      </p:sp>
      <p:sp>
        <p:nvSpPr>
          <p:cNvPr id="4" name="슬라이드 번호 개체 틀 3">
            <a:extLst>
              <a:ext uri="{FF2B5EF4-FFF2-40B4-BE49-F238E27FC236}">
                <a16:creationId xmlns:a16="http://schemas.microsoft.com/office/drawing/2014/main" id="{6740DF13-AA38-05AA-1618-3D896212C70F}"/>
              </a:ext>
            </a:extLst>
          </p:cNvPr>
          <p:cNvSpPr>
            <a:spLocks noGrp="1"/>
          </p:cNvSpPr>
          <p:nvPr>
            <p:ph type="sldNum" sz="quarter" idx="5"/>
          </p:nvPr>
        </p:nvSpPr>
        <p:spPr/>
        <p:txBody>
          <a:bodyPr/>
          <a:lstStyle/>
          <a:p>
            <a:fld id="{D0C664DC-C26E-465D-99FF-B6F4031E277D}" type="slidenum">
              <a:rPr lang="ko-KR" altLang="en-US" smtClean="0"/>
              <a:t>8</a:t>
            </a:fld>
            <a:endParaRPr lang="ko-KR" altLang="en-US"/>
          </a:p>
        </p:txBody>
      </p:sp>
    </p:spTree>
    <p:extLst>
      <p:ext uri="{BB962C8B-B14F-4D97-AF65-F5344CB8AC3E}">
        <p14:creationId xmlns:p14="http://schemas.microsoft.com/office/powerpoint/2010/main" val="1870078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 altLang="ko-KR" dirty="0"/>
              <a:t>Based on these design choices, we propose </a:t>
            </a:r>
            <a:r>
              <a:rPr lang="en" altLang="ko-KR" b="1" dirty="0"/>
              <a:t>VIP</a:t>
            </a:r>
            <a:r>
              <a:rPr lang="en" altLang="ko-KR" dirty="0"/>
              <a:t>, the </a:t>
            </a:r>
            <a:r>
              <a:rPr lang="en" altLang="ko-KR" i="1" dirty="0"/>
              <a:t>Virtual Inter-page Prefetcher</a:t>
            </a:r>
            <a:r>
              <a:rPr lang="en" altLang="ko-KR" dirty="0"/>
              <a:t>.</a:t>
            </a:r>
            <a:br>
              <a:rPr lang="en" altLang="ko-KR" dirty="0"/>
            </a:br>
            <a:r>
              <a:rPr lang="en" altLang="ko-KR" dirty="0"/>
              <a:t>VIP is a lightweight extension on the L1 side that enables timely page-cross prefetching on behalf of the L2 prefetcher, while keeping both existing L1 and L2 prefetchers unchanged.</a:t>
            </a:r>
          </a:p>
          <a:p>
            <a:pPr>
              <a:buNone/>
            </a:pPr>
            <a:endParaRPr lang="en" altLang="ko-KR" dirty="0"/>
          </a:p>
          <a:p>
            <a:pPr>
              <a:buNone/>
            </a:pPr>
            <a:r>
              <a:rPr lang="en" altLang="ko-KR" dirty="0"/>
              <a:t>Modern processors already store </a:t>
            </a:r>
            <a:r>
              <a:rPr lang="en" altLang="ko-KR" b="1" dirty="0"/>
              <a:t>virtual address and instruction pointer (IP)</a:t>
            </a:r>
            <a:r>
              <a:rPr lang="en" altLang="ko-KR" dirty="0"/>
              <a:t> information in each MSHR entry to support replay, page-fault, and coherence handling.</a:t>
            </a:r>
            <a:br>
              <a:rPr lang="en" altLang="ko-KR" dirty="0"/>
            </a:br>
            <a:r>
              <a:rPr lang="en" altLang="ko-KR" dirty="0"/>
              <a:t>VIP leverages this existing metadata to observe the </a:t>
            </a:r>
            <a:r>
              <a:rPr lang="en" altLang="ko-KR" b="1" dirty="0"/>
              <a:t>L1 miss stream in the virtual-address domain.</a:t>
            </a:r>
          </a:p>
          <a:p>
            <a:pPr>
              <a:buNone/>
            </a:pPr>
            <a:r>
              <a:rPr lang="en" altLang="ko-KR" dirty="0"/>
              <a:t>At its core, </a:t>
            </a:r>
            <a:r>
              <a:rPr lang="en" altLang="ko-KR" b="1" dirty="0"/>
              <a:t>VIP employs a simple IP-stride prefetcher</a:t>
            </a:r>
            <a:r>
              <a:rPr lang="en" altLang="ko-KR" dirty="0"/>
              <a:t> trained on the L1 miss stream.</a:t>
            </a:r>
            <a:br>
              <a:rPr lang="en" altLang="ko-KR" dirty="0"/>
            </a:br>
            <a:r>
              <a:rPr lang="en" altLang="ko-KR" dirty="0"/>
              <a:t>Like an L2 prefetcher, VIP operates on L1 misses, but unlike L2 prefetchers, it observes these accesses </a:t>
            </a:r>
            <a:r>
              <a:rPr lang="en" altLang="ko-KR" b="1" dirty="0"/>
              <a:t>before translation</a:t>
            </a:r>
            <a:r>
              <a:rPr lang="en" altLang="ko-KR" dirty="0"/>
              <a:t>, allowing it to learn </a:t>
            </a:r>
            <a:r>
              <a:rPr lang="en" altLang="ko-KR" b="1" dirty="0"/>
              <a:t>inter-page stride patterns</a:t>
            </a:r>
            <a:r>
              <a:rPr lang="en" altLang="ko-KR" dirty="0"/>
              <a:t> before being fragmented.</a:t>
            </a:r>
          </a:p>
          <a:p>
            <a:r>
              <a:rPr lang="en" altLang="ko-KR" dirty="0"/>
              <a:t>When VIP predicts the next virtual address using IP-stride correlation, it performs a TLB lookup,  and then injects the prefetch directly toward the L2, bypassing the L1 to avoid pollution.</a:t>
            </a:r>
            <a:br>
              <a:rPr lang="en" altLang="ko-KR" dirty="0"/>
            </a:br>
            <a:r>
              <a:rPr lang="en" altLang="ko-KR" dirty="0"/>
              <a:t>In this way, VIP supplies the missing </a:t>
            </a:r>
            <a:r>
              <a:rPr lang="en" altLang="ko-KR" b="1" dirty="0"/>
              <a:t>page-cross predictions</a:t>
            </a:r>
            <a:r>
              <a:rPr lang="en" altLang="ko-KR" dirty="0"/>
              <a:t>, while the conventional L2 prefetcher continues to handle </a:t>
            </a:r>
            <a:r>
              <a:rPr lang="en" altLang="ko-KR" b="1" dirty="0"/>
              <a:t>intra-page locality</a:t>
            </a:r>
            <a:r>
              <a:rPr lang="en" altLang="ko-KR" dirty="0"/>
              <a:t>, providing complementary coverage without architectural disruption.</a:t>
            </a:r>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9</a:t>
            </a:fld>
            <a:endParaRPr lang="ko-KR" altLang="en-US"/>
          </a:p>
        </p:txBody>
      </p:sp>
    </p:spTree>
    <p:extLst>
      <p:ext uri="{BB962C8B-B14F-4D97-AF65-F5344CB8AC3E}">
        <p14:creationId xmlns:p14="http://schemas.microsoft.com/office/powerpoint/2010/main" val="749870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b="0" i="0" dirty="0"/>
              <a:t>Although L1 storage is extremely limited, VIP remains lightweight.</a:t>
            </a:r>
          </a:p>
          <a:p>
            <a:pPr>
              <a:buNone/>
            </a:pPr>
            <a:r>
              <a:rPr lang="en" altLang="ko-KR" b="0" i="0" dirty="0"/>
              <a:t>In the DPC4 baseline, Berti and Pythia already consume most of the available space, leaving only about 2.5 KB for additional L1-side structures.</a:t>
            </a:r>
          </a:p>
          <a:p>
            <a:pPr>
              <a:buNone/>
            </a:pPr>
            <a:r>
              <a:rPr lang="en" altLang="ko-KR" b="0" i="0" dirty="0"/>
              <a:t>VIP addresses this in two ways.</a:t>
            </a:r>
            <a:br>
              <a:rPr lang="en" altLang="ko-KR" b="0" i="0" dirty="0"/>
            </a:br>
            <a:r>
              <a:rPr lang="en" altLang="ko-KR" b="0" i="0" dirty="0"/>
              <a:t>First, it uses an IP-stride prefetcher, which is inherently lightweight due to its simple, low-state design.</a:t>
            </a:r>
            <a:br>
              <a:rPr lang="en" altLang="ko-KR" b="0" i="0" dirty="0"/>
            </a:br>
            <a:r>
              <a:rPr lang="en" altLang="ko-KR" b="0" i="0" dirty="0"/>
              <a:t>Second, VIP operates on the L1 miss stream, which is much sparser than the full access stream.</a:t>
            </a:r>
            <a:br>
              <a:rPr lang="en" altLang="ko-KR" b="0" i="0" dirty="0"/>
            </a:br>
            <a:r>
              <a:rPr lang="en" altLang="ko-KR" b="0" i="0" dirty="0"/>
              <a:t>This sparsity allows VIP to learn stable stride patterns with very few entries.</a:t>
            </a:r>
          </a:p>
          <a:p>
            <a:r>
              <a:rPr lang="en" altLang="ko-KR" b="0" i="0" dirty="0"/>
              <a:t>As a result, the entire VIP structure requires only about 0.53 KB of storage, well within the remaining L1 budget.</a:t>
            </a:r>
          </a:p>
          <a:p>
            <a:endParaRPr kumimoji="1" lang="ko-KR" altLang="en-US" b="0" i="0" dirty="0"/>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10</a:t>
            </a:fld>
            <a:endParaRPr lang="ko-KR" altLang="en-US"/>
          </a:p>
        </p:txBody>
      </p:sp>
    </p:spTree>
    <p:extLst>
      <p:ext uri="{BB962C8B-B14F-4D97-AF65-F5344CB8AC3E}">
        <p14:creationId xmlns:p14="http://schemas.microsoft.com/office/powerpoint/2010/main" val="339596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 altLang="ko-KR" dirty="0"/>
              <a:t>Overall, VIP improves performance by </a:t>
            </a:r>
            <a:r>
              <a:rPr lang="en" altLang="ko-KR" b="1" dirty="0"/>
              <a:t>4.77% geomean</a:t>
            </a:r>
            <a:r>
              <a:rPr lang="en" altLang="ko-KR" dirty="0"/>
              <a:t> across </a:t>
            </a:r>
            <a:r>
              <a:rPr lang="en" altLang="ko-KR" b="1" dirty="0"/>
              <a:t>132 workloads</a:t>
            </a:r>
            <a:r>
              <a:rPr lang="en" altLang="ko-KR" dirty="0"/>
              <a:t>, showing consistent gains on top of Berti + Pythia.</a:t>
            </a:r>
          </a:p>
          <a:p>
            <a:pPr>
              <a:buNone/>
            </a:pPr>
            <a:endParaRPr lang="en" altLang="ko-KR" dirty="0"/>
          </a:p>
          <a:p>
            <a:pPr>
              <a:buNone/>
            </a:pPr>
            <a:r>
              <a:rPr lang="en" altLang="ko-KR" b="1" dirty="0"/>
              <a:t>AI workloads see the largest benefits</a:t>
            </a:r>
            <a:r>
              <a:rPr lang="en" altLang="ko-KR" dirty="0"/>
              <a:t>, because many AI kernels traverse </a:t>
            </a:r>
            <a:r>
              <a:rPr lang="en" altLang="ko-KR" b="1" dirty="0"/>
              <a:t>long, virtually contiguous memory regions</a:t>
            </a:r>
            <a:r>
              <a:rPr lang="en" altLang="ko-KR" dirty="0"/>
              <a:t>, where page boundaries would otherwise introduce frequent L2/LLC misses. VIP effectively removes these page-cross stalls.</a:t>
            </a:r>
          </a:p>
          <a:p>
            <a:pPr>
              <a:buNone/>
            </a:pPr>
            <a:endParaRPr lang="en" altLang="ko-KR" dirty="0"/>
          </a:p>
          <a:p>
            <a:pPr>
              <a:buNone/>
            </a:pPr>
            <a:r>
              <a:rPr lang="en" altLang="ko-KR" b="1" dirty="0"/>
              <a:t>SPEC and Graph workloads show moderate gains</a:t>
            </a:r>
            <a:r>
              <a:rPr lang="en" altLang="ko-KR" dirty="0"/>
              <a:t>, reflecting a mix of regular and irregular access patterns, where page-cross locality exists but is less dominant.</a:t>
            </a:r>
          </a:p>
          <a:p>
            <a:pPr>
              <a:buNone/>
            </a:pPr>
            <a:endParaRPr lang="en" altLang="ko-KR" dirty="0"/>
          </a:p>
          <a:p>
            <a:pPr>
              <a:buNone/>
            </a:pPr>
            <a:r>
              <a:rPr lang="en" altLang="ko-KR" dirty="0"/>
              <a:t>In contrast, </a:t>
            </a:r>
            <a:r>
              <a:rPr lang="en" altLang="ko-KR" b="1" dirty="0"/>
              <a:t>Google production traces show a small regression</a:t>
            </a:r>
            <a:r>
              <a:rPr lang="en" altLang="ko-KR" dirty="0"/>
              <a:t>.</a:t>
            </a:r>
            <a:br>
              <a:rPr lang="en" altLang="ko-KR" dirty="0"/>
            </a:br>
            <a:r>
              <a:rPr lang="en" altLang="ko-KR" dirty="0"/>
              <a:t>These workloads are </a:t>
            </a:r>
            <a:r>
              <a:rPr lang="en" altLang="ko-KR" b="1" dirty="0"/>
              <a:t>control-heavy</a:t>
            </a:r>
            <a:r>
              <a:rPr lang="en" altLang="ko-KR" dirty="0"/>
              <a:t>, with </a:t>
            </a:r>
            <a:r>
              <a:rPr lang="en" altLang="ko-KR" b="1" dirty="0"/>
              <a:t>limited long, contiguous data streams</a:t>
            </a:r>
            <a:r>
              <a:rPr lang="en" altLang="ko-KR" dirty="0"/>
              <a:t>, and are less sensitive to data-side miss reduction. In such cases, additional data prefetching can slightly increase cache contention without providing enough benefit.</a:t>
            </a:r>
          </a:p>
          <a:p>
            <a:pPr>
              <a:buNone/>
            </a:pPr>
            <a:endParaRPr lang="en" altLang="ko-KR" dirty="0"/>
          </a:p>
          <a:p>
            <a:r>
              <a:rPr lang="en" altLang="ko-KR" dirty="0"/>
              <a:t>Overall, these results show that </a:t>
            </a:r>
            <a:r>
              <a:rPr lang="en" altLang="ko-KR" b="1" dirty="0"/>
              <a:t>VIP is most effective for data-intensive workloads with strong virtual contiguity</a:t>
            </a:r>
            <a:r>
              <a:rPr lang="en" altLang="ko-KR" dirty="0"/>
              <a:t>, while remaining stable and non-pathological across diverse workloads.</a:t>
            </a:r>
          </a:p>
          <a:p>
            <a:endParaRPr kumimoji="1" lang="ko-KR" altLang="en-US" dirty="0"/>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11</a:t>
            </a:fld>
            <a:endParaRPr lang="ko-KR" altLang="en-US"/>
          </a:p>
        </p:txBody>
      </p:sp>
    </p:spTree>
    <p:extLst>
      <p:ext uri="{BB962C8B-B14F-4D97-AF65-F5344CB8AC3E}">
        <p14:creationId xmlns:p14="http://schemas.microsoft.com/office/powerpoint/2010/main" val="33089826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dirty="0"/>
              <a:t>L1 prefetchers observe the full memory access stream, which is dense, so their achievable coverage is fundamentally limited. In contrast, long-range coverage typically comes from L2 prefetchers that operate on the filtered L1 miss stream—this is why combining L1 and L2 prefetchers consistently outperforms L1-only designs. VIP is designed around this principle. It operates on the L1 miss stream to preserve L2-level long coverage, but enables only inter-page predictions, which L2 prefetchers cannot generate</a:t>
            </a:r>
            <a:r>
              <a:rPr lang="ko-KR" altLang="en-US" dirty="0"/>
              <a:t> </a:t>
            </a:r>
            <a:r>
              <a:rPr lang="en-US" altLang="ko-KR" dirty="0"/>
              <a:t>and the</a:t>
            </a:r>
            <a:r>
              <a:rPr lang="en" altLang="ko-KR" dirty="0"/>
              <a:t> Intra-page behavior remains entirely handled by the existing L2 prefetcher.</a:t>
            </a:r>
          </a:p>
          <a:p>
            <a:endParaRPr kumimoji="1" lang="en" altLang="ko-KR" dirty="0"/>
          </a:p>
          <a:p>
            <a:endParaRPr kumimoji="1" lang="ko-KR" altLang="en-US" dirty="0"/>
          </a:p>
        </p:txBody>
      </p:sp>
      <p:sp>
        <p:nvSpPr>
          <p:cNvPr id="4" name="슬라이드 번호 개체 틀 3"/>
          <p:cNvSpPr>
            <a:spLocks noGrp="1"/>
          </p:cNvSpPr>
          <p:nvPr>
            <p:ph type="sldNum" sz="quarter" idx="5"/>
          </p:nvPr>
        </p:nvSpPr>
        <p:spPr/>
        <p:txBody>
          <a:bodyPr/>
          <a:lstStyle/>
          <a:p>
            <a:fld id="{D0C664DC-C26E-465D-99FF-B6F4031E277D}" type="slidenum">
              <a:rPr lang="ko-KR" altLang="en-US" smtClean="0"/>
              <a:t>12</a:t>
            </a:fld>
            <a:endParaRPr lang="ko-KR" altLang="en-US"/>
          </a:p>
        </p:txBody>
      </p:sp>
    </p:spTree>
    <p:extLst>
      <p:ext uri="{BB962C8B-B14F-4D97-AF65-F5344CB8AC3E}">
        <p14:creationId xmlns:p14="http://schemas.microsoft.com/office/powerpoint/2010/main" val="138571137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grpSp>
        <p:nvGrpSpPr>
          <p:cNvPr id="20" name="그룹 19"/>
          <p:cNvGrpSpPr/>
          <p:nvPr userDrawn="1"/>
        </p:nvGrpSpPr>
        <p:grpSpPr>
          <a:xfrm>
            <a:off x="0" y="-9039"/>
            <a:ext cx="12192000" cy="6604001"/>
            <a:chOff x="0" y="234950"/>
            <a:chExt cx="12192000" cy="6604001"/>
          </a:xfrm>
        </p:grpSpPr>
        <p:pic>
          <p:nvPicPr>
            <p:cNvPr id="18" name="그림 17"/>
            <p:cNvPicPr>
              <a:picLocks noChangeAspect="1"/>
            </p:cNvPicPr>
            <p:nvPr userDrawn="1"/>
          </p:nvPicPr>
          <p:blipFill rotWithShape="1">
            <a:blip r:embed="rId2">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rcRect l="5451" r="6823"/>
            <a:stretch/>
          </p:blipFill>
          <p:spPr>
            <a:xfrm>
              <a:off x="0" y="244220"/>
              <a:ext cx="12192000" cy="6585460"/>
            </a:xfrm>
            <a:prstGeom prst="rect">
              <a:avLst/>
            </a:prstGeom>
          </p:spPr>
        </p:pic>
        <p:sp>
          <p:nvSpPr>
            <p:cNvPr id="19" name="직사각형 18"/>
            <p:cNvSpPr/>
            <p:nvPr userDrawn="1"/>
          </p:nvSpPr>
          <p:spPr>
            <a:xfrm>
              <a:off x="0" y="234950"/>
              <a:ext cx="12192000" cy="6604001"/>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자유형 10"/>
          <p:cNvSpPr/>
          <p:nvPr userDrawn="1"/>
        </p:nvSpPr>
        <p:spPr>
          <a:xfrm>
            <a:off x="0" y="6306831"/>
            <a:ext cx="12192000" cy="576263"/>
          </a:xfrm>
          <a:custGeom>
            <a:avLst/>
            <a:gdLst>
              <a:gd name="connsiteX0" fmla="*/ 6096000 w 12192000"/>
              <a:gd name="connsiteY0" fmla="*/ 0 h 825500"/>
              <a:gd name="connsiteX1" fmla="*/ 12192000 w 12192000"/>
              <a:gd name="connsiteY1" fmla="*/ 323850 h 825500"/>
              <a:gd name="connsiteX2" fmla="*/ 12192000 w 12192000"/>
              <a:gd name="connsiteY2" fmla="*/ 825500 h 825500"/>
              <a:gd name="connsiteX3" fmla="*/ 0 w 12192000"/>
              <a:gd name="connsiteY3" fmla="*/ 825500 h 825500"/>
              <a:gd name="connsiteX4" fmla="*/ 0 w 12192000"/>
              <a:gd name="connsiteY4" fmla="*/ 3238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825500">
                <a:moveTo>
                  <a:pt x="6096000" y="0"/>
                </a:moveTo>
                <a:lnTo>
                  <a:pt x="12192000" y="323850"/>
                </a:lnTo>
                <a:lnTo>
                  <a:pt x="12192000" y="825500"/>
                </a:lnTo>
                <a:lnTo>
                  <a:pt x="0" y="825500"/>
                </a:lnTo>
                <a:lnTo>
                  <a:pt x="0" y="323850"/>
                </a:lnTo>
                <a:close/>
              </a:path>
            </a:pathLst>
          </a:custGeom>
          <a:solidFill>
            <a:srgbClr val="12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제목 1"/>
          <p:cNvSpPr>
            <a:spLocks noGrp="1"/>
          </p:cNvSpPr>
          <p:nvPr>
            <p:ph type="ctrTitle"/>
          </p:nvPr>
        </p:nvSpPr>
        <p:spPr>
          <a:xfrm>
            <a:off x="1524000" y="1122363"/>
            <a:ext cx="9144000" cy="2387600"/>
          </a:xfrm>
        </p:spPr>
        <p:txBody>
          <a:bodyPr anchor="b">
            <a:normAutofit/>
          </a:bodyPr>
          <a:lstStyle>
            <a:lvl1pPr algn="ctr">
              <a:defRPr sz="3200" b="1">
                <a:ln w="6350">
                  <a:solidFill>
                    <a:schemeClr val="tx1">
                      <a:alpha val="30000"/>
                    </a:schemeClr>
                  </a:solidFill>
                </a:ln>
                <a:solidFill>
                  <a:srgbClr val="142460"/>
                </a:solidFill>
                <a:effectLst>
                  <a:outerShdw blurRad="38100" dist="38100" dir="2700000" algn="tl">
                    <a:srgbClr val="000000">
                      <a:alpha val="43137"/>
                    </a:srgbClr>
                  </a:outerShdw>
                </a:effectLst>
              </a:defRPr>
            </a:lvl1pPr>
          </a:lstStyle>
          <a:p>
            <a:r>
              <a:rPr lang="ko-KR" altLang="en-US" dirty="0"/>
              <a:t>마스터 제목 스타일 편집</a:t>
            </a:r>
          </a:p>
        </p:txBody>
      </p:sp>
      <p:sp>
        <p:nvSpPr>
          <p:cNvPr id="3" name="부제목 2"/>
          <p:cNvSpPr>
            <a:spLocks noGrp="1"/>
          </p:cNvSpPr>
          <p:nvPr>
            <p:ph type="subTitle" idx="1"/>
          </p:nvPr>
        </p:nvSpPr>
        <p:spPr>
          <a:xfrm>
            <a:off x="1524000" y="3602038"/>
            <a:ext cx="9144000" cy="1655762"/>
          </a:xfrm>
        </p:spPr>
        <p:txBody>
          <a:bodyPr>
            <a:normAutofit/>
          </a:bodyPr>
          <a:lstStyle>
            <a:lvl1pPr marL="0" indent="0" algn="ctr">
              <a:buNone/>
              <a:defRPr sz="2200">
                <a:solidFill>
                  <a:srgbClr val="2C529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21" name="자유형 20"/>
          <p:cNvSpPr/>
          <p:nvPr userDrawn="1"/>
        </p:nvSpPr>
        <p:spPr>
          <a:xfrm rot="10800000">
            <a:off x="4542518" y="230"/>
            <a:ext cx="3106964" cy="1903900"/>
          </a:xfrm>
          <a:custGeom>
            <a:avLst/>
            <a:gdLst>
              <a:gd name="connsiteX0" fmla="*/ 3106964 w 3106964"/>
              <a:gd name="connsiteY0" fmla="*/ 1903900 h 1903900"/>
              <a:gd name="connsiteX1" fmla="*/ 0 w 3106964"/>
              <a:gd name="connsiteY1" fmla="*/ 1903900 h 1903900"/>
              <a:gd name="connsiteX2" fmla="*/ 0 w 3106964"/>
              <a:gd name="connsiteY2" fmla="*/ 936493 h 1903900"/>
              <a:gd name="connsiteX3" fmla="*/ 0 w 3106964"/>
              <a:gd name="connsiteY3" fmla="*/ 936492 h 1903900"/>
              <a:gd name="connsiteX4" fmla="*/ 3 w 3106964"/>
              <a:gd name="connsiteY4" fmla="*/ 936492 h 1903900"/>
              <a:gd name="connsiteX5" fmla="*/ 1553482 w 3106964"/>
              <a:gd name="connsiteY5" fmla="*/ 0 h 1903900"/>
              <a:gd name="connsiteX6" fmla="*/ 3106962 w 3106964"/>
              <a:gd name="connsiteY6" fmla="*/ 936492 h 1903900"/>
              <a:gd name="connsiteX7" fmla="*/ 3106964 w 3106964"/>
              <a:gd name="connsiteY7" fmla="*/ 936492 h 1903900"/>
              <a:gd name="connsiteX8" fmla="*/ 3106964 w 3106964"/>
              <a:gd name="connsiteY8" fmla="*/ 936494 h 190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6964" h="1903900">
                <a:moveTo>
                  <a:pt x="3106964" y="1903900"/>
                </a:moveTo>
                <a:lnTo>
                  <a:pt x="0" y="1903900"/>
                </a:lnTo>
                <a:lnTo>
                  <a:pt x="0" y="936493"/>
                </a:lnTo>
                <a:lnTo>
                  <a:pt x="0" y="936492"/>
                </a:lnTo>
                <a:lnTo>
                  <a:pt x="3" y="936492"/>
                </a:lnTo>
                <a:lnTo>
                  <a:pt x="1553482" y="0"/>
                </a:lnTo>
                <a:lnTo>
                  <a:pt x="3106962" y="936492"/>
                </a:lnTo>
                <a:lnTo>
                  <a:pt x="3106964" y="936492"/>
                </a:lnTo>
                <a:lnTo>
                  <a:pt x="3106964" y="936494"/>
                </a:lnTo>
                <a:close/>
              </a:path>
            </a:pathLst>
          </a:custGeom>
          <a:solidFill>
            <a:srgbClr val="12296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pic>
        <p:nvPicPr>
          <p:cNvPr id="2050" name="Picture 2" descr="yonsei university logo에 대한 이미지 검색결과"/>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53318" y="4913077"/>
            <a:ext cx="1404000" cy="1404000"/>
          </a:xfrm>
          <a:prstGeom prst="rect">
            <a:avLst/>
          </a:prstGeom>
          <a:noFill/>
          <a:extLst>
            <a:ext uri="{909E8E84-426E-40DD-AFC4-6F175D3DCCD1}">
              <a14:hiddenFill xmlns:a14="http://schemas.microsoft.com/office/drawing/2010/main">
                <a:solidFill>
                  <a:srgbClr val="FFFFFF"/>
                </a:solidFill>
              </a14:hiddenFill>
            </a:ext>
          </a:extLst>
        </p:spPr>
      </p:pic>
      <p:pic>
        <p:nvPicPr>
          <p:cNvPr id="5" name="그림 4">
            <a:extLst>
              <a:ext uri="{FF2B5EF4-FFF2-40B4-BE49-F238E27FC236}">
                <a16:creationId xmlns:a16="http://schemas.microsoft.com/office/drawing/2014/main" id="{FA266F00-B83B-4510-8C96-AC51557D004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576106" y="5623473"/>
            <a:ext cx="2212034" cy="693604"/>
          </a:xfrm>
          <a:prstGeom prst="rect">
            <a:avLst/>
          </a:prstGeom>
        </p:spPr>
      </p:pic>
    </p:spTree>
    <p:extLst>
      <p:ext uri="{BB962C8B-B14F-4D97-AF65-F5344CB8AC3E}">
        <p14:creationId xmlns:p14="http://schemas.microsoft.com/office/powerpoint/2010/main" val="141459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8" name="직사각형 7"/>
          <p:cNvSpPr/>
          <p:nvPr userDrawn="1"/>
        </p:nvSpPr>
        <p:spPr>
          <a:xfrm>
            <a:off x="0" y="0"/>
            <a:ext cx="12192000" cy="6858000"/>
          </a:xfrm>
          <a:prstGeom prst="rect">
            <a:avLst/>
          </a:prstGeom>
          <a:solidFill>
            <a:srgbClr val="12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자유형 8"/>
          <p:cNvSpPr/>
          <p:nvPr userDrawn="1"/>
        </p:nvSpPr>
        <p:spPr>
          <a:xfrm rot="3150208">
            <a:off x="5066200" y="309098"/>
            <a:ext cx="9685847" cy="4392616"/>
          </a:xfrm>
          <a:custGeom>
            <a:avLst/>
            <a:gdLst>
              <a:gd name="connsiteX0" fmla="*/ 0 w 9685847"/>
              <a:gd name="connsiteY0" fmla="*/ 4392616 h 4392616"/>
              <a:gd name="connsiteX1" fmla="*/ 3370151 w 9685847"/>
              <a:gd name="connsiteY1" fmla="*/ 0 h 4392616"/>
              <a:gd name="connsiteX2" fmla="*/ 5730613 w 9685847"/>
              <a:gd name="connsiteY2" fmla="*/ 0 h 4392616"/>
              <a:gd name="connsiteX3" fmla="*/ 9685847 w 9685847"/>
              <a:gd name="connsiteY3" fmla="*/ 3034578 h 4392616"/>
              <a:gd name="connsiteX4" fmla="*/ 8643919 w 9685847"/>
              <a:gd name="connsiteY4" fmla="*/ 4392616 h 4392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5847" h="4392616">
                <a:moveTo>
                  <a:pt x="0" y="4392616"/>
                </a:moveTo>
                <a:lnTo>
                  <a:pt x="3370151" y="0"/>
                </a:lnTo>
                <a:lnTo>
                  <a:pt x="5730613" y="0"/>
                </a:lnTo>
                <a:lnTo>
                  <a:pt x="9685847" y="3034578"/>
                </a:lnTo>
                <a:lnTo>
                  <a:pt x="8643919" y="4392616"/>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p:cNvSpPr>
            <a:spLocks noChangeAspect="1"/>
          </p:cNvSpPr>
          <p:nvPr userDrawn="1"/>
        </p:nvSpPr>
        <p:spPr>
          <a:xfrm rot="3140230">
            <a:off x="7434943" y="4150056"/>
            <a:ext cx="900000" cy="900000"/>
          </a:xfrm>
          <a:prstGeom prst="rect">
            <a:avLst/>
          </a:prstGeom>
          <a:solidFill>
            <a:schemeClr val="bg1">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p:cNvSpPr>
            <a:spLocks noChangeAspect="1"/>
          </p:cNvSpPr>
          <p:nvPr userDrawn="1"/>
        </p:nvSpPr>
        <p:spPr>
          <a:xfrm rot="3140230">
            <a:off x="7806006" y="5303972"/>
            <a:ext cx="283520" cy="283520"/>
          </a:xfrm>
          <a:prstGeom prst="rect">
            <a:avLst/>
          </a:prstGeom>
          <a:solidFill>
            <a:schemeClr val="bg1">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텍스트 개체 틀 21"/>
          <p:cNvSpPr>
            <a:spLocks noGrp="1"/>
          </p:cNvSpPr>
          <p:nvPr>
            <p:ph type="body" sz="quarter" idx="10"/>
          </p:nvPr>
        </p:nvSpPr>
        <p:spPr>
          <a:xfrm>
            <a:off x="438149" y="2291439"/>
            <a:ext cx="4780491" cy="815975"/>
          </a:xfrm>
        </p:spPr>
        <p:txBody>
          <a:bodyPr anchor="ctr"/>
          <a:lstStyle>
            <a:lvl1pPr marL="0" indent="0" algn="l" defTabSz="914400" rtl="0" eaLnBrk="1" latinLnBrk="1" hangingPunct="1">
              <a:buNone/>
              <a:defRPr lang="ko-KR" altLang="en-US" sz="5400" b="1" kern="1200" dirty="0" smtClean="0">
                <a:solidFill>
                  <a:srgbClr val="92ACDF"/>
                </a:solidFill>
                <a:latin typeface="Calibri" panose="020F0502020204030204" pitchFamily="34" charset="0"/>
                <a:ea typeface="+mn-ea"/>
                <a:cs typeface="Calibri" panose="020F0502020204030204" pitchFamily="34" charset="0"/>
              </a:defRPr>
            </a:lvl1pPr>
          </a:lstStyle>
          <a:p>
            <a:pPr lvl="0"/>
            <a:r>
              <a:rPr lang="ko-KR" altLang="en-US" dirty="0"/>
              <a:t>마스터 텍스트</a:t>
            </a:r>
          </a:p>
        </p:txBody>
      </p:sp>
      <p:sp>
        <p:nvSpPr>
          <p:cNvPr id="40" name="텍스트 개체 틀 21"/>
          <p:cNvSpPr>
            <a:spLocks noGrp="1"/>
          </p:cNvSpPr>
          <p:nvPr>
            <p:ph type="body" sz="quarter" idx="11"/>
          </p:nvPr>
        </p:nvSpPr>
        <p:spPr>
          <a:xfrm>
            <a:off x="438150" y="3118096"/>
            <a:ext cx="4286250" cy="815975"/>
          </a:xfrm>
        </p:spPr>
        <p:txBody>
          <a:bodyPr anchor="ctr"/>
          <a:lstStyle>
            <a:lvl1pPr marL="0" indent="0" algn="l" defTabSz="914400" rtl="0" eaLnBrk="1" latinLnBrk="1" hangingPunct="1">
              <a:buNone/>
              <a:defRPr lang="ko-KR" altLang="en-US" sz="3600" b="1" kern="1200" dirty="0" smtClean="0">
                <a:solidFill>
                  <a:srgbClr val="FFFFFF"/>
                </a:solidFill>
                <a:latin typeface="Calibri" panose="020F0502020204030204" pitchFamily="34" charset="0"/>
                <a:ea typeface="+mn-ea"/>
                <a:cs typeface="Calibri" panose="020F0502020204030204" pitchFamily="34" charset="0"/>
              </a:defRPr>
            </a:lvl1pPr>
          </a:lstStyle>
          <a:p>
            <a:pPr lvl="0"/>
            <a:r>
              <a:rPr lang="ko-KR" altLang="en-US" dirty="0"/>
              <a:t>마스터 텍스트</a:t>
            </a:r>
          </a:p>
        </p:txBody>
      </p:sp>
    </p:spTree>
    <p:extLst>
      <p:ext uri="{BB962C8B-B14F-4D97-AF65-F5344CB8AC3E}">
        <p14:creationId xmlns:p14="http://schemas.microsoft.com/office/powerpoint/2010/main" val="470896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10" name="직사각형 9"/>
          <p:cNvSpPr/>
          <p:nvPr userDrawn="1"/>
        </p:nvSpPr>
        <p:spPr>
          <a:xfrm>
            <a:off x="3162300" y="-14514"/>
            <a:ext cx="1204686" cy="6872514"/>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2400" i="1" dirty="0">
              <a:latin typeface="Calibri" panose="020F0502020204030204" pitchFamily="34" charset="0"/>
              <a:cs typeface="Calibri" panose="020F0502020204030204" pitchFamily="34" charset="0"/>
            </a:endParaRPr>
          </a:p>
        </p:txBody>
      </p:sp>
      <p:sp>
        <p:nvSpPr>
          <p:cNvPr id="6" name="직사각형 5"/>
          <p:cNvSpPr/>
          <p:nvPr userDrawn="1"/>
        </p:nvSpPr>
        <p:spPr>
          <a:xfrm>
            <a:off x="1" y="0"/>
            <a:ext cx="3251199" cy="6858000"/>
          </a:xfrm>
          <a:prstGeom prst="rect">
            <a:avLst/>
          </a:prstGeom>
          <a:solidFill>
            <a:srgbClr val="12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텍스트 개체 틀 21"/>
          <p:cNvSpPr>
            <a:spLocks noGrp="1"/>
          </p:cNvSpPr>
          <p:nvPr>
            <p:ph type="body" sz="quarter" idx="10"/>
          </p:nvPr>
        </p:nvSpPr>
        <p:spPr>
          <a:xfrm>
            <a:off x="336549" y="2291439"/>
            <a:ext cx="2914651" cy="815975"/>
          </a:xfrm>
        </p:spPr>
        <p:txBody>
          <a:bodyPr anchor="ctr"/>
          <a:lstStyle>
            <a:lvl1pPr marL="0" indent="0" algn="l" defTabSz="914400" rtl="0" eaLnBrk="1" latinLnBrk="1" hangingPunct="1">
              <a:buNone/>
              <a:defRPr lang="ko-KR" altLang="en-US" sz="5400" b="1" kern="1200" dirty="0" smtClean="0">
                <a:solidFill>
                  <a:srgbClr val="92ACDF"/>
                </a:solidFill>
                <a:latin typeface="Calibri" panose="020F0502020204030204" pitchFamily="34" charset="0"/>
                <a:ea typeface="+mn-ea"/>
                <a:cs typeface="Calibri" panose="020F0502020204030204" pitchFamily="34" charset="0"/>
              </a:defRPr>
            </a:lvl1pPr>
          </a:lstStyle>
          <a:p>
            <a:pPr lvl="0"/>
            <a:r>
              <a:rPr lang="ko-KR" altLang="en-US" dirty="0"/>
              <a:t>마스터 텍스트</a:t>
            </a:r>
          </a:p>
        </p:txBody>
      </p:sp>
      <p:sp>
        <p:nvSpPr>
          <p:cNvPr id="9"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dirty="0"/>
          </a:p>
        </p:txBody>
      </p:sp>
      <p:sp>
        <p:nvSpPr>
          <p:cNvPr id="3" name="텍스트 개체 틀 2">
            <a:extLst>
              <a:ext uri="{FF2B5EF4-FFF2-40B4-BE49-F238E27FC236}">
                <a16:creationId xmlns:a16="http://schemas.microsoft.com/office/drawing/2014/main" id="{218ACE2E-D57C-4386-A791-DD0AEBD6259F}"/>
              </a:ext>
            </a:extLst>
          </p:cNvPr>
          <p:cNvSpPr>
            <a:spLocks noGrp="1"/>
          </p:cNvSpPr>
          <p:nvPr>
            <p:ph type="body" sz="quarter" idx="13"/>
          </p:nvPr>
        </p:nvSpPr>
        <p:spPr>
          <a:xfrm>
            <a:off x="4965700" y="692150"/>
            <a:ext cx="6731000" cy="54737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3461951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368300" y="187326"/>
            <a:ext cx="10515600" cy="627855"/>
          </a:xfrm>
        </p:spPr>
        <p:txBody>
          <a:bodyPr>
            <a:noAutofit/>
          </a:bodyPr>
          <a:lstStyle>
            <a:lvl1pPr>
              <a:defRPr sz="3600" b="1">
                <a:solidFill>
                  <a:srgbClr val="0D1D4F"/>
                </a:solidFill>
                <a:effectLst>
                  <a:outerShdw blurRad="38100" dist="38100" dir="2700000" algn="tl">
                    <a:srgbClr val="9BB2E1">
                      <a:alpha val="60000"/>
                    </a:srgbClr>
                  </a:outerShdw>
                </a:effectLst>
                <a:latin typeface="Calibri" panose="020F0502020204030204" pitchFamily="34" charset="0"/>
                <a:cs typeface="Calibri" panose="020F0502020204030204" pitchFamily="34" charset="0"/>
              </a:defRPr>
            </a:lvl1pPr>
          </a:lstStyle>
          <a:p>
            <a:r>
              <a:rPr lang="ko-KR" altLang="en-US" dirty="0"/>
              <a:t>마스터 제목 스타일 편집</a:t>
            </a:r>
          </a:p>
        </p:txBody>
      </p:sp>
      <p:sp>
        <p:nvSpPr>
          <p:cNvPr id="3" name="내용 개체 틀 2"/>
          <p:cNvSpPr>
            <a:spLocks noGrp="1"/>
          </p:cNvSpPr>
          <p:nvPr>
            <p:ph idx="1"/>
          </p:nvPr>
        </p:nvSpPr>
        <p:spPr>
          <a:xfrm>
            <a:off x="355600" y="1003300"/>
            <a:ext cx="10998200" cy="4957763"/>
          </a:xfrm>
        </p:spPr>
        <p:txBody>
          <a:bodyPr/>
          <a:lstStyle>
            <a:lvl1pPr marL="228600" indent="-228600">
              <a:buFont typeface="Wingdings" panose="05000000000000000000" pitchFamily="2" charset="2"/>
              <a:buChar char="§"/>
              <a:defRPr sz="2000" b="1">
                <a:latin typeface="Calibri" panose="020F0502020204030204" pitchFamily="34" charset="0"/>
                <a:cs typeface="Calibri" panose="020F0502020204030204" pitchFamily="34" charset="0"/>
              </a:defRPr>
            </a:lvl1pPr>
            <a:lvl2pPr marL="685800" indent="-228600">
              <a:buFont typeface="Arial" panose="020B0604020202020204" pitchFamily="34" charset="0"/>
              <a:buChar char="•"/>
              <a:defRPr sz="1800">
                <a:latin typeface="Calibri" panose="020F0502020204030204" pitchFamily="34" charset="0"/>
                <a:cs typeface="Calibri" panose="020F0502020204030204" pitchFamily="34" charset="0"/>
              </a:defRPr>
            </a:lvl2pPr>
            <a:lvl3pPr marL="1143000" indent="-228600">
              <a:buFont typeface="Wingdings" panose="05000000000000000000" pitchFamily="2" charset="2"/>
              <a:buChar char="ü"/>
              <a:defRPr sz="1600">
                <a:latin typeface="Calibri" panose="020F0502020204030204" pitchFamily="34" charset="0"/>
                <a:cs typeface="Calibri" panose="020F0502020204030204" pitchFamily="34" charset="0"/>
              </a:defRPr>
            </a:lvl3pPr>
            <a:lvl4pPr>
              <a:defRPr sz="1400"/>
            </a:lvl4pPr>
          </a:lstStyle>
          <a:p>
            <a:pPr lvl="0"/>
            <a:r>
              <a:rPr lang="ko-KR" altLang="en-US" dirty="0"/>
              <a:t>마스터 텍스트 스타일 편집</a:t>
            </a:r>
          </a:p>
          <a:p>
            <a:pPr lvl="1"/>
            <a:r>
              <a:rPr lang="ko-KR" altLang="en-US" dirty="0"/>
              <a:t>둘째 수준</a:t>
            </a:r>
          </a:p>
          <a:p>
            <a:pPr lvl="2"/>
            <a:r>
              <a:rPr lang="ko-KR" altLang="en-US" dirty="0"/>
              <a:t>셋째 수준</a:t>
            </a:r>
          </a:p>
        </p:txBody>
      </p:sp>
      <p:grpSp>
        <p:nvGrpSpPr>
          <p:cNvPr id="10" name="그룹 9"/>
          <p:cNvGrpSpPr/>
          <p:nvPr userDrawn="1"/>
        </p:nvGrpSpPr>
        <p:grpSpPr>
          <a:xfrm>
            <a:off x="0" y="396081"/>
            <a:ext cx="11449050" cy="816134"/>
            <a:chOff x="0" y="484981"/>
            <a:chExt cx="11449050" cy="816134"/>
          </a:xfrm>
        </p:grpSpPr>
        <p:sp>
          <p:nvSpPr>
            <p:cNvPr id="7" name="이등변 삼각형 6"/>
            <p:cNvSpPr/>
            <p:nvPr userDrawn="1"/>
          </p:nvSpPr>
          <p:spPr>
            <a:xfrm rot="5400000">
              <a:off x="-268367" y="753348"/>
              <a:ext cx="816134" cy="279400"/>
            </a:xfrm>
            <a:prstGeom prst="triangle">
              <a:avLst/>
            </a:prstGeom>
            <a:solidFill>
              <a:srgbClr val="1229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연결선 8"/>
            <p:cNvCxnSpPr/>
            <p:nvPr userDrawn="1"/>
          </p:nvCxnSpPr>
          <p:spPr>
            <a:xfrm>
              <a:off x="142875" y="893048"/>
              <a:ext cx="11306175" cy="0"/>
            </a:xfrm>
            <a:prstGeom prst="line">
              <a:avLst/>
            </a:prstGeom>
            <a:ln w="9525">
              <a:gradFill>
                <a:gsLst>
                  <a:gs pos="43000">
                    <a:srgbClr val="12296D"/>
                  </a:gs>
                  <a:gs pos="0">
                    <a:srgbClr val="12296D"/>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1"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a:p>
        </p:txBody>
      </p:sp>
    </p:spTree>
    <p:extLst>
      <p:ext uri="{BB962C8B-B14F-4D97-AF65-F5344CB8AC3E}">
        <p14:creationId xmlns:p14="http://schemas.microsoft.com/office/powerpoint/2010/main" val="3621812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7"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a:p>
        </p:txBody>
      </p:sp>
    </p:spTree>
    <p:extLst>
      <p:ext uri="{BB962C8B-B14F-4D97-AF65-F5344CB8AC3E}">
        <p14:creationId xmlns:p14="http://schemas.microsoft.com/office/powerpoint/2010/main" val="17599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a:p>
        </p:txBody>
      </p:sp>
    </p:spTree>
    <p:extLst>
      <p:ext uri="{BB962C8B-B14F-4D97-AF65-F5344CB8AC3E}">
        <p14:creationId xmlns:p14="http://schemas.microsoft.com/office/powerpoint/2010/main" val="2455902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0"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a:p>
        </p:txBody>
      </p:sp>
    </p:spTree>
    <p:extLst>
      <p:ext uri="{BB962C8B-B14F-4D97-AF65-F5344CB8AC3E}">
        <p14:creationId xmlns:p14="http://schemas.microsoft.com/office/powerpoint/2010/main" val="4099515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6"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a:p>
        </p:txBody>
      </p:sp>
    </p:spTree>
    <p:extLst>
      <p:ext uri="{BB962C8B-B14F-4D97-AF65-F5344CB8AC3E}">
        <p14:creationId xmlns:p14="http://schemas.microsoft.com/office/powerpoint/2010/main" val="359667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5"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a:p>
        </p:txBody>
      </p:sp>
    </p:spTree>
    <p:extLst>
      <p:ext uri="{BB962C8B-B14F-4D97-AF65-F5344CB8AC3E}">
        <p14:creationId xmlns:p14="http://schemas.microsoft.com/office/powerpoint/2010/main" val="1335607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8"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a:p>
        </p:txBody>
      </p:sp>
    </p:spTree>
    <p:extLst>
      <p:ext uri="{BB962C8B-B14F-4D97-AF65-F5344CB8AC3E}">
        <p14:creationId xmlns:p14="http://schemas.microsoft.com/office/powerpoint/2010/main" val="2690870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8"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a:p>
        </p:txBody>
      </p:sp>
    </p:spTree>
    <p:extLst>
      <p:ext uri="{BB962C8B-B14F-4D97-AF65-F5344CB8AC3E}">
        <p14:creationId xmlns:p14="http://schemas.microsoft.com/office/powerpoint/2010/main" val="2905043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슬라이드 번호 개체 틀 5"/>
          <p:cNvSpPr>
            <a:spLocks noGrp="1"/>
          </p:cNvSpPr>
          <p:nvPr>
            <p:ph type="sldNum" sz="quarter" idx="12"/>
          </p:nvPr>
        </p:nvSpPr>
        <p:spPr>
          <a:xfrm>
            <a:off x="9448800" y="6492875"/>
            <a:ext cx="2743200" cy="365125"/>
          </a:xfrm>
        </p:spPr>
        <p:txBody>
          <a:bodyPr/>
          <a:lstStyle/>
          <a:p>
            <a:fld id="{23888E7F-F368-464B-B049-5A100FC54338}" type="slidenum">
              <a:rPr lang="ko-KR" altLang="en-US" smtClean="0"/>
              <a:t>‹#›</a:t>
            </a:fld>
            <a:endParaRPr lang="ko-KR" altLang="en-US"/>
          </a:p>
        </p:txBody>
      </p:sp>
    </p:spTree>
    <p:extLst>
      <p:ext uri="{BB962C8B-B14F-4D97-AF65-F5344CB8AC3E}">
        <p14:creationId xmlns:p14="http://schemas.microsoft.com/office/powerpoint/2010/main" val="1910664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슬라이드 번호 개체 틀 5"/>
          <p:cNvSpPr>
            <a:spLocks noGrp="1"/>
          </p:cNvSpPr>
          <p:nvPr>
            <p:ph type="sldNum" sz="quarter" idx="12"/>
          </p:nvPr>
        </p:nvSpPr>
        <p:spPr/>
        <p:txBody>
          <a:bodyPr/>
          <a:lstStyle/>
          <a:p>
            <a:fld id="{23888E7F-F368-464B-B049-5A100FC54338}" type="slidenum">
              <a:rPr lang="ko-KR" altLang="en-US" smtClean="0"/>
              <a:t>‹#›</a:t>
            </a:fld>
            <a:endParaRPr lang="ko-KR" altLang="en-US"/>
          </a:p>
        </p:txBody>
      </p:sp>
      <p:sp>
        <p:nvSpPr>
          <p:cNvPr id="7" name="슬라이드 번호 개체 틀 5"/>
          <p:cNvSpPr txBox="1">
            <a:spLocks/>
          </p:cNvSpPr>
          <p:nvPr userDrawn="1"/>
        </p:nvSpPr>
        <p:spPr>
          <a:xfrm>
            <a:off x="9448800" y="6492875"/>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23888E7F-F368-464B-B049-5A100FC54338}" type="slidenum">
              <a:rPr lang="ko-KR" altLang="en-US" smtClean="0"/>
              <a:pPr/>
              <a:t>‹#›</a:t>
            </a:fld>
            <a:endParaRPr lang="ko-KR" altLang="en-US"/>
          </a:p>
        </p:txBody>
      </p:sp>
    </p:spTree>
    <p:extLst>
      <p:ext uri="{BB962C8B-B14F-4D97-AF65-F5344CB8AC3E}">
        <p14:creationId xmlns:p14="http://schemas.microsoft.com/office/powerpoint/2010/main" val="64438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슬라이드 번호 개체 틀 5"/>
          <p:cNvSpPr>
            <a:spLocks noGrp="1"/>
          </p:cNvSpPr>
          <p:nvPr>
            <p:ph type="sldNum" sz="quarter" idx="4"/>
          </p:nvPr>
        </p:nvSpPr>
        <p:spPr>
          <a:xfrm>
            <a:off x="92329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888E7F-F368-464B-B049-5A100FC54338}" type="slidenum">
              <a:rPr lang="ko-KR" altLang="en-US" smtClean="0"/>
              <a:t>‹#›</a:t>
            </a:fld>
            <a:endParaRPr lang="ko-KR" altLang="en-US" dirty="0"/>
          </a:p>
        </p:txBody>
      </p:sp>
    </p:spTree>
    <p:extLst>
      <p:ext uri="{BB962C8B-B14F-4D97-AF65-F5344CB8AC3E}">
        <p14:creationId xmlns:p14="http://schemas.microsoft.com/office/powerpoint/2010/main" val="28269046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2"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hdr="0" dt="0"/>
  <p:txStyles>
    <p:titleStyle>
      <a:lvl1pPr algn="l" defTabSz="914400" rtl="0" eaLnBrk="1" latinLnBrk="1"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부제목 2">
            <a:extLst>
              <a:ext uri="{FF2B5EF4-FFF2-40B4-BE49-F238E27FC236}">
                <a16:creationId xmlns:a16="http://schemas.microsoft.com/office/drawing/2014/main" id="{340F4CB2-3D83-548D-62BA-8BDDC69363B2}"/>
              </a:ext>
            </a:extLst>
          </p:cNvPr>
          <p:cNvSpPr>
            <a:spLocks noGrp="1"/>
          </p:cNvSpPr>
          <p:nvPr>
            <p:ph type="subTitle" idx="1"/>
          </p:nvPr>
        </p:nvSpPr>
        <p:spPr>
          <a:xfrm>
            <a:off x="1524000" y="4747550"/>
            <a:ext cx="9144000" cy="1655762"/>
          </a:xfrm>
        </p:spPr>
        <p:txBody>
          <a:bodyPr/>
          <a:lstStyle/>
          <a:p>
            <a:r>
              <a:rPr lang="en-US" altLang="ko-KR" dirty="0"/>
              <a:t> </a:t>
            </a:r>
            <a:br>
              <a:rPr lang="en-US" altLang="ko-KR" dirty="0"/>
            </a:br>
            <a:r>
              <a:rPr lang="en-US" altLang="ko-KR" dirty="0"/>
              <a:t>Ho Je Lee, Won Woo Ro</a:t>
            </a:r>
          </a:p>
          <a:p>
            <a:r>
              <a:rPr lang="en-US" altLang="ko-KR" dirty="0"/>
              <a:t>Yonsei University</a:t>
            </a:r>
            <a:endParaRPr lang="ko-KR" altLang="en-US" dirty="0"/>
          </a:p>
        </p:txBody>
      </p:sp>
      <p:sp>
        <p:nvSpPr>
          <p:cNvPr id="6" name="제목 1">
            <a:extLst>
              <a:ext uri="{FF2B5EF4-FFF2-40B4-BE49-F238E27FC236}">
                <a16:creationId xmlns:a16="http://schemas.microsoft.com/office/drawing/2014/main" id="{D1C6E44F-EFC3-7FBE-7F7A-AB41F3CD952C}"/>
              </a:ext>
            </a:extLst>
          </p:cNvPr>
          <p:cNvSpPr txBox="1">
            <a:spLocks/>
          </p:cNvSpPr>
          <p:nvPr/>
        </p:nvSpPr>
        <p:spPr>
          <a:xfrm>
            <a:off x="852832" y="2880979"/>
            <a:ext cx="10486332" cy="791302"/>
          </a:xfrm>
          <a:prstGeom prst="rect">
            <a:avLst/>
          </a:prstGeom>
        </p:spPr>
        <p:txBody>
          <a:bodyPr vert="horz" lIns="91440" tIns="45720" rIns="91440" bIns="45720" rtlCol="0" anchor="b">
            <a:noAutofit/>
          </a:bodyPr>
          <a:lstStyle>
            <a:lvl1pPr algn="ctr" defTabSz="914400" rtl="0" eaLnBrk="1" latinLnBrk="1" hangingPunct="1">
              <a:lnSpc>
                <a:spcPct val="90000"/>
              </a:lnSpc>
              <a:spcBef>
                <a:spcPct val="0"/>
              </a:spcBef>
              <a:buNone/>
              <a:defRPr sz="3200" b="1" kern="1200">
                <a:ln w="6350">
                  <a:solidFill>
                    <a:schemeClr val="tx1">
                      <a:alpha val="30000"/>
                    </a:schemeClr>
                  </a:solidFill>
                </a:ln>
                <a:solidFill>
                  <a:srgbClr val="142460"/>
                </a:solidFill>
                <a:effectLst>
                  <a:outerShdw blurRad="38100" dist="38100" dir="2700000" algn="tl">
                    <a:srgbClr val="000000">
                      <a:alpha val="43137"/>
                    </a:srgbClr>
                  </a:outerShdw>
                </a:effectLst>
                <a:latin typeface="Calibri" panose="020F0502020204030204" pitchFamily="34" charset="0"/>
                <a:ea typeface="+mj-ea"/>
                <a:cs typeface="Calibri" panose="020F0502020204030204" pitchFamily="34" charset="0"/>
              </a:defRPr>
            </a:lvl1pPr>
          </a:lstStyle>
          <a:p>
            <a:pPr>
              <a:lnSpc>
                <a:spcPct val="110000"/>
              </a:lnSpc>
            </a:pPr>
            <a:r>
              <a:rPr lang="en-US" altLang="x-none" sz="2800" dirty="0">
                <a:effectLst/>
              </a:rPr>
              <a:t>Data Prefetching Championship 4 (DPC4) </a:t>
            </a:r>
            <a:br>
              <a:rPr lang="en-US" altLang="x-none" sz="4000" dirty="0">
                <a:effectLst/>
              </a:rPr>
            </a:br>
            <a:r>
              <a:rPr lang="en-US" altLang="x-none" sz="4000" dirty="0">
                <a:effectLst/>
              </a:rPr>
              <a:t>Virtual Inter-Page Prefetching for </a:t>
            </a:r>
            <a:br>
              <a:rPr lang="en-US" altLang="x-none" sz="4000" dirty="0">
                <a:effectLst/>
              </a:rPr>
            </a:br>
            <a:r>
              <a:rPr lang="en-US" altLang="x-none" sz="4000" dirty="0">
                <a:effectLst/>
              </a:rPr>
              <a:t>Physical-Address Prefetchers</a:t>
            </a:r>
            <a:endParaRPr lang="ko-KR" altLang="en-US" sz="4000" dirty="0">
              <a:solidFill>
                <a:srgbClr val="2B4E8D"/>
              </a:solidFill>
              <a:effectLst>
                <a:outerShdw blurRad="38100" dist="38100" dir="2700000" algn="tl">
                  <a:schemeClr val="accent5">
                    <a:alpha val="50000"/>
                  </a:schemeClr>
                </a:outerShdw>
              </a:effectLst>
            </a:endParaRPr>
          </a:p>
        </p:txBody>
      </p:sp>
    </p:spTree>
    <p:extLst>
      <p:ext uri="{BB962C8B-B14F-4D97-AF65-F5344CB8AC3E}">
        <p14:creationId xmlns:p14="http://schemas.microsoft.com/office/powerpoint/2010/main" val="3972438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0A8B1-993B-D582-3CD6-03753A70750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337040B-F5B7-EE56-9F2A-6062EEC833AE}"/>
              </a:ext>
            </a:extLst>
          </p:cNvPr>
          <p:cNvSpPr>
            <a:spLocks noGrp="1"/>
          </p:cNvSpPr>
          <p:nvPr>
            <p:ph type="title"/>
          </p:nvPr>
        </p:nvSpPr>
        <p:spPr/>
        <p:txBody>
          <a:bodyPr/>
          <a:lstStyle/>
          <a:p>
            <a:r>
              <a:rPr kumimoji="1" lang="en-US" altLang="ko-KR" dirty="0"/>
              <a:t>Characteristics of Multi-Level Prefetchers</a:t>
            </a:r>
            <a:endParaRPr kumimoji="1" lang="ko-KR" altLang="en-US" dirty="0"/>
          </a:p>
        </p:txBody>
      </p:sp>
      <p:sp>
        <p:nvSpPr>
          <p:cNvPr id="4" name="슬라이드 번호 개체 틀 3">
            <a:extLst>
              <a:ext uri="{FF2B5EF4-FFF2-40B4-BE49-F238E27FC236}">
                <a16:creationId xmlns:a16="http://schemas.microsoft.com/office/drawing/2014/main" id="{6A854362-B540-8481-84F2-D8C81DF5E2A1}"/>
              </a:ext>
            </a:extLst>
          </p:cNvPr>
          <p:cNvSpPr>
            <a:spLocks noGrp="1"/>
          </p:cNvSpPr>
          <p:nvPr>
            <p:ph type="sldNum" sz="quarter" idx="12"/>
          </p:nvPr>
        </p:nvSpPr>
        <p:spPr/>
        <p:txBody>
          <a:bodyPr/>
          <a:lstStyle/>
          <a:p>
            <a:fld id="{23888E7F-F368-464B-B049-5A100FC54338}" type="slidenum">
              <a:rPr lang="ko-KR" altLang="en-US" smtClean="0"/>
              <a:t>2</a:t>
            </a:fld>
            <a:endParaRPr lang="ko-KR" altLang="en-US"/>
          </a:p>
        </p:txBody>
      </p:sp>
      <p:sp>
        <p:nvSpPr>
          <p:cNvPr id="9" name="TextBox 8">
            <a:extLst>
              <a:ext uri="{FF2B5EF4-FFF2-40B4-BE49-F238E27FC236}">
                <a16:creationId xmlns:a16="http://schemas.microsoft.com/office/drawing/2014/main" id="{74ACDB86-1285-8935-D464-CF584D719281}"/>
              </a:ext>
            </a:extLst>
          </p:cNvPr>
          <p:cNvSpPr txBox="1"/>
          <p:nvPr/>
        </p:nvSpPr>
        <p:spPr>
          <a:xfrm>
            <a:off x="4387766" y="1202376"/>
            <a:ext cx="2237985" cy="4616648"/>
          </a:xfrm>
          <a:prstGeom prst="rect">
            <a:avLst/>
          </a:prstGeom>
          <a:noFill/>
        </p:spPr>
        <p:txBody>
          <a:bodyPr wrap="none" rtlCol="0">
            <a:spAutoFit/>
          </a:bodyPr>
          <a:lstStyle/>
          <a:p>
            <a:r>
              <a:rPr kumimoji="1" lang="en-US" altLang="ko-KR" sz="2400" b="1" dirty="0">
                <a:solidFill>
                  <a:srgbClr val="467B9C"/>
                </a:solidFill>
                <a:latin typeface="Calibri" panose="020F0502020204030204" pitchFamily="34" charset="0"/>
                <a:cs typeface="Calibri" panose="020F0502020204030204" pitchFamily="34" charset="0"/>
              </a:rPr>
              <a:t>L1 Prefetcher</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Input Stream:</a:t>
            </a:r>
          </a:p>
          <a:p>
            <a:r>
              <a:rPr kumimoji="1" lang="en-US" altLang="ko-KR" dirty="0">
                <a:latin typeface="Calibri" panose="020F0502020204030204" pitchFamily="34" charset="0"/>
                <a:cs typeface="Calibri" panose="020F0502020204030204" pitchFamily="34" charset="0"/>
              </a:rPr>
              <a:t>All Memory Accesses</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Address Space:</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Virtual Address</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Characteristics:</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Conservative (short-</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distance, low latency, </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avoids L1 pollution</a:t>
            </a:r>
          </a:p>
          <a:p>
            <a:endParaRPr kumimoji="1" lang="en-US" altLang="ko-KR" dirty="0">
              <a:latin typeface="Calibri" panose="020F0502020204030204" pitchFamily="34" charset="0"/>
              <a:cs typeface="Calibri" panose="020F0502020204030204" pitchFamily="34" charset="0"/>
            </a:endParaRPr>
          </a:p>
          <a:p>
            <a:endParaRPr kumimoji="1" lang="en-US" altLang="ko-KR" dirty="0">
              <a:latin typeface="Calibri" panose="020F0502020204030204" pitchFamily="34" charset="0"/>
              <a:cs typeface="Calibri" panose="020F0502020204030204" pitchFamily="34" charset="0"/>
            </a:endParaRPr>
          </a:p>
          <a:p>
            <a:r>
              <a:rPr kumimoji="1" lang="en-US" altLang="ko-KR" b="1" dirty="0">
                <a:solidFill>
                  <a:srgbClr val="C00000"/>
                </a:solidFill>
                <a:latin typeface="Calibri" panose="020F0502020204030204" pitchFamily="34" charset="0"/>
                <a:cs typeface="Calibri" panose="020F0502020204030204" pitchFamily="34" charset="0"/>
              </a:rPr>
              <a:t>Main Effect:</a:t>
            </a:r>
            <a:br>
              <a:rPr kumimoji="1" lang="en-US" altLang="ko-KR" b="1" dirty="0">
                <a:solidFill>
                  <a:srgbClr val="C00000"/>
                </a:solidFill>
                <a:latin typeface="Calibri" panose="020F0502020204030204" pitchFamily="34" charset="0"/>
                <a:cs typeface="Calibri" panose="020F0502020204030204" pitchFamily="34" charset="0"/>
              </a:rPr>
            </a:br>
            <a:r>
              <a:rPr kumimoji="1" lang="en-US" altLang="ko-KR" dirty="0">
                <a:solidFill>
                  <a:srgbClr val="C00000"/>
                </a:solidFill>
                <a:latin typeface="Calibri" panose="020F0502020204030204" pitchFamily="34" charset="0"/>
                <a:cs typeface="Calibri" panose="020F0502020204030204" pitchFamily="34" charset="0"/>
              </a:rPr>
              <a:t>MPKI Reduction of L1</a:t>
            </a:r>
          </a:p>
        </p:txBody>
      </p:sp>
      <p:sp>
        <p:nvSpPr>
          <p:cNvPr id="10" name="TextBox 9">
            <a:extLst>
              <a:ext uri="{FF2B5EF4-FFF2-40B4-BE49-F238E27FC236}">
                <a16:creationId xmlns:a16="http://schemas.microsoft.com/office/drawing/2014/main" id="{6EFD9F05-1726-3456-4F1D-228C60EB5316}"/>
              </a:ext>
            </a:extLst>
          </p:cNvPr>
          <p:cNvSpPr txBox="1"/>
          <p:nvPr/>
        </p:nvSpPr>
        <p:spPr>
          <a:xfrm>
            <a:off x="3845526" y="1202376"/>
            <a:ext cx="184731" cy="369332"/>
          </a:xfrm>
          <a:prstGeom prst="rect">
            <a:avLst/>
          </a:prstGeom>
          <a:noFill/>
        </p:spPr>
        <p:txBody>
          <a:bodyPr wrap="none" rtlCol="0">
            <a:spAutoFit/>
          </a:bodyPr>
          <a:lstStyle/>
          <a:p>
            <a:endParaRPr kumimoji="1" lang="ko-KR" altLang="en-US"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FF6BCCF7-C85F-6099-8C76-CF3A67722953}"/>
              </a:ext>
            </a:extLst>
          </p:cNvPr>
          <p:cNvSpPr txBox="1"/>
          <p:nvPr/>
        </p:nvSpPr>
        <p:spPr>
          <a:xfrm>
            <a:off x="7458940" y="1202376"/>
            <a:ext cx="2195601" cy="4616648"/>
          </a:xfrm>
          <a:prstGeom prst="rect">
            <a:avLst/>
          </a:prstGeom>
          <a:noFill/>
        </p:spPr>
        <p:txBody>
          <a:bodyPr wrap="none" rtlCol="0">
            <a:spAutoFit/>
          </a:bodyPr>
          <a:lstStyle/>
          <a:p>
            <a:r>
              <a:rPr kumimoji="1" lang="en-US" altLang="ko-KR" sz="2400" b="1" dirty="0">
                <a:solidFill>
                  <a:srgbClr val="467B9C"/>
                </a:solidFill>
                <a:latin typeface="Calibri" panose="020F0502020204030204" pitchFamily="34" charset="0"/>
                <a:cs typeface="Calibri" panose="020F0502020204030204" pitchFamily="34" charset="0"/>
              </a:rPr>
              <a:t>L2 Prefetcher</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Input Stream:</a:t>
            </a:r>
          </a:p>
          <a:p>
            <a:r>
              <a:rPr kumimoji="1" lang="en-US" altLang="ko-KR" dirty="0">
                <a:latin typeface="Calibri" panose="020F0502020204030204" pitchFamily="34" charset="0"/>
                <a:cs typeface="Calibri" panose="020F0502020204030204" pitchFamily="34" charset="0"/>
              </a:rPr>
              <a:t>L1 Miss Stream</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Address Space:</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Physical Address</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Characteristics :</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Aggressive (long-</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range, long latency,</a:t>
            </a:r>
          </a:p>
          <a:p>
            <a:r>
              <a:rPr kumimoji="1" lang="en-US" altLang="ko-KR" dirty="0">
                <a:latin typeface="Calibri" panose="020F0502020204030204" pitchFamily="34" charset="0"/>
                <a:cs typeface="Calibri" panose="020F0502020204030204" pitchFamily="34" charset="0"/>
              </a:rPr>
              <a:t>higher bandwidth</a:t>
            </a:r>
          </a:p>
          <a:p>
            <a:br>
              <a:rPr kumimoji="1" lang="en-US" altLang="ko-KR" dirty="0">
                <a:latin typeface="Calibri" panose="020F0502020204030204" pitchFamily="34" charset="0"/>
                <a:cs typeface="Calibri" panose="020F0502020204030204" pitchFamily="34" charset="0"/>
              </a:rPr>
            </a:br>
            <a:endParaRPr kumimoji="1" lang="en-US" altLang="ko-KR" dirty="0">
              <a:latin typeface="Calibri" panose="020F0502020204030204" pitchFamily="34" charset="0"/>
              <a:cs typeface="Calibri" panose="020F0502020204030204" pitchFamily="34" charset="0"/>
            </a:endParaRPr>
          </a:p>
          <a:p>
            <a:r>
              <a:rPr kumimoji="1" lang="en-US" altLang="ko-KR" b="1" dirty="0">
                <a:solidFill>
                  <a:srgbClr val="C00000"/>
                </a:solidFill>
                <a:latin typeface="Calibri" panose="020F0502020204030204" pitchFamily="34" charset="0"/>
                <a:cs typeface="Calibri" panose="020F0502020204030204" pitchFamily="34" charset="0"/>
              </a:rPr>
              <a:t>Main Effect:</a:t>
            </a:r>
            <a:br>
              <a:rPr kumimoji="1" lang="en-US" altLang="ko-KR" b="1" dirty="0">
                <a:solidFill>
                  <a:srgbClr val="C00000"/>
                </a:solidFill>
                <a:latin typeface="Calibri" panose="020F0502020204030204" pitchFamily="34" charset="0"/>
                <a:cs typeface="Calibri" panose="020F0502020204030204" pitchFamily="34" charset="0"/>
              </a:rPr>
            </a:br>
            <a:r>
              <a:rPr kumimoji="1" lang="en-US" altLang="ko-KR" dirty="0">
                <a:solidFill>
                  <a:srgbClr val="C00000"/>
                </a:solidFill>
                <a:latin typeface="Calibri" panose="020F0502020204030204" pitchFamily="34" charset="0"/>
                <a:cs typeface="Calibri" panose="020F0502020204030204" pitchFamily="34" charset="0"/>
              </a:rPr>
              <a:t>MPKI Reduction of L2</a:t>
            </a:r>
          </a:p>
        </p:txBody>
      </p:sp>
      <p:sp>
        <p:nvSpPr>
          <p:cNvPr id="28" name="모서리가 둥근 직사각형 27">
            <a:extLst>
              <a:ext uri="{FF2B5EF4-FFF2-40B4-BE49-F238E27FC236}">
                <a16:creationId xmlns:a16="http://schemas.microsoft.com/office/drawing/2014/main" id="{EEB9B703-6CD3-6B88-27EA-5FBCB053E545}"/>
              </a:ext>
            </a:extLst>
          </p:cNvPr>
          <p:cNvSpPr/>
          <p:nvPr/>
        </p:nvSpPr>
        <p:spPr>
          <a:xfrm>
            <a:off x="533533" y="5902036"/>
            <a:ext cx="10985532" cy="676894"/>
          </a:xfrm>
          <a:prstGeom prst="round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dirty="0">
                <a:solidFill>
                  <a:schemeClr val="tx1"/>
                </a:solidFill>
                <a:latin typeface="Calibri" panose="020F0502020204030204" pitchFamily="34" charset="0"/>
                <a:cs typeface="Calibri" panose="020F0502020204030204" pitchFamily="34" charset="0"/>
              </a:rPr>
              <a:t>A prefetcher’s behavior and capability depends on where it is placed in the cache hierarchy.</a:t>
            </a:r>
            <a:endParaRPr lang="en" altLang="ko-KR"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75BF380-BC52-6ABB-F709-040DBD1A4E73}"/>
              </a:ext>
            </a:extLst>
          </p:cNvPr>
          <p:cNvSpPr txBox="1"/>
          <p:nvPr/>
        </p:nvSpPr>
        <p:spPr>
          <a:xfrm>
            <a:off x="1834876" y="2297533"/>
            <a:ext cx="1987916" cy="646331"/>
          </a:xfrm>
          <a:prstGeom prst="rect">
            <a:avLst/>
          </a:prstGeom>
          <a:noFill/>
        </p:spPr>
        <p:txBody>
          <a:bodyPr wrap="none" rtlCol="0">
            <a:spAutoFit/>
          </a:bodyPr>
          <a:lstStyle/>
          <a:p>
            <a:pPr algn="ctr"/>
            <a:r>
              <a:rPr kumimoji="1" lang="en-US" altLang="ko-KR" dirty="0">
                <a:latin typeface="Calibri" panose="020F0502020204030204" pitchFamily="34" charset="0"/>
                <a:cs typeface="Calibri" panose="020F0502020204030204" pitchFamily="34" charset="0"/>
              </a:rPr>
              <a:t>Due to Prefetcher’s</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Placement</a:t>
            </a:r>
            <a:endParaRPr kumimoji="1" lang="ko-KR" altLang="en-US"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81750E3-8BF5-3576-A83A-2DDA7095FFEF}"/>
              </a:ext>
            </a:extLst>
          </p:cNvPr>
          <p:cNvSpPr txBox="1"/>
          <p:nvPr/>
        </p:nvSpPr>
        <p:spPr>
          <a:xfrm>
            <a:off x="2017715" y="3798334"/>
            <a:ext cx="1622239" cy="646331"/>
          </a:xfrm>
          <a:prstGeom prst="rect">
            <a:avLst/>
          </a:prstGeom>
          <a:noFill/>
        </p:spPr>
        <p:txBody>
          <a:bodyPr wrap="none" rtlCol="0">
            <a:spAutoFit/>
          </a:bodyPr>
          <a:lstStyle/>
          <a:p>
            <a:pPr algn="ctr"/>
            <a:r>
              <a:rPr kumimoji="1" lang="en-US" altLang="ko-KR" dirty="0">
                <a:latin typeface="Calibri" panose="020F0502020204030204" pitchFamily="34" charset="0"/>
                <a:cs typeface="Calibri" panose="020F0502020204030204" pitchFamily="34" charset="0"/>
              </a:rPr>
              <a:t>Due to Cache’s </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Characteristic</a:t>
            </a:r>
            <a:endParaRPr kumimoji="1" lang="ko-KR" altLang="en-US" dirty="0">
              <a:latin typeface="Calibri" panose="020F0502020204030204" pitchFamily="34" charset="0"/>
              <a:cs typeface="Calibri" panose="020F0502020204030204" pitchFamily="34" charset="0"/>
            </a:endParaRPr>
          </a:p>
        </p:txBody>
      </p:sp>
      <p:sp>
        <p:nvSpPr>
          <p:cNvPr id="7" name="모서리가 둥근 직사각형 6">
            <a:extLst>
              <a:ext uri="{FF2B5EF4-FFF2-40B4-BE49-F238E27FC236}">
                <a16:creationId xmlns:a16="http://schemas.microsoft.com/office/drawing/2014/main" id="{A2DF50C4-264B-E80E-154E-806FD8F0C36B}"/>
              </a:ext>
            </a:extLst>
          </p:cNvPr>
          <p:cNvSpPr/>
          <p:nvPr/>
        </p:nvSpPr>
        <p:spPr>
          <a:xfrm>
            <a:off x="1495540" y="1808480"/>
            <a:ext cx="8816859" cy="1620520"/>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sp>
        <p:nvSpPr>
          <p:cNvPr id="8" name="모서리가 둥근 직사각형 7">
            <a:extLst>
              <a:ext uri="{FF2B5EF4-FFF2-40B4-BE49-F238E27FC236}">
                <a16:creationId xmlns:a16="http://schemas.microsoft.com/office/drawing/2014/main" id="{8D75ECB0-C261-C1B0-3691-CDEE017CD07E}"/>
              </a:ext>
            </a:extLst>
          </p:cNvPr>
          <p:cNvSpPr/>
          <p:nvPr/>
        </p:nvSpPr>
        <p:spPr>
          <a:xfrm>
            <a:off x="1495540" y="3524989"/>
            <a:ext cx="8816859" cy="1199411"/>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sp>
        <p:nvSpPr>
          <p:cNvPr id="11" name="모서리가 둥근 직사각형 10">
            <a:extLst>
              <a:ext uri="{FF2B5EF4-FFF2-40B4-BE49-F238E27FC236}">
                <a16:creationId xmlns:a16="http://schemas.microsoft.com/office/drawing/2014/main" id="{295CF35E-ABF2-68CD-5C7D-6DF93E81189D}"/>
              </a:ext>
            </a:extLst>
          </p:cNvPr>
          <p:cNvSpPr/>
          <p:nvPr/>
        </p:nvSpPr>
        <p:spPr>
          <a:xfrm>
            <a:off x="1495540" y="5108666"/>
            <a:ext cx="8816859" cy="710358"/>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cxnSp>
        <p:nvCxnSpPr>
          <p:cNvPr id="12" name="직선 화살표 연결선 11">
            <a:extLst>
              <a:ext uri="{FF2B5EF4-FFF2-40B4-BE49-F238E27FC236}">
                <a16:creationId xmlns:a16="http://schemas.microsoft.com/office/drawing/2014/main" id="{D5F413A6-FD1B-F454-52CD-B8D1533291EE}"/>
              </a:ext>
            </a:extLst>
          </p:cNvPr>
          <p:cNvCxnSpPr/>
          <p:nvPr/>
        </p:nvCxnSpPr>
        <p:spPr>
          <a:xfrm>
            <a:off x="5308600" y="4724400"/>
            <a:ext cx="0" cy="384266"/>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917E7598-4669-2AC1-FE8E-623D8B60D538}"/>
              </a:ext>
            </a:extLst>
          </p:cNvPr>
          <p:cNvCxnSpPr/>
          <p:nvPr/>
        </p:nvCxnSpPr>
        <p:spPr>
          <a:xfrm>
            <a:off x="8394700" y="4724400"/>
            <a:ext cx="0" cy="384266"/>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839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AB8B64F-BD31-F3AF-7CBA-CF3A82EE0FE3}"/>
              </a:ext>
            </a:extLst>
          </p:cNvPr>
          <p:cNvSpPr>
            <a:spLocks noGrp="1"/>
          </p:cNvSpPr>
          <p:nvPr>
            <p:ph type="title"/>
          </p:nvPr>
        </p:nvSpPr>
        <p:spPr/>
        <p:txBody>
          <a:bodyPr/>
          <a:lstStyle/>
          <a:p>
            <a:r>
              <a:rPr lang="en" altLang="ko-KR" b="1" dirty="0"/>
              <a:t>Complementary Roles of L1 and L2 Prefetchers</a:t>
            </a:r>
            <a:endParaRPr lang="en" altLang="ko-KR" dirty="0"/>
          </a:p>
        </p:txBody>
      </p:sp>
      <p:sp>
        <p:nvSpPr>
          <p:cNvPr id="4" name="슬라이드 번호 개체 틀 3">
            <a:extLst>
              <a:ext uri="{FF2B5EF4-FFF2-40B4-BE49-F238E27FC236}">
                <a16:creationId xmlns:a16="http://schemas.microsoft.com/office/drawing/2014/main" id="{8CA93678-BB53-FFD1-45B5-D38CCE3D1608}"/>
              </a:ext>
            </a:extLst>
          </p:cNvPr>
          <p:cNvSpPr>
            <a:spLocks noGrp="1"/>
          </p:cNvSpPr>
          <p:nvPr>
            <p:ph type="sldNum" sz="quarter" idx="12"/>
          </p:nvPr>
        </p:nvSpPr>
        <p:spPr/>
        <p:txBody>
          <a:bodyPr/>
          <a:lstStyle/>
          <a:p>
            <a:fld id="{23888E7F-F368-464B-B049-5A100FC54338}" type="slidenum">
              <a:rPr lang="ko-KR" altLang="en-US" smtClean="0"/>
              <a:t>3</a:t>
            </a:fld>
            <a:endParaRPr lang="ko-KR" altLang="en-US"/>
          </a:p>
        </p:txBody>
      </p:sp>
      <p:grpSp>
        <p:nvGrpSpPr>
          <p:cNvPr id="14" name="그룹 13">
            <a:extLst>
              <a:ext uri="{FF2B5EF4-FFF2-40B4-BE49-F238E27FC236}">
                <a16:creationId xmlns:a16="http://schemas.microsoft.com/office/drawing/2014/main" id="{9F9545AE-1DC5-6F10-A014-81CB84B7FF00}"/>
              </a:ext>
            </a:extLst>
          </p:cNvPr>
          <p:cNvGrpSpPr/>
          <p:nvPr/>
        </p:nvGrpSpPr>
        <p:grpSpPr>
          <a:xfrm>
            <a:off x="5540756" y="1772519"/>
            <a:ext cx="6309966" cy="3763018"/>
            <a:chOff x="2941017" y="2272391"/>
            <a:chExt cx="6309966" cy="3763018"/>
          </a:xfrm>
        </p:grpSpPr>
        <p:pic>
          <p:nvPicPr>
            <p:cNvPr id="5" name="그림 4">
              <a:extLst>
                <a:ext uri="{FF2B5EF4-FFF2-40B4-BE49-F238E27FC236}">
                  <a16:creationId xmlns:a16="http://schemas.microsoft.com/office/drawing/2014/main" id="{9CD62811-9D91-5E8C-51B4-AD3F1255F6BF}"/>
                </a:ext>
              </a:extLst>
            </p:cNvPr>
            <p:cNvPicPr>
              <a:picLocks noChangeAspect="1"/>
            </p:cNvPicPr>
            <p:nvPr/>
          </p:nvPicPr>
          <p:blipFill>
            <a:blip r:embed="rId3"/>
            <a:stretch>
              <a:fillRect/>
            </a:stretch>
          </p:blipFill>
          <p:spPr>
            <a:xfrm>
              <a:off x="2941017" y="2272391"/>
              <a:ext cx="6309966" cy="3763018"/>
            </a:xfrm>
            <a:prstGeom prst="rect">
              <a:avLst/>
            </a:prstGeom>
          </p:spPr>
        </p:pic>
        <p:sp>
          <p:nvSpPr>
            <p:cNvPr id="6" name="타원 5">
              <a:extLst>
                <a:ext uri="{FF2B5EF4-FFF2-40B4-BE49-F238E27FC236}">
                  <a16:creationId xmlns:a16="http://schemas.microsoft.com/office/drawing/2014/main" id="{4D36EF93-867E-A881-9F7B-9BCF764B2871}"/>
                </a:ext>
              </a:extLst>
            </p:cNvPr>
            <p:cNvSpPr/>
            <p:nvPr/>
          </p:nvSpPr>
          <p:spPr>
            <a:xfrm>
              <a:off x="3681984" y="3974592"/>
              <a:ext cx="377952" cy="451104"/>
            </a:xfrm>
            <a:prstGeom prst="ellipse">
              <a:avLst/>
            </a:prstGeom>
            <a:noFill/>
            <a:ln w="317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sp>
          <p:nvSpPr>
            <p:cNvPr id="9" name="타원 8">
              <a:extLst>
                <a:ext uri="{FF2B5EF4-FFF2-40B4-BE49-F238E27FC236}">
                  <a16:creationId xmlns:a16="http://schemas.microsoft.com/office/drawing/2014/main" id="{BAEED382-090B-659E-1A2C-B3C6A2BA80BA}"/>
                </a:ext>
              </a:extLst>
            </p:cNvPr>
            <p:cNvSpPr/>
            <p:nvPr/>
          </p:nvSpPr>
          <p:spPr>
            <a:xfrm>
              <a:off x="5907024" y="4828032"/>
              <a:ext cx="377952" cy="451104"/>
            </a:xfrm>
            <a:prstGeom prst="ellipse">
              <a:avLst/>
            </a:prstGeom>
            <a:noFill/>
            <a:ln w="317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sp>
          <p:nvSpPr>
            <p:cNvPr id="11" name="타원 10">
              <a:extLst>
                <a:ext uri="{FF2B5EF4-FFF2-40B4-BE49-F238E27FC236}">
                  <a16:creationId xmlns:a16="http://schemas.microsoft.com/office/drawing/2014/main" id="{0E26862A-1D7E-8DA0-AD7F-1974CAB63448}"/>
                </a:ext>
              </a:extLst>
            </p:cNvPr>
            <p:cNvSpPr/>
            <p:nvPr/>
          </p:nvSpPr>
          <p:spPr>
            <a:xfrm>
              <a:off x="8125968" y="4602480"/>
              <a:ext cx="377952" cy="451104"/>
            </a:xfrm>
            <a:prstGeom prst="ellipse">
              <a:avLst/>
            </a:prstGeom>
            <a:noFill/>
            <a:ln w="317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grpSp>
      <p:sp>
        <p:nvSpPr>
          <p:cNvPr id="17" name="TextBox 16">
            <a:extLst>
              <a:ext uri="{FF2B5EF4-FFF2-40B4-BE49-F238E27FC236}">
                <a16:creationId xmlns:a16="http://schemas.microsoft.com/office/drawing/2014/main" id="{013F4081-9620-04F7-3385-2834341D2836}"/>
              </a:ext>
            </a:extLst>
          </p:cNvPr>
          <p:cNvSpPr txBox="1"/>
          <p:nvPr/>
        </p:nvSpPr>
        <p:spPr>
          <a:xfrm>
            <a:off x="399519" y="2407610"/>
            <a:ext cx="4961708" cy="2585323"/>
          </a:xfrm>
          <a:prstGeom prst="rect">
            <a:avLst/>
          </a:prstGeom>
          <a:noFill/>
        </p:spPr>
        <p:txBody>
          <a:bodyPr wrap="square" rtlCol="0">
            <a:spAutoFit/>
          </a:bodyPr>
          <a:lstStyle/>
          <a:p>
            <a:r>
              <a:rPr lang="en" altLang="ko-KR" dirty="0"/>
              <a:t>• </a:t>
            </a:r>
            <a:r>
              <a:rPr lang="en" altLang="ko-KR" b="1" dirty="0"/>
              <a:t>L1 MPKI</a:t>
            </a:r>
            <a:r>
              <a:rPr lang="en" altLang="ko-KR" dirty="0"/>
              <a:t>: Multi-level ≈ L1-only prefetching</a:t>
            </a:r>
            <a:br>
              <a:rPr lang="en" altLang="ko-KR" dirty="0"/>
            </a:br>
            <a:r>
              <a:rPr lang="en-US" altLang="ko-KR" dirty="0">
                <a:sym typeface="Wingdings" pitchFamily="2" charset="2"/>
              </a:rPr>
              <a:t>: L1D prefetcher excels at short-range, low-latency, pollution-aware prefetching</a:t>
            </a:r>
            <a:endParaRPr lang="en" altLang="ko-KR" dirty="0"/>
          </a:p>
          <a:p>
            <a:br>
              <a:rPr lang="en" altLang="ko-KR" dirty="0"/>
            </a:br>
            <a:r>
              <a:rPr lang="en" altLang="ko-KR" dirty="0"/>
              <a:t>• </a:t>
            </a:r>
            <a:r>
              <a:rPr lang="en" altLang="ko-KR" b="1" dirty="0"/>
              <a:t>L2</a:t>
            </a:r>
            <a:r>
              <a:rPr lang="en-US" altLang="ko-KR" b="1" dirty="0"/>
              <a:t>/LLC</a:t>
            </a:r>
            <a:r>
              <a:rPr lang="en" altLang="ko-KR" b="1" dirty="0"/>
              <a:t> MPKI</a:t>
            </a:r>
            <a:r>
              <a:rPr lang="en" altLang="ko-KR" dirty="0"/>
              <a:t>: Multi-level ≈ L2-only prefetching</a:t>
            </a:r>
            <a:br>
              <a:rPr lang="en" altLang="ko-KR" dirty="0"/>
            </a:br>
            <a:r>
              <a:rPr lang="en-US" altLang="ko-KR" dirty="0">
                <a:sym typeface="Wingdings" pitchFamily="2" charset="2"/>
              </a:rPr>
              <a:t>: L2C prefetcher excels at </a:t>
            </a:r>
            <a:r>
              <a:rPr lang="en-US" altLang="ko-KR" b="1" dirty="0">
                <a:sym typeface="Wingdings" pitchFamily="2" charset="2"/>
              </a:rPr>
              <a:t>long-range</a:t>
            </a:r>
            <a:r>
              <a:rPr lang="en-US" altLang="ko-KR" dirty="0">
                <a:sym typeface="Wingdings" pitchFamily="2" charset="2"/>
              </a:rPr>
              <a:t>, high-latency-tolerant prefetching</a:t>
            </a:r>
            <a:endParaRPr lang="en" altLang="ko-KR" dirty="0"/>
          </a:p>
          <a:p>
            <a:endParaRPr kumimoji="1" lang="en" altLang="ko-KR" dirty="0">
              <a:latin typeface="Calibri" panose="020F0502020204030204" pitchFamily="34" charset="0"/>
              <a:cs typeface="Calibri" panose="020F0502020204030204" pitchFamily="34" charset="0"/>
            </a:endParaRPr>
          </a:p>
        </p:txBody>
      </p:sp>
      <p:sp>
        <p:nvSpPr>
          <p:cNvPr id="3" name="모서리가 둥근 직사각형 2">
            <a:extLst>
              <a:ext uri="{FF2B5EF4-FFF2-40B4-BE49-F238E27FC236}">
                <a16:creationId xmlns:a16="http://schemas.microsoft.com/office/drawing/2014/main" id="{252BC5DC-99B8-443C-8431-C2CA228F1FC9}"/>
              </a:ext>
            </a:extLst>
          </p:cNvPr>
          <p:cNvSpPr/>
          <p:nvPr/>
        </p:nvSpPr>
        <p:spPr>
          <a:xfrm>
            <a:off x="333856" y="5902036"/>
            <a:ext cx="11533799" cy="676894"/>
          </a:xfrm>
          <a:prstGeom prst="round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 altLang="ko-KR" dirty="0">
                <a:solidFill>
                  <a:schemeClr val="tx1"/>
                </a:solidFill>
                <a:latin typeface="Calibri" panose="020F0502020204030204" pitchFamily="34" charset="0"/>
                <a:cs typeface="Calibri" panose="020F0502020204030204" pitchFamily="34" charset="0"/>
              </a:rPr>
              <a:t>Each prefetcher remains effective at its target level; the L2 prefetcher captures long-range access patterns.</a:t>
            </a:r>
          </a:p>
        </p:txBody>
      </p:sp>
    </p:spTree>
    <p:extLst>
      <p:ext uri="{BB962C8B-B14F-4D97-AF65-F5344CB8AC3E}">
        <p14:creationId xmlns:p14="http://schemas.microsoft.com/office/powerpoint/2010/main" val="4220580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63829-BCF0-5AC5-63F9-58DC86B7963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52F960B-C5A3-2559-F5C2-50753BA6A96B}"/>
              </a:ext>
            </a:extLst>
          </p:cNvPr>
          <p:cNvSpPr>
            <a:spLocks noGrp="1"/>
          </p:cNvSpPr>
          <p:nvPr>
            <p:ph type="title"/>
          </p:nvPr>
        </p:nvSpPr>
        <p:spPr/>
        <p:txBody>
          <a:bodyPr/>
          <a:lstStyle/>
          <a:p>
            <a:r>
              <a:rPr lang="en-US" altLang="ko-KR" dirty="0"/>
              <a:t>Limitation of Physical Address Based Prefetchers</a:t>
            </a:r>
            <a:endParaRPr lang="ko-KR" altLang="en-US" dirty="0"/>
          </a:p>
        </p:txBody>
      </p:sp>
      <p:sp>
        <p:nvSpPr>
          <p:cNvPr id="4" name="슬라이드 번호 개체 틀 3">
            <a:extLst>
              <a:ext uri="{FF2B5EF4-FFF2-40B4-BE49-F238E27FC236}">
                <a16:creationId xmlns:a16="http://schemas.microsoft.com/office/drawing/2014/main" id="{6456BA37-60F3-F109-E716-1B673B4A021B}"/>
              </a:ext>
            </a:extLst>
          </p:cNvPr>
          <p:cNvSpPr>
            <a:spLocks noGrp="1"/>
          </p:cNvSpPr>
          <p:nvPr>
            <p:ph type="sldNum" sz="quarter" idx="12"/>
          </p:nvPr>
        </p:nvSpPr>
        <p:spPr/>
        <p:txBody>
          <a:bodyPr/>
          <a:lstStyle/>
          <a:p>
            <a:fld id="{23888E7F-F368-464B-B049-5A100FC54338}" type="slidenum">
              <a:rPr lang="ko-KR" altLang="en-US" smtClean="0"/>
              <a:t>4</a:t>
            </a:fld>
            <a:endParaRPr lang="ko-KR" altLang="en-US" dirty="0"/>
          </a:p>
        </p:txBody>
      </p:sp>
      <p:sp>
        <p:nvSpPr>
          <p:cNvPr id="10" name="내용 개체 틀 2">
            <a:extLst>
              <a:ext uri="{FF2B5EF4-FFF2-40B4-BE49-F238E27FC236}">
                <a16:creationId xmlns:a16="http://schemas.microsoft.com/office/drawing/2014/main" id="{7D6A2389-0F7E-5178-D5BA-EE15FA51AC13}"/>
              </a:ext>
            </a:extLst>
          </p:cNvPr>
          <p:cNvSpPr>
            <a:spLocks noGrp="1"/>
          </p:cNvSpPr>
          <p:nvPr>
            <p:ph idx="1"/>
          </p:nvPr>
        </p:nvSpPr>
        <p:spPr>
          <a:xfrm>
            <a:off x="355600" y="1003300"/>
            <a:ext cx="10998200" cy="4957763"/>
          </a:xfrm>
        </p:spPr>
        <p:txBody>
          <a:bodyPr/>
          <a:lstStyle/>
          <a:p>
            <a:r>
              <a:rPr lang="en-US" altLang="ko-KR" dirty="0"/>
              <a:t>Deeper-level prefetchers (L2/LLC) can’t cross pages because they operate on physical addresses</a:t>
            </a:r>
          </a:p>
          <a:p>
            <a:r>
              <a:rPr lang="en-US" altLang="ko-KR" dirty="0"/>
              <a:t>Hardware conservatively drops prefetch if it lies beyond 4 KB boundary, due to security problems</a:t>
            </a:r>
          </a:p>
          <a:p>
            <a:r>
              <a:rPr lang="en-US" altLang="ko-KR" dirty="0"/>
              <a:t>L1 prefetchers can cross pages by consulting the TLB to verify permissions</a:t>
            </a:r>
          </a:p>
        </p:txBody>
      </p:sp>
      <p:pic>
        <p:nvPicPr>
          <p:cNvPr id="69" name="그림 68">
            <a:extLst>
              <a:ext uri="{FF2B5EF4-FFF2-40B4-BE49-F238E27FC236}">
                <a16:creationId xmlns:a16="http://schemas.microsoft.com/office/drawing/2014/main" id="{78B2162B-F944-E07A-4412-C1FDBB4F51C0}"/>
              </a:ext>
            </a:extLst>
          </p:cNvPr>
          <p:cNvPicPr>
            <a:picLocks noChangeAspect="1"/>
          </p:cNvPicPr>
          <p:nvPr/>
        </p:nvPicPr>
        <p:blipFill>
          <a:blip r:embed="rId3"/>
          <a:stretch>
            <a:fillRect/>
          </a:stretch>
        </p:blipFill>
        <p:spPr>
          <a:xfrm>
            <a:off x="1842978" y="2295793"/>
            <a:ext cx="8023444" cy="3310824"/>
          </a:xfrm>
          <a:prstGeom prst="rect">
            <a:avLst/>
          </a:prstGeom>
        </p:spPr>
      </p:pic>
      <p:sp>
        <p:nvSpPr>
          <p:cNvPr id="3" name="모서리가 둥근 직사각형 2">
            <a:extLst>
              <a:ext uri="{FF2B5EF4-FFF2-40B4-BE49-F238E27FC236}">
                <a16:creationId xmlns:a16="http://schemas.microsoft.com/office/drawing/2014/main" id="{9032355A-03DB-4C24-881A-3852504EE58E}"/>
              </a:ext>
            </a:extLst>
          </p:cNvPr>
          <p:cNvSpPr/>
          <p:nvPr/>
        </p:nvSpPr>
        <p:spPr>
          <a:xfrm>
            <a:off x="533533" y="5902036"/>
            <a:ext cx="10985532" cy="676894"/>
          </a:xfrm>
          <a:prstGeom prst="round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 altLang="ko-KR" dirty="0">
                <a:solidFill>
                  <a:schemeClr val="tx1"/>
                </a:solidFill>
                <a:latin typeface="Calibri" panose="020F0502020204030204" pitchFamily="34" charset="0"/>
                <a:cs typeface="Calibri" panose="020F0502020204030204" pitchFamily="34" charset="0"/>
              </a:rPr>
              <a:t>Page boundaries force physical address-based prefetchers to drop predictable accesses, </a:t>
            </a:r>
            <a:br>
              <a:rPr lang="en" altLang="ko-KR" dirty="0">
                <a:solidFill>
                  <a:schemeClr val="tx1"/>
                </a:solidFill>
                <a:latin typeface="Calibri" panose="020F0502020204030204" pitchFamily="34" charset="0"/>
                <a:cs typeface="Calibri" panose="020F0502020204030204" pitchFamily="34" charset="0"/>
              </a:rPr>
            </a:br>
            <a:r>
              <a:rPr lang="en" altLang="ko-KR" dirty="0">
                <a:solidFill>
                  <a:schemeClr val="tx1"/>
                </a:solidFill>
                <a:latin typeface="Calibri" panose="020F0502020204030204" pitchFamily="34" charset="0"/>
                <a:cs typeface="Calibri" panose="020F0502020204030204" pitchFamily="34" charset="0"/>
              </a:rPr>
              <a:t>sharply limiting their long-range coverage.</a:t>
            </a:r>
          </a:p>
        </p:txBody>
      </p:sp>
    </p:spTree>
    <p:extLst>
      <p:ext uri="{BB962C8B-B14F-4D97-AF65-F5344CB8AC3E}">
        <p14:creationId xmlns:p14="http://schemas.microsoft.com/office/powerpoint/2010/main" val="238787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E874F-FFE3-875C-1B49-D9D299CAE62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FC9D391-8812-2A0A-9428-CD31B81209BB}"/>
              </a:ext>
            </a:extLst>
          </p:cNvPr>
          <p:cNvSpPr>
            <a:spLocks noGrp="1"/>
          </p:cNvSpPr>
          <p:nvPr>
            <p:ph type="title"/>
          </p:nvPr>
        </p:nvSpPr>
        <p:spPr/>
        <p:txBody>
          <a:bodyPr/>
          <a:lstStyle/>
          <a:p>
            <a:r>
              <a:rPr kumimoji="1" lang="en" altLang="ko-KR" dirty="0"/>
              <a:t>Missed Benefits Without Cross Page Prefetching</a:t>
            </a:r>
            <a:endParaRPr kumimoji="1" lang="ko-KR" altLang="en-US" dirty="0"/>
          </a:p>
        </p:txBody>
      </p:sp>
      <p:sp>
        <p:nvSpPr>
          <p:cNvPr id="62" name="내용 개체 틀 2">
            <a:extLst>
              <a:ext uri="{FF2B5EF4-FFF2-40B4-BE49-F238E27FC236}">
                <a16:creationId xmlns:a16="http://schemas.microsoft.com/office/drawing/2014/main" id="{07CC1275-FFD3-3408-745F-85D04C3C6706}"/>
              </a:ext>
            </a:extLst>
          </p:cNvPr>
          <p:cNvSpPr>
            <a:spLocks noGrp="1"/>
          </p:cNvSpPr>
          <p:nvPr>
            <p:ph idx="1"/>
          </p:nvPr>
        </p:nvSpPr>
        <p:spPr>
          <a:xfrm>
            <a:off x="355600" y="1003300"/>
            <a:ext cx="10998200" cy="4957763"/>
          </a:xfrm>
        </p:spPr>
        <p:txBody>
          <a:bodyPr/>
          <a:lstStyle/>
          <a:p>
            <a:r>
              <a:rPr lang="en-US" altLang="ko-KR" dirty="0"/>
              <a:t>PA-based prefetchers </a:t>
            </a:r>
            <a:r>
              <a:rPr lang="en" altLang="ko-KR" dirty="0"/>
              <a:t>begin prefetching the next page </a:t>
            </a:r>
            <a:r>
              <a:rPr lang="en" altLang="ko-KR" i="1" dirty="0"/>
              <a:t>after</a:t>
            </a:r>
            <a:r>
              <a:rPr lang="en" altLang="ko-KR" dirty="0"/>
              <a:t> the page’s first access arrives</a:t>
            </a:r>
          </a:p>
          <a:p>
            <a:r>
              <a:rPr lang="en" altLang="ko-KR" dirty="0"/>
              <a:t>Page-boundary stalls hide long-range patterns from L2/LLC prefetchers, reducing their coverage.</a:t>
            </a:r>
          </a:p>
          <a:p>
            <a:r>
              <a:rPr lang="en-US" altLang="ko-KR" dirty="0"/>
              <a:t>Timeliness is crucial: an untimely prefetch forces the access to pay full LLC or memory latency</a:t>
            </a:r>
          </a:p>
        </p:txBody>
      </p:sp>
      <p:sp>
        <p:nvSpPr>
          <p:cNvPr id="3" name="TextBox 2">
            <a:extLst>
              <a:ext uri="{FF2B5EF4-FFF2-40B4-BE49-F238E27FC236}">
                <a16:creationId xmlns:a16="http://schemas.microsoft.com/office/drawing/2014/main" id="{5F59F7FD-3B3B-67DA-CC10-A149F757FAA2}"/>
              </a:ext>
            </a:extLst>
          </p:cNvPr>
          <p:cNvSpPr txBox="1"/>
          <p:nvPr/>
        </p:nvSpPr>
        <p:spPr>
          <a:xfrm>
            <a:off x="11910" y="3309076"/>
            <a:ext cx="1745350" cy="646331"/>
          </a:xfrm>
          <a:prstGeom prst="rect">
            <a:avLst/>
          </a:prstGeom>
          <a:noFill/>
        </p:spPr>
        <p:txBody>
          <a:bodyPr wrap="none" rtlCol="0">
            <a:spAutoFit/>
          </a:bodyPr>
          <a:lstStyle/>
          <a:p>
            <a:pPr algn="r"/>
            <a:r>
              <a:rPr kumimoji="1" lang="en-US" altLang="ko-KR" dirty="0">
                <a:latin typeface="Calibri" panose="020F0502020204030204" pitchFamily="34" charset="0"/>
                <a:cs typeface="Calibri" panose="020F0502020204030204" pitchFamily="34" charset="0"/>
              </a:rPr>
              <a:t>Continuous Data</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Access Stream</a:t>
            </a:r>
            <a:endParaRPr kumimoji="1" lang="ko-KR" altLang="en-US"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E55C157-3FF1-AEF5-1D37-C4E76AE84BC7}"/>
              </a:ext>
            </a:extLst>
          </p:cNvPr>
          <p:cNvSpPr txBox="1"/>
          <p:nvPr/>
        </p:nvSpPr>
        <p:spPr>
          <a:xfrm>
            <a:off x="506981" y="4719738"/>
            <a:ext cx="1250279" cy="646331"/>
          </a:xfrm>
          <a:prstGeom prst="rect">
            <a:avLst/>
          </a:prstGeom>
          <a:noFill/>
        </p:spPr>
        <p:txBody>
          <a:bodyPr wrap="none" rtlCol="0">
            <a:spAutoFit/>
          </a:bodyPr>
          <a:lstStyle/>
          <a:p>
            <a:pPr algn="r"/>
            <a:r>
              <a:rPr kumimoji="1" lang="en-US" altLang="ko-KR" dirty="0">
                <a:latin typeface="Calibri" panose="020F0502020204030204" pitchFamily="34" charset="0"/>
                <a:cs typeface="Calibri" panose="020F0502020204030204" pitchFamily="34" charset="0"/>
              </a:rPr>
              <a:t>Prefetching</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Behavior</a:t>
            </a:r>
            <a:endParaRPr kumimoji="1" lang="ko-KR" altLang="en-US" dirty="0">
              <a:latin typeface="Calibri" panose="020F0502020204030204" pitchFamily="34" charset="0"/>
              <a:cs typeface="Calibri" panose="020F0502020204030204" pitchFamily="34" charset="0"/>
            </a:endParaRPr>
          </a:p>
        </p:txBody>
      </p:sp>
      <p:cxnSp>
        <p:nvCxnSpPr>
          <p:cNvPr id="7" name="직선 연결선[R] 6">
            <a:extLst>
              <a:ext uri="{FF2B5EF4-FFF2-40B4-BE49-F238E27FC236}">
                <a16:creationId xmlns:a16="http://schemas.microsoft.com/office/drawing/2014/main" id="{90B72CE8-CE83-6B82-99B6-2853E3549EA6}"/>
              </a:ext>
            </a:extLst>
          </p:cNvPr>
          <p:cNvCxnSpPr/>
          <p:nvPr/>
        </p:nvCxnSpPr>
        <p:spPr>
          <a:xfrm>
            <a:off x="1824628" y="2979278"/>
            <a:ext cx="0" cy="2752364"/>
          </a:xfrm>
          <a:prstGeom prst="line">
            <a:avLst/>
          </a:prstGeom>
          <a:ln w="22225">
            <a:solidFill>
              <a:srgbClr val="15334B"/>
            </a:solidFill>
            <a:prstDash val="lgDash"/>
          </a:ln>
        </p:spPr>
        <p:style>
          <a:lnRef idx="1">
            <a:schemeClr val="accent1"/>
          </a:lnRef>
          <a:fillRef idx="0">
            <a:schemeClr val="accent1"/>
          </a:fillRef>
          <a:effectRef idx="0">
            <a:schemeClr val="accent1"/>
          </a:effectRef>
          <a:fontRef idx="minor">
            <a:schemeClr val="tx1"/>
          </a:fontRef>
        </p:style>
      </p:cxnSp>
      <p:cxnSp>
        <p:nvCxnSpPr>
          <p:cNvPr id="8" name="직선 연결선[R] 7">
            <a:extLst>
              <a:ext uri="{FF2B5EF4-FFF2-40B4-BE49-F238E27FC236}">
                <a16:creationId xmlns:a16="http://schemas.microsoft.com/office/drawing/2014/main" id="{A65D4941-BCE2-1BC4-6C46-709E60FA7853}"/>
              </a:ext>
            </a:extLst>
          </p:cNvPr>
          <p:cNvCxnSpPr>
            <a:cxnSpLocks/>
          </p:cNvCxnSpPr>
          <p:nvPr/>
        </p:nvCxnSpPr>
        <p:spPr>
          <a:xfrm>
            <a:off x="3253625" y="2979278"/>
            <a:ext cx="0" cy="2752364"/>
          </a:xfrm>
          <a:prstGeom prst="line">
            <a:avLst/>
          </a:prstGeom>
          <a:ln w="22225">
            <a:solidFill>
              <a:srgbClr val="15334B"/>
            </a:solidFill>
            <a:prstDash val="lgDash"/>
          </a:ln>
        </p:spPr>
        <p:style>
          <a:lnRef idx="1">
            <a:schemeClr val="accent1"/>
          </a:lnRef>
          <a:fillRef idx="0">
            <a:schemeClr val="accent1"/>
          </a:fillRef>
          <a:effectRef idx="0">
            <a:schemeClr val="accent1"/>
          </a:effectRef>
          <a:fontRef idx="minor">
            <a:schemeClr val="tx1"/>
          </a:fontRef>
        </p:style>
      </p:cxnSp>
      <p:cxnSp>
        <p:nvCxnSpPr>
          <p:cNvPr id="9" name="직선 연결선[R] 8">
            <a:extLst>
              <a:ext uri="{FF2B5EF4-FFF2-40B4-BE49-F238E27FC236}">
                <a16:creationId xmlns:a16="http://schemas.microsoft.com/office/drawing/2014/main" id="{918EC54B-4303-0CF4-5553-4AEDABB08A19}"/>
              </a:ext>
            </a:extLst>
          </p:cNvPr>
          <p:cNvCxnSpPr>
            <a:cxnSpLocks/>
          </p:cNvCxnSpPr>
          <p:nvPr/>
        </p:nvCxnSpPr>
        <p:spPr>
          <a:xfrm>
            <a:off x="4682622" y="2979278"/>
            <a:ext cx="0" cy="2752364"/>
          </a:xfrm>
          <a:prstGeom prst="line">
            <a:avLst/>
          </a:prstGeom>
          <a:ln w="22225">
            <a:solidFill>
              <a:srgbClr val="15334B"/>
            </a:solidFill>
            <a:prstDash val="lgDash"/>
          </a:ln>
        </p:spPr>
        <p:style>
          <a:lnRef idx="1">
            <a:schemeClr val="accent1"/>
          </a:lnRef>
          <a:fillRef idx="0">
            <a:schemeClr val="accent1"/>
          </a:fillRef>
          <a:effectRef idx="0">
            <a:schemeClr val="accent1"/>
          </a:effectRef>
          <a:fontRef idx="minor">
            <a:schemeClr val="tx1"/>
          </a:fontRef>
        </p:style>
      </p:cxnSp>
      <p:cxnSp>
        <p:nvCxnSpPr>
          <p:cNvPr id="10" name="직선 연결선[R] 9">
            <a:extLst>
              <a:ext uri="{FF2B5EF4-FFF2-40B4-BE49-F238E27FC236}">
                <a16:creationId xmlns:a16="http://schemas.microsoft.com/office/drawing/2014/main" id="{8F83E4ED-5AA0-712E-13F2-50062DB70151}"/>
              </a:ext>
            </a:extLst>
          </p:cNvPr>
          <p:cNvCxnSpPr/>
          <p:nvPr/>
        </p:nvCxnSpPr>
        <p:spPr>
          <a:xfrm>
            <a:off x="6111619" y="2979278"/>
            <a:ext cx="0" cy="2752364"/>
          </a:xfrm>
          <a:prstGeom prst="line">
            <a:avLst/>
          </a:prstGeom>
          <a:ln w="22225">
            <a:solidFill>
              <a:srgbClr val="15334B"/>
            </a:solidFill>
            <a:prstDash val="lgDash"/>
          </a:ln>
        </p:spPr>
        <p:style>
          <a:lnRef idx="1">
            <a:schemeClr val="accent1"/>
          </a:lnRef>
          <a:fillRef idx="0">
            <a:schemeClr val="accent1"/>
          </a:fillRef>
          <a:effectRef idx="0">
            <a:schemeClr val="accent1"/>
          </a:effectRef>
          <a:fontRef idx="minor">
            <a:schemeClr val="tx1"/>
          </a:fontRef>
        </p:style>
      </p:cxnSp>
      <p:sp>
        <p:nvSpPr>
          <p:cNvPr id="14" name="직사각형 13">
            <a:extLst>
              <a:ext uri="{FF2B5EF4-FFF2-40B4-BE49-F238E27FC236}">
                <a16:creationId xmlns:a16="http://schemas.microsoft.com/office/drawing/2014/main" id="{4CC590F0-CF97-255B-8338-AD3789CAE793}"/>
              </a:ext>
            </a:extLst>
          </p:cNvPr>
          <p:cNvSpPr/>
          <p:nvPr/>
        </p:nvSpPr>
        <p:spPr>
          <a:xfrm>
            <a:off x="1824627" y="3425258"/>
            <a:ext cx="4286990" cy="413966"/>
          </a:xfrm>
          <a:prstGeom prst="rect">
            <a:avLst/>
          </a:prstGeom>
          <a:solidFill>
            <a:srgbClr val="264C77"/>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sp>
        <p:nvSpPr>
          <p:cNvPr id="21" name="직사각형 20">
            <a:extLst>
              <a:ext uri="{FF2B5EF4-FFF2-40B4-BE49-F238E27FC236}">
                <a16:creationId xmlns:a16="http://schemas.microsoft.com/office/drawing/2014/main" id="{C6A6BD1A-2883-069C-DF46-715539919FAF}"/>
              </a:ext>
            </a:extLst>
          </p:cNvPr>
          <p:cNvSpPr/>
          <p:nvPr/>
        </p:nvSpPr>
        <p:spPr>
          <a:xfrm>
            <a:off x="1824626" y="4833179"/>
            <a:ext cx="1428995" cy="413999"/>
          </a:xfrm>
          <a:prstGeom prst="rect">
            <a:avLst/>
          </a:prstGeom>
          <a:solidFill>
            <a:srgbClr val="264C77"/>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sp>
        <p:nvSpPr>
          <p:cNvPr id="23" name="타원 22">
            <a:extLst>
              <a:ext uri="{FF2B5EF4-FFF2-40B4-BE49-F238E27FC236}">
                <a16:creationId xmlns:a16="http://schemas.microsoft.com/office/drawing/2014/main" id="{F6D696B3-6811-CE33-EA5E-0A0E3A33CAD7}"/>
              </a:ext>
            </a:extLst>
          </p:cNvPr>
          <p:cNvSpPr/>
          <p:nvPr/>
        </p:nvSpPr>
        <p:spPr>
          <a:xfrm>
            <a:off x="3338331" y="4814739"/>
            <a:ext cx="432576" cy="432576"/>
          </a:xfrm>
          <a:prstGeom prst="ellipse">
            <a:avLst/>
          </a:prstGeom>
          <a:solidFill>
            <a:srgbClr val="DC816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3200" b="1" dirty="0">
                <a:latin typeface="Calibri" panose="020F0502020204030204" pitchFamily="34" charset="0"/>
                <a:cs typeface="Calibri" panose="020F0502020204030204" pitchFamily="34" charset="0"/>
              </a:rPr>
              <a:t>X</a:t>
            </a:r>
            <a:endParaRPr kumimoji="1" lang="ko-KR" altLang="en-US" sz="3200" b="1" dirty="0">
              <a:latin typeface="Calibri" panose="020F0502020204030204" pitchFamily="34" charset="0"/>
              <a:cs typeface="Calibri" panose="020F0502020204030204" pitchFamily="34" charset="0"/>
            </a:endParaRPr>
          </a:p>
        </p:txBody>
      </p:sp>
      <p:sp>
        <p:nvSpPr>
          <p:cNvPr id="27" name="타원 26">
            <a:extLst>
              <a:ext uri="{FF2B5EF4-FFF2-40B4-BE49-F238E27FC236}">
                <a16:creationId xmlns:a16="http://schemas.microsoft.com/office/drawing/2014/main" id="{0E50DCB8-4FAE-847E-A527-25E2043273A6}"/>
              </a:ext>
            </a:extLst>
          </p:cNvPr>
          <p:cNvSpPr/>
          <p:nvPr/>
        </p:nvSpPr>
        <p:spPr>
          <a:xfrm>
            <a:off x="4745528" y="4814739"/>
            <a:ext cx="432576" cy="432576"/>
          </a:xfrm>
          <a:prstGeom prst="ellipse">
            <a:avLst/>
          </a:prstGeom>
          <a:solidFill>
            <a:srgbClr val="DC816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3200" b="1" dirty="0">
                <a:latin typeface="Calibri" panose="020F0502020204030204" pitchFamily="34" charset="0"/>
                <a:cs typeface="Calibri" panose="020F0502020204030204" pitchFamily="34" charset="0"/>
              </a:rPr>
              <a:t>X</a:t>
            </a:r>
            <a:endParaRPr kumimoji="1" lang="ko-KR" altLang="en-US" sz="3200" b="1" dirty="0">
              <a:latin typeface="Calibri" panose="020F0502020204030204" pitchFamily="34" charset="0"/>
              <a:cs typeface="Calibri" panose="020F0502020204030204" pitchFamily="34" charset="0"/>
            </a:endParaRPr>
          </a:p>
        </p:txBody>
      </p:sp>
      <p:sp>
        <p:nvSpPr>
          <p:cNvPr id="39" name="직사각형 38">
            <a:extLst>
              <a:ext uri="{FF2B5EF4-FFF2-40B4-BE49-F238E27FC236}">
                <a16:creationId xmlns:a16="http://schemas.microsoft.com/office/drawing/2014/main" id="{432A42F5-94CE-9A6A-C8F6-132BCE8B8987}"/>
              </a:ext>
            </a:extLst>
          </p:cNvPr>
          <p:cNvSpPr/>
          <p:nvPr/>
        </p:nvSpPr>
        <p:spPr>
          <a:xfrm>
            <a:off x="3935854" y="4833179"/>
            <a:ext cx="737963" cy="413999"/>
          </a:xfrm>
          <a:prstGeom prst="rect">
            <a:avLst/>
          </a:prstGeom>
          <a:solidFill>
            <a:srgbClr val="264C77"/>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sp>
        <p:nvSpPr>
          <p:cNvPr id="52" name="직사각형 51">
            <a:extLst>
              <a:ext uri="{FF2B5EF4-FFF2-40B4-BE49-F238E27FC236}">
                <a16:creationId xmlns:a16="http://schemas.microsoft.com/office/drawing/2014/main" id="{C259EBA7-8A33-06B4-AEC9-CEC01A4E6CF6}"/>
              </a:ext>
            </a:extLst>
          </p:cNvPr>
          <p:cNvSpPr/>
          <p:nvPr/>
        </p:nvSpPr>
        <p:spPr>
          <a:xfrm>
            <a:off x="5373655" y="4833179"/>
            <a:ext cx="737963" cy="413999"/>
          </a:xfrm>
          <a:prstGeom prst="rect">
            <a:avLst/>
          </a:prstGeom>
          <a:solidFill>
            <a:srgbClr val="264C77"/>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sp>
        <p:nvSpPr>
          <p:cNvPr id="64" name="TextBox 63">
            <a:extLst>
              <a:ext uri="{FF2B5EF4-FFF2-40B4-BE49-F238E27FC236}">
                <a16:creationId xmlns:a16="http://schemas.microsoft.com/office/drawing/2014/main" id="{02FB378E-6832-73FC-D60E-99E576130096}"/>
              </a:ext>
            </a:extLst>
          </p:cNvPr>
          <p:cNvSpPr txBox="1"/>
          <p:nvPr/>
        </p:nvSpPr>
        <p:spPr>
          <a:xfrm>
            <a:off x="1278205" y="5728228"/>
            <a:ext cx="1093120" cy="646331"/>
          </a:xfrm>
          <a:prstGeom prst="rect">
            <a:avLst/>
          </a:prstGeom>
          <a:noFill/>
        </p:spPr>
        <p:txBody>
          <a:bodyPr wrap="none" rtlCol="0">
            <a:spAutoFit/>
          </a:bodyPr>
          <a:lstStyle/>
          <a:p>
            <a:pPr algn="ctr"/>
            <a:r>
              <a:rPr kumimoji="1" lang="en-US" altLang="ko-KR" dirty="0">
                <a:latin typeface="Calibri" panose="020F0502020204030204" pitchFamily="34" charset="0"/>
                <a:cs typeface="Calibri" panose="020F0502020204030204" pitchFamily="34" charset="0"/>
              </a:rPr>
              <a:t>4KB</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Boundary</a:t>
            </a:r>
            <a:endParaRPr kumimoji="1" lang="ko-KR" alt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D64239F8-4B7B-35DF-B9BB-C5C642976861}"/>
              </a:ext>
            </a:extLst>
          </p:cNvPr>
          <p:cNvSpPr txBox="1"/>
          <p:nvPr/>
        </p:nvSpPr>
        <p:spPr>
          <a:xfrm>
            <a:off x="2701148" y="5728228"/>
            <a:ext cx="1093120" cy="646331"/>
          </a:xfrm>
          <a:prstGeom prst="rect">
            <a:avLst/>
          </a:prstGeom>
          <a:noFill/>
        </p:spPr>
        <p:txBody>
          <a:bodyPr wrap="none" rtlCol="0">
            <a:spAutoFit/>
          </a:bodyPr>
          <a:lstStyle/>
          <a:p>
            <a:pPr algn="ctr"/>
            <a:r>
              <a:rPr kumimoji="1" lang="en-US" altLang="ko-KR" dirty="0">
                <a:latin typeface="Calibri" panose="020F0502020204030204" pitchFamily="34" charset="0"/>
                <a:cs typeface="Calibri" panose="020F0502020204030204" pitchFamily="34" charset="0"/>
              </a:rPr>
              <a:t>4KB</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Boundary</a:t>
            </a:r>
            <a:endParaRPr kumimoji="1" lang="ko-KR" altLang="en-US" dirty="0">
              <a:latin typeface="Calibri" panose="020F0502020204030204" pitchFamily="34" charset="0"/>
              <a:cs typeface="Calibri" panose="020F0502020204030204" pitchFamily="34" charset="0"/>
            </a:endParaRPr>
          </a:p>
        </p:txBody>
      </p:sp>
      <p:sp>
        <p:nvSpPr>
          <p:cNvPr id="66" name="TextBox 65">
            <a:extLst>
              <a:ext uri="{FF2B5EF4-FFF2-40B4-BE49-F238E27FC236}">
                <a16:creationId xmlns:a16="http://schemas.microsoft.com/office/drawing/2014/main" id="{ED94F97F-2835-828C-B26B-97BF89F58DE7}"/>
              </a:ext>
            </a:extLst>
          </p:cNvPr>
          <p:cNvSpPr txBox="1"/>
          <p:nvPr/>
        </p:nvSpPr>
        <p:spPr>
          <a:xfrm>
            <a:off x="4136061" y="5728228"/>
            <a:ext cx="1093120" cy="646331"/>
          </a:xfrm>
          <a:prstGeom prst="rect">
            <a:avLst/>
          </a:prstGeom>
          <a:noFill/>
        </p:spPr>
        <p:txBody>
          <a:bodyPr wrap="none" rtlCol="0">
            <a:spAutoFit/>
          </a:bodyPr>
          <a:lstStyle/>
          <a:p>
            <a:pPr algn="ctr"/>
            <a:r>
              <a:rPr kumimoji="1" lang="en-US" altLang="ko-KR" dirty="0">
                <a:latin typeface="Calibri" panose="020F0502020204030204" pitchFamily="34" charset="0"/>
                <a:cs typeface="Calibri" panose="020F0502020204030204" pitchFamily="34" charset="0"/>
              </a:rPr>
              <a:t>4KB</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Boundary</a:t>
            </a:r>
            <a:endParaRPr kumimoji="1" lang="ko-KR" altLang="en-US" dirty="0">
              <a:latin typeface="Calibri" panose="020F0502020204030204" pitchFamily="34" charset="0"/>
              <a:cs typeface="Calibri" panose="020F0502020204030204" pitchFamily="34" charset="0"/>
            </a:endParaRPr>
          </a:p>
        </p:txBody>
      </p:sp>
      <p:sp>
        <p:nvSpPr>
          <p:cNvPr id="67" name="TextBox 66">
            <a:extLst>
              <a:ext uri="{FF2B5EF4-FFF2-40B4-BE49-F238E27FC236}">
                <a16:creationId xmlns:a16="http://schemas.microsoft.com/office/drawing/2014/main" id="{4D1E3325-AFDF-E43B-AA02-E394390C7FEE}"/>
              </a:ext>
            </a:extLst>
          </p:cNvPr>
          <p:cNvSpPr txBox="1"/>
          <p:nvPr/>
        </p:nvSpPr>
        <p:spPr>
          <a:xfrm>
            <a:off x="5570977" y="5728228"/>
            <a:ext cx="1093120" cy="646331"/>
          </a:xfrm>
          <a:prstGeom prst="rect">
            <a:avLst/>
          </a:prstGeom>
          <a:noFill/>
        </p:spPr>
        <p:txBody>
          <a:bodyPr wrap="none" rtlCol="0">
            <a:spAutoFit/>
          </a:bodyPr>
          <a:lstStyle/>
          <a:p>
            <a:pPr algn="ctr"/>
            <a:r>
              <a:rPr kumimoji="1" lang="en-US" altLang="ko-KR" dirty="0">
                <a:latin typeface="Calibri" panose="020F0502020204030204" pitchFamily="34" charset="0"/>
                <a:cs typeface="Calibri" panose="020F0502020204030204" pitchFamily="34" charset="0"/>
              </a:rPr>
              <a:t>4KB</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Boundary</a:t>
            </a:r>
            <a:endParaRPr kumimoji="1" lang="ko-KR" altLang="en-US" dirty="0">
              <a:latin typeface="Calibri" panose="020F0502020204030204" pitchFamily="34" charset="0"/>
              <a:cs typeface="Calibri" panose="020F0502020204030204" pitchFamily="34" charset="0"/>
            </a:endParaRPr>
          </a:p>
        </p:txBody>
      </p:sp>
      <p:sp>
        <p:nvSpPr>
          <p:cNvPr id="6" name="슬라이드 번호 개체 틀 3">
            <a:extLst>
              <a:ext uri="{FF2B5EF4-FFF2-40B4-BE49-F238E27FC236}">
                <a16:creationId xmlns:a16="http://schemas.microsoft.com/office/drawing/2014/main" id="{30273892-690A-10FC-893B-93D0948977C2}"/>
              </a:ext>
            </a:extLst>
          </p:cNvPr>
          <p:cNvSpPr>
            <a:spLocks noGrp="1"/>
          </p:cNvSpPr>
          <p:nvPr>
            <p:ph type="sldNum" sz="quarter" idx="12"/>
          </p:nvPr>
        </p:nvSpPr>
        <p:spPr>
          <a:xfrm>
            <a:off x="9448800" y="6492875"/>
            <a:ext cx="2743200" cy="365125"/>
          </a:xfrm>
        </p:spPr>
        <p:txBody>
          <a:bodyPr/>
          <a:lstStyle/>
          <a:p>
            <a:fld id="{23888E7F-F368-464B-B049-5A100FC54338}" type="slidenum">
              <a:rPr lang="ko-KR" altLang="en-US" smtClean="0"/>
              <a:t>5</a:t>
            </a:fld>
            <a:endParaRPr lang="ko-KR" altLang="en-US" dirty="0"/>
          </a:p>
        </p:txBody>
      </p:sp>
      <p:pic>
        <p:nvPicPr>
          <p:cNvPr id="24" name="그림 23">
            <a:extLst>
              <a:ext uri="{FF2B5EF4-FFF2-40B4-BE49-F238E27FC236}">
                <a16:creationId xmlns:a16="http://schemas.microsoft.com/office/drawing/2014/main" id="{6197C07F-43EB-CAC8-ABD2-B612AFC2E71C}"/>
              </a:ext>
            </a:extLst>
          </p:cNvPr>
          <p:cNvPicPr>
            <a:picLocks noChangeAspect="1"/>
          </p:cNvPicPr>
          <p:nvPr/>
        </p:nvPicPr>
        <p:blipFill>
          <a:blip r:embed="rId3"/>
          <a:stretch>
            <a:fillRect/>
          </a:stretch>
        </p:blipFill>
        <p:spPr>
          <a:xfrm>
            <a:off x="6950350" y="3038866"/>
            <a:ext cx="4886050" cy="3335693"/>
          </a:xfrm>
          <a:prstGeom prst="rect">
            <a:avLst/>
          </a:prstGeom>
        </p:spPr>
      </p:pic>
      <p:cxnSp>
        <p:nvCxnSpPr>
          <p:cNvPr id="25" name="직선 화살표 연결선 24">
            <a:extLst>
              <a:ext uri="{FF2B5EF4-FFF2-40B4-BE49-F238E27FC236}">
                <a16:creationId xmlns:a16="http://schemas.microsoft.com/office/drawing/2014/main" id="{7AA3D7FD-1D47-5456-5986-F0FDB313A4D5}"/>
              </a:ext>
            </a:extLst>
          </p:cNvPr>
          <p:cNvCxnSpPr>
            <a:cxnSpLocks/>
          </p:cNvCxnSpPr>
          <p:nvPr/>
        </p:nvCxnSpPr>
        <p:spPr>
          <a:xfrm>
            <a:off x="9073208" y="4706712"/>
            <a:ext cx="0" cy="357657"/>
          </a:xfrm>
          <a:prstGeom prst="straightConnector1">
            <a:avLst/>
          </a:prstGeom>
          <a:ln w="19050">
            <a:solidFill>
              <a:srgbClr val="264C77"/>
            </a:solidFill>
            <a:prstDash val="sysDash"/>
            <a:headEnd type="triangle" w="sm" len="sm"/>
            <a:tailEnd type="triangle" w="sm" len="sm"/>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A0C577B8-7A76-144D-4F59-507213D0A305}"/>
              </a:ext>
            </a:extLst>
          </p:cNvPr>
          <p:cNvSpPr txBox="1"/>
          <p:nvPr/>
        </p:nvSpPr>
        <p:spPr>
          <a:xfrm>
            <a:off x="9303339" y="4170920"/>
            <a:ext cx="944490" cy="461665"/>
          </a:xfrm>
          <a:prstGeom prst="rect">
            <a:avLst/>
          </a:prstGeom>
          <a:noFill/>
        </p:spPr>
        <p:txBody>
          <a:bodyPr wrap="square" rtlCol="0">
            <a:spAutoFit/>
          </a:bodyPr>
          <a:lstStyle/>
          <a:p>
            <a:pPr algn="ctr"/>
            <a:r>
              <a:rPr kumimoji="1" lang="en-US" altLang="ko-KR" sz="800" b="1" dirty="0">
                <a:solidFill>
                  <a:srgbClr val="264C77"/>
                </a:solidFill>
                <a:latin typeface="DejaVu Sans" panose="020B0603030804020204" pitchFamily="34" charset="0"/>
                <a:ea typeface="DejaVu Sans" panose="020B0603030804020204" pitchFamily="34" charset="0"/>
                <a:cs typeface="DejaVu Sans" panose="020B0603030804020204" pitchFamily="34" charset="0"/>
              </a:rPr>
              <a:t>Headroom of </a:t>
            </a:r>
            <a:br>
              <a:rPr kumimoji="1" lang="en-US" altLang="ko-KR" sz="800" b="1" dirty="0">
                <a:solidFill>
                  <a:srgbClr val="264C77"/>
                </a:solidFill>
                <a:latin typeface="DejaVu Sans" panose="020B0603030804020204" pitchFamily="34" charset="0"/>
                <a:ea typeface="DejaVu Sans" panose="020B0603030804020204" pitchFamily="34" charset="0"/>
                <a:cs typeface="DejaVu Sans" panose="020B0603030804020204" pitchFamily="34" charset="0"/>
              </a:rPr>
            </a:br>
            <a:r>
              <a:rPr kumimoji="1" lang="en-US" altLang="ko-KR" sz="800" b="1" dirty="0">
                <a:solidFill>
                  <a:srgbClr val="264C77"/>
                </a:solidFill>
                <a:latin typeface="DejaVu Sans" panose="020B0603030804020204" pitchFamily="34" charset="0"/>
                <a:ea typeface="DejaVu Sans" panose="020B0603030804020204" pitchFamily="34" charset="0"/>
                <a:cs typeface="DejaVu Sans" panose="020B0603030804020204" pitchFamily="34" charset="0"/>
              </a:rPr>
              <a:t>page cross prefetching</a:t>
            </a:r>
            <a:endParaRPr kumimoji="1" lang="ko-KR" altLang="en-US" sz="800" b="1" dirty="0">
              <a:solidFill>
                <a:srgbClr val="264C77"/>
              </a:solidFill>
              <a:latin typeface="DejaVu Sans" panose="020B0603030804020204" pitchFamily="34" charset="0"/>
              <a:cs typeface="DejaVu Sans" panose="020B0603030804020204" pitchFamily="34" charset="0"/>
            </a:endParaRPr>
          </a:p>
        </p:txBody>
      </p:sp>
      <p:cxnSp>
        <p:nvCxnSpPr>
          <p:cNvPr id="28" name="직선 연결선[R] 27">
            <a:extLst>
              <a:ext uri="{FF2B5EF4-FFF2-40B4-BE49-F238E27FC236}">
                <a16:creationId xmlns:a16="http://schemas.microsoft.com/office/drawing/2014/main" id="{583A8433-7274-F23C-C218-5B0B7DDD5F6A}"/>
              </a:ext>
            </a:extLst>
          </p:cNvPr>
          <p:cNvCxnSpPr>
            <a:cxnSpLocks/>
          </p:cNvCxnSpPr>
          <p:nvPr/>
        </p:nvCxnSpPr>
        <p:spPr>
          <a:xfrm>
            <a:off x="9028208" y="4709887"/>
            <a:ext cx="90000" cy="0"/>
          </a:xfrm>
          <a:prstGeom prst="line">
            <a:avLst/>
          </a:prstGeom>
          <a:ln w="12700">
            <a:solidFill>
              <a:srgbClr val="264C77"/>
            </a:solidFill>
          </a:ln>
        </p:spPr>
        <p:style>
          <a:lnRef idx="2">
            <a:schemeClr val="accent1"/>
          </a:lnRef>
          <a:fillRef idx="0">
            <a:schemeClr val="accent1"/>
          </a:fillRef>
          <a:effectRef idx="1">
            <a:schemeClr val="accent1"/>
          </a:effectRef>
          <a:fontRef idx="minor">
            <a:schemeClr val="tx1"/>
          </a:fontRef>
        </p:style>
      </p:cxnSp>
      <p:cxnSp>
        <p:nvCxnSpPr>
          <p:cNvPr id="29" name="직선 연결선[R] 28">
            <a:extLst>
              <a:ext uri="{FF2B5EF4-FFF2-40B4-BE49-F238E27FC236}">
                <a16:creationId xmlns:a16="http://schemas.microsoft.com/office/drawing/2014/main" id="{76ECD0B7-A9F7-EE4B-ADDD-251410CBAE5D}"/>
              </a:ext>
            </a:extLst>
          </p:cNvPr>
          <p:cNvCxnSpPr>
            <a:cxnSpLocks/>
          </p:cNvCxnSpPr>
          <p:nvPr/>
        </p:nvCxnSpPr>
        <p:spPr>
          <a:xfrm>
            <a:off x="9028208" y="5064369"/>
            <a:ext cx="90000" cy="0"/>
          </a:xfrm>
          <a:prstGeom prst="line">
            <a:avLst/>
          </a:prstGeom>
          <a:ln w="12700">
            <a:solidFill>
              <a:srgbClr val="264C77"/>
            </a:solidFill>
          </a:ln>
        </p:spPr>
        <p:style>
          <a:lnRef idx="2">
            <a:schemeClr val="accent1"/>
          </a:lnRef>
          <a:fillRef idx="0">
            <a:schemeClr val="accent1"/>
          </a:fillRef>
          <a:effectRef idx="1">
            <a:schemeClr val="accent1"/>
          </a:effectRef>
          <a:fontRef idx="minor">
            <a:schemeClr val="tx1"/>
          </a:fontRef>
        </p:style>
      </p:cxnSp>
      <p:cxnSp>
        <p:nvCxnSpPr>
          <p:cNvPr id="34" name="직선 화살표 연결선 33">
            <a:extLst>
              <a:ext uri="{FF2B5EF4-FFF2-40B4-BE49-F238E27FC236}">
                <a16:creationId xmlns:a16="http://schemas.microsoft.com/office/drawing/2014/main" id="{D593DC3D-68AF-B253-71B4-AE2ED9CBC3F4}"/>
              </a:ext>
            </a:extLst>
          </p:cNvPr>
          <p:cNvCxnSpPr>
            <a:cxnSpLocks/>
          </p:cNvCxnSpPr>
          <p:nvPr/>
        </p:nvCxnSpPr>
        <p:spPr>
          <a:xfrm>
            <a:off x="11289055" y="4706712"/>
            <a:ext cx="0" cy="338400"/>
          </a:xfrm>
          <a:prstGeom prst="straightConnector1">
            <a:avLst/>
          </a:prstGeom>
          <a:ln w="19050">
            <a:solidFill>
              <a:srgbClr val="264C77"/>
            </a:solidFill>
            <a:prstDash val="sysDash"/>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35" name="직선 연결선[R] 34">
            <a:extLst>
              <a:ext uri="{FF2B5EF4-FFF2-40B4-BE49-F238E27FC236}">
                <a16:creationId xmlns:a16="http://schemas.microsoft.com/office/drawing/2014/main" id="{BFFF56F4-2B78-074D-EA7A-37B80BDB9A9E}"/>
              </a:ext>
            </a:extLst>
          </p:cNvPr>
          <p:cNvCxnSpPr>
            <a:cxnSpLocks/>
          </p:cNvCxnSpPr>
          <p:nvPr/>
        </p:nvCxnSpPr>
        <p:spPr>
          <a:xfrm>
            <a:off x="11244055" y="4709887"/>
            <a:ext cx="90000" cy="0"/>
          </a:xfrm>
          <a:prstGeom prst="line">
            <a:avLst/>
          </a:prstGeom>
          <a:ln w="12700">
            <a:solidFill>
              <a:srgbClr val="264C77"/>
            </a:solidFill>
          </a:ln>
        </p:spPr>
        <p:style>
          <a:lnRef idx="2">
            <a:schemeClr val="accent1"/>
          </a:lnRef>
          <a:fillRef idx="0">
            <a:schemeClr val="accent1"/>
          </a:fillRef>
          <a:effectRef idx="1">
            <a:schemeClr val="accent1"/>
          </a:effectRef>
          <a:fontRef idx="minor">
            <a:schemeClr val="tx1"/>
          </a:fontRef>
        </p:style>
      </p:cxnSp>
      <p:cxnSp>
        <p:nvCxnSpPr>
          <p:cNvPr id="36" name="직선 연결선[R] 35">
            <a:extLst>
              <a:ext uri="{FF2B5EF4-FFF2-40B4-BE49-F238E27FC236}">
                <a16:creationId xmlns:a16="http://schemas.microsoft.com/office/drawing/2014/main" id="{CD5740FA-3279-B598-ADB6-9FD5AF232AA2}"/>
              </a:ext>
            </a:extLst>
          </p:cNvPr>
          <p:cNvCxnSpPr>
            <a:cxnSpLocks/>
          </p:cNvCxnSpPr>
          <p:nvPr/>
        </p:nvCxnSpPr>
        <p:spPr>
          <a:xfrm>
            <a:off x="11244055" y="5040179"/>
            <a:ext cx="90000" cy="0"/>
          </a:xfrm>
          <a:prstGeom prst="line">
            <a:avLst/>
          </a:prstGeom>
          <a:ln w="12700">
            <a:solidFill>
              <a:srgbClr val="264C77"/>
            </a:solidFill>
          </a:ln>
        </p:spPr>
        <p:style>
          <a:lnRef idx="2">
            <a:schemeClr val="accent1"/>
          </a:lnRef>
          <a:fillRef idx="0">
            <a:schemeClr val="accent1"/>
          </a:fillRef>
          <a:effectRef idx="1">
            <a:schemeClr val="accent1"/>
          </a:effectRef>
          <a:fontRef idx="minor">
            <a:schemeClr val="tx1"/>
          </a:fontRef>
        </p:style>
      </p:cxnSp>
      <p:cxnSp>
        <p:nvCxnSpPr>
          <p:cNvPr id="41" name="직선 화살표 연결선 40">
            <a:extLst>
              <a:ext uri="{FF2B5EF4-FFF2-40B4-BE49-F238E27FC236}">
                <a16:creationId xmlns:a16="http://schemas.microsoft.com/office/drawing/2014/main" id="{DF377E92-A512-8A67-5C5F-55C0AA0DB564}"/>
              </a:ext>
            </a:extLst>
          </p:cNvPr>
          <p:cNvCxnSpPr>
            <a:cxnSpLocks/>
            <a:stCxn id="26" idx="1"/>
          </p:cNvCxnSpPr>
          <p:nvPr/>
        </p:nvCxnSpPr>
        <p:spPr>
          <a:xfrm flipH="1">
            <a:off x="9073208" y="4401753"/>
            <a:ext cx="230131" cy="304959"/>
          </a:xfrm>
          <a:prstGeom prst="straightConnector1">
            <a:avLst/>
          </a:prstGeom>
          <a:ln w="19050">
            <a:solidFill>
              <a:srgbClr val="264C77"/>
            </a:solidFill>
            <a:prstDash val="solid"/>
            <a:headEnd type="triangle" w="sm" len="sm"/>
            <a:tailEnd type="none" w="sm" len="sm"/>
          </a:ln>
        </p:spPr>
        <p:style>
          <a:lnRef idx="2">
            <a:schemeClr val="accent1"/>
          </a:lnRef>
          <a:fillRef idx="0">
            <a:schemeClr val="accent1"/>
          </a:fillRef>
          <a:effectRef idx="1">
            <a:schemeClr val="accent1"/>
          </a:effectRef>
          <a:fontRef idx="minor">
            <a:schemeClr val="tx1"/>
          </a:fontRef>
        </p:style>
      </p:cxnSp>
      <p:cxnSp>
        <p:nvCxnSpPr>
          <p:cNvPr id="43" name="직선 화살표 연결선 42">
            <a:extLst>
              <a:ext uri="{FF2B5EF4-FFF2-40B4-BE49-F238E27FC236}">
                <a16:creationId xmlns:a16="http://schemas.microsoft.com/office/drawing/2014/main" id="{DCC5EE11-9E62-797E-6DFE-5AA639F4C98F}"/>
              </a:ext>
            </a:extLst>
          </p:cNvPr>
          <p:cNvCxnSpPr>
            <a:cxnSpLocks/>
            <a:stCxn id="26" idx="3"/>
          </p:cNvCxnSpPr>
          <p:nvPr/>
        </p:nvCxnSpPr>
        <p:spPr>
          <a:xfrm>
            <a:off x="10247829" y="4401753"/>
            <a:ext cx="1037526" cy="303371"/>
          </a:xfrm>
          <a:prstGeom prst="straightConnector1">
            <a:avLst/>
          </a:prstGeom>
          <a:ln w="19050">
            <a:solidFill>
              <a:srgbClr val="264C77"/>
            </a:solidFill>
            <a:prstDash val="solid"/>
            <a:headEnd type="triangle" w="sm" len="sm"/>
            <a:tailEnd type="none" w="sm" len="sm"/>
          </a:ln>
        </p:spPr>
        <p:style>
          <a:lnRef idx="2">
            <a:schemeClr val="accent1"/>
          </a:lnRef>
          <a:fillRef idx="0">
            <a:schemeClr val="accent1"/>
          </a:fillRef>
          <a:effectRef idx="1">
            <a:schemeClr val="accent1"/>
          </a:effectRef>
          <a:fontRef idx="minor">
            <a:schemeClr val="tx1"/>
          </a:fontRef>
        </p:style>
      </p:cxnSp>
      <p:cxnSp>
        <p:nvCxnSpPr>
          <p:cNvPr id="11" name="직선 화살표 연결선 10">
            <a:extLst>
              <a:ext uri="{FF2B5EF4-FFF2-40B4-BE49-F238E27FC236}">
                <a16:creationId xmlns:a16="http://schemas.microsoft.com/office/drawing/2014/main" id="{3DEB992F-3800-D5F4-B852-6FFC29EEAE2A}"/>
              </a:ext>
            </a:extLst>
          </p:cNvPr>
          <p:cNvCxnSpPr/>
          <p:nvPr/>
        </p:nvCxnSpPr>
        <p:spPr>
          <a:xfrm flipV="1">
            <a:off x="3949011" y="4576743"/>
            <a:ext cx="0" cy="25063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54ED395-167D-E566-48D4-590525F8DBC9}"/>
              </a:ext>
            </a:extLst>
          </p:cNvPr>
          <p:cNvSpPr txBox="1"/>
          <p:nvPr/>
        </p:nvSpPr>
        <p:spPr>
          <a:xfrm>
            <a:off x="3283543" y="3853990"/>
            <a:ext cx="1369157" cy="738664"/>
          </a:xfrm>
          <a:prstGeom prst="rect">
            <a:avLst/>
          </a:prstGeom>
          <a:noFill/>
        </p:spPr>
        <p:txBody>
          <a:bodyPr wrap="none" rtlCol="0">
            <a:spAutoFit/>
          </a:bodyPr>
          <a:lstStyle/>
          <a:p>
            <a:pPr algn="ctr"/>
            <a:r>
              <a:rPr kumimoji="1" lang="en-US" altLang="ko-KR" sz="1400" dirty="0">
                <a:latin typeface="Calibri" panose="020F0502020204030204" pitchFamily="34" charset="0"/>
                <a:cs typeface="Calibri" panose="020F0502020204030204" pitchFamily="34" charset="0"/>
              </a:rPr>
              <a:t>Prefetched after</a:t>
            </a:r>
            <a:br>
              <a:rPr kumimoji="1" lang="en-US" altLang="ko-KR" sz="1400" dirty="0">
                <a:latin typeface="Calibri" panose="020F0502020204030204" pitchFamily="34" charset="0"/>
                <a:cs typeface="Calibri" panose="020F0502020204030204" pitchFamily="34" charset="0"/>
              </a:rPr>
            </a:br>
            <a:r>
              <a:rPr kumimoji="1" lang="en-US" altLang="ko-KR" sz="1400" dirty="0">
                <a:latin typeface="Calibri" panose="020F0502020204030204" pitchFamily="34" charset="0"/>
                <a:cs typeface="Calibri" panose="020F0502020204030204" pitchFamily="34" charset="0"/>
              </a:rPr>
              <a:t> an access </a:t>
            </a:r>
            <a:br>
              <a:rPr kumimoji="1" lang="en-US" altLang="ko-KR" sz="1400" dirty="0">
                <a:latin typeface="Calibri" panose="020F0502020204030204" pitchFamily="34" charset="0"/>
                <a:cs typeface="Calibri" panose="020F0502020204030204" pitchFamily="34" charset="0"/>
              </a:rPr>
            </a:br>
            <a:r>
              <a:rPr kumimoji="1" lang="en-US" altLang="ko-KR" sz="1400" dirty="0">
                <a:latin typeface="Calibri" panose="020F0502020204030204" pitchFamily="34" charset="0"/>
                <a:cs typeface="Calibri" panose="020F0502020204030204" pitchFamily="34" charset="0"/>
              </a:rPr>
              <a:t>in the page</a:t>
            </a:r>
            <a:endParaRPr kumimoji="1" lang="ko-KR" alt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01245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3818D-BA3A-4FA2-2809-3EC1837609F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202DA9A-385E-E151-2B46-F8232089CCB0}"/>
              </a:ext>
            </a:extLst>
          </p:cNvPr>
          <p:cNvSpPr>
            <a:spLocks noGrp="1"/>
          </p:cNvSpPr>
          <p:nvPr>
            <p:ph type="title"/>
          </p:nvPr>
        </p:nvSpPr>
        <p:spPr/>
        <p:txBody>
          <a:bodyPr/>
          <a:lstStyle/>
          <a:p>
            <a:r>
              <a:rPr lang="en-US" altLang="ko-KR" dirty="0"/>
              <a:t>Virtual vs. Physical Addresses: Accuracy &amp; Headroom</a:t>
            </a:r>
            <a:endParaRPr lang="ko-KR" altLang="en-US" dirty="0"/>
          </a:p>
        </p:txBody>
      </p:sp>
      <p:sp>
        <p:nvSpPr>
          <p:cNvPr id="4" name="슬라이드 번호 개체 틀 3">
            <a:extLst>
              <a:ext uri="{FF2B5EF4-FFF2-40B4-BE49-F238E27FC236}">
                <a16:creationId xmlns:a16="http://schemas.microsoft.com/office/drawing/2014/main" id="{3FD54F7E-10A0-1FCF-F9D9-3C149EB53539}"/>
              </a:ext>
            </a:extLst>
          </p:cNvPr>
          <p:cNvSpPr>
            <a:spLocks noGrp="1"/>
          </p:cNvSpPr>
          <p:nvPr>
            <p:ph type="sldNum" sz="quarter" idx="12"/>
          </p:nvPr>
        </p:nvSpPr>
        <p:spPr/>
        <p:txBody>
          <a:bodyPr/>
          <a:lstStyle/>
          <a:p>
            <a:fld id="{23888E7F-F368-464B-B049-5A100FC54338}" type="slidenum">
              <a:rPr lang="ko-KR" altLang="en-US" smtClean="0"/>
              <a:t>6</a:t>
            </a:fld>
            <a:endParaRPr lang="ko-KR" altLang="en-US"/>
          </a:p>
        </p:txBody>
      </p:sp>
      <p:pic>
        <p:nvPicPr>
          <p:cNvPr id="1026" name="Picture 2">
            <a:extLst>
              <a:ext uri="{FF2B5EF4-FFF2-40B4-BE49-F238E27FC236}">
                <a16:creationId xmlns:a16="http://schemas.microsoft.com/office/drawing/2014/main" id="{23545E03-BF27-22D9-4F7F-22C008150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0801" y="2209482"/>
            <a:ext cx="8570995" cy="3751581"/>
          </a:xfrm>
          <a:prstGeom prst="rect">
            <a:avLst/>
          </a:prstGeom>
          <a:noFill/>
          <a:extLst>
            <a:ext uri="{909E8E84-426E-40DD-AFC4-6F175D3DCCD1}">
              <a14:hiddenFill xmlns:a14="http://schemas.microsoft.com/office/drawing/2010/main">
                <a:solidFill>
                  <a:srgbClr val="FFFFFF"/>
                </a:solidFill>
              </a14:hiddenFill>
            </a:ext>
          </a:extLst>
        </p:spPr>
      </p:pic>
      <p:sp>
        <p:nvSpPr>
          <p:cNvPr id="3" name="모서리가 둥근 직사각형 2">
            <a:extLst>
              <a:ext uri="{FF2B5EF4-FFF2-40B4-BE49-F238E27FC236}">
                <a16:creationId xmlns:a16="http://schemas.microsoft.com/office/drawing/2014/main" id="{94DB5DA6-70EC-A6EC-4038-8E9A0D7593EE}"/>
              </a:ext>
            </a:extLst>
          </p:cNvPr>
          <p:cNvSpPr/>
          <p:nvPr/>
        </p:nvSpPr>
        <p:spPr>
          <a:xfrm>
            <a:off x="533533" y="5993780"/>
            <a:ext cx="10985532" cy="676894"/>
          </a:xfrm>
          <a:prstGeom prst="round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 altLang="ko-KR" dirty="0">
                <a:solidFill>
                  <a:schemeClr val="tx1"/>
                </a:solidFill>
                <a:latin typeface="Calibri" panose="020F0502020204030204" pitchFamily="34" charset="0"/>
                <a:cs typeface="Calibri" panose="020F0502020204030204" pitchFamily="34" charset="0"/>
              </a:rPr>
              <a:t>Virtual address prefetching predicts cross page locality more accurately than physical address, showing huge performance headroom when page-bound stalls are removed</a:t>
            </a:r>
            <a:r>
              <a:rPr lang="en-US" altLang="ko-KR" dirty="0">
                <a:solidFill>
                  <a:schemeClr val="tx1"/>
                </a:solidFill>
                <a:latin typeface="Calibri" panose="020F0502020204030204" pitchFamily="34" charset="0"/>
                <a:cs typeface="Calibri" panose="020F0502020204030204" pitchFamily="34" charset="0"/>
              </a:rPr>
              <a:t>.</a:t>
            </a:r>
            <a:endParaRPr lang="en" altLang="ko-KR" dirty="0">
              <a:solidFill>
                <a:schemeClr val="tx1"/>
              </a:solidFill>
              <a:latin typeface="Calibri" panose="020F0502020204030204" pitchFamily="34" charset="0"/>
              <a:cs typeface="Calibri" panose="020F0502020204030204" pitchFamily="34" charset="0"/>
            </a:endParaRPr>
          </a:p>
        </p:txBody>
      </p:sp>
      <p:sp>
        <p:nvSpPr>
          <p:cNvPr id="7" name="내용 개체 틀 2">
            <a:extLst>
              <a:ext uri="{FF2B5EF4-FFF2-40B4-BE49-F238E27FC236}">
                <a16:creationId xmlns:a16="http://schemas.microsoft.com/office/drawing/2014/main" id="{AD1949FB-7D6C-C210-C045-9D0C8F4DAC5D}"/>
              </a:ext>
            </a:extLst>
          </p:cNvPr>
          <p:cNvSpPr>
            <a:spLocks noGrp="1"/>
          </p:cNvSpPr>
          <p:nvPr>
            <p:ph idx="1"/>
          </p:nvPr>
        </p:nvSpPr>
        <p:spPr>
          <a:xfrm>
            <a:off x="355600" y="1003300"/>
            <a:ext cx="11531600" cy="4957763"/>
          </a:xfrm>
        </p:spPr>
        <p:txBody>
          <a:bodyPr/>
          <a:lstStyle/>
          <a:p>
            <a:r>
              <a:rPr lang="en-US" altLang="ko-KR" dirty="0"/>
              <a:t>Virtual address better captures cross-page locality while PA suffers from fragmentation and noise</a:t>
            </a:r>
          </a:p>
          <a:p>
            <a:r>
              <a:rPr lang="en-US" altLang="ko-KR" dirty="0"/>
              <a:t>Removing page-boundary stalls reveals significant performance headroom</a:t>
            </a:r>
          </a:p>
          <a:p>
            <a:pPr marL="0" indent="0">
              <a:buNone/>
            </a:pPr>
            <a:r>
              <a:rPr lang="en-US" altLang="ko-KR" dirty="0"/>
              <a:t>NOTE: </a:t>
            </a:r>
            <a:r>
              <a:rPr lang="en-US" altLang="ko-KR" b="0" i="1" dirty="0"/>
              <a:t>This configuration is not architecturally realistic and is used to estimate the performance headroom.</a:t>
            </a:r>
          </a:p>
        </p:txBody>
      </p:sp>
      <p:cxnSp>
        <p:nvCxnSpPr>
          <p:cNvPr id="6" name="직선 화살표 연결선 5">
            <a:extLst>
              <a:ext uri="{FF2B5EF4-FFF2-40B4-BE49-F238E27FC236}">
                <a16:creationId xmlns:a16="http://schemas.microsoft.com/office/drawing/2014/main" id="{8AE8FFF2-3196-14F6-814C-5215AF1CCEB8}"/>
              </a:ext>
            </a:extLst>
          </p:cNvPr>
          <p:cNvCxnSpPr/>
          <p:nvPr/>
        </p:nvCxnSpPr>
        <p:spPr>
          <a:xfrm>
            <a:off x="9477375" y="2486025"/>
            <a:ext cx="533400" cy="0"/>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44B586D-1820-8402-4E11-7EA9F7693516}"/>
              </a:ext>
            </a:extLst>
          </p:cNvPr>
          <p:cNvSpPr txBox="1"/>
          <p:nvPr/>
        </p:nvSpPr>
        <p:spPr>
          <a:xfrm>
            <a:off x="10010775" y="2301359"/>
            <a:ext cx="2187202" cy="369332"/>
          </a:xfrm>
          <a:prstGeom prst="rect">
            <a:avLst/>
          </a:prstGeom>
          <a:noFill/>
        </p:spPr>
        <p:txBody>
          <a:bodyPr wrap="none" rtlCol="0">
            <a:spAutoFit/>
          </a:bodyPr>
          <a:lstStyle/>
          <a:p>
            <a:r>
              <a:rPr kumimoji="1" lang="en-US" altLang="ko-KR" dirty="0">
                <a:latin typeface="Calibri" panose="020F0502020204030204" pitchFamily="34" charset="0"/>
                <a:cs typeface="Calibri" panose="020F0502020204030204" pitchFamily="34" charset="0"/>
              </a:rPr>
              <a:t>Pythia (L2C) Variants</a:t>
            </a:r>
            <a:endParaRPr kumimoji="1" lang="ko-KR"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3714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AD0A873-0B18-499B-F233-1177900EF360}"/>
              </a:ext>
            </a:extLst>
          </p:cNvPr>
          <p:cNvSpPr>
            <a:spLocks noGrp="1"/>
          </p:cNvSpPr>
          <p:nvPr>
            <p:ph type="title"/>
          </p:nvPr>
        </p:nvSpPr>
        <p:spPr/>
        <p:txBody>
          <a:bodyPr/>
          <a:lstStyle/>
          <a:p>
            <a:r>
              <a:rPr kumimoji="1" lang="en-US" altLang="ko-KR" dirty="0"/>
              <a:t>Structural Blind Spot</a:t>
            </a:r>
            <a:r>
              <a:rPr kumimoji="1" lang="ko-KR" altLang="en-US" dirty="0"/>
              <a:t> </a:t>
            </a:r>
            <a:r>
              <a:rPr kumimoji="1" lang="en-US" altLang="ko-KR" dirty="0"/>
              <a:t>&amp;</a:t>
            </a:r>
            <a:r>
              <a:rPr kumimoji="1" lang="ko-KR" altLang="en-US" dirty="0"/>
              <a:t> </a:t>
            </a:r>
            <a:r>
              <a:rPr kumimoji="1" lang="en-US" altLang="ko-KR" dirty="0"/>
              <a:t>Design Choices</a:t>
            </a:r>
            <a:endParaRPr kumimoji="1" lang="ko-KR" altLang="en-US" dirty="0"/>
          </a:p>
        </p:txBody>
      </p:sp>
      <p:sp>
        <p:nvSpPr>
          <p:cNvPr id="4" name="슬라이드 번호 개체 틀 3">
            <a:extLst>
              <a:ext uri="{FF2B5EF4-FFF2-40B4-BE49-F238E27FC236}">
                <a16:creationId xmlns:a16="http://schemas.microsoft.com/office/drawing/2014/main" id="{D79E7775-588A-7A77-BECC-9C8BF7705504}"/>
              </a:ext>
            </a:extLst>
          </p:cNvPr>
          <p:cNvSpPr>
            <a:spLocks noGrp="1"/>
          </p:cNvSpPr>
          <p:nvPr>
            <p:ph type="sldNum" sz="quarter" idx="12"/>
          </p:nvPr>
        </p:nvSpPr>
        <p:spPr/>
        <p:txBody>
          <a:bodyPr/>
          <a:lstStyle/>
          <a:p>
            <a:fld id="{23888E7F-F368-464B-B049-5A100FC54338}" type="slidenum">
              <a:rPr lang="ko-KR" altLang="en-US" smtClean="0"/>
              <a:t>7</a:t>
            </a:fld>
            <a:endParaRPr lang="ko-KR" altLang="en-US" dirty="0"/>
          </a:p>
        </p:txBody>
      </p:sp>
      <p:grpSp>
        <p:nvGrpSpPr>
          <p:cNvPr id="12" name="그룹 11">
            <a:extLst>
              <a:ext uri="{FF2B5EF4-FFF2-40B4-BE49-F238E27FC236}">
                <a16:creationId xmlns:a16="http://schemas.microsoft.com/office/drawing/2014/main" id="{4B92746F-A3E5-156C-CBD4-607B077E6D9C}"/>
              </a:ext>
            </a:extLst>
          </p:cNvPr>
          <p:cNvGrpSpPr/>
          <p:nvPr/>
        </p:nvGrpSpPr>
        <p:grpSpPr>
          <a:xfrm>
            <a:off x="3127065" y="2917528"/>
            <a:ext cx="2263221" cy="3347960"/>
            <a:chOff x="2995477" y="1202376"/>
            <a:chExt cx="2263221" cy="3347960"/>
          </a:xfrm>
        </p:grpSpPr>
        <p:sp>
          <p:nvSpPr>
            <p:cNvPr id="7" name="TextBox 6">
              <a:extLst>
                <a:ext uri="{FF2B5EF4-FFF2-40B4-BE49-F238E27FC236}">
                  <a16:creationId xmlns:a16="http://schemas.microsoft.com/office/drawing/2014/main" id="{0D852D68-73B7-3570-F41E-A1927348FB9F}"/>
                </a:ext>
              </a:extLst>
            </p:cNvPr>
            <p:cNvSpPr txBox="1"/>
            <p:nvPr/>
          </p:nvSpPr>
          <p:spPr>
            <a:xfrm>
              <a:off x="3096375" y="1202376"/>
              <a:ext cx="2162323" cy="3231654"/>
            </a:xfrm>
            <a:prstGeom prst="rect">
              <a:avLst/>
            </a:prstGeom>
            <a:noFill/>
          </p:spPr>
          <p:txBody>
            <a:bodyPr wrap="none" rtlCol="0">
              <a:spAutoFit/>
            </a:bodyPr>
            <a:lstStyle/>
            <a:p>
              <a:r>
                <a:rPr kumimoji="1" lang="en-US" altLang="ko-KR" sz="2400" b="1" dirty="0">
                  <a:solidFill>
                    <a:srgbClr val="467B9C"/>
                  </a:solidFill>
                  <a:latin typeface="Calibri" panose="020F0502020204030204" pitchFamily="34" charset="0"/>
                  <a:cs typeface="Calibri" panose="020F0502020204030204" pitchFamily="34" charset="0"/>
                </a:rPr>
                <a:t>L1 Prefetcher</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Input Stream:</a:t>
              </a:r>
            </a:p>
            <a:p>
              <a:r>
                <a:rPr kumimoji="1" lang="en-US" altLang="ko-KR" dirty="0">
                  <a:latin typeface="Calibri" panose="020F0502020204030204" pitchFamily="34" charset="0"/>
                  <a:cs typeface="Calibri" panose="020F0502020204030204" pitchFamily="34" charset="0"/>
                </a:rPr>
                <a:t>All Memory Accesses</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Address Space:</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Virtual Address</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Characteristics:</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Short Lookahead</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(Conservative)</a:t>
              </a:r>
              <a:endParaRPr kumimoji="1" lang="en-US" altLang="ko-KR" dirty="0">
                <a:solidFill>
                  <a:srgbClr val="C00000"/>
                </a:solidFill>
                <a:latin typeface="Calibri" panose="020F0502020204030204" pitchFamily="34" charset="0"/>
                <a:cs typeface="Calibri" panose="020F0502020204030204" pitchFamily="34" charset="0"/>
              </a:endParaRPr>
            </a:p>
          </p:txBody>
        </p:sp>
        <p:sp>
          <p:nvSpPr>
            <p:cNvPr id="9" name="모서리가 둥근 직사각형 8">
              <a:extLst>
                <a:ext uri="{FF2B5EF4-FFF2-40B4-BE49-F238E27FC236}">
                  <a16:creationId xmlns:a16="http://schemas.microsoft.com/office/drawing/2014/main" id="{D1B6D156-1893-CC75-F3AD-22349B4C9A02}"/>
                </a:ext>
              </a:extLst>
            </p:cNvPr>
            <p:cNvSpPr/>
            <p:nvPr/>
          </p:nvSpPr>
          <p:spPr>
            <a:xfrm>
              <a:off x="2995477" y="3387283"/>
              <a:ext cx="1868205" cy="1163053"/>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grpSp>
      <p:grpSp>
        <p:nvGrpSpPr>
          <p:cNvPr id="11" name="그룹 10">
            <a:extLst>
              <a:ext uri="{FF2B5EF4-FFF2-40B4-BE49-F238E27FC236}">
                <a16:creationId xmlns:a16="http://schemas.microsoft.com/office/drawing/2014/main" id="{268B6D81-7DB8-B99B-E7E7-5CA1A893F2F8}"/>
              </a:ext>
            </a:extLst>
          </p:cNvPr>
          <p:cNvGrpSpPr/>
          <p:nvPr/>
        </p:nvGrpSpPr>
        <p:grpSpPr>
          <a:xfrm>
            <a:off x="6503928" y="2917528"/>
            <a:ext cx="1960193" cy="3231654"/>
            <a:chOff x="6372340" y="1202376"/>
            <a:chExt cx="1960193" cy="3231654"/>
          </a:xfrm>
        </p:grpSpPr>
        <p:sp>
          <p:nvSpPr>
            <p:cNvPr id="8" name="TextBox 7">
              <a:extLst>
                <a:ext uri="{FF2B5EF4-FFF2-40B4-BE49-F238E27FC236}">
                  <a16:creationId xmlns:a16="http://schemas.microsoft.com/office/drawing/2014/main" id="{C9200BCB-7188-405F-47F0-426CA6CB6FF6}"/>
                </a:ext>
              </a:extLst>
            </p:cNvPr>
            <p:cNvSpPr txBox="1"/>
            <p:nvPr/>
          </p:nvSpPr>
          <p:spPr>
            <a:xfrm>
              <a:off x="6464329" y="1202376"/>
              <a:ext cx="1868204" cy="3231654"/>
            </a:xfrm>
            <a:prstGeom prst="rect">
              <a:avLst/>
            </a:prstGeom>
            <a:noFill/>
          </p:spPr>
          <p:txBody>
            <a:bodyPr wrap="none" rtlCol="0">
              <a:spAutoFit/>
            </a:bodyPr>
            <a:lstStyle/>
            <a:p>
              <a:r>
                <a:rPr kumimoji="1" lang="en-US" altLang="ko-KR" sz="2400" b="1" dirty="0">
                  <a:solidFill>
                    <a:srgbClr val="467B9C"/>
                  </a:solidFill>
                  <a:latin typeface="Calibri" panose="020F0502020204030204" pitchFamily="34" charset="0"/>
                  <a:cs typeface="Calibri" panose="020F0502020204030204" pitchFamily="34" charset="0"/>
                </a:rPr>
                <a:t>L2 Prefetcher</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Input Stream:</a:t>
              </a:r>
            </a:p>
            <a:p>
              <a:r>
                <a:rPr kumimoji="1" lang="en-US" altLang="ko-KR" dirty="0">
                  <a:latin typeface="Calibri" panose="020F0502020204030204" pitchFamily="34" charset="0"/>
                  <a:cs typeface="Calibri" panose="020F0502020204030204" pitchFamily="34" charset="0"/>
                </a:rPr>
                <a:t>L1 Miss Stream</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Address Space:</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Physical Address</a:t>
              </a:r>
            </a:p>
            <a:p>
              <a:endParaRPr kumimoji="1" lang="en-US" altLang="ko-KR" dirty="0">
                <a:latin typeface="Calibri" panose="020F0502020204030204" pitchFamily="34" charset="0"/>
                <a:cs typeface="Calibri" panose="020F0502020204030204" pitchFamily="34" charset="0"/>
              </a:endParaRPr>
            </a:p>
            <a:p>
              <a:r>
                <a:rPr kumimoji="1" lang="en-US" altLang="ko-KR" b="1" dirty="0">
                  <a:latin typeface="Calibri" panose="020F0502020204030204" pitchFamily="34" charset="0"/>
                  <a:cs typeface="Calibri" panose="020F0502020204030204" pitchFamily="34" charset="0"/>
                </a:rPr>
                <a:t>Characteristics :</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Long Lookahead</a:t>
              </a:r>
              <a:br>
                <a:rPr kumimoji="1" lang="en-US" altLang="ko-KR" dirty="0">
                  <a:latin typeface="Calibri" panose="020F0502020204030204" pitchFamily="34" charset="0"/>
                  <a:cs typeface="Calibri" panose="020F0502020204030204" pitchFamily="34" charset="0"/>
                </a:rPr>
              </a:br>
              <a:r>
                <a:rPr kumimoji="1" lang="en-US" altLang="ko-KR" dirty="0">
                  <a:latin typeface="Calibri" panose="020F0502020204030204" pitchFamily="34" charset="0"/>
                  <a:cs typeface="Calibri" panose="020F0502020204030204" pitchFamily="34" charset="0"/>
                </a:rPr>
                <a:t>(Aggressive)</a:t>
              </a:r>
              <a:endParaRPr kumimoji="1" lang="en-US" altLang="ko-KR" dirty="0">
                <a:solidFill>
                  <a:srgbClr val="C00000"/>
                </a:solidFill>
                <a:latin typeface="Calibri" panose="020F0502020204030204" pitchFamily="34" charset="0"/>
                <a:cs typeface="Calibri" panose="020F0502020204030204" pitchFamily="34" charset="0"/>
              </a:endParaRPr>
            </a:p>
          </p:txBody>
        </p:sp>
        <p:sp>
          <p:nvSpPr>
            <p:cNvPr id="10" name="모서리가 둥근 직사각형 9">
              <a:extLst>
                <a:ext uri="{FF2B5EF4-FFF2-40B4-BE49-F238E27FC236}">
                  <a16:creationId xmlns:a16="http://schemas.microsoft.com/office/drawing/2014/main" id="{AB86646E-CC8B-06D5-4DD7-CDAAD7712019}"/>
                </a:ext>
              </a:extLst>
            </p:cNvPr>
            <p:cNvSpPr/>
            <p:nvPr/>
          </p:nvSpPr>
          <p:spPr>
            <a:xfrm>
              <a:off x="6372340" y="2598821"/>
              <a:ext cx="1868205" cy="830179"/>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grpSp>
      <p:sp>
        <p:nvSpPr>
          <p:cNvPr id="13" name="TextBox 12">
            <a:extLst>
              <a:ext uri="{FF2B5EF4-FFF2-40B4-BE49-F238E27FC236}">
                <a16:creationId xmlns:a16="http://schemas.microsoft.com/office/drawing/2014/main" id="{E07D93B2-1BA2-518D-5AFD-10649E8D2E6F}"/>
              </a:ext>
            </a:extLst>
          </p:cNvPr>
          <p:cNvSpPr txBox="1"/>
          <p:nvPr/>
        </p:nvSpPr>
        <p:spPr>
          <a:xfrm>
            <a:off x="8184725" y="3313774"/>
            <a:ext cx="184731" cy="646331"/>
          </a:xfrm>
          <a:prstGeom prst="rect">
            <a:avLst/>
          </a:prstGeom>
          <a:noFill/>
        </p:spPr>
        <p:txBody>
          <a:bodyPr wrap="none" rtlCol="0">
            <a:spAutoFit/>
          </a:bodyPr>
          <a:lstStyle/>
          <a:p>
            <a:endParaRPr kumimoji="1" lang="en-US" altLang="ko-KR" dirty="0">
              <a:latin typeface="Calibri" panose="020F0502020204030204" pitchFamily="34" charset="0"/>
              <a:cs typeface="Calibri" panose="020F0502020204030204" pitchFamily="34" charset="0"/>
            </a:endParaRPr>
          </a:p>
          <a:p>
            <a:endParaRPr kumimoji="1" lang="ko-KR" altLang="en-US" dirty="0">
              <a:latin typeface="Calibri" panose="020F0502020204030204" pitchFamily="34" charset="0"/>
              <a:cs typeface="Calibri" panose="020F0502020204030204" pitchFamily="34" charset="0"/>
            </a:endParaRPr>
          </a:p>
        </p:txBody>
      </p:sp>
      <p:sp>
        <p:nvSpPr>
          <p:cNvPr id="18" name="내용 개체 틀 2">
            <a:extLst>
              <a:ext uri="{FF2B5EF4-FFF2-40B4-BE49-F238E27FC236}">
                <a16:creationId xmlns:a16="http://schemas.microsoft.com/office/drawing/2014/main" id="{5D48928F-8F61-DEC5-D663-2906D98618D6}"/>
              </a:ext>
            </a:extLst>
          </p:cNvPr>
          <p:cNvSpPr>
            <a:spLocks noGrp="1"/>
          </p:cNvSpPr>
          <p:nvPr>
            <p:ph idx="1"/>
          </p:nvPr>
        </p:nvSpPr>
        <p:spPr>
          <a:xfrm>
            <a:off x="355600" y="1003300"/>
            <a:ext cx="11531600" cy="4957763"/>
          </a:xfrm>
        </p:spPr>
        <p:txBody>
          <a:bodyPr/>
          <a:lstStyle/>
          <a:p>
            <a:r>
              <a:rPr lang="en" altLang="ko-KR" b="1" dirty="0"/>
              <a:t>L1 sees virtual continuity </a:t>
            </a:r>
            <a:r>
              <a:rPr lang="en-US" altLang="ko-KR" dirty="0"/>
              <a:t>but lacks </a:t>
            </a:r>
            <a:r>
              <a:rPr lang="en" altLang="ko-KR" b="1" dirty="0"/>
              <a:t>lookahead, while L2 has the lookahead without virtual continuity</a:t>
            </a:r>
          </a:p>
          <a:p>
            <a:r>
              <a:rPr lang="en" altLang="ko-KR" b="1" dirty="0"/>
              <a:t>Two ways to exploit page-cross prefetching</a:t>
            </a:r>
            <a:endParaRPr lang="en" altLang="ko-KR" dirty="0"/>
          </a:p>
          <a:p>
            <a:pPr lvl="1"/>
            <a:r>
              <a:rPr lang="en-US" altLang="ko-KR" b="0" i="1" dirty="0"/>
              <a:t>Make the L2 prefetcher virtual-address aware </a:t>
            </a:r>
            <a:r>
              <a:rPr lang="en-US" altLang="ko-KR" b="0" i="1" dirty="0">
                <a:sym typeface="Wingdings" pitchFamily="2" charset="2"/>
              </a:rPr>
              <a:t></a:t>
            </a:r>
            <a:r>
              <a:rPr lang="ko-KR" altLang="en-US" b="0" i="1" dirty="0">
                <a:sym typeface="Wingdings" pitchFamily="2" charset="2"/>
              </a:rPr>
              <a:t> </a:t>
            </a:r>
            <a:r>
              <a:rPr lang="en-US" altLang="ko-KR" b="0" i="1" dirty="0">
                <a:sym typeface="Wingdings" pitchFamily="2" charset="2"/>
              </a:rPr>
              <a:t>Needs additional data-path (virtual address and TLB port)</a:t>
            </a:r>
            <a:r>
              <a:rPr lang="en-US" altLang="ko-KR" i="1" dirty="0">
                <a:sym typeface="Wingdings" pitchFamily="2" charset="2"/>
              </a:rPr>
              <a:t>, additional treatment when L2 cache is shared </a:t>
            </a:r>
            <a:r>
              <a:rPr lang="en-US" altLang="ko-KR" b="0" i="1" dirty="0">
                <a:sym typeface="Wingdings" pitchFamily="2" charset="2"/>
              </a:rPr>
              <a:t> </a:t>
            </a:r>
            <a:endParaRPr lang="en-US" altLang="ko-KR" b="0" i="1" dirty="0"/>
          </a:p>
          <a:p>
            <a:pPr lvl="1"/>
            <a:r>
              <a:rPr lang="en-US" altLang="ko-KR" b="1" i="1" dirty="0">
                <a:solidFill>
                  <a:srgbClr val="FF0000"/>
                </a:solidFill>
              </a:rPr>
              <a:t>Increase the lookahead of the L1 prefetcher</a:t>
            </a:r>
          </a:p>
        </p:txBody>
      </p:sp>
      <p:sp>
        <p:nvSpPr>
          <p:cNvPr id="20" name="모서리가 둥근 직사각형 19">
            <a:extLst>
              <a:ext uri="{FF2B5EF4-FFF2-40B4-BE49-F238E27FC236}">
                <a16:creationId xmlns:a16="http://schemas.microsoft.com/office/drawing/2014/main" id="{A0A185F4-B7C7-837B-6881-5C9F884D934E}"/>
              </a:ext>
            </a:extLst>
          </p:cNvPr>
          <p:cNvSpPr/>
          <p:nvPr/>
        </p:nvSpPr>
        <p:spPr>
          <a:xfrm>
            <a:off x="856889" y="2273063"/>
            <a:ext cx="4604797" cy="374219"/>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ko-KR" altLang="en-US" sz="24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8592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59E3-0BE0-1B56-0148-266D9551833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CD4C3B0-6B2B-3E08-2852-4C615A469281}"/>
              </a:ext>
            </a:extLst>
          </p:cNvPr>
          <p:cNvSpPr>
            <a:spLocks noGrp="1"/>
          </p:cNvSpPr>
          <p:nvPr>
            <p:ph type="title"/>
          </p:nvPr>
        </p:nvSpPr>
        <p:spPr/>
        <p:txBody>
          <a:bodyPr/>
          <a:lstStyle/>
          <a:p>
            <a:r>
              <a:rPr kumimoji="1" lang="en-US" altLang="ko-KR" dirty="0"/>
              <a:t>Design Constraints &amp; Choices</a:t>
            </a:r>
            <a:endParaRPr kumimoji="1" lang="ko-KR" altLang="en-US" dirty="0"/>
          </a:p>
        </p:txBody>
      </p:sp>
      <p:sp>
        <p:nvSpPr>
          <p:cNvPr id="4" name="슬라이드 번호 개체 틀 3">
            <a:extLst>
              <a:ext uri="{FF2B5EF4-FFF2-40B4-BE49-F238E27FC236}">
                <a16:creationId xmlns:a16="http://schemas.microsoft.com/office/drawing/2014/main" id="{1A7E934F-687D-F446-6D3F-A70E8468C41C}"/>
              </a:ext>
            </a:extLst>
          </p:cNvPr>
          <p:cNvSpPr>
            <a:spLocks noGrp="1"/>
          </p:cNvSpPr>
          <p:nvPr>
            <p:ph type="sldNum" sz="quarter" idx="12"/>
          </p:nvPr>
        </p:nvSpPr>
        <p:spPr/>
        <p:txBody>
          <a:bodyPr/>
          <a:lstStyle/>
          <a:p>
            <a:fld id="{23888E7F-F368-464B-B049-5A100FC54338}" type="slidenum">
              <a:rPr lang="ko-KR" altLang="en-US" smtClean="0"/>
              <a:t>8</a:t>
            </a:fld>
            <a:endParaRPr lang="ko-KR" altLang="en-US"/>
          </a:p>
        </p:txBody>
      </p:sp>
      <p:sp>
        <p:nvSpPr>
          <p:cNvPr id="13" name="TextBox 12">
            <a:extLst>
              <a:ext uri="{FF2B5EF4-FFF2-40B4-BE49-F238E27FC236}">
                <a16:creationId xmlns:a16="http://schemas.microsoft.com/office/drawing/2014/main" id="{E6C4BE9C-BAEA-BAAB-B930-9D21A461CE4F}"/>
              </a:ext>
            </a:extLst>
          </p:cNvPr>
          <p:cNvSpPr txBox="1"/>
          <p:nvPr/>
        </p:nvSpPr>
        <p:spPr>
          <a:xfrm>
            <a:off x="8061158" y="3675863"/>
            <a:ext cx="184731" cy="646331"/>
          </a:xfrm>
          <a:prstGeom prst="rect">
            <a:avLst/>
          </a:prstGeom>
          <a:noFill/>
        </p:spPr>
        <p:txBody>
          <a:bodyPr wrap="none" rtlCol="0">
            <a:spAutoFit/>
          </a:bodyPr>
          <a:lstStyle/>
          <a:p>
            <a:endParaRPr kumimoji="1" lang="en-US" altLang="ko-KR" dirty="0">
              <a:latin typeface="Calibri" panose="020F0502020204030204" pitchFamily="34" charset="0"/>
              <a:cs typeface="Calibri" panose="020F0502020204030204" pitchFamily="34" charset="0"/>
            </a:endParaRPr>
          </a:p>
          <a:p>
            <a:endParaRPr kumimoji="1" lang="ko-KR" altLang="en-US" dirty="0">
              <a:latin typeface="Calibri" panose="020F0502020204030204" pitchFamily="34" charset="0"/>
              <a:cs typeface="Calibri" panose="020F0502020204030204" pitchFamily="34" charset="0"/>
            </a:endParaRPr>
          </a:p>
        </p:txBody>
      </p:sp>
      <p:sp>
        <p:nvSpPr>
          <p:cNvPr id="18" name="내용 개체 틀 2">
            <a:extLst>
              <a:ext uri="{FF2B5EF4-FFF2-40B4-BE49-F238E27FC236}">
                <a16:creationId xmlns:a16="http://schemas.microsoft.com/office/drawing/2014/main" id="{350D3D39-A6A4-E0AA-74FE-562564142F3E}"/>
              </a:ext>
            </a:extLst>
          </p:cNvPr>
          <p:cNvSpPr>
            <a:spLocks noGrp="1"/>
          </p:cNvSpPr>
          <p:nvPr>
            <p:ph idx="1"/>
          </p:nvPr>
        </p:nvSpPr>
        <p:spPr>
          <a:xfrm>
            <a:off x="355600" y="1003300"/>
            <a:ext cx="11531600" cy="4957763"/>
          </a:xfrm>
        </p:spPr>
        <p:txBody>
          <a:bodyPr/>
          <a:lstStyle/>
          <a:p>
            <a:r>
              <a:rPr lang="en-US" altLang="ko-KR" dirty="0"/>
              <a:t>Limited L1 storage budget</a:t>
            </a:r>
            <a:r>
              <a:rPr lang="ko-KR" altLang="en-US" dirty="0"/>
              <a:t> </a:t>
            </a:r>
            <a:r>
              <a:rPr lang="en-US" altLang="ko-KR" dirty="0"/>
              <a:t>with an existing L1 prefetcher</a:t>
            </a:r>
          </a:p>
          <a:p>
            <a:pPr lvl="1"/>
            <a:r>
              <a:rPr lang="en-US" altLang="ko-KR" dirty="0"/>
              <a:t>Use a simple IP-stride to capture contiguous streams across pages with minimal storage overhead</a:t>
            </a:r>
          </a:p>
          <a:p>
            <a:endParaRPr lang="en-US" altLang="ko-KR" dirty="0"/>
          </a:p>
          <a:p>
            <a:r>
              <a:rPr lang="en-US" altLang="ko-KR" dirty="0"/>
              <a:t>Need deeper lookahead with low bandwidth cost</a:t>
            </a:r>
          </a:p>
          <a:p>
            <a:pPr lvl="1"/>
            <a:r>
              <a:rPr lang="en-US" altLang="ko-KR" dirty="0"/>
              <a:t>Increase prefetch degree, and operate on the L1 miss stream</a:t>
            </a:r>
          </a:p>
          <a:p>
            <a:endParaRPr lang="en-US" altLang="ko-KR" dirty="0"/>
          </a:p>
          <a:p>
            <a:r>
              <a:rPr lang="en-US" altLang="ko-KR" dirty="0"/>
              <a:t>Must avoid L1 pollution</a:t>
            </a:r>
          </a:p>
          <a:p>
            <a:pPr lvl="1"/>
            <a:r>
              <a:rPr lang="en-US" altLang="ko-KR" dirty="0"/>
              <a:t>Fill prefetched lines into L2 instead of L1</a:t>
            </a:r>
            <a:endParaRPr lang="en-US" altLang="ko-KR" dirty="0">
              <a:sym typeface="Wingdings" pitchFamily="2" charset="2"/>
            </a:endParaRPr>
          </a:p>
        </p:txBody>
      </p:sp>
    </p:spTree>
    <p:extLst>
      <p:ext uri="{BB962C8B-B14F-4D97-AF65-F5344CB8AC3E}">
        <p14:creationId xmlns:p14="http://schemas.microsoft.com/office/powerpoint/2010/main" val="2784473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BD9A3-A774-9C16-0F71-C3531E334EB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3C51C1C-92A9-051C-AFB1-02E180C2E989}"/>
              </a:ext>
            </a:extLst>
          </p:cNvPr>
          <p:cNvSpPr>
            <a:spLocks noGrp="1"/>
          </p:cNvSpPr>
          <p:nvPr>
            <p:ph type="title"/>
          </p:nvPr>
        </p:nvSpPr>
        <p:spPr/>
        <p:txBody>
          <a:bodyPr/>
          <a:lstStyle/>
          <a:p>
            <a:r>
              <a:rPr lang="en-US" altLang="ko-KR" dirty="0"/>
              <a:t>VIP(Virtual Inter-page Prefetcher)</a:t>
            </a:r>
            <a:endParaRPr lang="ko-KR" altLang="en-US" dirty="0"/>
          </a:p>
        </p:txBody>
      </p:sp>
      <p:sp>
        <p:nvSpPr>
          <p:cNvPr id="4" name="슬라이드 번호 개체 틀 3">
            <a:extLst>
              <a:ext uri="{FF2B5EF4-FFF2-40B4-BE49-F238E27FC236}">
                <a16:creationId xmlns:a16="http://schemas.microsoft.com/office/drawing/2014/main" id="{ACF572A8-117D-AB27-4609-310A49803580}"/>
              </a:ext>
            </a:extLst>
          </p:cNvPr>
          <p:cNvSpPr>
            <a:spLocks noGrp="1"/>
          </p:cNvSpPr>
          <p:nvPr>
            <p:ph type="sldNum" sz="quarter" idx="12"/>
          </p:nvPr>
        </p:nvSpPr>
        <p:spPr/>
        <p:txBody>
          <a:bodyPr/>
          <a:lstStyle/>
          <a:p>
            <a:fld id="{23888E7F-F368-464B-B049-5A100FC54338}" type="slidenum">
              <a:rPr lang="ko-KR" altLang="en-US" smtClean="0"/>
              <a:t>9</a:t>
            </a:fld>
            <a:endParaRPr lang="ko-KR" altLang="en-US"/>
          </a:p>
        </p:txBody>
      </p:sp>
      <p:sp>
        <p:nvSpPr>
          <p:cNvPr id="8" name="내용 개체 틀 2">
            <a:extLst>
              <a:ext uri="{FF2B5EF4-FFF2-40B4-BE49-F238E27FC236}">
                <a16:creationId xmlns:a16="http://schemas.microsoft.com/office/drawing/2014/main" id="{E9F04564-360B-3863-6457-0FEF7D97DA38}"/>
              </a:ext>
            </a:extLst>
          </p:cNvPr>
          <p:cNvSpPr>
            <a:spLocks noGrp="1"/>
          </p:cNvSpPr>
          <p:nvPr>
            <p:ph idx="1"/>
          </p:nvPr>
        </p:nvSpPr>
        <p:spPr>
          <a:xfrm>
            <a:off x="355600" y="1003300"/>
            <a:ext cx="11836400" cy="4957763"/>
          </a:xfrm>
        </p:spPr>
        <p:txBody>
          <a:bodyPr/>
          <a:lstStyle/>
          <a:p>
            <a:r>
              <a:rPr lang="en-US" altLang="ko-KR" dirty="0"/>
              <a:t>VIP is a lightweight L1-side extension that enables timely cross-page prefetches for the L2 prefetcher</a:t>
            </a:r>
          </a:p>
          <a:p>
            <a:r>
              <a:rPr lang="en-US" altLang="ko-KR" dirty="0"/>
              <a:t>VIP uses a confidence based </a:t>
            </a:r>
            <a:r>
              <a:rPr lang="en-US" altLang="ko-KR" dirty="0" err="1"/>
              <a:t>ip</a:t>
            </a:r>
            <a:r>
              <a:rPr lang="en-US" altLang="ko-KR" dirty="0"/>
              <a:t>-stride prefetcher based on virtual address and L1 cache miss streams</a:t>
            </a:r>
          </a:p>
          <a:p>
            <a:pPr lvl="1"/>
            <a:r>
              <a:rPr lang="en-US" altLang="ko-KR" dirty="0"/>
              <a:t>Virtual-stride patterns reliably expose cross-page behavior</a:t>
            </a:r>
            <a:r>
              <a:rPr lang="ko-KR" altLang="en-US" dirty="0"/>
              <a:t> </a:t>
            </a:r>
            <a:r>
              <a:rPr lang="en-US" altLang="ko-KR" dirty="0"/>
              <a:t>with low storage overhead</a:t>
            </a:r>
          </a:p>
          <a:p>
            <a:pPr lvl="1"/>
            <a:r>
              <a:rPr lang="en-US" altLang="ko-KR" dirty="0"/>
              <a:t>Prefetch degree is adaptively adjusted according to prediction confidence</a:t>
            </a:r>
          </a:p>
          <a:p>
            <a:pPr lvl="1"/>
            <a:r>
              <a:rPr lang="en" altLang="ko-KR" dirty="0"/>
              <a:t>MSHRs track VA and IP for replay and fault handling, VIP </a:t>
            </a:r>
            <a:r>
              <a:rPr lang="en-US" altLang="ko-KR" dirty="0"/>
              <a:t>leverages </a:t>
            </a:r>
            <a:r>
              <a:rPr lang="en" altLang="ko-KR" dirty="0"/>
              <a:t>this to observe L1 miss stream in the VA domain</a:t>
            </a:r>
            <a:endParaRPr lang="en-US" altLang="ko-KR" dirty="0"/>
          </a:p>
        </p:txBody>
      </p:sp>
      <p:sp>
        <p:nvSpPr>
          <p:cNvPr id="9" name="TextBox 8">
            <a:extLst>
              <a:ext uri="{FF2B5EF4-FFF2-40B4-BE49-F238E27FC236}">
                <a16:creationId xmlns:a16="http://schemas.microsoft.com/office/drawing/2014/main" id="{503B5472-D4FA-DE86-3D31-3A95910286AE}"/>
              </a:ext>
            </a:extLst>
          </p:cNvPr>
          <p:cNvSpPr txBox="1"/>
          <p:nvPr/>
        </p:nvSpPr>
        <p:spPr>
          <a:xfrm>
            <a:off x="93133" y="6517589"/>
            <a:ext cx="11853334" cy="318924"/>
          </a:xfrm>
          <a:prstGeom prst="rect">
            <a:avLst/>
          </a:prstGeom>
          <a:noFill/>
          <a:ln>
            <a:gradFill>
              <a:gsLst>
                <a:gs pos="100000">
                  <a:schemeClr val="bg1"/>
                </a:gs>
                <a:gs pos="0">
                  <a:schemeClr val="accent1">
                    <a:lumMod val="5000"/>
                    <a:lumOff val="95000"/>
                    <a:alpha val="0"/>
                  </a:schemeClr>
                </a:gs>
                <a:gs pos="10000">
                  <a:schemeClr val="bg1">
                    <a:lumMod val="75000"/>
                  </a:schemeClr>
                </a:gs>
                <a:gs pos="90000">
                  <a:schemeClr val="bg1">
                    <a:lumMod val="75000"/>
                  </a:schemeClr>
                </a:gs>
              </a:gsLst>
              <a:lin ang="0" scaled="0"/>
            </a:gradFill>
          </a:ln>
        </p:spPr>
        <p:txBody>
          <a:bodyPr wrap="square" lIns="0" tIns="36000" rIns="0" bIns="36000" rtlCol="0">
            <a:spAutoFit/>
          </a:bodyPr>
          <a:lstStyle/>
          <a:p>
            <a:pPr algn="ctr"/>
            <a:r>
              <a:rPr lang="en-US" altLang="ko-KR" sz="1600" b="1" dirty="0">
                <a:latin typeface="Calibri" panose="020F0502020204030204" pitchFamily="34" charset="0"/>
                <a:ea typeface="맑은 고딕" panose="020B0503020000020004" pitchFamily="50" charset="-127"/>
                <a:cs typeface="Calibri" panose="020F0502020204030204" pitchFamily="34" charset="0"/>
              </a:rPr>
              <a:t>VIP (Virtual Inter-page Prefetcher) Design Overview</a:t>
            </a:r>
          </a:p>
        </p:txBody>
      </p:sp>
      <p:pic>
        <p:nvPicPr>
          <p:cNvPr id="96" name="그림 95">
            <a:extLst>
              <a:ext uri="{FF2B5EF4-FFF2-40B4-BE49-F238E27FC236}">
                <a16:creationId xmlns:a16="http://schemas.microsoft.com/office/drawing/2014/main" id="{A47B4EC7-B243-EB98-8198-CFC2E7E0D260}"/>
              </a:ext>
            </a:extLst>
          </p:cNvPr>
          <p:cNvPicPr>
            <a:picLocks noChangeAspect="1"/>
          </p:cNvPicPr>
          <p:nvPr/>
        </p:nvPicPr>
        <p:blipFill>
          <a:blip r:embed="rId3"/>
          <a:stretch>
            <a:fillRect/>
          </a:stretch>
        </p:blipFill>
        <p:spPr>
          <a:xfrm>
            <a:off x="2317750" y="2694889"/>
            <a:ext cx="7404100" cy="3822700"/>
          </a:xfrm>
          <a:prstGeom prst="rect">
            <a:avLst/>
          </a:prstGeom>
        </p:spPr>
      </p:pic>
    </p:spTree>
    <p:extLst>
      <p:ext uri="{BB962C8B-B14F-4D97-AF65-F5344CB8AC3E}">
        <p14:creationId xmlns:p14="http://schemas.microsoft.com/office/powerpoint/2010/main" val="1832355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DBB445-9F3B-BA32-0676-528967A78387}"/>
              </a:ext>
            </a:extLst>
          </p:cNvPr>
          <p:cNvSpPr>
            <a:spLocks noGrp="1"/>
          </p:cNvSpPr>
          <p:nvPr>
            <p:ph type="title"/>
          </p:nvPr>
        </p:nvSpPr>
        <p:spPr/>
        <p:txBody>
          <a:bodyPr/>
          <a:lstStyle/>
          <a:p>
            <a:r>
              <a:rPr kumimoji="1" lang="en-US" altLang="ko-KR" dirty="0"/>
              <a:t>Storage Overhead of VIP</a:t>
            </a:r>
            <a:endParaRPr kumimoji="1" lang="ko-KR" altLang="en-US" dirty="0"/>
          </a:p>
        </p:txBody>
      </p:sp>
      <p:sp>
        <p:nvSpPr>
          <p:cNvPr id="4" name="슬라이드 번호 개체 틀 3">
            <a:extLst>
              <a:ext uri="{FF2B5EF4-FFF2-40B4-BE49-F238E27FC236}">
                <a16:creationId xmlns:a16="http://schemas.microsoft.com/office/drawing/2014/main" id="{024F57EA-6A33-00AC-9B92-91B588C7A269}"/>
              </a:ext>
            </a:extLst>
          </p:cNvPr>
          <p:cNvSpPr>
            <a:spLocks noGrp="1"/>
          </p:cNvSpPr>
          <p:nvPr>
            <p:ph type="sldNum" sz="quarter" idx="12"/>
          </p:nvPr>
        </p:nvSpPr>
        <p:spPr/>
        <p:txBody>
          <a:bodyPr/>
          <a:lstStyle/>
          <a:p>
            <a:fld id="{23888E7F-F368-464B-B049-5A100FC54338}" type="slidenum">
              <a:rPr lang="ko-KR" altLang="en-US" smtClean="0"/>
              <a:t>10</a:t>
            </a:fld>
            <a:endParaRPr lang="ko-KR" altLang="en-US"/>
          </a:p>
        </p:txBody>
      </p:sp>
      <p:sp>
        <p:nvSpPr>
          <p:cNvPr id="5" name="내용 개체 틀 2">
            <a:extLst>
              <a:ext uri="{FF2B5EF4-FFF2-40B4-BE49-F238E27FC236}">
                <a16:creationId xmlns:a16="http://schemas.microsoft.com/office/drawing/2014/main" id="{0396E2BB-1D18-1E4F-7018-780667E225AD}"/>
              </a:ext>
            </a:extLst>
          </p:cNvPr>
          <p:cNvSpPr>
            <a:spLocks noGrp="1"/>
          </p:cNvSpPr>
          <p:nvPr>
            <p:ph idx="1"/>
          </p:nvPr>
        </p:nvSpPr>
        <p:spPr>
          <a:xfrm>
            <a:off x="355600" y="1003300"/>
            <a:ext cx="10998200" cy="4957763"/>
          </a:xfrm>
        </p:spPr>
        <p:txBody>
          <a:bodyPr/>
          <a:lstStyle/>
          <a:p>
            <a:r>
              <a:rPr kumimoji="1" lang="en-US" altLang="ko-KR" dirty="0"/>
              <a:t>L1D, L2C, and LLC should not exceed the storage budget of 32 KB, 128 KB, and 256 KB, respectively</a:t>
            </a:r>
          </a:p>
          <a:p>
            <a:pPr lvl="1"/>
            <a:r>
              <a:rPr kumimoji="1" lang="en-US" altLang="ko-KR" dirty="0"/>
              <a:t>Berti (L1D, 29.5KB) + Pythia (L2C, 25.5KB) already -&gt; </a:t>
            </a:r>
            <a:r>
              <a:rPr kumimoji="1" lang="en-US" altLang="ko-KR" b="1" dirty="0"/>
              <a:t>~2.5KB left for L1 prefetchers!</a:t>
            </a:r>
          </a:p>
          <a:p>
            <a:r>
              <a:rPr kumimoji="1" lang="en-US" altLang="ko-KR" b="1" dirty="0"/>
              <a:t>Sparser memory stream (miss stream from L1) enables VIP to predict well with few entries</a:t>
            </a:r>
          </a:p>
          <a:p>
            <a:endParaRPr lang="en-US" altLang="ko-KR" dirty="0"/>
          </a:p>
        </p:txBody>
      </p:sp>
      <p:pic>
        <p:nvPicPr>
          <p:cNvPr id="6" name="그림 5">
            <a:extLst>
              <a:ext uri="{FF2B5EF4-FFF2-40B4-BE49-F238E27FC236}">
                <a16:creationId xmlns:a16="http://schemas.microsoft.com/office/drawing/2014/main" id="{021748E9-644C-9892-D0B6-58E2AC85BC09}"/>
              </a:ext>
            </a:extLst>
          </p:cNvPr>
          <p:cNvPicPr>
            <a:picLocks noChangeAspect="1"/>
          </p:cNvPicPr>
          <p:nvPr/>
        </p:nvPicPr>
        <p:blipFill>
          <a:blip r:embed="rId3"/>
          <a:stretch>
            <a:fillRect/>
          </a:stretch>
        </p:blipFill>
        <p:spPr>
          <a:xfrm>
            <a:off x="2863850" y="2530475"/>
            <a:ext cx="6464300" cy="3962400"/>
          </a:xfrm>
          <a:prstGeom prst="rect">
            <a:avLst/>
          </a:prstGeom>
        </p:spPr>
      </p:pic>
    </p:spTree>
    <p:extLst>
      <p:ext uri="{BB962C8B-B14F-4D97-AF65-F5344CB8AC3E}">
        <p14:creationId xmlns:p14="http://schemas.microsoft.com/office/powerpoint/2010/main" val="302779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AE04A-C206-CCEA-95CA-D93C0F17061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B959918-58B2-BDE3-9777-A13D45A2C451}"/>
              </a:ext>
            </a:extLst>
          </p:cNvPr>
          <p:cNvSpPr>
            <a:spLocks noGrp="1"/>
          </p:cNvSpPr>
          <p:nvPr>
            <p:ph type="title"/>
          </p:nvPr>
        </p:nvSpPr>
        <p:spPr/>
        <p:txBody>
          <a:bodyPr/>
          <a:lstStyle/>
          <a:p>
            <a:r>
              <a:rPr lang="en-US" altLang="ko-KR" dirty="0"/>
              <a:t>Evaluation</a:t>
            </a:r>
            <a:endParaRPr lang="ko-KR" altLang="en-US" dirty="0"/>
          </a:p>
        </p:txBody>
      </p:sp>
      <p:sp>
        <p:nvSpPr>
          <p:cNvPr id="4" name="슬라이드 번호 개체 틀 3">
            <a:extLst>
              <a:ext uri="{FF2B5EF4-FFF2-40B4-BE49-F238E27FC236}">
                <a16:creationId xmlns:a16="http://schemas.microsoft.com/office/drawing/2014/main" id="{2A818E6A-B5D8-995A-2198-0E2814BB9253}"/>
              </a:ext>
            </a:extLst>
          </p:cNvPr>
          <p:cNvSpPr>
            <a:spLocks noGrp="1"/>
          </p:cNvSpPr>
          <p:nvPr>
            <p:ph type="sldNum" sz="quarter" idx="12"/>
          </p:nvPr>
        </p:nvSpPr>
        <p:spPr/>
        <p:txBody>
          <a:bodyPr/>
          <a:lstStyle/>
          <a:p>
            <a:fld id="{23888E7F-F368-464B-B049-5A100FC54338}" type="slidenum">
              <a:rPr lang="ko-KR" altLang="en-US" smtClean="0"/>
              <a:t>11</a:t>
            </a:fld>
            <a:endParaRPr lang="ko-KR" altLang="en-US"/>
          </a:p>
        </p:txBody>
      </p:sp>
      <p:grpSp>
        <p:nvGrpSpPr>
          <p:cNvPr id="3" name="그룹 2">
            <a:extLst>
              <a:ext uri="{FF2B5EF4-FFF2-40B4-BE49-F238E27FC236}">
                <a16:creationId xmlns:a16="http://schemas.microsoft.com/office/drawing/2014/main" id="{B5680D94-8243-9A03-F62E-D165720B3775}"/>
              </a:ext>
            </a:extLst>
          </p:cNvPr>
          <p:cNvGrpSpPr/>
          <p:nvPr/>
        </p:nvGrpSpPr>
        <p:grpSpPr>
          <a:xfrm>
            <a:off x="226142" y="2856972"/>
            <a:ext cx="11520000" cy="3841843"/>
            <a:chOff x="0" y="21224"/>
            <a:chExt cx="11520000" cy="3841843"/>
          </a:xfrm>
        </p:grpSpPr>
        <p:pic>
          <p:nvPicPr>
            <p:cNvPr id="6" name="그림 5">
              <a:extLst>
                <a:ext uri="{FF2B5EF4-FFF2-40B4-BE49-F238E27FC236}">
                  <a16:creationId xmlns:a16="http://schemas.microsoft.com/office/drawing/2014/main" id="{B711EC23-D94F-F567-E686-D1A2E1FA412B}"/>
                </a:ext>
              </a:extLst>
            </p:cNvPr>
            <p:cNvPicPr>
              <a:picLocks noChangeAspect="1"/>
            </p:cNvPicPr>
            <p:nvPr/>
          </p:nvPicPr>
          <p:blipFill>
            <a:blip r:embed="rId3"/>
            <a:stretch>
              <a:fillRect/>
            </a:stretch>
          </p:blipFill>
          <p:spPr>
            <a:xfrm>
              <a:off x="0" y="21224"/>
              <a:ext cx="11520000" cy="3603769"/>
            </a:xfrm>
            <a:prstGeom prst="rect">
              <a:avLst/>
            </a:prstGeom>
          </p:spPr>
        </p:pic>
        <p:sp>
          <p:nvSpPr>
            <p:cNvPr id="7" name="TextBox 6">
              <a:extLst>
                <a:ext uri="{FF2B5EF4-FFF2-40B4-BE49-F238E27FC236}">
                  <a16:creationId xmlns:a16="http://schemas.microsoft.com/office/drawing/2014/main" id="{C9ADEF83-44E0-F865-97E1-3823089EE23B}"/>
                </a:ext>
              </a:extLst>
            </p:cNvPr>
            <p:cNvSpPr txBox="1"/>
            <p:nvPr/>
          </p:nvSpPr>
          <p:spPr>
            <a:xfrm>
              <a:off x="4514001" y="1561499"/>
              <a:ext cx="2492991" cy="261610"/>
            </a:xfrm>
            <a:prstGeom prst="rect">
              <a:avLst/>
            </a:prstGeom>
            <a:noFill/>
          </p:spPr>
          <p:txBody>
            <a:bodyPr wrap="none" rtlCol="0">
              <a:spAutoFit/>
            </a:bodyPr>
            <a:lstStyle/>
            <a:p>
              <a:pPr algn="ctr"/>
              <a:r>
                <a:rPr kumimoji="1" lang="en-US" altLang="ko-KR" sz="1100" b="1" dirty="0">
                  <a:latin typeface="DejaVu Sans" panose="020B0603030804020204" pitchFamily="34" charset="0"/>
                  <a:ea typeface="DejaVu Sans" panose="020B0603030804020204" pitchFamily="34" charset="0"/>
                  <a:cs typeface="DejaVu Sans" panose="020B0603030804020204" pitchFamily="34" charset="0"/>
                </a:rPr>
                <a:t>(a) SPEC/Google Benchmarks</a:t>
              </a:r>
              <a:endParaRPr kumimoji="1" lang="ko-KR" altLang="en-US" sz="1100" b="1" dirty="0">
                <a:latin typeface="DejaVu Sans" panose="020B0603030804020204" pitchFamily="34" charset="0"/>
                <a:cs typeface="DejaVu Sans" panose="020B0603030804020204" pitchFamily="34" charset="0"/>
              </a:endParaRPr>
            </a:p>
          </p:txBody>
        </p:sp>
        <p:sp>
          <p:nvSpPr>
            <p:cNvPr id="8" name="TextBox 7">
              <a:extLst>
                <a:ext uri="{FF2B5EF4-FFF2-40B4-BE49-F238E27FC236}">
                  <a16:creationId xmlns:a16="http://schemas.microsoft.com/office/drawing/2014/main" id="{316F032A-A5CD-8B91-7720-1D34AEB82C66}"/>
                </a:ext>
              </a:extLst>
            </p:cNvPr>
            <p:cNvSpPr txBox="1"/>
            <p:nvPr/>
          </p:nvSpPr>
          <p:spPr>
            <a:xfrm>
              <a:off x="4667640" y="3601457"/>
              <a:ext cx="2185214" cy="261610"/>
            </a:xfrm>
            <a:prstGeom prst="rect">
              <a:avLst/>
            </a:prstGeom>
            <a:noFill/>
          </p:spPr>
          <p:txBody>
            <a:bodyPr wrap="none" rtlCol="0">
              <a:spAutoFit/>
            </a:bodyPr>
            <a:lstStyle/>
            <a:p>
              <a:pPr algn="ctr"/>
              <a:r>
                <a:rPr kumimoji="1" lang="en-US" altLang="ko-KR" sz="1100" b="1" dirty="0">
                  <a:latin typeface="DejaVu Sans" panose="020B0603030804020204" pitchFamily="34" charset="0"/>
                  <a:ea typeface="DejaVu Sans" panose="020B0603030804020204" pitchFamily="34" charset="0"/>
                  <a:cs typeface="DejaVu Sans" panose="020B0603030804020204" pitchFamily="34" charset="0"/>
                </a:rPr>
                <a:t>(b) AI/Graph Benchmarks</a:t>
              </a:r>
              <a:endParaRPr kumimoji="1" lang="ko-KR" altLang="en-US" sz="1100" b="1" dirty="0">
                <a:latin typeface="DejaVu Sans" panose="020B0603030804020204" pitchFamily="34" charset="0"/>
                <a:cs typeface="DejaVu Sans" panose="020B0603030804020204" pitchFamily="34" charset="0"/>
              </a:endParaRPr>
            </a:p>
          </p:txBody>
        </p:sp>
        <p:cxnSp>
          <p:nvCxnSpPr>
            <p:cNvPr id="10" name="직선 화살표 연결선 9">
              <a:extLst>
                <a:ext uri="{FF2B5EF4-FFF2-40B4-BE49-F238E27FC236}">
                  <a16:creationId xmlns:a16="http://schemas.microsoft.com/office/drawing/2014/main" id="{4347D116-3001-37A3-FC10-65E479F0A241}"/>
                </a:ext>
              </a:extLst>
            </p:cNvPr>
            <p:cNvCxnSpPr>
              <a:cxnSpLocks/>
            </p:cNvCxnSpPr>
            <p:nvPr/>
          </p:nvCxnSpPr>
          <p:spPr>
            <a:xfrm flipV="1">
              <a:off x="1943956" y="2206965"/>
              <a:ext cx="0" cy="102494"/>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 name="직선 화살표 연결선 10">
              <a:extLst>
                <a:ext uri="{FF2B5EF4-FFF2-40B4-BE49-F238E27FC236}">
                  <a16:creationId xmlns:a16="http://schemas.microsoft.com/office/drawing/2014/main" id="{F5ED7D97-4883-DEB4-B34B-A31FBCF903BF}"/>
                </a:ext>
              </a:extLst>
            </p:cNvPr>
            <p:cNvCxnSpPr>
              <a:cxnSpLocks/>
            </p:cNvCxnSpPr>
            <p:nvPr/>
          </p:nvCxnSpPr>
          <p:spPr>
            <a:xfrm flipV="1">
              <a:off x="2248756" y="2206965"/>
              <a:ext cx="0" cy="102494"/>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2" name="직선 화살표 연결선 11">
              <a:extLst>
                <a:ext uri="{FF2B5EF4-FFF2-40B4-BE49-F238E27FC236}">
                  <a16:creationId xmlns:a16="http://schemas.microsoft.com/office/drawing/2014/main" id="{D384D590-2A02-C74B-2644-9BFBAECF8D28}"/>
                </a:ext>
              </a:extLst>
            </p:cNvPr>
            <p:cNvCxnSpPr>
              <a:cxnSpLocks/>
            </p:cNvCxnSpPr>
            <p:nvPr/>
          </p:nvCxnSpPr>
          <p:spPr>
            <a:xfrm flipV="1">
              <a:off x="2549793" y="2206965"/>
              <a:ext cx="0" cy="102494"/>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 name="직선 화살표 연결선 13">
              <a:extLst>
                <a:ext uri="{FF2B5EF4-FFF2-40B4-BE49-F238E27FC236}">
                  <a16:creationId xmlns:a16="http://schemas.microsoft.com/office/drawing/2014/main" id="{7A923436-058C-A7D6-7681-6E0CC9A85B8B}"/>
                </a:ext>
              </a:extLst>
            </p:cNvPr>
            <p:cNvCxnSpPr>
              <a:cxnSpLocks/>
            </p:cNvCxnSpPr>
            <p:nvPr/>
          </p:nvCxnSpPr>
          <p:spPr>
            <a:xfrm flipV="1">
              <a:off x="2854593" y="2206965"/>
              <a:ext cx="0" cy="102494"/>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 name="직선 화살표 연결선 14">
              <a:extLst>
                <a:ext uri="{FF2B5EF4-FFF2-40B4-BE49-F238E27FC236}">
                  <a16:creationId xmlns:a16="http://schemas.microsoft.com/office/drawing/2014/main" id="{85195549-01EE-3009-967A-EF54F7C59E6D}"/>
                </a:ext>
              </a:extLst>
            </p:cNvPr>
            <p:cNvCxnSpPr>
              <a:cxnSpLocks/>
            </p:cNvCxnSpPr>
            <p:nvPr/>
          </p:nvCxnSpPr>
          <p:spPr>
            <a:xfrm flipV="1">
              <a:off x="3154662" y="2206965"/>
              <a:ext cx="0" cy="102494"/>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 name="직선 화살표 연결선 15">
              <a:extLst>
                <a:ext uri="{FF2B5EF4-FFF2-40B4-BE49-F238E27FC236}">
                  <a16:creationId xmlns:a16="http://schemas.microsoft.com/office/drawing/2014/main" id="{DD5B2C0D-0A2C-A1B9-CE44-6F295BECB784}"/>
                </a:ext>
              </a:extLst>
            </p:cNvPr>
            <p:cNvCxnSpPr>
              <a:cxnSpLocks/>
            </p:cNvCxnSpPr>
            <p:nvPr/>
          </p:nvCxnSpPr>
          <p:spPr>
            <a:xfrm flipV="1">
              <a:off x="3605712" y="2206965"/>
              <a:ext cx="0" cy="102494"/>
            </a:xfrm>
            <a:prstGeom prst="straightConnector1">
              <a:avLst/>
            </a:prstGeom>
            <a:ln w="635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9" name="내용 개체 틀 2">
            <a:extLst>
              <a:ext uri="{FF2B5EF4-FFF2-40B4-BE49-F238E27FC236}">
                <a16:creationId xmlns:a16="http://schemas.microsoft.com/office/drawing/2014/main" id="{E5B58A4E-D207-C148-DF8E-4B2E0E8031B4}"/>
              </a:ext>
            </a:extLst>
          </p:cNvPr>
          <p:cNvSpPr txBox="1">
            <a:spLocks/>
          </p:cNvSpPr>
          <p:nvPr/>
        </p:nvSpPr>
        <p:spPr>
          <a:xfrm>
            <a:off x="355600" y="1003300"/>
            <a:ext cx="10998200" cy="4957763"/>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buFont typeface="Wingdings" panose="05000000000000000000" pitchFamily="2" charset="2"/>
              <a:buChar char="§"/>
              <a:defRPr sz="2000" b="1"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1" hangingPunct="1">
              <a:lnSpc>
                <a:spcPct val="90000"/>
              </a:lnSpc>
              <a:spcBef>
                <a:spcPts val="500"/>
              </a:spcBef>
              <a:buFont typeface="Wingdings" panose="05000000000000000000" pitchFamily="2" charset="2"/>
              <a:buChar char="ü"/>
              <a:defRPr sz="16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1" hangingPunct="1">
              <a:lnSpc>
                <a:spcPct val="90000"/>
              </a:lnSpc>
              <a:spcBef>
                <a:spcPts val="500"/>
              </a:spcBef>
              <a:buFont typeface="Arial" panose="020B0604020202020204" pitchFamily="34" charset="0"/>
              <a:buChar char="•"/>
              <a:defRPr sz="14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 altLang="ko-KR" b="1" dirty="0"/>
              <a:t>Overall:</a:t>
            </a:r>
            <a:r>
              <a:rPr lang="en" altLang="ko-KR" dirty="0"/>
              <a:t> </a:t>
            </a:r>
            <a:r>
              <a:rPr lang="en" altLang="ko-KR" b="0" dirty="0"/>
              <a:t>VIP improves performance by </a:t>
            </a:r>
            <a:r>
              <a:rPr lang="en" altLang="ko-KR" dirty="0"/>
              <a:t>+4.77% geomean </a:t>
            </a:r>
            <a:r>
              <a:rPr lang="en" altLang="ko-KR" b="0" dirty="0"/>
              <a:t>across 132 workloads</a:t>
            </a:r>
          </a:p>
          <a:p>
            <a:r>
              <a:rPr lang="en" altLang="ko-KR" b="1" dirty="0"/>
              <a:t>AI workloads:</a:t>
            </a:r>
            <a:r>
              <a:rPr lang="en" altLang="ko-KR" dirty="0"/>
              <a:t> </a:t>
            </a:r>
            <a:r>
              <a:rPr lang="en" altLang="ko-KR" b="0" dirty="0"/>
              <a:t>See the largest gains </a:t>
            </a:r>
            <a:r>
              <a:rPr lang="en" altLang="ko-KR" dirty="0"/>
              <a:t>(+16.83% geomean)</a:t>
            </a:r>
            <a:r>
              <a:rPr lang="en" altLang="ko-KR" b="0" dirty="0"/>
              <a:t> due to long, virtually contiguous memory accesses</a:t>
            </a:r>
          </a:p>
          <a:p>
            <a:r>
              <a:rPr lang="en" altLang="ko-KR" b="1" dirty="0"/>
              <a:t>Others:</a:t>
            </a:r>
            <a:r>
              <a:rPr lang="en" altLang="ko-KR" dirty="0"/>
              <a:t> </a:t>
            </a:r>
            <a:r>
              <a:rPr lang="en" altLang="ko-KR" b="0" dirty="0"/>
              <a:t>SPEC </a:t>
            </a:r>
            <a:r>
              <a:rPr lang="en" altLang="ko-KR" dirty="0"/>
              <a:t>(+3.30%) </a:t>
            </a:r>
            <a:r>
              <a:rPr lang="en" altLang="ko-KR" b="0" dirty="0"/>
              <a:t>and Graph </a:t>
            </a:r>
            <a:r>
              <a:rPr lang="en" altLang="ko-KR" dirty="0"/>
              <a:t>(+1.96%) </a:t>
            </a:r>
            <a:r>
              <a:rPr lang="en" altLang="ko-KR" b="0" dirty="0"/>
              <a:t>benefit moderately, while Google traces show a small regression </a:t>
            </a:r>
            <a:r>
              <a:rPr lang="en" altLang="ko-KR" dirty="0"/>
              <a:t>(−0.46%) </a:t>
            </a:r>
            <a:r>
              <a:rPr lang="en" altLang="ko-KR" b="0" dirty="0"/>
              <a:t>due to </a:t>
            </a:r>
            <a:r>
              <a:rPr lang="en-US" altLang="ko-KR" b="0" dirty="0"/>
              <a:t>control-heavy executions</a:t>
            </a:r>
            <a:endParaRPr lang="en" altLang="ko-KR" b="0" dirty="0"/>
          </a:p>
          <a:p>
            <a:endParaRPr lang="en" altLang="ko-KR" b="0" dirty="0"/>
          </a:p>
          <a:p>
            <a:endParaRPr lang="en-US" altLang="ko-KR" dirty="0"/>
          </a:p>
        </p:txBody>
      </p:sp>
    </p:spTree>
    <p:extLst>
      <p:ext uri="{BB962C8B-B14F-4D97-AF65-F5344CB8AC3E}">
        <p14:creationId xmlns:p14="http://schemas.microsoft.com/office/powerpoint/2010/main" val="1740159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EC86C0E-65BF-4EA7-81C0-A7AB8AFC1B47}"/>
              </a:ext>
            </a:extLst>
          </p:cNvPr>
          <p:cNvSpPr>
            <a:spLocks noGrp="1"/>
          </p:cNvSpPr>
          <p:nvPr>
            <p:ph type="ctrTitle"/>
          </p:nvPr>
        </p:nvSpPr>
        <p:spPr/>
        <p:txBody>
          <a:bodyPr/>
          <a:lstStyle/>
          <a:p>
            <a:r>
              <a:rPr lang="en-US" altLang="ko-KR" dirty="0"/>
              <a:t>Thank You</a:t>
            </a:r>
            <a:endParaRPr lang="ko-KR" altLang="en-US" dirty="0"/>
          </a:p>
        </p:txBody>
      </p:sp>
    </p:spTree>
    <p:extLst>
      <p:ext uri="{BB962C8B-B14F-4D97-AF65-F5344CB8AC3E}">
        <p14:creationId xmlns:p14="http://schemas.microsoft.com/office/powerpoint/2010/main" val="276325064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lIns="0" tIns="0" rIns="0" bIns="0" rtlCol="0" anchor="ctr"/>
      <a:lstStyle>
        <a:defPPr algn="ctr">
          <a:defRPr sz="2400" i="1" dirty="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smtClean="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92364</TotalTime>
  <Words>2571</Words>
  <Application>Microsoft Macintosh PowerPoint</Application>
  <PresentationFormat>와이드스크린</PresentationFormat>
  <Paragraphs>176</Paragraphs>
  <Slides>12</Slides>
  <Notes>12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12</vt:i4>
      </vt:variant>
    </vt:vector>
  </HeadingPairs>
  <TitlesOfParts>
    <vt:vector size="18" baseType="lpstr">
      <vt:lpstr>맑은 고딕</vt:lpstr>
      <vt:lpstr>Arial</vt:lpstr>
      <vt:lpstr>Calibri</vt:lpstr>
      <vt:lpstr>DejaVu Sans</vt:lpstr>
      <vt:lpstr>Wingdings</vt:lpstr>
      <vt:lpstr>Office 테마</vt:lpstr>
      <vt:lpstr>PowerPoint 프레젠테이션</vt:lpstr>
      <vt:lpstr>Characteristics of Multi-Level Prefetchers</vt:lpstr>
      <vt:lpstr>Complementary Roles of L1 and L2 Prefetchers</vt:lpstr>
      <vt:lpstr>Limitation of Physical Address Based Prefetchers</vt:lpstr>
      <vt:lpstr>Missed Benefits Without Cross Page Prefetching</vt:lpstr>
      <vt:lpstr>Virtual vs. Physical Addresses: Accuracy &amp; Headroom</vt:lpstr>
      <vt:lpstr>Structural Blind Spot &amp; Design Choices</vt:lpstr>
      <vt:lpstr>Design Constraints &amp; Choices</vt:lpstr>
      <vt:lpstr>VIP(Virtual Inter-page Prefetcher)</vt:lpstr>
      <vt:lpstr>Storage Overhead of VIP</vt:lpstr>
      <vt:lpstr>Evaluation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Complexity-Effective Out-of-Order Execution Core Microarchitecture</dc:title>
  <dc:creator>Windows 사용자</dc:creator>
  <cp:lastModifiedBy>이호제</cp:lastModifiedBy>
  <cp:revision>1358</cp:revision>
  <cp:lastPrinted>2019-10-20T14:02:16Z</cp:lastPrinted>
  <dcterms:created xsi:type="dcterms:W3CDTF">2019-09-23T01:49:16Z</dcterms:created>
  <dcterms:modified xsi:type="dcterms:W3CDTF">2026-01-31T23:06:59Z</dcterms:modified>
</cp:coreProperties>
</file>